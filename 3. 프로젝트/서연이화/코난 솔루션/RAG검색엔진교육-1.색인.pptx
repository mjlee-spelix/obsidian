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75" r:id="rId2"/>
    <p:sldId id="257" r:id="rId3"/>
    <p:sldId id="296" r:id="rId4"/>
    <p:sldId id="303" r:id="rId5"/>
    <p:sldId id="334" r:id="rId6"/>
    <p:sldId id="310" r:id="rId7"/>
    <p:sldId id="299" r:id="rId8"/>
    <p:sldId id="302" r:id="rId9"/>
    <p:sldId id="312" r:id="rId10"/>
    <p:sldId id="311" r:id="rId11"/>
    <p:sldId id="304" r:id="rId12"/>
    <p:sldId id="327" r:id="rId13"/>
    <p:sldId id="300" r:id="rId14"/>
    <p:sldId id="305" r:id="rId15"/>
    <p:sldId id="306" r:id="rId16"/>
    <p:sldId id="313" r:id="rId17"/>
    <p:sldId id="316" r:id="rId18"/>
    <p:sldId id="318" r:id="rId19"/>
    <p:sldId id="319" r:id="rId20"/>
    <p:sldId id="317" r:id="rId21"/>
    <p:sldId id="321" r:id="rId22"/>
    <p:sldId id="322" r:id="rId23"/>
    <p:sldId id="324" r:id="rId24"/>
    <p:sldId id="325" r:id="rId25"/>
    <p:sldId id="326" r:id="rId26"/>
    <p:sldId id="328" r:id="rId27"/>
    <p:sldId id="329" r:id="rId28"/>
    <p:sldId id="330" r:id="rId29"/>
    <p:sldId id="307" r:id="rId30"/>
    <p:sldId id="315" r:id="rId31"/>
    <p:sldId id="335" r:id="rId32"/>
    <p:sldId id="336" r:id="rId33"/>
    <p:sldId id="337" r:id="rId34"/>
    <p:sldId id="339" r:id="rId35"/>
    <p:sldId id="323" r:id="rId36"/>
    <p:sldId id="278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5747" autoAdjust="0"/>
    <p:restoredTop sz="94692" autoAdjust="0"/>
  </p:normalViewPr>
  <p:slideViewPr>
    <p:cSldViewPr>
      <p:cViewPr varScale="1">
        <p:scale>
          <a:sx n="109" d="100"/>
          <a:sy n="109" d="100"/>
        </p:scale>
        <p:origin x="-167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4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9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29688-BA56-4159-A616-B7D3977899EA}" type="datetimeFigureOut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6A127-61C8-46AB-BA37-F5F85D3D89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35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194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3568" y="38862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11AC-94F5-45F5-960E-69F12C9DEAD9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6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980728"/>
            <a:ext cx="9141615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39E84B8D-79E1-45C0-BACF-A1839C4007B0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바닥글 개체 틀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5" name="그림 14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52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B671-8456-4F8D-9DE0-E856C0651ACB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2" name="그림 11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54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CB80-8620-4D5A-8B9C-2FB219362195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3" name="그림 12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37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E541-7C44-4096-8862-BBAA958840A4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88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4464-BC5B-4793-8D5D-24CE3FC8969B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5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E657-A0E2-4BA1-AD61-C077A946A5E9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39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3246-186C-426E-99A8-6B0B360320DF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92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706EC-CF83-46BA-8CF1-C77819322750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28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D676E-BF0F-4B0C-8944-E87A69B42399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33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C7A-16A4-4F9C-8A3B-7FC79E46E018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40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84B8D-79E1-45C0-BACF-A1839C4007B0}" type="datetime1">
              <a:rPr lang="ko-KR" altLang="en-US" smtClean="0"/>
              <a:pPr/>
              <a:t>2026-01-26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namu.wiki/w/%EB%84%A4%EC%9D%B4%ED%8A%B8" TargetMode="External"/><Relationship Id="rId3" Type="http://schemas.openxmlformats.org/officeDocument/2006/relationships/hyperlink" Target="https://namu.wiki/w/ETRI" TargetMode="External"/><Relationship Id="rId7" Type="http://schemas.openxmlformats.org/officeDocument/2006/relationships/hyperlink" Target="https://namu.wiki/w/SK%EC%BB%A4%EB%AE%A4%EB%8B%88%EC%BC%80%EC%9D%B4%EC%85%98%EC%A6%8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amu.wiki/w/%EC%97%A0%ED%8C%8C%EC%8A%A4" TargetMode="External"/><Relationship Id="rId5" Type="http://schemas.openxmlformats.org/officeDocument/2006/relationships/hyperlink" Target="https://namu.wiki/w/%EB%B9%85%EB%8D%B0%EC%9D%B4%ED%84%B0" TargetMode="External"/><Relationship Id="rId4" Type="http://schemas.openxmlformats.org/officeDocument/2006/relationships/hyperlink" Target="https://namu.wiki/w/%EC%9E%90%EC%97%B0%EC%96%B4" TargetMode="External"/><Relationship Id="rId9" Type="http://schemas.openxmlformats.org/officeDocument/2006/relationships/hyperlink" Target="https://namu.wiki/w/%EC%8B%B8%EC%9D%B4%EC%9B%94%EB%93%9C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RAG </a:t>
            </a:r>
            <a:r>
              <a:rPr lang="ko-KR" altLang="en-US" dirty="0" smtClean="0"/>
              <a:t>교육 </a:t>
            </a:r>
            <a:r>
              <a:rPr lang="en-US" altLang="ko-KR" dirty="0" smtClean="0"/>
              <a:t>– 1</a:t>
            </a:r>
            <a:r>
              <a:rPr lang="ko-KR" altLang="en-US" dirty="0" smtClean="0"/>
              <a:t>부 색인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58292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ko-KR" sz="1800" dirty="0" smtClean="0"/>
              <a:t>KS</a:t>
            </a:r>
            <a:r>
              <a:rPr lang="ko-KR" altLang="en-US" sz="1800" dirty="0" smtClean="0"/>
              <a:t>그룹 엔진개발팀 전주현</a:t>
            </a:r>
            <a:endParaRPr lang="en-US" altLang="ko-KR" sz="1800" dirty="0" smtClean="0"/>
          </a:p>
          <a:p>
            <a:r>
              <a:rPr lang="ko-KR" altLang="en-US" sz="1800" dirty="0"/>
              <a:t>２０</a:t>
            </a:r>
            <a:r>
              <a:rPr lang="en-US" altLang="ko-KR" sz="1800" dirty="0" smtClean="0">
                <a:latin typeface="+mn-ea"/>
              </a:rPr>
              <a:t>2 6</a:t>
            </a:r>
            <a:r>
              <a:rPr lang="ko-KR" altLang="en-US" sz="1800" dirty="0" smtClean="0">
                <a:latin typeface="+mn-ea"/>
              </a:rPr>
              <a:t>．</a:t>
            </a:r>
            <a:r>
              <a:rPr lang="en-US" altLang="ko-KR" sz="1800" dirty="0" smtClean="0">
                <a:latin typeface="+mn-ea"/>
              </a:rPr>
              <a:t>01</a:t>
            </a:r>
            <a:endParaRPr lang="ko-KR" altLang="en-US" sz="1800" dirty="0">
              <a:latin typeface="+mn-ea"/>
            </a:endParaRPr>
          </a:p>
        </p:txBody>
      </p:sp>
      <p:cxnSp>
        <p:nvCxnSpPr>
          <p:cNvPr id="26" name="직선 연결선 25"/>
          <p:cNvCxnSpPr>
            <a:cxnSpLocks/>
          </p:cNvCxnSpPr>
          <p:nvPr/>
        </p:nvCxnSpPr>
        <p:spPr>
          <a:xfrm>
            <a:off x="693507" y="2520514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3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개요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Chunking (</a:t>
            </a:r>
            <a:r>
              <a:rPr lang="ko-KR" altLang="en-US" b="1" dirty="0" err="1" smtClean="0"/>
              <a:t>청킹</a:t>
            </a:r>
            <a:r>
              <a:rPr lang="en-US" altLang="ko-KR" b="1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RAG 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Volume</a:t>
            </a:r>
            <a:r>
              <a:rPr lang="ko-KR" altLang="en-US" b="1" dirty="0" smtClean="0"/>
              <a:t> 구성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Indexing Wizard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문서필터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Q&amp;A</a:t>
            </a:r>
            <a:r>
              <a:rPr lang="en-US" altLang="ko-KR" b="1" dirty="0"/>
              <a:t/>
            </a:r>
            <a:br>
              <a:rPr lang="en-US" altLang="ko-KR" b="1" dirty="0"/>
            </a:br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1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44791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9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ko-KR" altLang="en-US" b="1" dirty="0" smtClean="0">
                <a:latin typeface="+mn-ea"/>
              </a:rPr>
              <a:t>왜 </a:t>
            </a:r>
            <a:r>
              <a:rPr lang="en-US" altLang="ko-KR" b="1" u="sng" dirty="0" smtClean="0">
                <a:solidFill>
                  <a:srgbClr val="FF0000"/>
                </a:solidFill>
                <a:latin typeface="+mn-ea"/>
              </a:rPr>
              <a:t>RAG</a:t>
            </a:r>
            <a:r>
              <a:rPr lang="ko-KR" altLang="en-US" b="1" dirty="0" smtClean="0">
                <a:latin typeface="+mn-ea"/>
              </a:rPr>
              <a:t>인가</a:t>
            </a:r>
            <a:r>
              <a:rPr lang="en-US" altLang="ko-KR" b="1" dirty="0" smtClean="0">
                <a:latin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LLM</a:t>
            </a:r>
            <a:r>
              <a:rPr lang="ko-KR" altLang="en-US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만으로 생기는 대표 문제</a:t>
            </a:r>
            <a:endParaRPr lang="en-US" altLang="ko-KR" sz="1600" b="1" dirty="0" smtClean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1600" b="1" dirty="0" smtClean="0">
              <a:latin typeface="+mn-ea"/>
            </a:endParaRPr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사내·도메인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문서·규정·프로세스는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모를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수밖에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r>
              <a:rPr lang="en-US" sz="14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왜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답했는지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약함</a:t>
            </a:r>
            <a:endParaRPr lang="en-US" sz="1400" dirty="0" smtClean="0"/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en-US" sz="16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RAG(</a:t>
            </a:r>
            <a:r>
              <a:rPr lang="en-US" sz="16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검색+생성</a:t>
            </a:r>
            <a:r>
              <a:rPr lang="en-US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buNone/>
            </a:pP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바탕으로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· </a:t>
            </a: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· </a:t>
            </a: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설명가능성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· </a:t>
            </a: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4</a:t>
            </a:fld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RAG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5</a:t>
            </a:fld>
            <a:endParaRPr lang="ko-KR" altLang="en-US" dirty="0">
              <a:latin typeface="+mn-ea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51520" y="2494178"/>
            <a:ext cx="1214446" cy="5000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latin typeface="+mn-ea"/>
              </a:rPr>
              <a:t>질의문</a:t>
            </a:r>
            <a:r>
              <a:rPr lang="ko-KR" altLang="en-US" sz="1200" dirty="0" smtClean="0">
                <a:latin typeface="+mn-ea"/>
              </a:rPr>
              <a:t> 정제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7410" name="AutoShape 2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AutoShape 4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3810131" y="2494178"/>
            <a:ext cx="1214446" cy="5000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latin typeface="+mn-ea"/>
              </a:rPr>
              <a:t>Reranking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5558597" y="2494178"/>
            <a:ext cx="1214446" cy="5000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+mn-ea"/>
              </a:rPr>
              <a:t>Selector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7268591" y="2422740"/>
            <a:ext cx="1428760" cy="6429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latin typeface="+mn-ea"/>
              </a:rPr>
              <a:t>답변 생성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G</a:t>
            </a:r>
            <a:r>
              <a:rPr lang="en-US" altLang="ko-KR" sz="1200" dirty="0" smtClean="0">
                <a:latin typeface="+mn-ea"/>
              </a:rPr>
              <a:t>enerator)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61" name="직선 화살표 연결선 60"/>
          <p:cNvCxnSpPr>
            <a:endCxn id="22" idx="0"/>
          </p:cNvCxnSpPr>
          <p:nvPr/>
        </p:nvCxnSpPr>
        <p:spPr>
          <a:xfrm rot="5400000">
            <a:off x="501553" y="2136988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22" idx="3"/>
            <a:endCxn id="98" idx="1"/>
          </p:cNvCxnSpPr>
          <p:nvPr/>
        </p:nvCxnSpPr>
        <p:spPr>
          <a:xfrm>
            <a:off x="1465966" y="2744211"/>
            <a:ext cx="324422" cy="103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98" idx="3"/>
            <a:endCxn id="47" idx="1"/>
          </p:cNvCxnSpPr>
          <p:nvPr/>
        </p:nvCxnSpPr>
        <p:spPr>
          <a:xfrm flipV="1">
            <a:off x="3433462" y="2744211"/>
            <a:ext cx="376669" cy="103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47" idx="3"/>
            <a:endCxn id="48" idx="1"/>
          </p:cNvCxnSpPr>
          <p:nvPr/>
        </p:nvCxnSpPr>
        <p:spPr>
          <a:xfrm>
            <a:off x="5024577" y="2744211"/>
            <a:ext cx="534020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218243" y="3181221"/>
            <a:ext cx="1890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프롬프트</a:t>
            </a:r>
            <a:r>
              <a:rPr lang="en-US" altLang="ko-KR" sz="1200" dirty="0" smtClean="0">
                <a:latin typeface="+mn-ea"/>
              </a:rPr>
              <a:t>+</a:t>
            </a:r>
            <a:r>
              <a:rPr lang="ko-KR" altLang="en-US" sz="1200" dirty="0" smtClean="0">
                <a:latin typeface="+mn-ea"/>
              </a:rPr>
              <a:t>검색데이터로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 smtClean="0">
                <a:latin typeface="+mn-ea"/>
              </a:rPr>
              <a:t>답변 요약</a:t>
            </a:r>
            <a:r>
              <a:rPr lang="en-US" altLang="ko-KR" sz="1200" dirty="0" smtClean="0">
                <a:latin typeface="+mn-ea"/>
              </a:rPr>
              <a:t>/</a:t>
            </a:r>
            <a:r>
              <a:rPr lang="ko-KR" altLang="en-US" sz="1200" dirty="0" smtClean="0">
                <a:latin typeface="+mn-ea"/>
              </a:rPr>
              <a:t>생성</a:t>
            </a:r>
            <a:endParaRPr lang="en-US" altLang="ko-KR" sz="1200" dirty="0" smtClean="0">
              <a:latin typeface="+mn-ea"/>
            </a:endParaRPr>
          </a:p>
        </p:txBody>
      </p:sp>
      <p:cxnSp>
        <p:nvCxnSpPr>
          <p:cNvPr id="83" name="직선 화살표 연결선 82"/>
          <p:cNvCxnSpPr>
            <a:stCxn id="48" idx="3"/>
            <a:endCxn id="49" idx="1"/>
          </p:cNvCxnSpPr>
          <p:nvPr/>
        </p:nvCxnSpPr>
        <p:spPr>
          <a:xfrm>
            <a:off x="6773043" y="2744211"/>
            <a:ext cx="495548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1982352" y="1994112"/>
            <a:ext cx="1285884" cy="1500198"/>
            <a:chOff x="2643174" y="2857496"/>
            <a:chExt cx="1500198" cy="1500198"/>
          </a:xfrm>
        </p:grpSpPr>
        <p:sp>
          <p:nvSpPr>
            <p:cNvPr id="64" name="모서리가 둥근 직사각형 63"/>
            <p:cNvSpPr/>
            <p:nvPr/>
          </p:nvSpPr>
          <p:spPr>
            <a:xfrm>
              <a:off x="2643174" y="3857628"/>
              <a:ext cx="1500198" cy="500066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BM25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2643174" y="3357562"/>
              <a:ext cx="1500198" cy="500066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Vector</a:t>
              </a:r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2643174" y="2857496"/>
              <a:ext cx="1500198" cy="500066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Keyword</a:t>
              </a:r>
            </a:p>
          </p:txBody>
        </p:sp>
      </p:grpSp>
      <p:sp>
        <p:nvSpPr>
          <p:cNvPr id="98" name="모서리가 둥근 직사각형 97"/>
          <p:cNvSpPr/>
          <p:nvPr/>
        </p:nvSpPr>
        <p:spPr>
          <a:xfrm>
            <a:off x="1790388" y="1816549"/>
            <a:ext cx="1643074" cy="185738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993576" y="1449018"/>
            <a:ext cx="1116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ko-KR" dirty="0" smtClean="0">
                <a:latin typeface="+mn-ea"/>
              </a:rPr>
              <a:t>etriever</a:t>
            </a:r>
            <a:endParaRPr lang="ko-KR" altLang="en-US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36096" y="3181221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답변에 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 smtClean="0">
                <a:latin typeface="+mn-ea"/>
              </a:rPr>
              <a:t>적합한 </a:t>
            </a:r>
            <a:r>
              <a:rPr lang="en-US" altLang="ko-KR" sz="1200" dirty="0" smtClean="0">
                <a:latin typeface="+mn-ea"/>
              </a:rPr>
              <a:t>chunk</a:t>
            </a:r>
            <a:r>
              <a:rPr lang="ko-KR" altLang="en-US" sz="1200" dirty="0" smtClean="0">
                <a:latin typeface="+mn-ea"/>
              </a:rPr>
              <a:t>인지 판별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07904" y="3181221"/>
            <a:ext cx="1729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검색 결과를 취합하여 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 smtClean="0">
                <a:latin typeface="+mn-ea"/>
              </a:rPr>
              <a:t>재정렬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7340029" y="1351170"/>
            <a:ext cx="1285884" cy="50006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>
            <a:solidFill>
              <a:schemeClr val="accent5">
                <a:shade val="50000"/>
                <a:alpha val="41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+mn-ea"/>
              </a:rPr>
              <a:t>Hyde</a:t>
            </a:r>
          </a:p>
        </p:txBody>
      </p:sp>
      <p:cxnSp>
        <p:nvCxnSpPr>
          <p:cNvPr id="35" name="직선 화살표 연결선 34"/>
          <p:cNvCxnSpPr>
            <a:stCxn id="33" idx="2"/>
            <a:endCxn id="49" idx="0"/>
          </p:cNvCxnSpPr>
          <p:nvPr/>
        </p:nvCxnSpPr>
        <p:spPr>
          <a:xfrm rot="5400000">
            <a:off x="7697219" y="2136988"/>
            <a:ext cx="571504" cy="1588"/>
          </a:xfrm>
          <a:prstGeom prst="straightConnector1">
            <a:avLst/>
          </a:prstGeom>
          <a:ln w="22225">
            <a:solidFill>
              <a:srgbClr val="002060">
                <a:alpha val="50000"/>
              </a:srgb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>
            <a:stCxn id="48" idx="0"/>
            <a:endCxn id="33" idx="1"/>
          </p:cNvCxnSpPr>
          <p:nvPr/>
        </p:nvCxnSpPr>
        <p:spPr>
          <a:xfrm rot="5400000" flipH="1" flipV="1">
            <a:off x="6306437" y="1460587"/>
            <a:ext cx="892975" cy="1174209"/>
          </a:xfrm>
          <a:prstGeom prst="bentConnector2">
            <a:avLst/>
          </a:prstGeom>
          <a:ln w="22225">
            <a:solidFill>
              <a:srgbClr val="002060">
                <a:alpha val="50000"/>
              </a:srgb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1921962" y="4641050"/>
            <a:ext cx="1252989" cy="1380238"/>
            <a:chOff x="1990542" y="4545124"/>
            <a:chExt cx="1380732" cy="1567016"/>
          </a:xfrm>
        </p:grpSpPr>
        <p:grpSp>
          <p:nvGrpSpPr>
            <p:cNvPr id="5" name="그룹 4"/>
            <p:cNvGrpSpPr/>
            <p:nvPr/>
          </p:nvGrpSpPr>
          <p:grpSpPr>
            <a:xfrm>
              <a:off x="1990542" y="4545124"/>
              <a:ext cx="1380732" cy="457004"/>
              <a:chOff x="1967132" y="4545124"/>
              <a:chExt cx="1240908" cy="457004"/>
            </a:xfrm>
          </p:grpSpPr>
          <p:sp>
            <p:nvSpPr>
              <p:cNvPr id="34" name="모서리가 둥근 직사각형 33"/>
              <p:cNvSpPr/>
              <p:nvPr/>
            </p:nvSpPr>
            <p:spPr>
              <a:xfrm>
                <a:off x="2055912" y="4642088"/>
                <a:ext cx="1152128" cy="36004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2" name="모서리가 둥근 직사각형 31"/>
              <p:cNvSpPr/>
              <p:nvPr/>
            </p:nvSpPr>
            <p:spPr>
              <a:xfrm>
                <a:off x="2010192" y="4596368"/>
                <a:ext cx="1152128" cy="36004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" name="모서리가 둥근 직사각형 2"/>
              <p:cNvSpPr/>
              <p:nvPr/>
            </p:nvSpPr>
            <p:spPr>
              <a:xfrm>
                <a:off x="1967132" y="4545124"/>
                <a:ext cx="1152128" cy="36004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k</a:t>
                </a:r>
                <a:r>
                  <a:rPr lang="en-US" altLang="ko-KR" sz="1000" dirty="0" smtClean="0">
                    <a:solidFill>
                      <a:schemeClr val="tx1"/>
                    </a:solidFill>
                    <a:latin typeface="+mn-ea"/>
                  </a:rPr>
                  <a:t>eyword chunks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1990542" y="5100130"/>
              <a:ext cx="1380732" cy="457004"/>
              <a:chOff x="1967132" y="4545124"/>
              <a:chExt cx="1240908" cy="457004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37" name="모서리가 둥근 직사각형 36"/>
              <p:cNvSpPr/>
              <p:nvPr/>
            </p:nvSpPr>
            <p:spPr>
              <a:xfrm>
                <a:off x="2055912" y="464208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8" name="모서리가 둥근 직사각형 37"/>
              <p:cNvSpPr/>
              <p:nvPr/>
            </p:nvSpPr>
            <p:spPr>
              <a:xfrm>
                <a:off x="2010192" y="459636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9" name="모서리가 둥근 직사각형 38"/>
              <p:cNvSpPr/>
              <p:nvPr/>
            </p:nvSpPr>
            <p:spPr>
              <a:xfrm>
                <a:off x="1967132" y="4545124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rIns="36000"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v</a:t>
                </a:r>
                <a:r>
                  <a:rPr lang="en-US" altLang="ko-KR" sz="1000" dirty="0" smtClean="0">
                    <a:solidFill>
                      <a:schemeClr val="tx1"/>
                    </a:solidFill>
                    <a:latin typeface="+mn-ea"/>
                  </a:rPr>
                  <a:t>ector chunks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40" name="그룹 39"/>
            <p:cNvGrpSpPr/>
            <p:nvPr/>
          </p:nvGrpSpPr>
          <p:grpSpPr>
            <a:xfrm>
              <a:off x="1990542" y="5655136"/>
              <a:ext cx="1380732" cy="457004"/>
              <a:chOff x="1967132" y="4545124"/>
              <a:chExt cx="1240908" cy="457004"/>
            </a:xfrm>
            <a:solidFill>
              <a:schemeClr val="bg2">
                <a:lumMod val="90000"/>
                <a:alpha val="50000"/>
              </a:schemeClr>
            </a:solidFill>
          </p:grpSpPr>
          <p:sp>
            <p:nvSpPr>
              <p:cNvPr id="41" name="모서리가 둥근 직사각형 40"/>
              <p:cNvSpPr/>
              <p:nvPr/>
            </p:nvSpPr>
            <p:spPr>
              <a:xfrm>
                <a:off x="2055912" y="464208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2" name="모서리가 둥근 직사각형 41"/>
              <p:cNvSpPr/>
              <p:nvPr/>
            </p:nvSpPr>
            <p:spPr>
              <a:xfrm>
                <a:off x="2010192" y="459636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3" name="모서리가 둥근 직사각형 42"/>
              <p:cNvSpPr/>
              <p:nvPr/>
            </p:nvSpPr>
            <p:spPr>
              <a:xfrm>
                <a:off x="1967132" y="4545124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+mn-ea"/>
                  </a:rPr>
                  <a:t>BM25 chunks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cxnSp>
        <p:nvCxnSpPr>
          <p:cNvPr id="8" name="꺾인 연결선 7"/>
          <p:cNvCxnSpPr>
            <a:stCxn id="34" idx="3"/>
          </p:cNvCxnSpPr>
          <p:nvPr/>
        </p:nvCxnSpPr>
        <p:spPr>
          <a:xfrm>
            <a:off x="3174951" y="4885020"/>
            <a:ext cx="748977" cy="48885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37" idx="3"/>
          </p:cNvCxnSpPr>
          <p:nvPr/>
        </p:nvCxnSpPr>
        <p:spPr>
          <a:xfrm flipV="1">
            <a:off x="3174951" y="5373872"/>
            <a:ext cx="74897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3952698" y="4870451"/>
            <a:ext cx="998857" cy="964541"/>
            <a:chOff x="4316675" y="4596368"/>
            <a:chExt cx="1281948" cy="1095066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4316675" y="4596368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rank1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4316675" y="4779377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rank2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316675" y="4962386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rank3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4316675" y="5145395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rank4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4316675" y="532840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rank5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4316675" y="551141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…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63" name="꺾인 연결선 62"/>
          <p:cNvCxnSpPr>
            <a:stCxn id="41" idx="3"/>
          </p:cNvCxnSpPr>
          <p:nvPr/>
        </p:nvCxnSpPr>
        <p:spPr>
          <a:xfrm flipV="1">
            <a:off x="3174951" y="5373873"/>
            <a:ext cx="748977" cy="48885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/>
          <p:cNvGrpSpPr/>
          <p:nvPr/>
        </p:nvGrpSpPr>
        <p:grpSpPr>
          <a:xfrm>
            <a:off x="5653272" y="4870451"/>
            <a:ext cx="998857" cy="964541"/>
            <a:chOff x="4316675" y="4596368"/>
            <a:chExt cx="1281948" cy="1095066"/>
          </a:xfrm>
        </p:grpSpPr>
        <p:sp>
          <p:nvSpPr>
            <p:cNvPr id="67" name="모서리가 둥근 직사각형 66"/>
            <p:cNvSpPr/>
            <p:nvPr/>
          </p:nvSpPr>
          <p:spPr>
            <a:xfrm>
              <a:off x="4316675" y="4596368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rank1 chunk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4316675" y="4779377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rank2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4316675" y="4962386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rank3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2" name="모서리가 둥근 직사각형 71"/>
            <p:cNvSpPr/>
            <p:nvPr/>
          </p:nvSpPr>
          <p:spPr>
            <a:xfrm>
              <a:off x="4316675" y="5145395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rank4 chunk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4316675" y="532840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rank5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모서리가 둥근 직사각형 74"/>
            <p:cNvSpPr/>
            <p:nvPr/>
          </p:nvSpPr>
          <p:spPr>
            <a:xfrm>
              <a:off x="4316675" y="551141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…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  <p:sp>
        <p:nvSpPr>
          <p:cNvPr id="76" name="모서리가 둥근 직사각형 75"/>
          <p:cNvSpPr/>
          <p:nvPr/>
        </p:nvSpPr>
        <p:spPr>
          <a:xfrm>
            <a:off x="7268591" y="4593606"/>
            <a:ext cx="1657624" cy="149969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smtClean="0">
                <a:latin typeface="+mn-ea"/>
              </a:rPr>
              <a:t>Prompt:</a:t>
            </a:r>
          </a:p>
          <a:p>
            <a:r>
              <a:rPr lang="ko-KR" altLang="en-US" sz="1000" dirty="0" smtClean="0">
                <a:latin typeface="+mn-ea"/>
              </a:rPr>
              <a:t>아래 참고문서를 참조하여 질문에 대한 답변을 생성하세요</a:t>
            </a:r>
            <a:r>
              <a:rPr lang="en-US" altLang="ko-KR" sz="1000" dirty="0" smtClean="0">
                <a:latin typeface="+mn-ea"/>
              </a:rPr>
              <a:t>.</a:t>
            </a:r>
            <a:br>
              <a:rPr lang="en-US" altLang="ko-KR" sz="1000" dirty="0" smtClean="0">
                <a:latin typeface="+mn-ea"/>
              </a:rPr>
            </a:br>
            <a:r>
              <a:rPr lang="en-US" altLang="ko-KR" sz="1000" dirty="0" smtClean="0">
                <a:latin typeface="+mn-ea"/>
              </a:rPr>
              <a:t>&lt;</a:t>
            </a:r>
            <a:r>
              <a:rPr lang="ko-KR" altLang="en-US" sz="1000" dirty="0" smtClean="0">
                <a:latin typeface="+mn-ea"/>
              </a:rPr>
              <a:t>참조문서</a:t>
            </a:r>
            <a:r>
              <a:rPr lang="en-US" altLang="ko-KR" sz="1000" dirty="0" smtClean="0">
                <a:latin typeface="+mn-ea"/>
              </a:rPr>
              <a:t>&gt;</a:t>
            </a:r>
          </a:p>
          <a:p>
            <a:r>
              <a:rPr lang="en-US" altLang="ko-KR" sz="1000" dirty="0">
                <a:latin typeface="+mn-ea"/>
              </a:rPr>
              <a:t>c</a:t>
            </a:r>
            <a:r>
              <a:rPr lang="en-US" altLang="ko-KR" sz="1000" dirty="0" smtClean="0">
                <a:latin typeface="+mn-ea"/>
              </a:rPr>
              <a:t>hunk2 …..</a:t>
            </a:r>
          </a:p>
          <a:p>
            <a:r>
              <a:rPr lang="en-US" altLang="ko-KR" sz="1000" dirty="0" smtClean="0">
                <a:latin typeface="+mn-ea"/>
              </a:rPr>
              <a:t>chunk3 …..</a:t>
            </a:r>
          </a:p>
          <a:p>
            <a:r>
              <a:rPr lang="en-US" altLang="ko-KR" sz="1000" dirty="0" smtClean="0">
                <a:latin typeface="+mn-ea"/>
              </a:rPr>
              <a:t>chunk5 …..</a:t>
            </a:r>
          </a:p>
          <a:p>
            <a:r>
              <a:rPr lang="en-US" altLang="ko-KR" sz="1000" dirty="0" smtClean="0">
                <a:latin typeface="+mn-ea"/>
              </a:rPr>
              <a:t>&lt;</a:t>
            </a:r>
            <a:r>
              <a:rPr lang="ko-KR" altLang="en-US" sz="1000" dirty="0" smtClean="0">
                <a:latin typeface="+mn-ea"/>
              </a:rPr>
              <a:t>질문</a:t>
            </a:r>
            <a:r>
              <a:rPr lang="en-US" altLang="ko-KR" sz="1000" dirty="0" smtClean="0">
                <a:latin typeface="+mn-ea"/>
              </a:rPr>
              <a:t>&gt; </a:t>
            </a:r>
            <a:r>
              <a:rPr lang="ko-KR" altLang="en-US" sz="1000" dirty="0" smtClean="0">
                <a:latin typeface="+mn-ea"/>
              </a:rPr>
              <a:t>해법이 뭐야</a:t>
            </a:r>
            <a:r>
              <a:rPr lang="en-US" altLang="ko-KR" sz="1000" dirty="0" smtClean="0">
                <a:latin typeface="+mn-ea"/>
              </a:rPr>
              <a:t>?</a:t>
            </a:r>
            <a:endParaRPr lang="ko-KR" altLang="en-US" sz="1000" dirty="0">
              <a:latin typeface="+mn-ea"/>
            </a:endParaRPr>
          </a:p>
        </p:txBody>
      </p:sp>
      <p:cxnSp>
        <p:nvCxnSpPr>
          <p:cNvPr id="77" name="직선 화살표 연결선 76"/>
          <p:cNvCxnSpPr/>
          <p:nvPr/>
        </p:nvCxnSpPr>
        <p:spPr>
          <a:xfrm flipV="1">
            <a:off x="5024577" y="5373872"/>
            <a:ext cx="53402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V="1">
            <a:off x="6752924" y="5348744"/>
            <a:ext cx="474047" cy="52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2610848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H="1">
            <a:off x="4501966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H="1">
            <a:off x="6141506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H="1">
            <a:off x="7983765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flipH="1">
            <a:off x="819883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모서리가 둥근 직사각형 94"/>
          <p:cNvSpPr/>
          <p:nvPr/>
        </p:nvSpPr>
        <p:spPr>
          <a:xfrm>
            <a:off x="225250" y="5020796"/>
            <a:ext cx="1125928" cy="5339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 smtClean="0">
                <a:latin typeface="+mn-ea"/>
              </a:rPr>
              <a:t>해법이 뭐야</a:t>
            </a:r>
            <a:r>
              <a:rPr lang="en-US" altLang="ko-KR" sz="1000" dirty="0" smtClean="0">
                <a:latin typeface="+mn-ea"/>
              </a:rPr>
              <a:t>?</a:t>
            </a:r>
            <a:endParaRPr lang="ko-KR" altLang="en-US" sz="1000" dirty="0">
              <a:latin typeface="+mn-ea"/>
            </a:endParaRPr>
          </a:p>
        </p:txBody>
      </p:sp>
      <p:cxnSp>
        <p:nvCxnSpPr>
          <p:cNvPr id="97" name="직선 화살표 연결선 96"/>
          <p:cNvCxnSpPr>
            <a:stCxn id="95" idx="3"/>
            <a:endCxn id="39" idx="1"/>
          </p:cNvCxnSpPr>
          <p:nvPr/>
        </p:nvCxnSpPr>
        <p:spPr>
          <a:xfrm>
            <a:off x="1351178" y="5287791"/>
            <a:ext cx="570784" cy="6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95" idx="3"/>
            <a:endCxn id="3" idx="1"/>
          </p:cNvCxnSpPr>
          <p:nvPr/>
        </p:nvCxnSpPr>
        <p:spPr>
          <a:xfrm flipV="1">
            <a:off x="1351178" y="4799613"/>
            <a:ext cx="570784" cy="48817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95" idx="3"/>
            <a:endCxn id="43" idx="1"/>
          </p:cNvCxnSpPr>
          <p:nvPr/>
        </p:nvCxnSpPr>
        <p:spPr>
          <a:xfrm>
            <a:off x="1351178" y="5287791"/>
            <a:ext cx="570784" cy="48952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0388" y="3780062"/>
            <a:ext cx="1714512" cy="369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그림 26" descr="BI_Konan LLM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26971" y="3780179"/>
            <a:ext cx="1699244" cy="368784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7"/>
          <a:stretch/>
        </p:blipFill>
        <p:spPr bwMode="auto">
          <a:xfrm>
            <a:off x="395536" y="1124744"/>
            <a:ext cx="987722" cy="70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82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RAG </a:t>
            </a:r>
            <a:r>
              <a:rPr lang="ko-KR" altLang="en-US" dirty="0" smtClean="0">
                <a:latin typeface="+mn-ea"/>
                <a:ea typeface="+mn-ea"/>
              </a:rPr>
              <a:t>데이터 구축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6</a:t>
            </a:fld>
            <a:endParaRPr lang="ko-KR" altLang="en-US" dirty="0">
              <a:latin typeface="+mn-ea"/>
            </a:endParaRPr>
          </a:p>
        </p:txBody>
      </p:sp>
      <p:sp>
        <p:nvSpPr>
          <p:cNvPr id="17410" name="AutoShape 2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AutoShape 4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57" name="그룹 56"/>
          <p:cNvGrpSpPr/>
          <p:nvPr/>
        </p:nvGrpSpPr>
        <p:grpSpPr>
          <a:xfrm>
            <a:off x="626159" y="2181883"/>
            <a:ext cx="1257075" cy="1137701"/>
            <a:chOff x="357158" y="1915473"/>
            <a:chExt cx="1257075" cy="1137701"/>
          </a:xfrm>
        </p:grpSpPr>
        <p:pic>
          <p:nvPicPr>
            <p:cNvPr id="35842" name="Picture 2"/>
            <p:cNvPicPr>
              <a:picLocks noChangeAspect="1" noChangeArrowheads="1"/>
            </p:cNvPicPr>
            <p:nvPr/>
          </p:nvPicPr>
          <p:blipFill>
            <a:blip r:embed="rId3"/>
            <a:srcRect l="10067" r="9395"/>
            <a:stretch>
              <a:fillRect/>
            </a:stretch>
          </p:blipFill>
          <p:spPr bwMode="auto">
            <a:xfrm>
              <a:off x="624394" y="1915473"/>
              <a:ext cx="732896" cy="7634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6" name="TextBox 55"/>
            <p:cNvSpPr txBox="1"/>
            <p:nvPr/>
          </p:nvSpPr>
          <p:spPr>
            <a:xfrm>
              <a:off x="357158" y="2714620"/>
              <a:ext cx="12570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/>
                <a:t>원천 데이터</a:t>
              </a:r>
              <a:endParaRPr lang="ko-KR" altLang="en-US" sz="1600" dirty="0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3059978" y="2123774"/>
            <a:ext cx="923767" cy="1195810"/>
            <a:chOff x="2426009" y="1928802"/>
            <a:chExt cx="923767" cy="1195810"/>
          </a:xfrm>
        </p:grpSpPr>
        <p:pic>
          <p:nvPicPr>
            <p:cNvPr id="35844" name="Picture 4"/>
            <p:cNvPicPr>
              <a:picLocks noChangeAspect="1" noChangeArrowheads="1"/>
            </p:cNvPicPr>
            <p:nvPr/>
          </p:nvPicPr>
          <p:blipFill>
            <a:blip r:embed="rId4"/>
            <a:srcRect l="9925" r="11350"/>
            <a:stretch>
              <a:fillRect/>
            </a:stretch>
          </p:blipFill>
          <p:spPr bwMode="auto">
            <a:xfrm>
              <a:off x="2426009" y="1928802"/>
              <a:ext cx="923767" cy="892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8" name="TextBox 57"/>
            <p:cNvSpPr txBox="1"/>
            <p:nvPr/>
          </p:nvSpPr>
          <p:spPr>
            <a:xfrm>
              <a:off x="2480454" y="2786058"/>
              <a:ext cx="8306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latin typeface="+mn-ea"/>
                </a:rPr>
                <a:t>chunks</a:t>
              </a:r>
              <a:endParaRPr lang="ko-KR" altLang="en-US" sz="1600" dirty="0">
                <a:latin typeface="+mn-ea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5050742" y="2016617"/>
            <a:ext cx="1388522" cy="1285884"/>
            <a:chOff x="4429124" y="1695852"/>
            <a:chExt cx="1388522" cy="1285884"/>
          </a:xfrm>
        </p:grpSpPr>
        <p:sp>
          <p:nvSpPr>
            <p:cNvPr id="50" name="TextBox 49"/>
            <p:cNvSpPr txBox="1"/>
            <p:nvPr/>
          </p:nvSpPr>
          <p:spPr>
            <a:xfrm>
              <a:off x="4429124" y="1695852"/>
              <a:ext cx="1388522" cy="1015663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{ 0.01, 014, 0.14… }</a:t>
              </a:r>
            </a:p>
            <a:p>
              <a:r>
                <a:rPr lang="en-US" altLang="ko-KR" sz="1200" dirty="0" smtClean="0"/>
                <a:t>{ 0.05, 018, 0.95… }</a:t>
              </a:r>
              <a:endParaRPr lang="ko-KR" altLang="en-US" sz="1200" dirty="0" smtClean="0"/>
            </a:p>
            <a:p>
              <a:r>
                <a:rPr lang="en-US" altLang="ko-KR" sz="1200" dirty="0" smtClean="0"/>
                <a:t>{ 0.01, 013, 0.21… }</a:t>
              </a:r>
            </a:p>
            <a:p>
              <a:r>
                <a:rPr lang="en-US" altLang="ko-KR" sz="1200" dirty="0" smtClean="0"/>
                <a:t>{ 0.01, 013, 0.21… }</a:t>
              </a:r>
              <a:endParaRPr lang="ko-KR" altLang="en-US" sz="1200" dirty="0" smtClean="0"/>
            </a:p>
            <a:p>
              <a:r>
                <a:rPr lang="en-US" altLang="ko-KR" sz="1200" dirty="0" smtClean="0"/>
                <a:t>….</a:t>
              </a:r>
              <a:endParaRPr lang="ko-KR" altLang="en-US" sz="1200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692242" y="2643182"/>
              <a:ext cx="8451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latin typeface="+mn-ea"/>
                </a:rPr>
                <a:t>vectors</a:t>
              </a:r>
              <a:endParaRPr lang="ko-KR" altLang="en-US" sz="1600" dirty="0">
                <a:latin typeface="+mn-ea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7263375" y="2230931"/>
            <a:ext cx="1341073" cy="1088653"/>
            <a:chOff x="6994374" y="1821645"/>
            <a:chExt cx="1341073" cy="1088653"/>
          </a:xfrm>
        </p:grpSpPr>
        <p:pic>
          <p:nvPicPr>
            <p:cNvPr id="35845" name="Picture 5"/>
            <p:cNvPicPr>
              <a:picLocks noChangeAspect="1" noChangeArrowheads="1"/>
            </p:cNvPicPr>
            <p:nvPr/>
          </p:nvPicPr>
          <p:blipFill>
            <a:blip r:embed="rId5"/>
            <a:srcRect l="22189" t="9615" r="20118"/>
            <a:stretch>
              <a:fillRect/>
            </a:stretch>
          </p:blipFill>
          <p:spPr bwMode="auto">
            <a:xfrm>
              <a:off x="7286644" y="1821645"/>
              <a:ext cx="790384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8" name="TextBox 67"/>
            <p:cNvSpPr txBox="1"/>
            <p:nvPr/>
          </p:nvSpPr>
          <p:spPr>
            <a:xfrm>
              <a:off x="6994374" y="2571744"/>
              <a:ext cx="13410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latin typeface="+mn-ea"/>
                </a:rPr>
                <a:t>RAG volume</a:t>
              </a:r>
              <a:endParaRPr lang="ko-KR" altLang="en-US" sz="1600" dirty="0">
                <a:latin typeface="+mn-ea"/>
              </a:endParaRPr>
            </a:p>
          </p:txBody>
        </p:sp>
      </p:grpSp>
      <p:cxnSp>
        <p:nvCxnSpPr>
          <p:cNvPr id="71" name="직선 화살표 연결선 70"/>
          <p:cNvCxnSpPr/>
          <p:nvPr/>
        </p:nvCxnSpPr>
        <p:spPr>
          <a:xfrm>
            <a:off x="2054919" y="2593398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>
            <a:off x="4126621" y="2593398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6626951" y="2593398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rot="5400000">
            <a:off x="1912837" y="3159625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912043" y="3731129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Chunking</a:t>
            </a:r>
            <a:endParaRPr lang="ko-KR" altLang="en-US" sz="1600" b="1" dirty="0">
              <a:latin typeface="+mn-ea"/>
            </a:endParaRPr>
          </a:p>
        </p:txBody>
      </p:sp>
      <p:cxnSp>
        <p:nvCxnSpPr>
          <p:cNvPr id="97" name="직선 연결선 96"/>
          <p:cNvCxnSpPr/>
          <p:nvPr/>
        </p:nvCxnSpPr>
        <p:spPr>
          <a:xfrm rot="5400000">
            <a:off x="3984539" y="3159625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863315" y="3731129"/>
            <a:ext cx="18085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Embedding</a:t>
            </a:r>
          </a:p>
          <a:p>
            <a:r>
              <a:rPr lang="en-US" altLang="ko-KR" sz="1400" dirty="0" smtClean="0">
                <a:latin typeface="+mn-ea"/>
              </a:rPr>
              <a:t>embedding-10 </a:t>
            </a:r>
            <a:r>
              <a:rPr lang="ko-KR" altLang="en-US" sz="1400" dirty="0" smtClean="0">
                <a:latin typeface="+mn-ea"/>
              </a:rPr>
              <a:t>모델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99" name="직선 연결선 98"/>
          <p:cNvCxnSpPr/>
          <p:nvPr/>
        </p:nvCxnSpPr>
        <p:spPr>
          <a:xfrm rot="5400000">
            <a:off x="6462423" y="3159625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644535" y="3731129"/>
            <a:ext cx="168680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Indexing</a:t>
            </a:r>
          </a:p>
          <a:p>
            <a:pPr>
              <a:buFontTx/>
              <a:buChar char="-"/>
            </a:pPr>
            <a:r>
              <a:rPr lang="ko-KR" altLang="en-US" sz="1400" smtClean="0">
                <a:latin typeface="+mn-ea"/>
              </a:rPr>
              <a:t> 키워드 </a:t>
            </a:r>
            <a:r>
              <a:rPr lang="ko-KR" altLang="en-US" sz="1400" dirty="0" smtClean="0">
                <a:latin typeface="+mn-ea"/>
              </a:rPr>
              <a:t>추</a:t>
            </a:r>
            <a:r>
              <a:rPr lang="ko-KR" altLang="en-US" sz="1400" dirty="0">
                <a:latin typeface="+mn-ea"/>
              </a:rPr>
              <a:t>출</a:t>
            </a:r>
            <a:endParaRPr lang="en-US" altLang="ko-KR" sz="1400" dirty="0" smtClean="0">
              <a:latin typeface="+mn-ea"/>
            </a:endParaRPr>
          </a:p>
          <a:p>
            <a:pPr>
              <a:buFontTx/>
              <a:buChar char="-"/>
            </a:pPr>
            <a:r>
              <a:rPr lang="en-US" altLang="ko-KR" sz="1400" dirty="0" smtClean="0">
                <a:latin typeface="+mn-ea"/>
              </a:rPr>
              <a:t> vector </a:t>
            </a:r>
            <a:r>
              <a:rPr lang="ko-KR" altLang="en-US" sz="1400" dirty="0" smtClean="0">
                <a:latin typeface="+mn-ea"/>
              </a:rPr>
              <a:t>색인</a:t>
            </a:r>
            <a:endParaRPr lang="en-US" altLang="ko-KR" sz="1400" dirty="0" smtClean="0">
              <a:latin typeface="+mn-ea"/>
            </a:endParaRPr>
          </a:p>
          <a:p>
            <a:pPr>
              <a:buFontTx/>
              <a:buChar char="-"/>
            </a:pPr>
            <a:r>
              <a:rPr lang="en-US" altLang="ko-KR" sz="1400" dirty="0" smtClean="0">
                <a:latin typeface="+mn-ea"/>
              </a:rPr>
              <a:t> </a:t>
            </a:r>
            <a:r>
              <a:rPr lang="en-US" altLang="ko-KR" sz="1400" dirty="0" err="1" smtClean="0">
                <a:latin typeface="+mn-ea"/>
              </a:rPr>
              <a:t>customfield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색인</a:t>
            </a:r>
            <a:endParaRPr lang="ko-KR" altLang="en-US" dirty="0">
              <a:latin typeface="+mn-ea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rot="5400000">
            <a:off x="769829" y="3944649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9899" y="4445509"/>
            <a:ext cx="13478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DATA </a:t>
            </a:r>
            <a:r>
              <a:rPr lang="ko-KR" altLang="en-US" sz="1600" b="1" dirty="0" smtClean="0">
                <a:latin typeface="+mn-ea"/>
              </a:rPr>
              <a:t>추출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- K-connector</a:t>
            </a:r>
          </a:p>
          <a:p>
            <a:r>
              <a:rPr lang="en-US" altLang="ko-KR" sz="1400" dirty="0" smtClean="0">
                <a:latin typeface="+mn-ea"/>
              </a:rPr>
              <a:t>- Text Filtering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Chunking (</a:t>
            </a:r>
            <a:r>
              <a:rPr lang="ko-KR" altLang="en-US" dirty="0" err="1" smtClean="0"/>
              <a:t>청킹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44791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Chunking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왜 </a:t>
            </a:r>
            <a:r>
              <a:rPr lang="en-US" altLang="ko-KR" sz="1600" b="1" dirty="0" smtClean="0">
                <a:latin typeface="+mn-ea"/>
              </a:rPr>
              <a:t>Chunking</a:t>
            </a:r>
            <a:r>
              <a:rPr lang="ko-KR" altLang="en-US" sz="1600" b="1" dirty="0" smtClean="0">
                <a:latin typeface="+mn-ea"/>
              </a:rPr>
              <a:t>이 필요한가</a:t>
            </a:r>
            <a:r>
              <a:rPr lang="en-US" altLang="ko-KR" sz="1600" b="1" dirty="0" smtClean="0">
                <a:latin typeface="+mn-ea"/>
              </a:rPr>
              <a:t>?</a:t>
            </a:r>
            <a:endParaRPr lang="en-US" altLang="ko-KR" sz="1600" b="1" dirty="0">
              <a:latin typeface="+mn-ea"/>
            </a:endParaRPr>
          </a:p>
          <a:p>
            <a:endParaRPr lang="en-US" altLang="ko-KR" sz="1400" b="1" dirty="0" smtClean="0">
              <a:latin typeface="+mn-ea"/>
            </a:endParaRPr>
          </a:p>
          <a:p>
            <a:r>
              <a:rPr lang="ko-KR" altLang="en-US" sz="1400" b="1" dirty="0" smtClean="0">
                <a:latin typeface="+mn-ea"/>
              </a:rPr>
              <a:t>너무 긴 문서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검색 결과가 “문서 전체”</a:t>
            </a:r>
            <a:r>
              <a:rPr lang="ko-KR" altLang="en-US" sz="1400" dirty="0" err="1" smtClean="0">
                <a:latin typeface="+mn-ea"/>
              </a:rPr>
              <a:t>로</a:t>
            </a:r>
            <a:r>
              <a:rPr lang="ko-KR" altLang="en-US" sz="1400" dirty="0" smtClean="0">
                <a:latin typeface="+mn-ea"/>
              </a:rPr>
              <a:t> 들어오면 핵심 근거가 묻힘 → 답변이 </a:t>
            </a:r>
            <a:r>
              <a:rPr lang="ko-KR" altLang="en-US" sz="1400" dirty="0" err="1" smtClean="0">
                <a:latin typeface="+mn-ea"/>
              </a:rPr>
              <a:t>두루뭉술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누락</a:t>
            </a:r>
          </a:p>
          <a:p>
            <a:r>
              <a:rPr lang="ko-KR" altLang="en-US" sz="1400" b="1" dirty="0" smtClean="0">
                <a:latin typeface="+mn-ea"/>
              </a:rPr>
              <a:t>관련 없는 내용 섞임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같은 문서 안의 다른 주제가 함께 들어와 </a:t>
            </a:r>
            <a:r>
              <a:rPr lang="ko-KR" altLang="en-US" sz="1400" b="1" dirty="0" smtClean="0">
                <a:latin typeface="+mn-ea"/>
              </a:rPr>
              <a:t>오답 유도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err="1" smtClean="0">
                <a:latin typeface="+mn-ea"/>
              </a:rPr>
              <a:t>컨텍스트</a:t>
            </a:r>
            <a:r>
              <a:rPr lang="ko-KR" altLang="en-US" sz="1400" dirty="0" smtClean="0">
                <a:latin typeface="+mn-ea"/>
              </a:rPr>
              <a:t> 오염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ko-KR" altLang="en-US" sz="1400" b="1" dirty="0" smtClean="0">
                <a:latin typeface="+mn-ea"/>
              </a:rPr>
              <a:t>토큰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smtClean="0">
                <a:latin typeface="+mn-ea"/>
              </a:rPr>
              <a:t>비용 증가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긴 문서 그대로 넣으면 컨텍스트가 커져 </a:t>
            </a:r>
            <a:r>
              <a:rPr lang="ko-KR" altLang="en-US" sz="1400" b="1" dirty="0" smtClean="0">
                <a:latin typeface="+mn-ea"/>
              </a:rPr>
              <a:t>비용↑</a:t>
            </a:r>
            <a:r>
              <a:rPr lang="en-US" altLang="ko-KR" sz="1400" b="1" dirty="0" smtClean="0">
                <a:latin typeface="+mn-ea"/>
              </a:rPr>
              <a:t>, </a:t>
            </a:r>
            <a:r>
              <a:rPr lang="ko-KR" altLang="en-US" sz="1400" b="1" dirty="0" smtClean="0">
                <a:latin typeface="+mn-ea"/>
              </a:rPr>
              <a:t>속도↓</a:t>
            </a:r>
            <a:endParaRPr lang="ko-KR" altLang="en-US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“좋은 </a:t>
            </a:r>
            <a:r>
              <a:rPr lang="en-US" altLang="ko-KR" sz="1600" b="1" dirty="0" smtClean="0">
                <a:latin typeface="+mn-ea"/>
              </a:rPr>
              <a:t>Chunk”</a:t>
            </a:r>
          </a:p>
          <a:p>
            <a:pPr>
              <a:buNone/>
            </a:pPr>
            <a:endParaRPr lang="en-US" altLang="ko-KR" sz="1400" b="1" dirty="0" smtClean="0">
              <a:latin typeface="+mn-ea"/>
            </a:endParaRPr>
          </a:p>
          <a:p>
            <a:r>
              <a:rPr lang="ko-KR" altLang="en-US" sz="1400" b="1" dirty="0" smtClean="0">
                <a:latin typeface="+mn-ea"/>
              </a:rPr>
              <a:t>너무 작지도</a:t>
            </a:r>
            <a:r>
              <a:rPr lang="en-US" altLang="ko-KR" sz="1400" b="1" dirty="0" smtClean="0">
                <a:latin typeface="+mn-ea"/>
              </a:rPr>
              <a:t>, </a:t>
            </a:r>
            <a:r>
              <a:rPr lang="ko-KR" altLang="en-US" sz="1400" b="1" dirty="0" smtClean="0">
                <a:latin typeface="+mn-ea"/>
              </a:rPr>
              <a:t>크지도 않게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한 </a:t>
            </a:r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가 한 주제를 담을 정도</a:t>
            </a:r>
            <a:r>
              <a:rPr lang="en-US" altLang="ko-KR" sz="1400" dirty="0" smtClean="0">
                <a:latin typeface="+mn-ea"/>
              </a:rPr>
              <a:t>(“</a:t>
            </a:r>
            <a:r>
              <a:rPr lang="ko-KR" altLang="en-US" sz="1400" dirty="0" smtClean="0">
                <a:latin typeface="+mn-ea"/>
              </a:rPr>
              <a:t>한 번에 이해 가능한 덩어리”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b="1" dirty="0" smtClean="0">
                <a:latin typeface="+mn-ea"/>
              </a:rPr>
              <a:t>Overlap(</a:t>
            </a:r>
            <a:r>
              <a:rPr lang="ko-KR" altLang="en-US" sz="1400" b="1" dirty="0" smtClean="0">
                <a:latin typeface="+mn-ea"/>
              </a:rPr>
              <a:t>겹침</a:t>
            </a:r>
            <a:r>
              <a:rPr lang="en-US" altLang="ko-KR" sz="1400" b="1" dirty="0" smtClean="0">
                <a:latin typeface="+mn-ea"/>
              </a:rPr>
              <a:t>) </a:t>
            </a:r>
            <a:r>
              <a:rPr lang="ko-KR" altLang="en-US" sz="1400" b="1" dirty="0" smtClean="0">
                <a:latin typeface="+mn-ea"/>
              </a:rPr>
              <a:t>고려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경계에서 의미가 끊기지 않게 일부 겹치게 저장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핵심 문장 보존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ko-KR" altLang="en-US" sz="1400" b="1" dirty="0" smtClean="0">
                <a:latin typeface="+mn-ea"/>
              </a:rPr>
              <a:t>메타데이터와 함께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err="1" smtClean="0">
                <a:latin typeface="+mn-ea"/>
              </a:rPr>
              <a:t>문서명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섹션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버전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날짜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권한 등으로 </a:t>
            </a:r>
            <a:r>
              <a:rPr lang="ko-KR" altLang="en-US" sz="1400" dirty="0" err="1" smtClean="0">
                <a:latin typeface="+mn-ea"/>
              </a:rPr>
              <a:t>필터링</a:t>
            </a:r>
            <a:r>
              <a:rPr lang="en-US" altLang="ko-KR" sz="1400" dirty="0" smtClean="0">
                <a:latin typeface="+mn-ea"/>
              </a:rPr>
              <a:t>·</a:t>
            </a:r>
            <a:r>
              <a:rPr lang="ko-KR" altLang="en-US" sz="1400" dirty="0" smtClean="0">
                <a:latin typeface="+mn-ea"/>
              </a:rPr>
              <a:t>정렬이 가능해짐</a:t>
            </a: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8</a:t>
            </a:fld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4607339" y="2867496"/>
            <a:ext cx="4429156" cy="1976041"/>
          </a:xfrm>
          <a:prstGeom prst="rect">
            <a:avLst/>
          </a:prstGeom>
          <a:solidFill>
            <a:srgbClr val="FFFF00">
              <a:alpha val="1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4607340" y="1428736"/>
            <a:ext cx="4429156" cy="1976041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4607340" y="4429133"/>
            <a:ext cx="4429156" cy="1928072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Chunking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9</a:t>
            </a:fld>
            <a:endParaRPr lang="ko-KR" altLang="en-US" dirty="0">
              <a:latin typeface="+mn-ea"/>
            </a:endParaRPr>
          </a:p>
        </p:txBody>
      </p:sp>
      <p:sp>
        <p:nvSpPr>
          <p:cNvPr id="17" name="TextBox 2"/>
          <p:cNvSpPr txBox="1"/>
          <p:nvPr/>
        </p:nvSpPr>
        <p:spPr>
          <a:xfrm>
            <a:off x="58356" y="1474264"/>
            <a:ext cx="4359587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dirty="0" err="1">
                <a:latin typeface="+mn-ea"/>
              </a:rPr>
              <a:t>코난테크놀로지는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1999</a:t>
            </a:r>
            <a:r>
              <a:rPr lang="ko-KR" altLang="en-US" sz="1050" dirty="0">
                <a:latin typeface="+mn-ea"/>
              </a:rPr>
              <a:t>년에 </a:t>
            </a:r>
            <a:r>
              <a:rPr lang="en-US" altLang="ko-KR" sz="1050" dirty="0">
                <a:latin typeface="+mn-ea"/>
                <a:hlinkClick r:id="rId3" tooltip="ETRI"/>
              </a:rPr>
              <a:t>ETRI</a:t>
            </a:r>
            <a:r>
              <a:rPr lang="ko-KR" altLang="en-US" sz="1050" dirty="0">
                <a:latin typeface="+mn-ea"/>
              </a:rPr>
              <a:t> 연구진과 교수진이 중심이 된 한국어 정보처리 정보검색 </a:t>
            </a:r>
            <a:r>
              <a:rPr lang="ko-KR" altLang="en-US" sz="1050" dirty="0" err="1">
                <a:latin typeface="+mn-ea"/>
              </a:rPr>
              <a:t>스터디</a:t>
            </a:r>
            <a:r>
              <a:rPr lang="ko-KR" altLang="en-US" sz="1050" dirty="0">
                <a:latin typeface="+mn-ea"/>
              </a:rPr>
              <a:t> 클럽인 </a:t>
            </a:r>
            <a:r>
              <a:rPr lang="en-US" altLang="ko-KR" sz="1050" dirty="0">
                <a:latin typeface="+mn-ea"/>
              </a:rPr>
              <a:t>KONAN(Korean Natural Language Analysis)</a:t>
            </a:r>
            <a:r>
              <a:rPr lang="ko-KR" altLang="en-US" sz="1050" dirty="0">
                <a:latin typeface="+mn-ea"/>
              </a:rPr>
              <a:t>을 모태로 </a:t>
            </a:r>
            <a:r>
              <a:rPr lang="ko-KR" altLang="en-US" sz="1050" dirty="0" err="1">
                <a:latin typeface="+mn-ea"/>
              </a:rPr>
              <a:t>스터디</a:t>
            </a:r>
            <a:r>
              <a:rPr lang="ko-KR" altLang="en-US" sz="1050" dirty="0">
                <a:latin typeface="+mn-ea"/>
              </a:rPr>
              <a:t> 그룹에 참여했던 현 대표이사인 </a:t>
            </a:r>
            <a:r>
              <a:rPr lang="ko-KR" altLang="en-US" sz="1050" dirty="0" err="1">
                <a:latin typeface="+mn-ea"/>
              </a:rPr>
              <a:t>김영섬과</a:t>
            </a:r>
            <a:r>
              <a:rPr lang="ko-KR" altLang="en-US" sz="1050" dirty="0">
                <a:latin typeface="+mn-ea"/>
              </a:rPr>
              <a:t> 양승현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윤덕호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김나리 등이 창업한 멀티미디어 정보검색 시스템 개발 회사이다</a:t>
            </a:r>
            <a:r>
              <a:rPr lang="en-US" altLang="ko-KR" sz="1050" dirty="0">
                <a:latin typeface="+mn-ea"/>
              </a:rPr>
              <a:t>. </a:t>
            </a:r>
            <a:endParaRPr lang="en-US" altLang="ko-KR" sz="1050" dirty="0" smtClean="0">
              <a:latin typeface="+mn-ea"/>
            </a:endParaRPr>
          </a:p>
          <a:p>
            <a:r>
              <a:rPr lang="ko-KR" altLang="en-US" sz="1050" dirty="0" smtClean="0">
                <a:latin typeface="+mn-ea"/>
              </a:rPr>
              <a:t>처음에는</a:t>
            </a:r>
            <a:r>
              <a:rPr lang="ko-KR" altLang="en-US" sz="1050" dirty="0">
                <a:latin typeface="+mn-ea"/>
              </a:rPr>
              <a:t> </a:t>
            </a:r>
            <a:r>
              <a:rPr lang="ko-KR" altLang="en-US" sz="1050" dirty="0">
                <a:latin typeface="+mn-ea"/>
                <a:hlinkClick r:id="rId4" tooltip="자연어"/>
              </a:rPr>
              <a:t>자연어</a:t>
            </a:r>
            <a:r>
              <a:rPr lang="ko-KR" altLang="en-US" sz="1050" dirty="0">
                <a:latin typeface="+mn-ea"/>
              </a:rPr>
              <a:t> 처리 기반의 검색엔진을 다뤘으며 현재는 </a:t>
            </a:r>
            <a:r>
              <a:rPr lang="ko-KR" altLang="en-US" sz="1050" dirty="0" err="1">
                <a:latin typeface="+mn-ea"/>
              </a:rPr>
              <a:t>수백억건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수십</a:t>
            </a:r>
            <a:r>
              <a:rPr lang="en-US" altLang="ko-KR" sz="1050" dirty="0">
                <a:latin typeface="+mn-ea"/>
              </a:rPr>
              <a:t>TB </a:t>
            </a:r>
            <a:r>
              <a:rPr lang="ko-KR" altLang="en-US" sz="1050" dirty="0">
                <a:latin typeface="+mn-ea"/>
              </a:rPr>
              <a:t>데이터의 저장</a:t>
            </a:r>
            <a:r>
              <a:rPr lang="en-US" altLang="ko-KR" sz="1050" dirty="0">
                <a:latin typeface="+mn-ea"/>
              </a:rPr>
              <a:t>·</a:t>
            </a:r>
            <a:r>
              <a:rPr lang="ko-KR" altLang="en-US" sz="1050" dirty="0">
                <a:latin typeface="+mn-ea"/>
              </a:rPr>
              <a:t>검색하고 처리할 수 있는 기반 기술을 마련하여 이를 기반으로 </a:t>
            </a:r>
            <a:r>
              <a:rPr lang="ko-KR" altLang="en-US" sz="1050" dirty="0" err="1">
                <a:latin typeface="+mn-ea"/>
                <a:hlinkClick r:id="rId5" tooltip="빅데이터"/>
              </a:rPr>
              <a:t>빅데이터</a:t>
            </a:r>
            <a:r>
              <a:rPr lang="ko-KR" altLang="en-US" sz="1050" dirty="0">
                <a:latin typeface="+mn-ea"/>
              </a:rPr>
              <a:t> 처리 플랫폼을 개발하고 운용하고 있다</a:t>
            </a:r>
            <a:r>
              <a:rPr lang="en-US" altLang="ko-KR" sz="1050" dirty="0">
                <a:latin typeface="+mn-ea"/>
              </a:rPr>
              <a:t>.</a:t>
            </a:r>
            <a:br>
              <a:rPr lang="en-US" altLang="ko-KR" sz="1050" dirty="0">
                <a:latin typeface="+mn-ea"/>
              </a:rPr>
            </a:br>
            <a:r>
              <a:rPr lang="en-US" altLang="ko-KR" sz="1050" dirty="0">
                <a:latin typeface="+mn-ea"/>
              </a:rPr>
              <a:t/>
            </a:r>
            <a:br>
              <a:rPr lang="en-US" altLang="ko-KR" sz="1050" dirty="0">
                <a:latin typeface="+mn-ea"/>
              </a:rPr>
            </a:br>
            <a:r>
              <a:rPr lang="ko-KR" altLang="en-US" sz="1050" dirty="0">
                <a:latin typeface="+mn-ea"/>
              </a:rPr>
              <a:t>자연어를 처리하는 ‘심층 텍스트 검색</a:t>
            </a:r>
            <a:r>
              <a:rPr lang="en-US" altLang="ko-KR" sz="1050" dirty="0">
                <a:latin typeface="+mn-ea"/>
              </a:rPr>
              <a:t>(AI for Text)’</a:t>
            </a:r>
            <a:r>
              <a:rPr lang="ko-KR" altLang="en-US" sz="1050" dirty="0">
                <a:latin typeface="+mn-ea"/>
              </a:rPr>
              <a:t>과 인공지능 기술로 영상을 분석하는 </a:t>
            </a:r>
            <a:r>
              <a:rPr lang="en-US" altLang="ko-KR" sz="1050" dirty="0">
                <a:latin typeface="+mn-ea"/>
              </a:rPr>
              <a:t>'</a:t>
            </a:r>
            <a:r>
              <a:rPr lang="ko-KR" altLang="en-US" sz="1050" dirty="0">
                <a:latin typeface="+mn-ea"/>
              </a:rPr>
              <a:t>영상인식</a:t>
            </a:r>
            <a:r>
              <a:rPr lang="en-US" altLang="ko-KR" sz="1050" dirty="0">
                <a:latin typeface="+mn-ea"/>
              </a:rPr>
              <a:t>(AI for Video)'</a:t>
            </a:r>
            <a:r>
              <a:rPr lang="ko-KR" altLang="en-US" sz="1050" dirty="0">
                <a:latin typeface="+mn-ea"/>
              </a:rPr>
              <a:t>까지 폭넓은 </a:t>
            </a:r>
            <a:r>
              <a:rPr lang="ko-KR" altLang="en-US" sz="1050" dirty="0" err="1">
                <a:latin typeface="+mn-ea"/>
              </a:rPr>
              <a:t>기술군을</a:t>
            </a:r>
            <a:r>
              <a:rPr lang="ko-KR" altLang="en-US" sz="1050" dirty="0">
                <a:latin typeface="+mn-ea"/>
              </a:rPr>
              <a:t> 아우르고 </a:t>
            </a:r>
            <a:r>
              <a:rPr lang="ko-KR" altLang="en-US" sz="1050" dirty="0" smtClean="0">
                <a:latin typeface="+mn-ea"/>
              </a:rPr>
              <a:t>있다</a:t>
            </a:r>
            <a:r>
              <a:rPr lang="en-US" altLang="ko-KR" sz="1050" dirty="0" smtClean="0">
                <a:latin typeface="+mn-ea"/>
              </a:rPr>
              <a:t>.</a:t>
            </a:r>
          </a:p>
          <a:p>
            <a:r>
              <a:rPr lang="en-US" altLang="ko-KR" sz="1050" dirty="0" smtClean="0">
                <a:latin typeface="+mn-ea"/>
              </a:rPr>
              <a:t>'AI </a:t>
            </a:r>
            <a:r>
              <a:rPr lang="en-US" altLang="ko-KR" sz="1050" dirty="0">
                <a:latin typeface="+mn-ea"/>
              </a:rPr>
              <a:t>for Text’ </a:t>
            </a:r>
            <a:r>
              <a:rPr lang="ko-KR" altLang="en-US" sz="1050" dirty="0">
                <a:latin typeface="+mn-ea"/>
              </a:rPr>
              <a:t>기술이 적용된 솔루션은 </a:t>
            </a:r>
            <a:r>
              <a:rPr lang="ko-KR" altLang="en-US" sz="1050" dirty="0" err="1">
                <a:latin typeface="+mn-ea"/>
              </a:rPr>
              <a:t>뉴럴서치엔진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Konan Search(</a:t>
            </a:r>
            <a:r>
              <a:rPr lang="ko-KR" altLang="en-US" sz="1050" dirty="0" err="1">
                <a:latin typeface="+mn-ea"/>
              </a:rPr>
              <a:t>코난서치</a:t>
            </a:r>
            <a:r>
              <a:rPr lang="en-US" altLang="ko-KR" sz="1050" dirty="0">
                <a:latin typeface="+mn-ea"/>
              </a:rPr>
              <a:t>), </a:t>
            </a:r>
            <a:r>
              <a:rPr lang="ko-KR" altLang="en-US" sz="1050" dirty="0">
                <a:latin typeface="+mn-ea"/>
              </a:rPr>
              <a:t>텍스트 분석 엔진 </a:t>
            </a:r>
            <a:r>
              <a:rPr lang="en-US" altLang="ko-KR" sz="1050" dirty="0">
                <a:latin typeface="+mn-ea"/>
              </a:rPr>
              <a:t>Konan Analytics(</a:t>
            </a:r>
            <a:r>
              <a:rPr lang="ko-KR" altLang="en-US" sz="1050" dirty="0" err="1">
                <a:latin typeface="+mn-ea"/>
              </a:rPr>
              <a:t>코난애널리틱스</a:t>
            </a:r>
            <a:r>
              <a:rPr lang="en-US" altLang="ko-KR" sz="1050" dirty="0">
                <a:latin typeface="+mn-ea"/>
              </a:rPr>
              <a:t>), </a:t>
            </a:r>
            <a:r>
              <a:rPr lang="ko-KR" altLang="en-US" sz="1050" dirty="0">
                <a:latin typeface="+mn-ea"/>
              </a:rPr>
              <a:t>대화형 인공지능 </a:t>
            </a:r>
            <a:r>
              <a:rPr lang="en-US" altLang="ko-KR" sz="1050" dirty="0">
                <a:latin typeface="+mn-ea"/>
              </a:rPr>
              <a:t>Konan </a:t>
            </a:r>
            <a:r>
              <a:rPr lang="en-US" altLang="ko-KR" sz="1050" dirty="0" err="1">
                <a:latin typeface="+mn-ea"/>
              </a:rPr>
              <a:t>Chatbot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 err="1">
                <a:latin typeface="+mn-ea"/>
              </a:rPr>
              <a:t>코난챗봇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이 있으며</a:t>
            </a:r>
            <a:r>
              <a:rPr lang="en-US" altLang="ko-KR" sz="1050" dirty="0">
                <a:latin typeface="+mn-ea"/>
              </a:rPr>
              <a:t>, ‘AI for Video’ </a:t>
            </a:r>
            <a:r>
              <a:rPr lang="ko-KR" altLang="en-US" sz="1050" dirty="0">
                <a:latin typeface="+mn-ea"/>
              </a:rPr>
              <a:t>기술이 적용된 솔루션은 비디오이해 </a:t>
            </a:r>
            <a:r>
              <a:rPr lang="en-US" altLang="ko-KR" sz="1050" dirty="0">
                <a:latin typeface="+mn-ea"/>
              </a:rPr>
              <a:t>AI</a:t>
            </a:r>
            <a:r>
              <a:rPr lang="ko-KR" altLang="en-US" sz="1050" dirty="0">
                <a:latin typeface="+mn-ea"/>
              </a:rPr>
              <a:t>솔루션 </a:t>
            </a:r>
            <a:r>
              <a:rPr lang="en-US" altLang="ko-KR" sz="1050" dirty="0">
                <a:latin typeface="+mn-ea"/>
              </a:rPr>
              <a:t>Konan Watcher(</a:t>
            </a:r>
            <a:r>
              <a:rPr lang="ko-KR" altLang="en-US" sz="1050" dirty="0" err="1">
                <a:latin typeface="+mn-ea"/>
              </a:rPr>
              <a:t>코난와처</a:t>
            </a:r>
            <a:r>
              <a:rPr lang="en-US" altLang="ko-KR" sz="1050" dirty="0">
                <a:latin typeface="+mn-ea"/>
              </a:rPr>
              <a:t>), </a:t>
            </a:r>
            <a:r>
              <a:rPr lang="ko-KR" altLang="en-US" sz="1050" dirty="0">
                <a:latin typeface="+mn-ea"/>
              </a:rPr>
              <a:t>인공지능 음성인식 </a:t>
            </a:r>
            <a:r>
              <a:rPr lang="en-US" altLang="ko-KR" sz="1050" dirty="0">
                <a:latin typeface="+mn-ea"/>
              </a:rPr>
              <a:t>Konan </a:t>
            </a:r>
            <a:r>
              <a:rPr lang="en-US" altLang="ko-KR" sz="1050" dirty="0" err="1">
                <a:latin typeface="+mn-ea"/>
              </a:rPr>
              <a:t>Listner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 err="1">
                <a:latin typeface="+mn-ea"/>
              </a:rPr>
              <a:t>코난리스너</a:t>
            </a:r>
            <a:r>
              <a:rPr lang="en-US" altLang="ko-KR" sz="1050" dirty="0">
                <a:latin typeface="+mn-ea"/>
              </a:rPr>
              <a:t>), </a:t>
            </a:r>
            <a:r>
              <a:rPr lang="ko-KR" altLang="en-US" sz="1050" dirty="0">
                <a:latin typeface="+mn-ea"/>
              </a:rPr>
              <a:t>인공지능 성우 </a:t>
            </a:r>
            <a:r>
              <a:rPr lang="en-US" altLang="ko-KR" sz="1050" dirty="0">
                <a:latin typeface="+mn-ea"/>
              </a:rPr>
              <a:t>Konan Voice(</a:t>
            </a:r>
            <a:r>
              <a:rPr lang="ko-KR" altLang="en-US" sz="1050" dirty="0" err="1">
                <a:latin typeface="+mn-ea"/>
              </a:rPr>
              <a:t>코난보이스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가 있다</a:t>
            </a:r>
            <a:r>
              <a:rPr lang="en-US" altLang="ko-KR" sz="1050" dirty="0">
                <a:latin typeface="+mn-ea"/>
              </a:rPr>
              <a:t>. </a:t>
            </a:r>
            <a:endParaRPr lang="en-US" altLang="ko-KR" sz="1050" dirty="0" smtClean="0">
              <a:latin typeface="+mn-ea"/>
            </a:endParaRPr>
          </a:p>
          <a:p>
            <a:endParaRPr lang="en-US" altLang="ko-KR" sz="1050" dirty="0" smtClean="0">
              <a:latin typeface="+mn-ea"/>
            </a:endParaRPr>
          </a:p>
          <a:p>
            <a:r>
              <a:rPr lang="ko-KR" altLang="en-US" sz="1050" dirty="0" smtClean="0">
                <a:latin typeface="+mn-ea"/>
              </a:rPr>
              <a:t>이와 </a:t>
            </a:r>
            <a:r>
              <a:rPr lang="ko-KR" altLang="en-US" sz="1050" dirty="0">
                <a:latin typeface="+mn-ea"/>
              </a:rPr>
              <a:t>같은 기술력을 바탕으로 설립 이래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천 곳이 넘는 고객 </a:t>
            </a:r>
            <a:r>
              <a:rPr lang="ko-KR" altLang="en-US" sz="1050" dirty="0" err="1">
                <a:latin typeface="+mn-ea"/>
              </a:rPr>
              <a:t>레퍼런스를</a:t>
            </a:r>
            <a:r>
              <a:rPr lang="ko-KR" altLang="en-US" sz="1050" dirty="0">
                <a:latin typeface="+mn-ea"/>
              </a:rPr>
              <a:t> 보유하며 품질을 인정받고 있다</a:t>
            </a:r>
            <a:r>
              <a:rPr lang="en-US" altLang="ko-KR" sz="1050" dirty="0">
                <a:latin typeface="+mn-ea"/>
              </a:rPr>
              <a:t>.</a:t>
            </a:r>
            <a:br>
              <a:rPr lang="en-US" altLang="ko-KR" sz="1050" dirty="0">
                <a:latin typeface="+mn-ea"/>
              </a:rPr>
            </a:br>
            <a:endParaRPr lang="en-US" altLang="ko-KR" sz="1050" dirty="0" smtClean="0">
              <a:latin typeface="+mn-ea"/>
            </a:endParaRPr>
          </a:p>
          <a:p>
            <a:r>
              <a:rPr lang="en-US" altLang="ko-KR" sz="1050" dirty="0" smtClean="0">
                <a:latin typeface="+mn-ea"/>
              </a:rPr>
              <a:t>2001</a:t>
            </a:r>
            <a:r>
              <a:rPr lang="ko-KR" altLang="en-US" sz="1050" dirty="0">
                <a:latin typeface="+mn-ea"/>
              </a:rPr>
              <a:t>년 </a:t>
            </a:r>
            <a:r>
              <a:rPr lang="en-US" altLang="ko-KR" sz="1050" dirty="0">
                <a:latin typeface="+mn-ea"/>
              </a:rPr>
              <a:t>6</a:t>
            </a:r>
            <a:r>
              <a:rPr lang="ko-KR" altLang="en-US" sz="1050" dirty="0">
                <a:latin typeface="+mn-ea"/>
              </a:rPr>
              <a:t>월 </a:t>
            </a:r>
            <a:r>
              <a:rPr lang="en-US" altLang="ko-KR" sz="1050" dirty="0">
                <a:latin typeface="+mn-ea"/>
              </a:rPr>
              <a:t>26</a:t>
            </a:r>
            <a:r>
              <a:rPr lang="ko-KR" altLang="en-US" sz="1050" dirty="0">
                <a:latin typeface="+mn-ea"/>
              </a:rPr>
              <a:t>일 </a:t>
            </a:r>
            <a:r>
              <a:rPr lang="ko-KR" altLang="en-US" sz="1050" dirty="0" err="1">
                <a:latin typeface="+mn-ea"/>
                <a:hlinkClick r:id="rId6" tooltip="엠파스"/>
              </a:rPr>
              <a:t>엠파스</a:t>
            </a:r>
            <a:r>
              <a:rPr lang="ko-KR" altLang="en-US" sz="1050" dirty="0" err="1">
                <a:latin typeface="+mn-ea"/>
              </a:rPr>
              <a:t>와</a:t>
            </a:r>
            <a:r>
              <a:rPr lang="ko-KR" altLang="en-US" sz="1050" dirty="0">
                <a:latin typeface="+mn-ea"/>
              </a:rPr>
              <a:t> 공동으로 </a:t>
            </a:r>
            <a:r>
              <a:rPr lang="ko-KR" altLang="en-US" sz="1050" dirty="0" err="1">
                <a:latin typeface="+mn-ea"/>
              </a:rPr>
              <a:t>엠파스</a:t>
            </a:r>
            <a:r>
              <a:rPr lang="en-US" altLang="ko-KR" sz="1050" dirty="0">
                <a:latin typeface="+mn-ea"/>
              </a:rPr>
              <a:t>XP </a:t>
            </a:r>
            <a:r>
              <a:rPr lang="ko-KR" altLang="en-US" sz="1050" dirty="0">
                <a:latin typeface="+mn-ea"/>
              </a:rPr>
              <a:t>검색 엔진을 개발하여 서비스하였으며</a:t>
            </a:r>
            <a:r>
              <a:rPr lang="en-US" altLang="ko-KR" sz="1050" dirty="0">
                <a:latin typeface="+mn-ea"/>
              </a:rPr>
              <a:t>, 2003</a:t>
            </a:r>
            <a:r>
              <a:rPr lang="ko-KR" altLang="en-US" sz="1050" dirty="0">
                <a:latin typeface="+mn-ea"/>
              </a:rPr>
              <a:t>년 </a:t>
            </a:r>
            <a:r>
              <a:rPr lang="en-US" altLang="ko-KR" sz="1050" dirty="0">
                <a:latin typeface="+mn-ea"/>
              </a:rPr>
              <a:t>6</a:t>
            </a:r>
            <a:r>
              <a:rPr lang="ko-KR" altLang="en-US" sz="1050" dirty="0">
                <a:latin typeface="+mn-ea"/>
              </a:rPr>
              <a:t>월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일에 </a:t>
            </a:r>
            <a:r>
              <a:rPr lang="ko-KR" altLang="en-US" sz="1050" dirty="0" err="1">
                <a:latin typeface="+mn-ea"/>
              </a:rPr>
              <a:t>엠파스와</a:t>
            </a:r>
            <a:r>
              <a:rPr lang="ko-KR" altLang="en-US" sz="1050" dirty="0">
                <a:latin typeface="+mn-ea"/>
              </a:rPr>
              <a:t> 함께 중국 웹 번역 서비스를 시작하였다</a:t>
            </a:r>
            <a:r>
              <a:rPr lang="en-US" altLang="ko-KR" sz="1050" dirty="0">
                <a:latin typeface="+mn-ea"/>
              </a:rPr>
              <a:t>. </a:t>
            </a:r>
            <a:endParaRPr lang="en-US" altLang="ko-KR" sz="1050" dirty="0" smtClean="0">
              <a:latin typeface="+mn-ea"/>
            </a:endParaRPr>
          </a:p>
          <a:p>
            <a:r>
              <a:rPr lang="en-US" altLang="ko-KR" sz="1050" dirty="0" smtClean="0">
                <a:latin typeface="+mn-ea"/>
              </a:rPr>
              <a:t>2006</a:t>
            </a:r>
            <a:r>
              <a:rPr lang="ko-KR" altLang="en-US" sz="1050" dirty="0">
                <a:latin typeface="+mn-ea"/>
              </a:rPr>
              <a:t>년 </a:t>
            </a:r>
            <a:r>
              <a:rPr lang="en-US" altLang="ko-KR" sz="1050" dirty="0">
                <a:latin typeface="+mn-ea"/>
              </a:rPr>
              <a:t>10</a:t>
            </a:r>
            <a:r>
              <a:rPr lang="ko-KR" altLang="en-US" sz="1050" dirty="0">
                <a:latin typeface="+mn-ea"/>
              </a:rPr>
              <a:t>월 </a:t>
            </a:r>
            <a:r>
              <a:rPr lang="en-US" altLang="ko-KR" sz="1050" dirty="0">
                <a:latin typeface="+mn-ea"/>
              </a:rPr>
              <a:t>19</a:t>
            </a:r>
            <a:r>
              <a:rPr lang="ko-KR" altLang="en-US" sz="1050" dirty="0">
                <a:latin typeface="+mn-ea"/>
              </a:rPr>
              <a:t>일 </a:t>
            </a:r>
            <a:r>
              <a:rPr lang="en-US" altLang="ko-KR" sz="1050" dirty="0">
                <a:latin typeface="+mn-ea"/>
                <a:hlinkClick r:id="rId7" tooltip="SK커뮤니케이션즈"/>
              </a:rPr>
              <a:t>SK</a:t>
            </a:r>
            <a:r>
              <a:rPr lang="ko-KR" altLang="en-US" sz="1050" dirty="0" err="1">
                <a:latin typeface="+mn-ea"/>
                <a:hlinkClick r:id="rId7" tooltip="SK커뮤니케이션즈"/>
              </a:rPr>
              <a:t>커뮤니케이션즈</a:t>
            </a:r>
            <a:r>
              <a:rPr lang="ko-KR" altLang="en-US" sz="1050" dirty="0" err="1">
                <a:latin typeface="+mn-ea"/>
              </a:rPr>
              <a:t>가</a:t>
            </a:r>
            <a:r>
              <a:rPr lang="ko-KR" altLang="en-US" sz="1050" dirty="0">
                <a:latin typeface="+mn-ea"/>
              </a:rPr>
              <a:t> </a:t>
            </a:r>
            <a:r>
              <a:rPr lang="ko-KR" altLang="en-US" sz="1050" dirty="0" err="1">
                <a:latin typeface="+mn-ea"/>
              </a:rPr>
              <a:t>코난테크놀로지</a:t>
            </a:r>
            <a:r>
              <a:rPr lang="ko-KR" altLang="en-US" sz="1050" dirty="0">
                <a:latin typeface="+mn-ea"/>
              </a:rPr>
              <a:t> 지분의 </a:t>
            </a:r>
            <a:r>
              <a:rPr lang="en-US" altLang="ko-KR" sz="1050" dirty="0">
                <a:latin typeface="+mn-ea"/>
              </a:rPr>
              <a:t>29.5%</a:t>
            </a:r>
            <a:r>
              <a:rPr lang="ko-KR" altLang="en-US" sz="1050" dirty="0">
                <a:latin typeface="+mn-ea"/>
              </a:rPr>
              <a:t>를 </a:t>
            </a:r>
            <a:r>
              <a:rPr lang="ko-KR" altLang="en-US" sz="1050" dirty="0" smtClean="0">
                <a:latin typeface="+mn-ea"/>
              </a:rPr>
              <a:t>인수했다</a:t>
            </a:r>
            <a:r>
              <a:rPr lang="en-US" altLang="ko-KR" sz="1050" dirty="0" smtClean="0">
                <a:latin typeface="+mn-ea"/>
              </a:rPr>
              <a:t>.</a:t>
            </a:r>
          </a:p>
          <a:p>
            <a:r>
              <a:rPr lang="ko-KR" altLang="en-US" sz="1050" dirty="0" smtClean="0">
                <a:latin typeface="+mn-ea"/>
              </a:rPr>
              <a:t>이를 </a:t>
            </a:r>
            <a:r>
              <a:rPr lang="ko-KR" altLang="en-US" sz="1050" dirty="0">
                <a:latin typeface="+mn-ea"/>
              </a:rPr>
              <a:t>계기로 </a:t>
            </a:r>
            <a:r>
              <a:rPr lang="ko-KR" altLang="en-US" sz="1050" dirty="0" err="1">
                <a:latin typeface="+mn-ea"/>
                <a:hlinkClick r:id="rId8" tooltip="네이트"/>
              </a:rPr>
              <a:t>네이트</a:t>
            </a:r>
            <a:r>
              <a:rPr lang="ko-KR" altLang="en-US" sz="1050" dirty="0" err="1">
                <a:latin typeface="+mn-ea"/>
              </a:rPr>
              <a:t>와</a:t>
            </a:r>
            <a:r>
              <a:rPr lang="ko-KR" altLang="en-US" sz="1050" dirty="0">
                <a:latin typeface="+mn-ea"/>
              </a:rPr>
              <a:t> </a:t>
            </a:r>
            <a:r>
              <a:rPr lang="ko-KR" altLang="en-US" sz="1050" dirty="0" err="1">
                <a:latin typeface="+mn-ea"/>
                <a:hlinkClick r:id="rId9" tooltip="싸이월드"/>
              </a:rPr>
              <a:t>싸이월드</a:t>
            </a:r>
            <a:r>
              <a:rPr lang="ko-KR" altLang="en-US" sz="1050" dirty="0" err="1">
                <a:latin typeface="+mn-ea"/>
              </a:rPr>
              <a:t>의</a:t>
            </a:r>
            <a:r>
              <a:rPr lang="ko-KR" altLang="en-US" sz="1050" dirty="0">
                <a:latin typeface="+mn-ea"/>
              </a:rPr>
              <a:t> 검색 </a:t>
            </a:r>
            <a:r>
              <a:rPr lang="en-US" altLang="ko-KR" sz="1050" dirty="0">
                <a:latin typeface="+mn-ea"/>
              </a:rPr>
              <a:t>R&amp;D</a:t>
            </a:r>
            <a:r>
              <a:rPr lang="ko-KR" altLang="en-US" sz="1050" dirty="0">
                <a:latin typeface="+mn-ea"/>
              </a:rPr>
              <a:t>를 담당하게 되었으며</a:t>
            </a:r>
            <a:r>
              <a:rPr lang="en-US" altLang="ko-KR" sz="1050" dirty="0">
                <a:latin typeface="+mn-ea"/>
              </a:rPr>
              <a:t>, 2009</a:t>
            </a:r>
            <a:r>
              <a:rPr lang="ko-KR" altLang="en-US" sz="1050" dirty="0">
                <a:latin typeface="+mn-ea"/>
              </a:rPr>
              <a:t>년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월 </a:t>
            </a:r>
            <a:r>
              <a:rPr lang="en-US" altLang="ko-KR" sz="1050" dirty="0">
                <a:latin typeface="+mn-ea"/>
              </a:rPr>
              <a:t>28</a:t>
            </a:r>
            <a:r>
              <a:rPr lang="ko-KR" altLang="en-US" sz="1050" dirty="0">
                <a:latin typeface="+mn-ea"/>
              </a:rPr>
              <a:t>일 </a:t>
            </a:r>
            <a:r>
              <a:rPr lang="en-US" altLang="ko-KR" sz="1050" dirty="0">
                <a:latin typeface="+mn-ea"/>
              </a:rPr>
              <a:t>SK</a:t>
            </a:r>
            <a:r>
              <a:rPr lang="ko-KR" altLang="en-US" sz="1050" dirty="0" err="1">
                <a:latin typeface="+mn-ea"/>
              </a:rPr>
              <a:t>커뮤니케이션즈가</a:t>
            </a:r>
            <a:r>
              <a:rPr lang="ko-KR" altLang="en-US" sz="1050" dirty="0">
                <a:latin typeface="+mn-ea"/>
              </a:rPr>
              <a:t> 운영하는 </a:t>
            </a:r>
            <a:r>
              <a:rPr lang="ko-KR" altLang="en-US" sz="1050" dirty="0" err="1">
                <a:latin typeface="+mn-ea"/>
              </a:rPr>
              <a:t>포털서비스인</a:t>
            </a:r>
            <a:r>
              <a:rPr lang="ko-KR" altLang="en-US" sz="1050" dirty="0">
                <a:latin typeface="+mn-ea"/>
              </a:rPr>
              <a:t> </a:t>
            </a:r>
            <a:r>
              <a:rPr lang="ko-KR" altLang="en-US" sz="1050" dirty="0" err="1">
                <a:latin typeface="+mn-ea"/>
              </a:rPr>
              <a:t>네이트에</a:t>
            </a:r>
            <a:r>
              <a:rPr lang="ko-KR" altLang="en-US" sz="1050" dirty="0">
                <a:latin typeface="+mn-ea"/>
              </a:rPr>
              <a:t> 자체 개발한 </a:t>
            </a:r>
            <a:r>
              <a:rPr lang="ko-KR" altLang="en-US" sz="1050" dirty="0" err="1">
                <a:latin typeface="+mn-ea"/>
              </a:rPr>
              <a:t>시맨틱</a:t>
            </a:r>
            <a:r>
              <a:rPr lang="ko-KR" altLang="en-US" sz="1050" dirty="0">
                <a:latin typeface="+mn-ea"/>
              </a:rPr>
              <a:t> 검색</a:t>
            </a:r>
            <a:r>
              <a:rPr lang="en-US" altLang="ko-KR" sz="1050" dirty="0">
                <a:latin typeface="+mn-ea"/>
              </a:rPr>
              <a:t>(Semantic Search) </a:t>
            </a:r>
            <a:r>
              <a:rPr lang="ko-KR" altLang="en-US" sz="1050" dirty="0">
                <a:latin typeface="+mn-ea"/>
              </a:rPr>
              <a:t>기술을 제공했다</a:t>
            </a:r>
            <a:r>
              <a:rPr lang="en-US" altLang="ko-KR" sz="1050" dirty="0" smtClean="0">
                <a:latin typeface="+mn-ea"/>
              </a:rPr>
              <a:t>.</a:t>
            </a:r>
            <a:endParaRPr lang="ko-KR" altLang="en-US" sz="1050" dirty="0">
              <a:latin typeface="+mn-e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0836" y="1000108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원본 문서</a:t>
            </a:r>
            <a:endParaRPr lang="ko-KR" altLang="en-US" dirty="0"/>
          </a:p>
        </p:txBody>
      </p:sp>
      <p:grpSp>
        <p:nvGrpSpPr>
          <p:cNvPr id="19" name="그룹 18"/>
          <p:cNvGrpSpPr/>
          <p:nvPr/>
        </p:nvGrpSpPr>
        <p:grpSpPr>
          <a:xfrm>
            <a:off x="4665410" y="1000108"/>
            <a:ext cx="4371086" cy="5537000"/>
            <a:chOff x="69741" y="1176206"/>
            <a:chExt cx="4371086" cy="5537000"/>
          </a:xfrm>
        </p:grpSpPr>
        <p:sp>
          <p:nvSpPr>
            <p:cNvPr id="22" name="TextBox 28"/>
            <p:cNvSpPr txBox="1"/>
            <p:nvPr/>
          </p:nvSpPr>
          <p:spPr>
            <a:xfrm>
              <a:off x="69742" y="1611809"/>
              <a:ext cx="4371085" cy="5101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50" dirty="0" err="1">
                  <a:latin typeface="+mn-ea"/>
                </a:rPr>
                <a:t>코난테크놀로지는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1999</a:t>
              </a:r>
              <a:r>
                <a:rPr lang="ko-KR" altLang="en-US" sz="1050" dirty="0">
                  <a:latin typeface="+mn-ea"/>
                </a:rPr>
                <a:t>년에 </a:t>
              </a:r>
              <a:r>
                <a:rPr lang="en-US" altLang="ko-KR" sz="1050" dirty="0">
                  <a:latin typeface="+mn-ea"/>
                  <a:hlinkClick r:id="rId3" tooltip="ETRI"/>
                </a:rPr>
                <a:t>ETRI</a:t>
              </a:r>
              <a:r>
                <a:rPr lang="ko-KR" altLang="en-US" sz="1050" dirty="0">
                  <a:latin typeface="+mn-ea"/>
                </a:rPr>
                <a:t> 연구진과 교수진이 중심이 된 한국어 정보처리 정보검색 </a:t>
              </a:r>
              <a:r>
                <a:rPr lang="ko-KR" altLang="en-US" sz="1050" dirty="0" err="1">
                  <a:latin typeface="+mn-ea"/>
                </a:rPr>
                <a:t>스터디</a:t>
              </a:r>
              <a:r>
                <a:rPr lang="ko-KR" altLang="en-US" sz="1050" dirty="0">
                  <a:latin typeface="+mn-ea"/>
                </a:rPr>
                <a:t> 클럽인 </a:t>
              </a:r>
              <a:r>
                <a:rPr lang="en-US" altLang="ko-KR" sz="1050" dirty="0">
                  <a:latin typeface="+mn-ea"/>
                </a:rPr>
                <a:t>KONAN(Korean Natural Language Analysis)</a:t>
              </a:r>
              <a:r>
                <a:rPr lang="ko-KR" altLang="en-US" sz="1050" dirty="0">
                  <a:latin typeface="+mn-ea"/>
                </a:rPr>
                <a:t>을 모태로 </a:t>
              </a:r>
              <a:r>
                <a:rPr lang="ko-KR" altLang="en-US" sz="1050" dirty="0" err="1">
                  <a:latin typeface="+mn-ea"/>
                </a:rPr>
                <a:t>스터디</a:t>
              </a:r>
              <a:r>
                <a:rPr lang="ko-KR" altLang="en-US" sz="1050" dirty="0">
                  <a:latin typeface="+mn-ea"/>
                </a:rPr>
                <a:t> 그룹에 참여했던 현 대표이사인 </a:t>
              </a:r>
              <a:r>
                <a:rPr lang="ko-KR" altLang="en-US" sz="1050" dirty="0" err="1">
                  <a:latin typeface="+mn-ea"/>
                </a:rPr>
                <a:t>김영섬과</a:t>
              </a:r>
              <a:r>
                <a:rPr lang="ko-KR" altLang="en-US" sz="1050" dirty="0">
                  <a:latin typeface="+mn-ea"/>
                </a:rPr>
                <a:t> 양승현</a:t>
              </a:r>
              <a:r>
                <a:rPr lang="en-US" altLang="ko-KR" sz="1050" dirty="0">
                  <a:latin typeface="+mn-ea"/>
                </a:rPr>
                <a:t>, </a:t>
              </a:r>
              <a:r>
                <a:rPr lang="ko-KR" altLang="en-US" sz="1050" dirty="0">
                  <a:latin typeface="+mn-ea"/>
                </a:rPr>
                <a:t>윤덕호</a:t>
              </a:r>
              <a:r>
                <a:rPr lang="en-US" altLang="ko-KR" sz="1050" dirty="0">
                  <a:latin typeface="+mn-ea"/>
                </a:rPr>
                <a:t>, </a:t>
              </a:r>
              <a:r>
                <a:rPr lang="ko-KR" altLang="en-US" sz="1050" dirty="0">
                  <a:latin typeface="+mn-ea"/>
                </a:rPr>
                <a:t>김나리 등이 창업한 멀티미디어 정보검색 시스템 개발 회사이다</a:t>
              </a:r>
              <a:r>
                <a:rPr lang="en-US" altLang="ko-KR" sz="1050" dirty="0">
                  <a:latin typeface="+mn-ea"/>
                </a:rPr>
                <a:t>. </a:t>
              </a:r>
              <a:endParaRPr lang="en-US" altLang="ko-KR" sz="1050" dirty="0" smtClean="0">
                <a:latin typeface="+mn-ea"/>
              </a:endParaRPr>
            </a:p>
            <a:p>
              <a:r>
                <a:rPr lang="ko-KR" altLang="en-US" sz="1050" dirty="0" smtClean="0">
                  <a:latin typeface="+mn-ea"/>
                </a:rPr>
                <a:t>처음에는</a:t>
              </a:r>
              <a:r>
                <a:rPr lang="ko-KR" altLang="en-US" sz="1050" dirty="0">
                  <a:latin typeface="+mn-ea"/>
                </a:rPr>
                <a:t> </a:t>
              </a:r>
              <a:r>
                <a:rPr lang="ko-KR" altLang="en-US" sz="1050" dirty="0">
                  <a:latin typeface="+mn-ea"/>
                  <a:hlinkClick r:id="rId4" tooltip="자연어"/>
                </a:rPr>
                <a:t>자연어</a:t>
              </a:r>
              <a:r>
                <a:rPr lang="ko-KR" altLang="en-US" sz="1050" dirty="0">
                  <a:latin typeface="+mn-ea"/>
                </a:rPr>
                <a:t> 처리 기반의 검색엔진을 다뤘으며 현재는 </a:t>
              </a:r>
              <a:r>
                <a:rPr lang="ko-KR" altLang="en-US" sz="1050" dirty="0" err="1">
                  <a:latin typeface="+mn-ea"/>
                </a:rPr>
                <a:t>수백억건</a:t>
              </a:r>
              <a:r>
                <a:rPr lang="en-US" altLang="ko-KR" sz="1050" dirty="0">
                  <a:latin typeface="+mn-ea"/>
                </a:rPr>
                <a:t>, </a:t>
              </a:r>
              <a:r>
                <a:rPr lang="ko-KR" altLang="en-US" sz="1050" dirty="0">
                  <a:latin typeface="+mn-ea"/>
                </a:rPr>
                <a:t>수십</a:t>
              </a:r>
              <a:r>
                <a:rPr lang="en-US" altLang="ko-KR" sz="1050" dirty="0">
                  <a:latin typeface="+mn-ea"/>
                </a:rPr>
                <a:t>TB </a:t>
              </a:r>
              <a:r>
                <a:rPr lang="ko-KR" altLang="en-US" sz="1050" dirty="0">
                  <a:latin typeface="+mn-ea"/>
                </a:rPr>
                <a:t>데이터의 저장</a:t>
              </a:r>
              <a:r>
                <a:rPr lang="en-US" altLang="ko-KR" sz="1050" dirty="0">
                  <a:latin typeface="+mn-ea"/>
                </a:rPr>
                <a:t>·</a:t>
              </a:r>
              <a:r>
                <a:rPr lang="ko-KR" altLang="en-US" sz="1050" dirty="0">
                  <a:latin typeface="+mn-ea"/>
                </a:rPr>
                <a:t>검색하고 처리할 수 있는 기반 기술을 마련하여 이를 기반으로 </a:t>
              </a:r>
              <a:r>
                <a:rPr lang="ko-KR" altLang="en-US" sz="1050" dirty="0" err="1">
                  <a:latin typeface="+mn-ea"/>
                  <a:hlinkClick r:id="rId5" tooltip="빅데이터"/>
                </a:rPr>
                <a:t>빅데이터</a:t>
              </a:r>
              <a:r>
                <a:rPr lang="ko-KR" altLang="en-US" sz="1050" dirty="0">
                  <a:latin typeface="+mn-ea"/>
                </a:rPr>
                <a:t> 처리 플랫폼을 개발하고 운용하고 있다</a:t>
              </a:r>
              <a:r>
                <a:rPr lang="en-US" altLang="ko-KR" sz="1050" dirty="0">
                  <a:latin typeface="+mn-ea"/>
                </a:rPr>
                <a:t>.</a:t>
              </a:r>
              <a:br>
                <a:rPr lang="en-US" altLang="ko-KR" sz="1050" dirty="0">
                  <a:latin typeface="+mn-ea"/>
                </a:rPr>
              </a:br>
              <a:r>
                <a:rPr lang="en-US" altLang="ko-KR" sz="1050" dirty="0">
                  <a:latin typeface="+mn-ea"/>
                </a:rPr>
                <a:t/>
              </a:r>
              <a:br>
                <a:rPr lang="en-US" altLang="ko-KR" sz="1050" dirty="0">
                  <a:latin typeface="+mn-ea"/>
                </a:rPr>
              </a:br>
              <a:r>
                <a:rPr lang="ko-KR" altLang="en-US" sz="1050" dirty="0">
                  <a:latin typeface="+mn-ea"/>
                </a:rPr>
                <a:t>자연어를 처리하는 ‘심층 텍스트 검색</a:t>
              </a:r>
              <a:r>
                <a:rPr lang="en-US" altLang="ko-KR" sz="1050" dirty="0">
                  <a:latin typeface="+mn-ea"/>
                </a:rPr>
                <a:t>(AI for Text)’</a:t>
              </a:r>
              <a:r>
                <a:rPr lang="ko-KR" altLang="en-US" sz="1050" dirty="0">
                  <a:latin typeface="+mn-ea"/>
                </a:rPr>
                <a:t>과 인공지능 기술로 영상을 분석하는 </a:t>
              </a:r>
              <a:r>
                <a:rPr lang="en-US" altLang="ko-KR" sz="1050" dirty="0">
                  <a:latin typeface="+mn-ea"/>
                </a:rPr>
                <a:t>'</a:t>
              </a:r>
              <a:r>
                <a:rPr lang="ko-KR" altLang="en-US" sz="1050" dirty="0">
                  <a:latin typeface="+mn-ea"/>
                </a:rPr>
                <a:t>영상인식</a:t>
              </a:r>
              <a:r>
                <a:rPr lang="en-US" altLang="ko-KR" sz="1050" dirty="0">
                  <a:latin typeface="+mn-ea"/>
                </a:rPr>
                <a:t>(AI for Video)'</a:t>
              </a:r>
              <a:r>
                <a:rPr lang="ko-KR" altLang="en-US" sz="1050" dirty="0">
                  <a:latin typeface="+mn-ea"/>
                </a:rPr>
                <a:t>까지 폭넓은 </a:t>
              </a:r>
              <a:r>
                <a:rPr lang="ko-KR" altLang="en-US" sz="1050" dirty="0" err="1">
                  <a:latin typeface="+mn-ea"/>
                </a:rPr>
                <a:t>기술군을</a:t>
              </a:r>
              <a:r>
                <a:rPr lang="ko-KR" altLang="en-US" sz="1050" dirty="0">
                  <a:latin typeface="+mn-ea"/>
                </a:rPr>
                <a:t> 아우르고 </a:t>
              </a:r>
              <a:r>
                <a:rPr lang="ko-KR" altLang="en-US" sz="1050" dirty="0" smtClean="0">
                  <a:latin typeface="+mn-ea"/>
                </a:rPr>
                <a:t>있다</a:t>
              </a:r>
              <a:r>
                <a:rPr lang="en-US" altLang="ko-KR" sz="1050" dirty="0" smtClean="0">
                  <a:latin typeface="+mn-ea"/>
                </a:rPr>
                <a:t>.</a:t>
              </a:r>
            </a:p>
            <a:p>
              <a:r>
                <a:rPr lang="en-US" altLang="ko-KR" sz="1050" dirty="0" smtClean="0">
                  <a:latin typeface="+mn-ea"/>
                </a:rPr>
                <a:t>'AI </a:t>
              </a:r>
              <a:r>
                <a:rPr lang="en-US" altLang="ko-KR" sz="1050" dirty="0">
                  <a:latin typeface="+mn-ea"/>
                </a:rPr>
                <a:t>for Text’ </a:t>
              </a:r>
              <a:r>
                <a:rPr lang="ko-KR" altLang="en-US" sz="1050" dirty="0">
                  <a:latin typeface="+mn-ea"/>
                </a:rPr>
                <a:t>기술이 적용된 솔루션은 </a:t>
              </a:r>
              <a:r>
                <a:rPr lang="ko-KR" altLang="en-US" sz="1050" dirty="0" err="1">
                  <a:latin typeface="+mn-ea"/>
                </a:rPr>
                <a:t>뉴럴서치엔진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Konan Search(</a:t>
              </a:r>
              <a:r>
                <a:rPr lang="ko-KR" altLang="en-US" sz="1050" dirty="0" err="1">
                  <a:latin typeface="+mn-ea"/>
                </a:rPr>
                <a:t>코난서치</a:t>
              </a:r>
              <a:r>
                <a:rPr lang="en-US" altLang="ko-KR" sz="1050" dirty="0">
                  <a:latin typeface="+mn-ea"/>
                </a:rPr>
                <a:t>), </a:t>
              </a:r>
              <a:r>
                <a:rPr lang="ko-KR" altLang="en-US" sz="1050" dirty="0">
                  <a:latin typeface="+mn-ea"/>
                </a:rPr>
                <a:t>텍스트 분석 엔진 </a:t>
              </a:r>
              <a:r>
                <a:rPr lang="en-US" altLang="ko-KR" sz="1050" dirty="0">
                  <a:latin typeface="+mn-ea"/>
                </a:rPr>
                <a:t>Konan Analytics(</a:t>
              </a:r>
              <a:r>
                <a:rPr lang="ko-KR" altLang="en-US" sz="1050" dirty="0" err="1">
                  <a:latin typeface="+mn-ea"/>
                </a:rPr>
                <a:t>코난애널리틱스</a:t>
              </a:r>
              <a:r>
                <a:rPr lang="en-US" altLang="ko-KR" sz="1050" dirty="0">
                  <a:latin typeface="+mn-ea"/>
                </a:rPr>
                <a:t>), </a:t>
              </a:r>
              <a:r>
                <a:rPr lang="ko-KR" altLang="en-US" sz="1050" dirty="0">
                  <a:latin typeface="+mn-ea"/>
                </a:rPr>
                <a:t>대화형 인공지능 </a:t>
              </a:r>
              <a:r>
                <a:rPr lang="en-US" altLang="ko-KR" sz="1050" dirty="0">
                  <a:latin typeface="+mn-ea"/>
                </a:rPr>
                <a:t>Konan </a:t>
              </a:r>
              <a:r>
                <a:rPr lang="en-US" altLang="ko-KR" sz="1050" dirty="0" err="1">
                  <a:latin typeface="+mn-ea"/>
                </a:rPr>
                <a:t>Chatbot</a:t>
              </a:r>
              <a:r>
                <a:rPr lang="en-US" altLang="ko-KR" sz="1050" dirty="0">
                  <a:latin typeface="+mn-ea"/>
                </a:rPr>
                <a:t>(</a:t>
              </a:r>
              <a:r>
                <a:rPr lang="ko-KR" altLang="en-US" sz="1050" dirty="0" err="1">
                  <a:latin typeface="+mn-ea"/>
                </a:rPr>
                <a:t>코난챗봇</a:t>
              </a:r>
              <a:r>
                <a:rPr lang="en-US" altLang="ko-KR" sz="1050" dirty="0">
                  <a:latin typeface="+mn-ea"/>
                </a:rPr>
                <a:t>)</a:t>
              </a:r>
              <a:r>
                <a:rPr lang="ko-KR" altLang="en-US" sz="1050" dirty="0">
                  <a:latin typeface="+mn-ea"/>
                </a:rPr>
                <a:t>이 있으며</a:t>
              </a:r>
              <a:r>
                <a:rPr lang="en-US" altLang="ko-KR" sz="1050" dirty="0">
                  <a:latin typeface="+mn-ea"/>
                </a:rPr>
                <a:t>, ‘AI for Video’ </a:t>
              </a:r>
              <a:r>
                <a:rPr lang="ko-KR" altLang="en-US" sz="1050" dirty="0">
                  <a:latin typeface="+mn-ea"/>
                </a:rPr>
                <a:t>기술이 적용된 솔루션은 비디오이해 </a:t>
              </a:r>
              <a:r>
                <a:rPr lang="en-US" altLang="ko-KR" sz="1050" dirty="0">
                  <a:latin typeface="+mn-ea"/>
                </a:rPr>
                <a:t>AI</a:t>
              </a:r>
              <a:r>
                <a:rPr lang="ko-KR" altLang="en-US" sz="1050" dirty="0">
                  <a:latin typeface="+mn-ea"/>
                </a:rPr>
                <a:t>솔루션 </a:t>
              </a:r>
              <a:r>
                <a:rPr lang="en-US" altLang="ko-KR" sz="1050" dirty="0">
                  <a:latin typeface="+mn-ea"/>
                </a:rPr>
                <a:t>Konan Watcher(</a:t>
              </a:r>
              <a:r>
                <a:rPr lang="ko-KR" altLang="en-US" sz="1050" dirty="0" err="1">
                  <a:latin typeface="+mn-ea"/>
                </a:rPr>
                <a:t>코난와처</a:t>
              </a:r>
              <a:r>
                <a:rPr lang="en-US" altLang="ko-KR" sz="1050" dirty="0">
                  <a:latin typeface="+mn-ea"/>
                </a:rPr>
                <a:t>), </a:t>
              </a:r>
              <a:r>
                <a:rPr lang="ko-KR" altLang="en-US" sz="1050" dirty="0">
                  <a:latin typeface="+mn-ea"/>
                </a:rPr>
                <a:t>인공지능 음성인식 </a:t>
              </a:r>
              <a:r>
                <a:rPr lang="en-US" altLang="ko-KR" sz="1050" dirty="0">
                  <a:latin typeface="+mn-ea"/>
                </a:rPr>
                <a:t>Konan </a:t>
              </a:r>
              <a:r>
                <a:rPr lang="en-US" altLang="ko-KR" sz="1050" dirty="0" err="1">
                  <a:latin typeface="+mn-ea"/>
                </a:rPr>
                <a:t>Listner</a:t>
              </a:r>
              <a:r>
                <a:rPr lang="en-US" altLang="ko-KR" sz="1050" dirty="0">
                  <a:latin typeface="+mn-ea"/>
                </a:rPr>
                <a:t>(</a:t>
              </a:r>
              <a:r>
                <a:rPr lang="ko-KR" altLang="en-US" sz="1050" dirty="0" err="1">
                  <a:latin typeface="+mn-ea"/>
                </a:rPr>
                <a:t>코난리스너</a:t>
              </a:r>
              <a:r>
                <a:rPr lang="en-US" altLang="ko-KR" sz="1050" dirty="0">
                  <a:latin typeface="+mn-ea"/>
                </a:rPr>
                <a:t>), </a:t>
              </a:r>
              <a:r>
                <a:rPr lang="ko-KR" altLang="en-US" sz="1050" dirty="0">
                  <a:latin typeface="+mn-ea"/>
                </a:rPr>
                <a:t>인공지능 성우 </a:t>
              </a:r>
              <a:r>
                <a:rPr lang="en-US" altLang="ko-KR" sz="1050" dirty="0">
                  <a:latin typeface="+mn-ea"/>
                </a:rPr>
                <a:t>Konan Voice(</a:t>
              </a:r>
              <a:r>
                <a:rPr lang="ko-KR" altLang="en-US" sz="1050" dirty="0" err="1">
                  <a:latin typeface="+mn-ea"/>
                </a:rPr>
                <a:t>코난보이스</a:t>
              </a:r>
              <a:r>
                <a:rPr lang="en-US" altLang="ko-KR" sz="1050" dirty="0">
                  <a:latin typeface="+mn-ea"/>
                </a:rPr>
                <a:t>)</a:t>
              </a:r>
              <a:r>
                <a:rPr lang="ko-KR" altLang="en-US" sz="1050" dirty="0">
                  <a:latin typeface="+mn-ea"/>
                </a:rPr>
                <a:t>가 있다</a:t>
              </a:r>
              <a:r>
                <a:rPr lang="en-US" altLang="ko-KR" sz="1050" dirty="0">
                  <a:latin typeface="+mn-ea"/>
                </a:rPr>
                <a:t>. </a:t>
              </a:r>
              <a:endParaRPr lang="en-US" altLang="ko-KR" sz="1050" dirty="0" smtClean="0">
                <a:latin typeface="+mn-ea"/>
              </a:endParaRPr>
            </a:p>
            <a:p>
              <a:endParaRPr lang="en-US" altLang="ko-KR" sz="1050" dirty="0" smtClean="0">
                <a:latin typeface="+mn-ea"/>
              </a:endParaRPr>
            </a:p>
            <a:p>
              <a:r>
                <a:rPr lang="ko-KR" altLang="en-US" sz="1050" dirty="0" smtClean="0">
                  <a:latin typeface="+mn-ea"/>
                </a:rPr>
                <a:t>이와 </a:t>
              </a:r>
              <a:r>
                <a:rPr lang="ko-KR" altLang="en-US" sz="1050" dirty="0">
                  <a:latin typeface="+mn-ea"/>
                </a:rPr>
                <a:t>같은 기술력을 바탕으로 설립 이래 </a:t>
              </a:r>
              <a:r>
                <a:rPr lang="en-US" altLang="ko-KR" sz="1050" dirty="0">
                  <a:latin typeface="+mn-ea"/>
                </a:rPr>
                <a:t>2</a:t>
              </a:r>
              <a:r>
                <a:rPr lang="ko-KR" altLang="en-US" sz="1050" dirty="0">
                  <a:latin typeface="+mn-ea"/>
                </a:rPr>
                <a:t>천 곳이 넘는 고객 </a:t>
              </a:r>
              <a:r>
                <a:rPr lang="ko-KR" altLang="en-US" sz="1050" dirty="0" err="1">
                  <a:latin typeface="+mn-ea"/>
                </a:rPr>
                <a:t>레퍼런스를</a:t>
              </a:r>
              <a:r>
                <a:rPr lang="ko-KR" altLang="en-US" sz="1050" dirty="0">
                  <a:latin typeface="+mn-ea"/>
                </a:rPr>
                <a:t> 보유하며 품질을 인정받고 있다</a:t>
              </a:r>
              <a:r>
                <a:rPr lang="en-US" altLang="ko-KR" sz="1050" dirty="0">
                  <a:latin typeface="+mn-ea"/>
                </a:rPr>
                <a:t>.</a:t>
              </a:r>
              <a:br>
                <a:rPr lang="en-US" altLang="ko-KR" sz="1050" dirty="0">
                  <a:latin typeface="+mn-ea"/>
                </a:rPr>
              </a:br>
              <a:endParaRPr lang="en-US" altLang="ko-KR" sz="1050" dirty="0" smtClean="0">
                <a:latin typeface="+mn-ea"/>
              </a:endParaRPr>
            </a:p>
            <a:p>
              <a:r>
                <a:rPr lang="en-US" altLang="ko-KR" sz="1050" dirty="0" smtClean="0">
                  <a:latin typeface="+mn-ea"/>
                </a:rPr>
                <a:t>2001</a:t>
              </a:r>
              <a:r>
                <a:rPr lang="ko-KR" altLang="en-US" sz="1050" dirty="0">
                  <a:latin typeface="+mn-ea"/>
                </a:rPr>
                <a:t>년 </a:t>
              </a:r>
              <a:r>
                <a:rPr lang="en-US" altLang="ko-KR" sz="1050" dirty="0">
                  <a:latin typeface="+mn-ea"/>
                </a:rPr>
                <a:t>6</a:t>
              </a:r>
              <a:r>
                <a:rPr lang="ko-KR" altLang="en-US" sz="1050" dirty="0">
                  <a:latin typeface="+mn-ea"/>
                </a:rPr>
                <a:t>월 </a:t>
              </a:r>
              <a:r>
                <a:rPr lang="en-US" altLang="ko-KR" sz="1050" dirty="0">
                  <a:latin typeface="+mn-ea"/>
                </a:rPr>
                <a:t>26</a:t>
              </a:r>
              <a:r>
                <a:rPr lang="ko-KR" altLang="en-US" sz="1050" dirty="0">
                  <a:latin typeface="+mn-ea"/>
                </a:rPr>
                <a:t>일 </a:t>
              </a:r>
              <a:r>
                <a:rPr lang="ko-KR" altLang="en-US" sz="1050" dirty="0" err="1">
                  <a:latin typeface="+mn-ea"/>
                  <a:hlinkClick r:id="rId6" tooltip="엠파스"/>
                </a:rPr>
                <a:t>엠파스</a:t>
              </a:r>
              <a:r>
                <a:rPr lang="ko-KR" altLang="en-US" sz="1050" dirty="0" err="1">
                  <a:latin typeface="+mn-ea"/>
                </a:rPr>
                <a:t>와</a:t>
              </a:r>
              <a:r>
                <a:rPr lang="ko-KR" altLang="en-US" sz="1050" dirty="0">
                  <a:latin typeface="+mn-ea"/>
                </a:rPr>
                <a:t> 공동으로 </a:t>
              </a:r>
              <a:r>
                <a:rPr lang="ko-KR" altLang="en-US" sz="1050" dirty="0" err="1">
                  <a:latin typeface="+mn-ea"/>
                </a:rPr>
                <a:t>엠파스</a:t>
              </a:r>
              <a:r>
                <a:rPr lang="en-US" altLang="ko-KR" sz="1050" dirty="0">
                  <a:latin typeface="+mn-ea"/>
                </a:rPr>
                <a:t>XP </a:t>
              </a:r>
              <a:r>
                <a:rPr lang="ko-KR" altLang="en-US" sz="1050" dirty="0">
                  <a:latin typeface="+mn-ea"/>
                </a:rPr>
                <a:t>검색 엔진을 개발하여 서비스하였으며</a:t>
              </a:r>
              <a:r>
                <a:rPr lang="en-US" altLang="ko-KR" sz="1050" dirty="0">
                  <a:latin typeface="+mn-ea"/>
                </a:rPr>
                <a:t>, 2003</a:t>
              </a:r>
              <a:r>
                <a:rPr lang="ko-KR" altLang="en-US" sz="1050" dirty="0">
                  <a:latin typeface="+mn-ea"/>
                </a:rPr>
                <a:t>년 </a:t>
              </a:r>
              <a:r>
                <a:rPr lang="en-US" altLang="ko-KR" sz="1050" dirty="0">
                  <a:latin typeface="+mn-ea"/>
                </a:rPr>
                <a:t>6</a:t>
              </a:r>
              <a:r>
                <a:rPr lang="ko-KR" altLang="en-US" sz="1050" dirty="0">
                  <a:latin typeface="+mn-ea"/>
                </a:rPr>
                <a:t>월 </a:t>
              </a:r>
              <a:r>
                <a:rPr lang="en-US" altLang="ko-KR" sz="1050" dirty="0">
                  <a:latin typeface="+mn-ea"/>
                </a:rPr>
                <a:t>2</a:t>
              </a:r>
              <a:r>
                <a:rPr lang="ko-KR" altLang="en-US" sz="1050" dirty="0">
                  <a:latin typeface="+mn-ea"/>
                </a:rPr>
                <a:t>일에 </a:t>
              </a:r>
              <a:r>
                <a:rPr lang="ko-KR" altLang="en-US" sz="1050" dirty="0" err="1">
                  <a:latin typeface="+mn-ea"/>
                </a:rPr>
                <a:t>엠파스와</a:t>
              </a:r>
              <a:r>
                <a:rPr lang="ko-KR" altLang="en-US" sz="1050" dirty="0">
                  <a:latin typeface="+mn-ea"/>
                </a:rPr>
                <a:t> 함께 중국 웹 번역 서비스를 시작하였다</a:t>
              </a:r>
              <a:r>
                <a:rPr lang="en-US" altLang="ko-KR" sz="1050" dirty="0">
                  <a:latin typeface="+mn-ea"/>
                </a:rPr>
                <a:t>. </a:t>
              </a:r>
              <a:endParaRPr lang="en-US" altLang="ko-KR" sz="1050" dirty="0" smtClean="0">
                <a:latin typeface="+mn-ea"/>
              </a:endParaRPr>
            </a:p>
            <a:p>
              <a:r>
                <a:rPr lang="en-US" altLang="ko-KR" sz="1050" dirty="0" smtClean="0">
                  <a:latin typeface="+mn-ea"/>
                </a:rPr>
                <a:t>2006</a:t>
              </a:r>
              <a:r>
                <a:rPr lang="ko-KR" altLang="en-US" sz="1050" dirty="0">
                  <a:latin typeface="+mn-ea"/>
                </a:rPr>
                <a:t>년 </a:t>
              </a:r>
              <a:r>
                <a:rPr lang="en-US" altLang="ko-KR" sz="1050" dirty="0">
                  <a:latin typeface="+mn-ea"/>
                </a:rPr>
                <a:t>10</a:t>
              </a:r>
              <a:r>
                <a:rPr lang="ko-KR" altLang="en-US" sz="1050" dirty="0">
                  <a:latin typeface="+mn-ea"/>
                </a:rPr>
                <a:t>월 </a:t>
              </a:r>
              <a:r>
                <a:rPr lang="en-US" altLang="ko-KR" sz="1050" dirty="0">
                  <a:latin typeface="+mn-ea"/>
                </a:rPr>
                <a:t>19</a:t>
              </a:r>
              <a:r>
                <a:rPr lang="ko-KR" altLang="en-US" sz="1050" dirty="0">
                  <a:latin typeface="+mn-ea"/>
                </a:rPr>
                <a:t>일 </a:t>
              </a:r>
              <a:r>
                <a:rPr lang="en-US" altLang="ko-KR" sz="1050" dirty="0">
                  <a:latin typeface="+mn-ea"/>
                  <a:hlinkClick r:id="rId7" tooltip="SK커뮤니케이션즈"/>
                </a:rPr>
                <a:t>SK</a:t>
              </a:r>
              <a:r>
                <a:rPr lang="ko-KR" altLang="en-US" sz="1050" dirty="0" err="1">
                  <a:latin typeface="+mn-ea"/>
                  <a:hlinkClick r:id="rId7" tooltip="SK커뮤니케이션즈"/>
                </a:rPr>
                <a:t>커뮤니케이션즈</a:t>
              </a:r>
              <a:r>
                <a:rPr lang="ko-KR" altLang="en-US" sz="1050" dirty="0" err="1">
                  <a:latin typeface="+mn-ea"/>
                </a:rPr>
                <a:t>가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ko-KR" altLang="en-US" sz="1050" dirty="0" err="1">
                  <a:latin typeface="+mn-ea"/>
                </a:rPr>
                <a:t>코난테크놀로지</a:t>
              </a:r>
              <a:r>
                <a:rPr lang="ko-KR" altLang="en-US" sz="1050" dirty="0">
                  <a:latin typeface="+mn-ea"/>
                </a:rPr>
                <a:t> 지분의 </a:t>
              </a:r>
              <a:r>
                <a:rPr lang="en-US" altLang="ko-KR" sz="1050" dirty="0">
                  <a:latin typeface="+mn-ea"/>
                </a:rPr>
                <a:t>29.5%</a:t>
              </a:r>
              <a:r>
                <a:rPr lang="ko-KR" altLang="en-US" sz="1050" dirty="0">
                  <a:latin typeface="+mn-ea"/>
                </a:rPr>
                <a:t>를 </a:t>
              </a:r>
              <a:r>
                <a:rPr lang="ko-KR" altLang="en-US" sz="1050" dirty="0" smtClean="0">
                  <a:latin typeface="+mn-ea"/>
                </a:rPr>
                <a:t>인수했다</a:t>
              </a:r>
              <a:r>
                <a:rPr lang="en-US" altLang="ko-KR" sz="1050" dirty="0" smtClean="0">
                  <a:latin typeface="+mn-ea"/>
                </a:rPr>
                <a:t>.</a:t>
              </a:r>
            </a:p>
            <a:p>
              <a:r>
                <a:rPr lang="ko-KR" altLang="en-US" sz="1050" dirty="0" smtClean="0">
                  <a:latin typeface="+mn-ea"/>
                </a:rPr>
                <a:t>이를 </a:t>
              </a:r>
              <a:r>
                <a:rPr lang="ko-KR" altLang="en-US" sz="1050" dirty="0">
                  <a:latin typeface="+mn-ea"/>
                </a:rPr>
                <a:t>계기로 </a:t>
              </a:r>
              <a:r>
                <a:rPr lang="ko-KR" altLang="en-US" sz="1050" dirty="0" err="1">
                  <a:latin typeface="+mn-ea"/>
                  <a:hlinkClick r:id="rId8" tooltip="네이트"/>
                </a:rPr>
                <a:t>네이트</a:t>
              </a:r>
              <a:r>
                <a:rPr lang="ko-KR" altLang="en-US" sz="1050" dirty="0" err="1">
                  <a:latin typeface="+mn-ea"/>
                </a:rPr>
                <a:t>와</a:t>
              </a:r>
              <a:r>
                <a:rPr lang="ko-KR" altLang="en-US" sz="1050" dirty="0">
                  <a:latin typeface="+mn-ea"/>
                </a:rPr>
                <a:t> </a:t>
              </a:r>
              <a:r>
                <a:rPr lang="ko-KR" altLang="en-US" sz="1050" dirty="0" err="1">
                  <a:latin typeface="+mn-ea"/>
                  <a:hlinkClick r:id="rId9" tooltip="싸이월드"/>
                </a:rPr>
                <a:t>싸이월드</a:t>
              </a:r>
              <a:r>
                <a:rPr lang="ko-KR" altLang="en-US" sz="1050" dirty="0" err="1">
                  <a:latin typeface="+mn-ea"/>
                </a:rPr>
                <a:t>의</a:t>
              </a:r>
              <a:r>
                <a:rPr lang="ko-KR" altLang="en-US" sz="1050" dirty="0">
                  <a:latin typeface="+mn-ea"/>
                </a:rPr>
                <a:t> 검색 </a:t>
              </a:r>
              <a:r>
                <a:rPr lang="en-US" altLang="ko-KR" sz="1050" dirty="0">
                  <a:latin typeface="+mn-ea"/>
                </a:rPr>
                <a:t>R&amp;D</a:t>
              </a:r>
              <a:r>
                <a:rPr lang="ko-KR" altLang="en-US" sz="1050" dirty="0">
                  <a:latin typeface="+mn-ea"/>
                </a:rPr>
                <a:t>를 담당하게 되었으며</a:t>
              </a:r>
              <a:r>
                <a:rPr lang="en-US" altLang="ko-KR" sz="1050" dirty="0">
                  <a:latin typeface="+mn-ea"/>
                </a:rPr>
                <a:t>, 2009</a:t>
              </a:r>
              <a:r>
                <a:rPr lang="ko-KR" altLang="en-US" sz="1050" dirty="0">
                  <a:latin typeface="+mn-ea"/>
                </a:rPr>
                <a:t>년 </a:t>
              </a:r>
              <a:r>
                <a:rPr lang="en-US" altLang="ko-KR" sz="1050" dirty="0">
                  <a:latin typeface="+mn-ea"/>
                </a:rPr>
                <a:t>2</a:t>
              </a:r>
              <a:r>
                <a:rPr lang="ko-KR" altLang="en-US" sz="1050" dirty="0">
                  <a:latin typeface="+mn-ea"/>
                </a:rPr>
                <a:t>월 </a:t>
              </a:r>
              <a:r>
                <a:rPr lang="en-US" altLang="ko-KR" sz="1050" dirty="0">
                  <a:latin typeface="+mn-ea"/>
                </a:rPr>
                <a:t>28</a:t>
              </a:r>
              <a:r>
                <a:rPr lang="ko-KR" altLang="en-US" sz="1050" dirty="0">
                  <a:latin typeface="+mn-ea"/>
                </a:rPr>
                <a:t>일 </a:t>
              </a:r>
              <a:r>
                <a:rPr lang="en-US" altLang="ko-KR" sz="1050" dirty="0">
                  <a:latin typeface="+mn-ea"/>
                </a:rPr>
                <a:t>SK</a:t>
              </a:r>
              <a:r>
                <a:rPr lang="ko-KR" altLang="en-US" sz="1050" dirty="0" err="1">
                  <a:latin typeface="+mn-ea"/>
                </a:rPr>
                <a:t>커뮤니케이션즈가</a:t>
              </a:r>
              <a:r>
                <a:rPr lang="ko-KR" altLang="en-US" sz="1050" dirty="0">
                  <a:latin typeface="+mn-ea"/>
                </a:rPr>
                <a:t> 운영하는 </a:t>
              </a:r>
              <a:r>
                <a:rPr lang="ko-KR" altLang="en-US" sz="1050" dirty="0" err="1">
                  <a:latin typeface="+mn-ea"/>
                </a:rPr>
                <a:t>포털서비스인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ko-KR" altLang="en-US" sz="1050" dirty="0" err="1">
                  <a:latin typeface="+mn-ea"/>
                </a:rPr>
                <a:t>네이트에</a:t>
              </a:r>
              <a:r>
                <a:rPr lang="ko-KR" altLang="en-US" sz="1050" dirty="0">
                  <a:latin typeface="+mn-ea"/>
                </a:rPr>
                <a:t> 자체 개발한 </a:t>
              </a:r>
              <a:r>
                <a:rPr lang="ko-KR" altLang="en-US" sz="1050" dirty="0" err="1">
                  <a:latin typeface="+mn-ea"/>
                </a:rPr>
                <a:t>시맨틱</a:t>
              </a:r>
              <a:r>
                <a:rPr lang="ko-KR" altLang="en-US" sz="1050" dirty="0">
                  <a:latin typeface="+mn-ea"/>
                </a:rPr>
                <a:t> 검색</a:t>
              </a:r>
              <a:r>
                <a:rPr lang="en-US" altLang="ko-KR" sz="1050" dirty="0">
                  <a:latin typeface="+mn-ea"/>
                </a:rPr>
                <a:t>(Semantic Search) </a:t>
              </a:r>
              <a:r>
                <a:rPr lang="ko-KR" altLang="en-US" sz="1050" dirty="0">
                  <a:latin typeface="+mn-ea"/>
                </a:rPr>
                <a:t>기술을 제공했다</a:t>
              </a:r>
              <a:r>
                <a:rPr lang="en-US" altLang="ko-KR" sz="1050" dirty="0">
                  <a:latin typeface="+mn-ea"/>
                </a:rPr>
                <a:t>.</a:t>
              </a:r>
              <a:br>
                <a:rPr lang="en-US" altLang="ko-KR" sz="1050" dirty="0">
                  <a:latin typeface="+mn-ea"/>
                </a:rPr>
              </a:br>
              <a:endParaRPr lang="ko-KR" altLang="en-US" sz="1050" dirty="0">
                <a:latin typeface="+mn-ea"/>
              </a:endParaRPr>
            </a:p>
          </p:txBody>
        </p:sp>
        <p:sp>
          <p:nvSpPr>
            <p:cNvPr id="24" name="TextBox 30"/>
            <p:cNvSpPr txBox="1"/>
            <p:nvPr/>
          </p:nvSpPr>
          <p:spPr>
            <a:xfrm>
              <a:off x="69741" y="1176206"/>
              <a:ext cx="1287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 smtClean="0"/>
                <a:t>Chunking</a:t>
              </a:r>
              <a:endParaRPr lang="ko-KR" altLang="en-US" dirty="0"/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93696" y="1435711"/>
            <a:ext cx="4324247" cy="4928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1" name="갈매기형 수장 20"/>
          <p:cNvSpPr/>
          <p:nvPr/>
        </p:nvSpPr>
        <p:spPr>
          <a:xfrm>
            <a:off x="4306828" y="3429000"/>
            <a:ext cx="361686" cy="76099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Konan Search</a:t>
            </a:r>
            <a:r>
              <a:rPr lang="ko-KR" altLang="en-US" dirty="0" smtClean="0">
                <a:latin typeface="+mn-ea"/>
                <a:ea typeface="+mn-ea"/>
              </a:rPr>
              <a:t>의 </a:t>
            </a:r>
            <a:r>
              <a:rPr lang="en-US" altLang="ko-KR" dirty="0" smtClean="0">
                <a:latin typeface="+mn-ea"/>
                <a:ea typeface="+mn-ea"/>
              </a:rPr>
              <a:t>Chunking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 Chunk Size / Overlap Size </a:t>
            </a:r>
            <a:r>
              <a:rPr lang="ko-KR" altLang="en-US" sz="1600" b="1" dirty="0" smtClean="0">
                <a:latin typeface="+mn-ea"/>
              </a:rPr>
              <a:t>기반 분리</a:t>
            </a: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endParaRPr lang="ko-KR" altLang="en-US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문서를 </a:t>
            </a:r>
            <a:r>
              <a:rPr lang="en-US" altLang="ko-KR" sz="1400" b="1" dirty="0" smtClean="0">
                <a:latin typeface="+mn-ea"/>
              </a:rPr>
              <a:t>Chunk Size(</a:t>
            </a:r>
            <a:r>
              <a:rPr lang="ko-KR" altLang="en-US" sz="1400" b="1" dirty="0" smtClean="0">
                <a:latin typeface="+mn-ea"/>
              </a:rPr>
              <a:t>최대 길이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기준으로 잘라 </a:t>
            </a:r>
            <a:r>
              <a:rPr lang="ko-KR" altLang="en-US" sz="1400" b="1" dirty="0" err="1" smtClean="0">
                <a:latin typeface="+mn-ea"/>
              </a:rPr>
              <a:t>청크</a:t>
            </a:r>
            <a:r>
              <a:rPr lang="ko-KR" altLang="en-US" sz="1400" b="1" dirty="0" smtClean="0">
                <a:latin typeface="+mn-ea"/>
              </a:rPr>
              <a:t> 단위</a:t>
            </a:r>
            <a:r>
              <a:rPr lang="ko-KR" altLang="en-US" sz="1400" dirty="0" smtClean="0">
                <a:latin typeface="+mn-ea"/>
              </a:rPr>
              <a:t>로 저장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단락 경계에서 의미가 끊기지 않도록 </a:t>
            </a:r>
            <a:r>
              <a:rPr lang="en-US" altLang="ko-KR" sz="1400" b="1" dirty="0" smtClean="0">
                <a:latin typeface="+mn-ea"/>
              </a:rPr>
              <a:t>Overlap Size(</a:t>
            </a:r>
            <a:r>
              <a:rPr lang="ko-KR" altLang="en-US" sz="1400" b="1" dirty="0" smtClean="0">
                <a:latin typeface="+mn-ea"/>
              </a:rPr>
              <a:t>겹침 길이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ko-KR" altLang="en-US" sz="1400" dirty="0" err="1" smtClean="0">
                <a:latin typeface="+mn-ea"/>
              </a:rPr>
              <a:t>를</a:t>
            </a:r>
            <a:r>
              <a:rPr lang="ko-KR" altLang="en-US" sz="1400" dirty="0" smtClean="0">
                <a:latin typeface="+mn-ea"/>
              </a:rPr>
              <a:t> 적용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ko-KR" altLang="en-US" sz="1400" dirty="0" smtClean="0">
                <a:latin typeface="+mn-ea"/>
              </a:rPr>
              <a:t>앞 </a:t>
            </a:r>
            <a:r>
              <a:rPr lang="ko-KR" altLang="en-US" sz="1400" dirty="0" err="1" smtClean="0">
                <a:latin typeface="+mn-ea"/>
              </a:rPr>
              <a:t>청크의</a:t>
            </a:r>
            <a:r>
              <a:rPr lang="ko-KR" altLang="en-US" sz="1400" dirty="0" smtClean="0">
                <a:latin typeface="+mn-ea"/>
              </a:rPr>
              <a:t> 끝부분 일부를 다음 </a:t>
            </a:r>
            <a:r>
              <a:rPr lang="ko-KR" altLang="en-US" sz="1400" dirty="0" err="1" smtClean="0">
                <a:latin typeface="+mn-ea"/>
              </a:rPr>
              <a:t>청크에</a:t>
            </a:r>
            <a:r>
              <a:rPr lang="ko-KR" altLang="en-US" sz="1400" dirty="0" smtClean="0">
                <a:latin typeface="+mn-ea"/>
              </a:rPr>
              <a:t> 포함 → </a:t>
            </a:r>
            <a:r>
              <a:rPr lang="ko-KR" altLang="en-US" sz="1400" b="1" dirty="0" smtClean="0">
                <a:latin typeface="+mn-ea"/>
              </a:rPr>
              <a:t>문맥 보존 </a:t>
            </a:r>
            <a:r>
              <a:rPr lang="en-US" altLang="ko-KR" sz="1400" b="1" dirty="0" smtClean="0">
                <a:latin typeface="+mn-ea"/>
              </a:rPr>
              <a:t>/ </a:t>
            </a:r>
            <a:r>
              <a:rPr lang="ko-KR" altLang="en-US" sz="1400" b="1" dirty="0" smtClean="0">
                <a:latin typeface="+mn-ea"/>
              </a:rPr>
              <a:t>검색 누락 감소</a:t>
            </a:r>
            <a:endParaRPr lang="ko-KR" altLang="en-US" sz="1400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소제목 추출 → </a:t>
            </a:r>
            <a:r>
              <a:rPr lang="en-US" altLang="ko-KR" sz="1600" b="1" dirty="0" smtClean="0">
                <a:latin typeface="+mn-ea"/>
              </a:rPr>
              <a:t>Chunk Title</a:t>
            </a:r>
            <a:r>
              <a:rPr lang="ko-KR" altLang="en-US" sz="1600" b="1" dirty="0" smtClean="0">
                <a:latin typeface="+mn-ea"/>
              </a:rPr>
              <a:t>로 활용</a:t>
            </a: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endParaRPr lang="ko-KR" altLang="en-US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문서의 </a:t>
            </a:r>
            <a:r>
              <a:rPr lang="ko-KR" altLang="en-US" sz="1400" b="1" dirty="0" smtClean="0">
                <a:latin typeface="+mn-ea"/>
              </a:rPr>
              <a:t>소제목</a:t>
            </a:r>
            <a:r>
              <a:rPr lang="en-US" altLang="ko-KR" sz="1400" b="1" dirty="0" smtClean="0">
                <a:latin typeface="+mn-ea"/>
              </a:rPr>
              <a:t>(Heading)</a:t>
            </a:r>
            <a:r>
              <a:rPr lang="ko-KR" altLang="en-US" sz="1400" dirty="0" smtClean="0">
                <a:latin typeface="+mn-ea"/>
              </a:rPr>
              <a:t> 을 추출해 각 </a:t>
            </a:r>
            <a:r>
              <a:rPr lang="ko-KR" altLang="en-US" sz="1400" dirty="0" err="1" smtClean="0">
                <a:latin typeface="+mn-ea"/>
              </a:rPr>
              <a:t>청크에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title</a:t>
            </a:r>
            <a:r>
              <a:rPr lang="ko-KR" altLang="en-US" sz="1400" dirty="0" smtClean="0">
                <a:latin typeface="+mn-ea"/>
              </a:rPr>
              <a:t>에 추가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소제목이 추가되어 </a:t>
            </a:r>
            <a:r>
              <a:rPr lang="en-US" altLang="ko-KR" sz="1400" dirty="0" smtClean="0">
                <a:latin typeface="+mn-ea"/>
              </a:rPr>
              <a:t>title </a:t>
            </a:r>
            <a:r>
              <a:rPr lang="ko-KR" altLang="en-US" sz="1400" dirty="0" smtClean="0">
                <a:latin typeface="+mn-ea"/>
              </a:rPr>
              <a:t>기반 정렬 가중치 부여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Markdown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문서에서 안정적으로 제공</a:t>
            </a: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표</a:t>
            </a:r>
            <a:r>
              <a:rPr lang="en-US" altLang="ko-KR" sz="1600" b="1" dirty="0" smtClean="0">
                <a:latin typeface="+mn-ea"/>
              </a:rPr>
              <a:t>(Table)</a:t>
            </a:r>
            <a:r>
              <a:rPr lang="ko-KR" altLang="en-US" sz="1600" b="1" dirty="0" smtClean="0">
                <a:latin typeface="+mn-ea"/>
              </a:rPr>
              <a:t>는 깨지지 않게 “</a:t>
            </a:r>
            <a:r>
              <a:rPr lang="en-US" altLang="ko-KR" sz="1600" b="1" dirty="0" smtClean="0">
                <a:latin typeface="+mn-ea"/>
              </a:rPr>
              <a:t>1</a:t>
            </a:r>
            <a:r>
              <a:rPr lang="ko-KR" altLang="en-US" sz="1600" b="1" dirty="0" smtClean="0">
                <a:latin typeface="+mn-ea"/>
              </a:rPr>
              <a:t>개 </a:t>
            </a:r>
            <a:r>
              <a:rPr lang="en-US" altLang="ko-KR" sz="1600" b="1" dirty="0" smtClean="0">
                <a:latin typeface="+mn-ea"/>
              </a:rPr>
              <a:t>Chunk”</a:t>
            </a:r>
            <a:r>
              <a:rPr lang="ko-KR" altLang="en-US" sz="1600" b="1" dirty="0" smtClean="0">
                <a:latin typeface="+mn-ea"/>
              </a:rPr>
              <a:t>로 추출</a:t>
            </a: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endParaRPr lang="ko-KR" altLang="en-US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표는 행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열 구조가 무너지면 의미가 크게 </a:t>
            </a:r>
            <a:r>
              <a:rPr lang="ko-KR" altLang="en-US" sz="1400" dirty="0" err="1" smtClean="0">
                <a:latin typeface="+mn-ea"/>
              </a:rPr>
              <a:t>훼손기때문에</a:t>
            </a:r>
            <a:r>
              <a:rPr lang="en-US" altLang="ko-KR" sz="1400" dirty="0" smtClean="0">
                <a:latin typeface="+mn-ea"/>
              </a:rPr>
              <a:t/>
            </a:r>
            <a:br>
              <a:rPr lang="en-US" altLang="ko-KR" sz="1400" dirty="0" smtClean="0">
                <a:latin typeface="+mn-ea"/>
              </a:rPr>
            </a:br>
            <a:r>
              <a:rPr lang="ko-KR" altLang="en-US" sz="1400" dirty="0" smtClean="0">
                <a:latin typeface="+mn-ea"/>
              </a:rPr>
              <a:t>표 영역은 </a:t>
            </a:r>
            <a:r>
              <a:rPr lang="ko-KR" altLang="en-US" sz="1400" b="1" dirty="0" smtClean="0">
                <a:latin typeface="+mn-ea"/>
              </a:rPr>
              <a:t>분할하지 않고 하나의 </a:t>
            </a:r>
            <a:r>
              <a:rPr lang="ko-KR" altLang="en-US" sz="1400" b="1" dirty="0" err="1" smtClean="0">
                <a:latin typeface="+mn-ea"/>
              </a:rPr>
              <a:t>청크로</a:t>
            </a:r>
            <a:r>
              <a:rPr lang="ko-KR" altLang="en-US" sz="1400" b="1" dirty="0" smtClean="0">
                <a:latin typeface="+mn-ea"/>
              </a:rPr>
              <a:t> 통째로</a:t>
            </a:r>
            <a:r>
              <a:rPr lang="ko-KR" altLang="en-US" sz="1400" dirty="0" smtClean="0">
                <a:latin typeface="+mn-ea"/>
              </a:rPr>
              <a:t> 추출한다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en-US" altLang="ko-KR" sz="1400" b="1" dirty="0" smtClean="0">
                <a:latin typeface="+mn-ea"/>
              </a:rPr>
              <a:t>Markdown </a:t>
            </a:r>
            <a:r>
              <a:rPr lang="ko-KR" altLang="en-US" sz="1400" b="1" dirty="0" smtClean="0">
                <a:latin typeface="+mn-ea"/>
              </a:rPr>
              <a:t>형식</a:t>
            </a:r>
            <a:r>
              <a:rPr lang="ko-KR" altLang="en-US" sz="1400" dirty="0" smtClean="0">
                <a:latin typeface="+mn-ea"/>
              </a:rPr>
              <a:t>일 때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소제목과 표 추출이 정확하다</a:t>
            </a:r>
            <a:r>
              <a:rPr lang="en-US" altLang="ko-KR" sz="1400" dirty="0" smtClean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10</a:t>
            </a:fld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Rag Volume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44791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table </a:t>
            </a:r>
            <a:r>
              <a:rPr lang="ko-KR" altLang="en-US" dirty="0" smtClean="0">
                <a:latin typeface="+mn-ea"/>
                <a:ea typeface="+mn-ea"/>
              </a:rPr>
              <a:t>기본 스키마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12</a:t>
            </a:fld>
            <a:endParaRPr lang="ko-KR" altLang="en-US" dirty="0">
              <a:latin typeface="+mn-ea"/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609690"/>
              </p:ext>
            </p:extLst>
          </p:nvPr>
        </p:nvGraphicFramePr>
        <p:xfrm>
          <a:off x="714348" y="1643050"/>
          <a:ext cx="6929486" cy="433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528356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필드명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cid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 id (primary)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 smtClean="0">
                          <a:latin typeface="+mn-ea"/>
                          <a:ea typeface="+mn-ea"/>
                        </a:rPr>
                        <a:t>uuid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문서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문서 제목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chunk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lines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chunk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line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단위로 색인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c_vec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Chunk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embedding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vector. 1024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차원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c_kwd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에서 추출한 키워드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c_ngram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를 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ngram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으로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색인한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필드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다국어 환경에서 사용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dt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날짜필드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파일을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업로드하는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경우 파일명에서 자동 추출되는 필드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최신순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정렬에 사용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…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기타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field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customfield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472" y="1142984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latin typeface="+mn-ea"/>
              </a:rPr>
              <a:t>tabc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table </a:t>
            </a:r>
            <a:r>
              <a:rPr lang="ko-KR" altLang="en-US" dirty="0" smtClean="0">
                <a:latin typeface="+mn-ea"/>
                <a:ea typeface="+mn-ea"/>
              </a:rPr>
              <a:t>기본 스키마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13</a:t>
            </a:fld>
            <a:endParaRPr lang="ko-KR" altLang="en-US" dirty="0">
              <a:latin typeface="+mn-ea"/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296152"/>
              </p:ext>
            </p:extLst>
          </p:nvPr>
        </p:nvGraphicFramePr>
        <p:xfrm>
          <a:off x="714348" y="1988840"/>
          <a:ext cx="6929486" cy="231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528356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필드명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 smtClean="0">
                          <a:latin typeface="+mn-ea"/>
                          <a:ea typeface="+mn-ea"/>
                        </a:rPr>
                        <a:t>uuid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문서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filename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파일명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status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파일 처리 상태</a:t>
                      </a:r>
                      <a:endParaRPr lang="en-US" altLang="ko-KR" sz="12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(uploaded, chunking, embedding, indexing, done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단계로 표기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filesize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파일 크기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파일 입력 시간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(YYYY-mm-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dd</a:t>
                      </a:r>
                      <a:r>
                        <a:rPr lang="en-US" altLang="ko-KR" sz="1200" baseline="0" dirty="0" smtClean="0">
                          <a:latin typeface="+mn-ea"/>
                          <a:ea typeface="+mn-ea"/>
                        </a:rPr>
                        <a:t> HH:MM:SS)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472" y="1142984"/>
            <a:ext cx="3740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files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파일업로드 </a:t>
            </a:r>
            <a:r>
              <a:rPr lang="en-US" altLang="ko-KR" sz="1400" dirty="0" err="1" smtClean="0">
                <a:latin typeface="+mn-ea"/>
              </a:rPr>
              <a:t>api</a:t>
            </a:r>
            <a:r>
              <a:rPr lang="ko-KR" altLang="en-US" sz="1400" dirty="0" err="1" smtClean="0">
                <a:latin typeface="+mn-ea"/>
              </a:rPr>
              <a:t>로</a:t>
            </a:r>
            <a:r>
              <a:rPr lang="ko-KR" altLang="en-US" sz="1400" dirty="0" smtClean="0">
                <a:latin typeface="+mn-ea"/>
              </a:rPr>
              <a:t> 색인 시 사용되는 테이블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err="1" smtClean="0">
                <a:latin typeface="+mn-ea"/>
                <a:ea typeface="+mn-ea"/>
              </a:rPr>
              <a:t>customfield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14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 smtClean="0">
                <a:latin typeface="+mn-ea"/>
              </a:rPr>
              <a:t>목적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검색 대상을 제약하기 위함 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en-US" altLang="ko-KR" sz="1400" b="1" dirty="0" smtClean="0">
                <a:latin typeface="+mn-ea"/>
              </a:rPr>
              <a:t>filtering </a:t>
            </a:r>
            <a:r>
              <a:rPr lang="ko-KR" altLang="en-US" sz="1400" b="1" dirty="0" smtClean="0">
                <a:latin typeface="+mn-ea"/>
              </a:rPr>
              <a:t>조건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에 대한 상세 정보</a:t>
            </a:r>
            <a:r>
              <a:rPr lang="en-US" altLang="ko-KR" sz="1400" dirty="0" smtClean="0">
                <a:latin typeface="+mn-ea"/>
              </a:rPr>
              <a:t>(metadata)</a:t>
            </a:r>
            <a:r>
              <a:rPr lang="ko-KR" altLang="en-US" sz="1400" dirty="0" smtClean="0">
                <a:latin typeface="+mn-ea"/>
              </a:rPr>
              <a:t> 제공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검색 결과 정렬에 활용</a:t>
            </a:r>
            <a:endParaRPr lang="en-US" altLang="ko-KR" sz="1400" dirty="0" smtClean="0">
              <a:latin typeface="+mn-ea"/>
            </a:endParaRPr>
          </a:p>
          <a:p>
            <a:pPr lvl="1"/>
            <a:endParaRPr lang="en-US" altLang="ko-KR" dirty="0" smtClean="0">
              <a:latin typeface="+mn-ea"/>
            </a:endParaRPr>
          </a:p>
          <a:p>
            <a:pPr marL="0" indent="0">
              <a:buNone/>
            </a:pPr>
            <a:r>
              <a:rPr lang="en-US" altLang="ko-KR" sz="1600" b="1" dirty="0" smtClean="0">
                <a:latin typeface="+mn-ea"/>
              </a:rPr>
              <a:t>Konan</a:t>
            </a:r>
            <a:r>
              <a:rPr lang="ko-KR" altLang="en-US" sz="1600" b="1" dirty="0" smtClean="0">
                <a:latin typeface="+mn-ea"/>
              </a:rPr>
              <a:t>의 </a:t>
            </a:r>
            <a:r>
              <a:rPr lang="en-US" altLang="ko-KR" sz="1600" b="1" dirty="0" smtClean="0">
                <a:latin typeface="+mn-ea"/>
              </a:rPr>
              <a:t>RAG</a:t>
            </a:r>
            <a:r>
              <a:rPr lang="ko-KR" altLang="en-US" sz="1600" b="1" dirty="0" smtClean="0">
                <a:latin typeface="+mn-ea"/>
              </a:rPr>
              <a:t>에서 사용하면 좋은</a:t>
            </a:r>
            <a:r>
              <a:rPr lang="en-US" altLang="ko-KR" sz="1600" b="1" dirty="0" smtClean="0">
                <a:latin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customfield</a:t>
            </a:r>
            <a:endParaRPr lang="en-US" altLang="ko-KR" sz="1600" b="1" dirty="0" smtClean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  <a:p>
            <a:pPr lvl="1"/>
            <a:endParaRPr lang="en-US" altLang="ko-KR" dirty="0" smtClean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201897"/>
              </p:ext>
            </p:extLst>
          </p:nvPr>
        </p:nvGraphicFramePr>
        <p:xfrm>
          <a:off x="603392" y="3033256"/>
          <a:ext cx="8001056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637"/>
                <a:gridCol w="6470419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Field </a:t>
                      </a: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>
                          <a:latin typeface="+mn-ea"/>
                          <a:ea typeface="+mn-ea"/>
                        </a:rPr>
                        <a:t>url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의 출처 노출에 사용할 수 있다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>
                          <a:latin typeface="+mn-ea"/>
                          <a:ea typeface="+mn-ea"/>
                        </a:rPr>
                        <a:t>createdAt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원천데이터의 생성일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400" baseline="0" dirty="0" smtClean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latinLnBrk="1"/>
                      <a:r>
                        <a:rPr lang="en-US" altLang="ko-KR" sz="1400" baseline="0" dirty="0" err="1" smtClean="0">
                          <a:latin typeface="+mn-ea"/>
                          <a:ea typeface="+mn-ea"/>
                        </a:rPr>
                        <a:t>Customfield</a:t>
                      </a:r>
                      <a:r>
                        <a:rPr lang="ko-KR" altLang="en-US" sz="1400" baseline="0" dirty="0" smtClean="0"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1400" baseline="0" dirty="0" err="1" smtClean="0">
                          <a:latin typeface="+mn-ea"/>
                          <a:ea typeface="+mn-ea"/>
                        </a:rPr>
                        <a:t>createdAt</a:t>
                      </a:r>
                      <a:r>
                        <a:rPr lang="ko-KR" altLang="en-US" sz="1400" baseline="0" dirty="0" smtClean="0">
                          <a:latin typeface="+mn-ea"/>
                          <a:ea typeface="+mn-ea"/>
                        </a:rPr>
                        <a:t>필드가 존재하면 </a:t>
                      </a:r>
                      <a:r>
                        <a:rPr lang="ko-KR" altLang="en-US" sz="1400" baseline="0" dirty="0" err="1" smtClean="0">
                          <a:latin typeface="+mn-ea"/>
                          <a:ea typeface="+mn-ea"/>
                        </a:rPr>
                        <a:t>정렬시</a:t>
                      </a:r>
                      <a:r>
                        <a:rPr lang="ko-KR" altLang="en-US" sz="1400" baseline="0" dirty="0" smtClean="0">
                          <a:latin typeface="+mn-ea"/>
                          <a:ea typeface="+mn-ea"/>
                        </a:rPr>
                        <a:t> 최신성을 반영할 수 있다</a:t>
                      </a:r>
                      <a:r>
                        <a:rPr lang="en-US" altLang="ko-KR" sz="1400" baseline="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Indexing Wizard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44791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Indexing Wizard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16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코드 없이 </a:t>
            </a:r>
            <a:r>
              <a:rPr lang="en-US" altLang="ko-KR" sz="1600" b="1" dirty="0" smtClean="0">
                <a:latin typeface="+mn-ea"/>
              </a:rPr>
              <a:t>GUI</a:t>
            </a:r>
            <a:r>
              <a:rPr lang="ko-KR" altLang="en-US" sz="1600" b="1" dirty="0" smtClean="0">
                <a:latin typeface="+mn-ea"/>
              </a:rPr>
              <a:t>로 수입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ko-KR" altLang="en-US" sz="1600" b="1" dirty="0" smtClean="0">
                <a:latin typeface="+mn-ea"/>
              </a:rPr>
              <a:t>색인</a:t>
            </a:r>
          </a:p>
          <a:p>
            <a:r>
              <a:rPr lang="ko-KR" altLang="en-US" sz="1400" dirty="0" smtClean="0">
                <a:latin typeface="+mn-ea"/>
              </a:rPr>
              <a:t>복잡한 파이프라인을 </a:t>
            </a:r>
            <a:r>
              <a:rPr lang="ko-KR" altLang="en-US" sz="1400" b="1" dirty="0" smtClean="0">
                <a:latin typeface="+mn-ea"/>
              </a:rPr>
              <a:t>스크립트 작성 없이</a:t>
            </a:r>
            <a:r>
              <a:rPr lang="ko-KR" altLang="en-US" sz="1400" dirty="0" smtClean="0">
                <a:latin typeface="+mn-ea"/>
              </a:rPr>
              <a:t> 단계별 설정으로 구성</a:t>
            </a:r>
          </a:p>
          <a:p>
            <a:r>
              <a:rPr lang="ko-KR" altLang="en-US" sz="1400" dirty="0" smtClean="0">
                <a:latin typeface="+mn-ea"/>
              </a:rPr>
              <a:t>수집 → 변환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색인설정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→ 색인 → 검증까지 </a:t>
            </a:r>
            <a:r>
              <a:rPr lang="ko-KR" altLang="en-US" sz="1400" b="1" dirty="0" err="1" smtClean="0">
                <a:latin typeface="+mn-ea"/>
              </a:rPr>
              <a:t>위저드</a:t>
            </a:r>
            <a:r>
              <a:rPr lang="ko-KR" altLang="en-US" sz="1400" b="1" dirty="0" smtClean="0">
                <a:latin typeface="+mn-ea"/>
              </a:rPr>
              <a:t> 형태로</a:t>
            </a:r>
            <a:r>
              <a:rPr lang="ko-KR" altLang="en-US" sz="1400" dirty="0" smtClean="0">
                <a:latin typeface="+mn-ea"/>
              </a:rPr>
              <a:t> 진행</a:t>
            </a:r>
            <a:endParaRPr lang="en-US" altLang="ko-KR" sz="1400" dirty="0" smtClean="0">
              <a:latin typeface="+mn-ea"/>
            </a:endParaRPr>
          </a:p>
          <a:p>
            <a:endParaRPr lang="ko-KR" altLang="en-US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다양한 원천데이터 수집 지원</a:t>
            </a:r>
          </a:p>
          <a:p>
            <a:r>
              <a:rPr lang="en-US" altLang="ko-KR" sz="1400" b="1" dirty="0" smtClean="0">
                <a:latin typeface="+mn-ea"/>
              </a:rPr>
              <a:t>DB</a:t>
            </a:r>
            <a:r>
              <a:rPr lang="en-US" altLang="ko-KR" sz="1400" dirty="0" smtClean="0">
                <a:latin typeface="+mn-ea"/>
              </a:rPr>
              <a:t>(Oracle, Postgres </a:t>
            </a:r>
            <a:r>
              <a:rPr lang="ko-KR" altLang="en-US" sz="1400" dirty="0" smtClean="0">
                <a:latin typeface="+mn-ea"/>
              </a:rPr>
              <a:t>등</a:t>
            </a:r>
            <a:r>
              <a:rPr lang="en-US" altLang="ko-KR" sz="1400" dirty="0" smtClean="0">
                <a:latin typeface="+mn-ea"/>
              </a:rPr>
              <a:t>), </a:t>
            </a:r>
            <a:r>
              <a:rPr lang="ko-KR" altLang="en-US" sz="1400" b="1" dirty="0" smtClean="0">
                <a:latin typeface="+mn-ea"/>
              </a:rPr>
              <a:t>대랑 문서파일</a:t>
            </a:r>
            <a:r>
              <a:rPr lang="en-US" altLang="ko-KR" sz="1400" b="1" dirty="0" smtClean="0">
                <a:latin typeface="+mn-ea"/>
              </a:rPr>
              <a:t>(</a:t>
            </a:r>
            <a:r>
              <a:rPr lang="en-US" altLang="ko-KR" sz="1400" b="1" dirty="0" err="1" smtClean="0">
                <a:latin typeface="+mn-ea"/>
              </a:rPr>
              <a:t>pdf</a:t>
            </a:r>
            <a:r>
              <a:rPr lang="en-US" altLang="ko-KR" sz="1400" b="1" dirty="0" smtClean="0">
                <a:latin typeface="+mn-ea"/>
              </a:rPr>
              <a:t>, </a:t>
            </a:r>
            <a:r>
              <a:rPr lang="en-US" altLang="ko-KR" sz="1400" b="1" dirty="0" err="1" smtClean="0">
                <a:latin typeface="+mn-ea"/>
              </a:rPr>
              <a:t>docx</a:t>
            </a:r>
            <a:r>
              <a:rPr lang="ko-KR" altLang="en-US" sz="1400" b="1" dirty="0" smtClean="0">
                <a:latin typeface="+mn-ea"/>
              </a:rPr>
              <a:t>등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등</a:t>
            </a:r>
          </a:p>
          <a:p>
            <a:r>
              <a:rPr lang="ko-KR" altLang="en-US" sz="1400" dirty="0" smtClean="0">
                <a:latin typeface="+mn-ea"/>
              </a:rPr>
              <a:t>여러 소스를 상황에 맞게 선택해 </a:t>
            </a:r>
            <a:r>
              <a:rPr lang="ko-KR" altLang="en-US" sz="1400" b="1" dirty="0" smtClean="0">
                <a:latin typeface="+mn-ea"/>
              </a:rPr>
              <a:t>통합 수집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smtClean="0">
                <a:latin typeface="+mn-ea"/>
              </a:rPr>
              <a:t>색인</a:t>
            </a:r>
            <a:r>
              <a:rPr lang="ko-KR" altLang="en-US" sz="1400" dirty="0" smtClean="0">
                <a:latin typeface="+mn-ea"/>
              </a:rPr>
              <a:t> 가능</a:t>
            </a:r>
            <a:endParaRPr lang="en-US" altLang="ko-KR" sz="1400" dirty="0" smtClean="0">
              <a:latin typeface="+mn-ea"/>
            </a:endParaRPr>
          </a:p>
          <a:p>
            <a:endParaRPr lang="ko-KR" altLang="en-US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수입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ko-KR" altLang="en-US" sz="1600" b="1" dirty="0" smtClean="0">
                <a:latin typeface="+mn-ea"/>
              </a:rPr>
              <a:t>색인 스케줄 설정</a:t>
            </a:r>
          </a:p>
          <a:p>
            <a:r>
              <a:rPr lang="ko-KR" altLang="en-US" sz="1400" dirty="0" smtClean="0">
                <a:latin typeface="+mn-ea"/>
              </a:rPr>
              <a:t>주기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매일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매주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지정 시간</a:t>
            </a:r>
            <a:r>
              <a:rPr lang="en-US" altLang="ko-KR" sz="1400" dirty="0" smtClean="0">
                <a:latin typeface="+mn-ea"/>
              </a:rPr>
              <a:t>) </a:t>
            </a:r>
            <a:r>
              <a:rPr lang="ko-KR" altLang="en-US" sz="1400" dirty="0" smtClean="0">
                <a:latin typeface="+mn-ea"/>
              </a:rPr>
              <a:t>또는 조건 기반으로 </a:t>
            </a:r>
            <a:r>
              <a:rPr lang="ko-KR" altLang="en-US" sz="1400" b="1" dirty="0" smtClean="0">
                <a:latin typeface="+mn-ea"/>
              </a:rPr>
              <a:t>자동 수입</a:t>
            </a:r>
            <a:r>
              <a:rPr lang="en-US" altLang="ko-KR" sz="1400" b="1" dirty="0" smtClean="0">
                <a:latin typeface="+mn-ea"/>
              </a:rPr>
              <a:t>·</a:t>
            </a:r>
            <a:r>
              <a:rPr lang="ko-KR" altLang="en-US" sz="1400" b="1" dirty="0" smtClean="0">
                <a:latin typeface="+mn-ea"/>
              </a:rPr>
              <a:t>자동 색인</a:t>
            </a:r>
            <a:r>
              <a:rPr lang="ko-KR" altLang="en-US" sz="1400" dirty="0" smtClean="0">
                <a:latin typeface="+mn-ea"/>
              </a:rPr>
              <a:t> 실행</a:t>
            </a:r>
          </a:p>
          <a:p>
            <a:r>
              <a:rPr lang="ko-KR" altLang="en-US" sz="1400" dirty="0" smtClean="0">
                <a:latin typeface="+mn-ea"/>
              </a:rPr>
              <a:t>연관 작업을 순차적으로 </a:t>
            </a:r>
            <a:r>
              <a:rPr lang="ko-KR" altLang="en-US" sz="1400" dirty="0" err="1" smtClean="0">
                <a:latin typeface="+mn-ea"/>
              </a:rPr>
              <a:t>스케줄링하거나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개발자가 작성한 </a:t>
            </a:r>
            <a:r>
              <a:rPr lang="ko-KR" altLang="en-US" sz="1400" dirty="0" err="1" smtClean="0">
                <a:latin typeface="+mn-ea"/>
              </a:rPr>
              <a:t>커스텀</a:t>
            </a:r>
            <a:r>
              <a:rPr lang="ko-KR" altLang="en-US" sz="1400" dirty="0" smtClean="0">
                <a:latin typeface="+mn-ea"/>
              </a:rPr>
              <a:t> 코드도 스케줄에 설정 가능</a:t>
            </a:r>
            <a:endParaRPr lang="en-US" altLang="ko-KR" sz="1400" dirty="0" smtClean="0">
              <a:latin typeface="+mn-ea"/>
            </a:endParaRPr>
          </a:p>
          <a:p>
            <a:endParaRPr lang="ko-KR" altLang="en-US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색인 결과 확인</a:t>
            </a:r>
          </a:p>
          <a:p>
            <a:r>
              <a:rPr lang="ko-KR" altLang="en-US" sz="1400" b="1" dirty="0" smtClean="0">
                <a:latin typeface="+mn-ea"/>
              </a:rPr>
              <a:t>색인된 볼륨에 검색을 실행하여 전체 데이터가 정상적으로 색인되었는지 확인 가능</a:t>
            </a:r>
            <a:endParaRPr lang="en-US" altLang="ko-KR" sz="1400" b="1" dirty="0" smtClean="0">
              <a:latin typeface="+mn-ea"/>
            </a:endParaRPr>
          </a:p>
          <a:p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r>
              <a:rPr lang="en-US" altLang="ko-KR" sz="1600" dirty="0" smtClean="0">
                <a:latin typeface="+mn-ea"/>
              </a:rPr>
              <a:t>Indexing Wizard</a:t>
            </a:r>
            <a:r>
              <a:rPr lang="ko-KR" altLang="en-US" sz="1600" dirty="0" smtClean="0">
                <a:latin typeface="+mn-ea"/>
              </a:rPr>
              <a:t>는 “데이터 구축의 반복 작업”을 표준화해 </a:t>
            </a:r>
            <a:endParaRPr lang="en-US" altLang="ko-KR" sz="16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u="sng" dirty="0" smtClean="0">
                <a:solidFill>
                  <a:srgbClr val="C00000"/>
                </a:solidFill>
                <a:latin typeface="+mn-ea"/>
              </a:rPr>
              <a:t>구축 속도↑</a:t>
            </a:r>
            <a:r>
              <a:rPr lang="en-US" altLang="ko-KR" sz="1600" b="1" u="sng" dirty="0" smtClean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600" b="1" u="sng" dirty="0" smtClean="0">
                <a:solidFill>
                  <a:srgbClr val="C00000"/>
                </a:solidFill>
                <a:latin typeface="+mn-ea"/>
              </a:rPr>
              <a:t>운영 안정성↑</a:t>
            </a:r>
            <a:endParaRPr lang="en-US" altLang="ko-KR" sz="1600" b="1" u="sng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가져오기 작업 생성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17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1600" b="1" dirty="0">
                <a:latin typeface="+mn-ea"/>
              </a:rPr>
              <a:t>작업</a:t>
            </a:r>
            <a:r>
              <a:rPr lang="en-US" altLang="ko-KR" sz="1600" b="1" dirty="0">
                <a:latin typeface="+mn-ea"/>
              </a:rPr>
              <a:t>(Task</a:t>
            </a:r>
            <a:r>
              <a:rPr lang="en-US" altLang="ko-KR" sz="1600" b="1" dirty="0" smtClean="0">
                <a:latin typeface="+mn-ea"/>
              </a:rPr>
              <a:t>)</a:t>
            </a:r>
          </a:p>
          <a:p>
            <a:r>
              <a:rPr lang="ko-KR" altLang="en-US" sz="1400" dirty="0" smtClean="0">
                <a:latin typeface="+mn-ea"/>
              </a:rPr>
              <a:t>원천 </a:t>
            </a:r>
            <a:r>
              <a:rPr lang="ko-KR" altLang="en-US" sz="1400" dirty="0">
                <a:latin typeface="+mn-ea"/>
              </a:rPr>
              <a:t>데이터를 수입하고 색인까지 수행하는 일련의 파이프라인을 의미하는 단위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en-US" altLang="ko-KR" sz="1400" dirty="0" smtClean="0">
                <a:latin typeface="+mn-ea"/>
              </a:rPr>
              <a:t>4</a:t>
            </a:r>
            <a:r>
              <a:rPr lang="ko-KR" altLang="en-US" sz="1400" dirty="0" smtClean="0">
                <a:latin typeface="+mn-ea"/>
              </a:rPr>
              <a:t>종류의 원천데이터를 지원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ko-KR" altLang="en-US" sz="1400" dirty="0" smtClean="0">
                <a:latin typeface="+mn-ea"/>
              </a:rPr>
              <a:t>문서파일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서버 문서파일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덤프파일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데이터베이스 </a:t>
            </a:r>
            <a:endParaRPr lang="en-US" altLang="ko-KR" sz="1400" dirty="0" smtClean="0">
              <a:latin typeface="+mn-ea"/>
            </a:endParaRPr>
          </a:p>
          <a:p>
            <a:pPr marL="0" indent="0">
              <a:buNone/>
            </a:pPr>
            <a:endParaRPr lang="ko-KR" altLang="en-US" dirty="0"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043608" y="2849892"/>
            <a:ext cx="6858048" cy="2299320"/>
            <a:chOff x="1142976" y="1053448"/>
            <a:chExt cx="6858048" cy="229932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/>
            <a:srcRect b="59325"/>
            <a:stretch/>
          </p:blipFill>
          <p:spPr bwMode="auto">
            <a:xfrm>
              <a:off x="1142976" y="1053448"/>
              <a:ext cx="6858048" cy="2299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직사각형 5"/>
            <p:cNvSpPr/>
            <p:nvPr/>
          </p:nvSpPr>
          <p:spPr>
            <a:xfrm>
              <a:off x="1500166" y="2745100"/>
              <a:ext cx="2786082" cy="35719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/>
          <p:cNvSpPr/>
          <p:nvPr/>
        </p:nvSpPr>
        <p:spPr>
          <a:xfrm>
            <a:off x="1400798" y="4293096"/>
            <a:ext cx="1082970" cy="2484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 smtClean="0">
                <a:latin typeface="+mn-ea"/>
              </a:rPr>
              <a:t> DB </a:t>
            </a:r>
            <a:r>
              <a:rPr lang="ko-KR" altLang="en-US" sz="1400" dirty="0" smtClean="0">
                <a:latin typeface="+mn-ea"/>
              </a:rPr>
              <a:t>수입 시 특정 필드가 </a:t>
            </a:r>
            <a:r>
              <a:rPr lang="ko-KR" altLang="en-US" sz="1400" b="1" dirty="0" smtClean="0">
                <a:latin typeface="+mn-ea"/>
              </a:rPr>
              <a:t>첨부파일명</a:t>
            </a:r>
            <a:r>
              <a:rPr lang="ko-KR" altLang="en-US" sz="1400" dirty="0" smtClean="0">
                <a:latin typeface="+mn-ea"/>
              </a:rPr>
              <a:t>이라면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그 필드에 기록된 파일을 기준으로 </a:t>
            </a:r>
            <a:r>
              <a:rPr lang="ko-KR" altLang="en-US" sz="1400" b="1" dirty="0" smtClean="0">
                <a:latin typeface="+mn-ea"/>
              </a:rPr>
              <a:t>대상 파일을 </a:t>
            </a:r>
            <a:r>
              <a:rPr lang="ko-KR" altLang="en-US" sz="1400" b="1" dirty="0" err="1" smtClean="0">
                <a:latin typeface="+mn-ea"/>
              </a:rPr>
              <a:t>필터링해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ko-KR" altLang="en-US" sz="1400" b="1" dirty="0" err="1" smtClean="0">
                <a:latin typeface="+mn-ea"/>
              </a:rPr>
              <a:t>색인</a:t>
            </a:r>
            <a:r>
              <a:rPr lang="ko-KR" altLang="en-US" sz="1400" dirty="0" err="1" smtClean="0">
                <a:latin typeface="+mn-ea"/>
              </a:rPr>
              <a:t>할</a:t>
            </a:r>
            <a:r>
              <a:rPr lang="ko-KR" altLang="en-US" sz="1400" dirty="0" smtClean="0">
                <a:latin typeface="+mn-ea"/>
              </a:rPr>
              <a:t> 수 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 또한 해당 필드를 </a:t>
            </a:r>
            <a:r>
              <a:rPr lang="en-US" altLang="ko-KR" sz="1400" b="1" dirty="0" smtClean="0">
                <a:latin typeface="+mn-ea"/>
              </a:rPr>
              <a:t>Contents </a:t>
            </a:r>
            <a:r>
              <a:rPr lang="ko-KR" altLang="en-US" sz="1400" b="1" dirty="0" smtClean="0">
                <a:latin typeface="+mn-ea"/>
              </a:rPr>
              <a:t>필드</a:t>
            </a:r>
            <a:r>
              <a:rPr lang="ko-KR" altLang="en-US" sz="1400" dirty="0" smtClean="0">
                <a:latin typeface="+mn-ea"/>
              </a:rPr>
              <a:t>로 지정하면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err="1" smtClean="0">
                <a:latin typeface="+mn-ea"/>
              </a:rPr>
              <a:t>필터링된</a:t>
            </a:r>
            <a:r>
              <a:rPr lang="ko-KR" altLang="en-US" sz="1400" dirty="0" smtClean="0">
                <a:latin typeface="+mn-ea"/>
              </a:rPr>
              <a:t> 파일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내용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을 </a:t>
            </a:r>
            <a:r>
              <a:rPr lang="en-US" altLang="ko-KR" sz="1400" b="1" dirty="0" smtClean="0">
                <a:latin typeface="+mn-ea"/>
              </a:rPr>
              <a:t>Chunking</a:t>
            </a:r>
            <a:r>
              <a:rPr lang="ko-KR" altLang="en-US" sz="1400" dirty="0" smtClean="0">
                <a:latin typeface="+mn-ea"/>
              </a:rPr>
              <a:t>하여 </a:t>
            </a:r>
            <a:r>
              <a:rPr lang="ko-KR" altLang="en-US" sz="1400" b="1" dirty="0" smtClean="0">
                <a:latin typeface="+mn-ea"/>
              </a:rPr>
              <a:t>검색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smtClean="0">
                <a:latin typeface="+mn-ea"/>
              </a:rPr>
              <a:t>질의 대상 데이터</a:t>
            </a:r>
            <a:r>
              <a:rPr lang="ko-KR" altLang="en-US" sz="1400" dirty="0" smtClean="0">
                <a:latin typeface="+mn-ea"/>
              </a:rPr>
              <a:t>로 활용할 수 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>
              <a:defRPr/>
            </a:pPr>
            <a:endParaRPr lang="ko-KR" altLang="en-US" sz="1400" dirty="0" smtClean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가져오기 </a:t>
            </a:r>
            <a:r>
              <a:rPr lang="en-US" altLang="ko-KR" dirty="0" smtClean="0">
                <a:latin typeface="+mn-ea"/>
                <a:ea typeface="+mn-ea"/>
              </a:rPr>
              <a:t>- DB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18</a:t>
            </a:fld>
            <a:endParaRPr lang="ko-KR" altLang="en-US" dirty="0">
              <a:latin typeface="+mn-ea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492896"/>
            <a:ext cx="7018446" cy="3663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직사각형 12"/>
          <p:cNvSpPr/>
          <p:nvPr/>
        </p:nvSpPr>
        <p:spPr>
          <a:xfrm>
            <a:off x="3419872" y="2519023"/>
            <a:ext cx="2500330" cy="3571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000100" y="3551690"/>
            <a:ext cx="6858048" cy="17145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가져오기 </a:t>
            </a:r>
            <a:r>
              <a:rPr lang="en-US" altLang="ko-KR" dirty="0" smtClean="0">
                <a:latin typeface="+mn-ea"/>
                <a:ea typeface="+mn-ea"/>
              </a:rPr>
              <a:t>- DB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19</a:t>
            </a:fld>
            <a:endParaRPr lang="ko-KR" altLang="en-US" dirty="0">
              <a:latin typeface="+mn-ea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내용 개체 틀 8"/>
          <p:cNvSpPr>
            <a:spLocks noGrp="1"/>
          </p:cNvSpPr>
          <p:nvPr>
            <p:ph idx="1"/>
          </p:nvPr>
        </p:nvSpPr>
        <p:spPr>
          <a:xfrm>
            <a:off x="485804" y="1214422"/>
            <a:ext cx="8229600" cy="4929411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1600" dirty="0" smtClean="0">
                <a:latin typeface="+mn-ea"/>
              </a:rPr>
              <a:t>테이블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ko-KR" altLang="en-US" sz="1400" dirty="0" smtClean="0">
                <a:latin typeface="+mn-ea"/>
              </a:rPr>
              <a:t>수입할 데이터가 존재하는 테이블을 선택한다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endParaRPr lang="en-US" altLang="ko-KR" sz="1400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문서필터 엔진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파일 </a:t>
            </a:r>
            <a:r>
              <a:rPr lang="en-US" altLang="ko-KR" sz="1400" dirty="0">
                <a:latin typeface="+mn-ea"/>
              </a:rPr>
              <a:t>PATH</a:t>
            </a:r>
            <a:r>
              <a:rPr lang="ko-KR" altLang="en-US" sz="1400" dirty="0">
                <a:latin typeface="+mn-ea"/>
              </a:rPr>
              <a:t>가 저장된 필드를 기준으로 문서를 </a:t>
            </a:r>
            <a:r>
              <a:rPr lang="ko-KR" altLang="en-US" sz="1400" dirty="0" err="1">
                <a:latin typeface="+mn-ea"/>
              </a:rPr>
              <a:t>필터링할</a:t>
            </a:r>
            <a:r>
              <a:rPr lang="ko-KR" altLang="en-US" sz="1400" dirty="0">
                <a:latin typeface="+mn-ea"/>
              </a:rPr>
              <a:t> 경우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b="1" dirty="0" smtClean="0">
                <a:latin typeface="+mn-ea"/>
              </a:rPr>
              <a:t>사용할 </a:t>
            </a:r>
            <a:r>
              <a:rPr lang="ko-KR" altLang="en-US" sz="1400" b="1" dirty="0">
                <a:latin typeface="+mn-ea"/>
              </a:rPr>
              <a:t>문서 필터 엔진 정보</a:t>
            </a:r>
            <a:r>
              <a:rPr lang="ko-KR" altLang="en-US" sz="1400" dirty="0">
                <a:latin typeface="+mn-ea"/>
              </a:rPr>
              <a:t>를 입력한다</a:t>
            </a:r>
            <a:r>
              <a:rPr lang="en-US" altLang="ko-KR" sz="1400" dirty="0">
                <a:latin typeface="+mn-ea"/>
              </a:rPr>
              <a:t>.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en-US" altLang="ko-KR" sz="1400" b="1" dirty="0" err="1" smtClean="0">
                <a:latin typeface="+mn-ea"/>
              </a:rPr>
              <a:t>DocAI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en-US" altLang="ko-KR" sz="1400" b="1" dirty="0" err="1" smtClean="0">
                <a:latin typeface="+mn-ea"/>
              </a:rPr>
              <a:t>textfiler</a:t>
            </a:r>
            <a:r>
              <a:rPr lang="en-US" altLang="ko-KR" sz="1400" b="1" dirty="0" smtClean="0">
                <a:latin typeface="+mn-ea"/>
              </a:rPr>
              <a:t> </a:t>
            </a:r>
            <a:r>
              <a:rPr lang="ko-KR" altLang="en-US" sz="1400" b="1" dirty="0" smtClean="0">
                <a:latin typeface="+mn-ea"/>
              </a:rPr>
              <a:t>사용이 가능</a:t>
            </a:r>
            <a:r>
              <a:rPr lang="ko-KR" altLang="en-US" sz="1400" dirty="0" smtClean="0">
                <a:latin typeface="+mn-ea"/>
              </a:rPr>
              <a:t>하다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endParaRPr lang="en-US" altLang="ko-KR" sz="1400" dirty="0" smtClean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C</a:t>
            </a:r>
            <a:r>
              <a:rPr lang="en-US" altLang="ko-KR" sz="1600" dirty="0" smtClean="0">
                <a:latin typeface="+mn-ea"/>
              </a:rPr>
              <a:t>hunk </a:t>
            </a:r>
            <a:r>
              <a:rPr lang="en-US" altLang="ko-KR" sz="1600" dirty="0">
                <a:latin typeface="+mn-ea"/>
              </a:rPr>
              <a:t>S</a:t>
            </a:r>
            <a:r>
              <a:rPr lang="en-US" altLang="ko-KR" sz="1600" dirty="0" smtClean="0">
                <a:latin typeface="+mn-ea"/>
              </a:rPr>
              <a:t>ize, Chunk Overlap</a:t>
            </a:r>
          </a:p>
          <a:p>
            <a:pPr lvl="1"/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의 사이즈와 </a:t>
            </a:r>
            <a:r>
              <a:rPr lang="en-US" altLang="ko-KR" sz="1400" dirty="0" smtClean="0">
                <a:latin typeface="+mn-ea"/>
              </a:rPr>
              <a:t>overlap</a:t>
            </a:r>
            <a:r>
              <a:rPr lang="ko-KR" altLang="en-US" sz="1400" dirty="0" smtClean="0">
                <a:latin typeface="+mn-ea"/>
              </a:rPr>
              <a:t>될 영역의 크기를 </a:t>
            </a:r>
            <a:r>
              <a:rPr lang="ko-KR" altLang="en-US" sz="1400" b="1" dirty="0" smtClean="0">
                <a:latin typeface="+mn-ea"/>
              </a:rPr>
              <a:t>글자단위</a:t>
            </a:r>
            <a:r>
              <a:rPr lang="ko-KR" altLang="en-US" sz="1400" dirty="0" smtClean="0">
                <a:latin typeface="+mn-ea"/>
              </a:rPr>
              <a:t>로 지정한다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endParaRPr lang="en-US" altLang="ko-KR" sz="1400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사전 도메인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ko-KR" altLang="en-US" sz="1400" dirty="0" err="1" smtClean="0">
                <a:latin typeface="+mn-ea"/>
              </a:rPr>
              <a:t>색인시</a:t>
            </a:r>
            <a:r>
              <a:rPr lang="ko-KR" altLang="en-US" sz="1400" dirty="0" smtClean="0">
                <a:latin typeface="+mn-ea"/>
              </a:rPr>
              <a:t> 사용할 사용자 사전의 도메인을 선택한다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ko-KR" altLang="en-US" sz="1400" dirty="0" smtClean="0">
                <a:latin typeface="+mn-ea"/>
              </a:rPr>
              <a:t>신조어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사전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형태소분석 사전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err="1" smtClean="0">
                <a:latin typeface="+mn-ea"/>
              </a:rPr>
              <a:t>불용어등을</a:t>
            </a:r>
            <a:r>
              <a:rPr lang="ko-KR" altLang="en-US" sz="1400" dirty="0" smtClean="0">
                <a:latin typeface="+mn-ea"/>
              </a:rPr>
              <a:t> 사용할 수 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ko-KR" altLang="en-US" sz="1400" dirty="0" smtClean="0">
                <a:latin typeface="+mn-ea"/>
              </a:rPr>
              <a:t>사용자 사전에 대한 상세한 내용은 </a:t>
            </a:r>
            <a:r>
              <a:rPr lang="en-US" altLang="ko-KR" sz="1400" dirty="0" smtClean="0">
                <a:latin typeface="+mn-ea"/>
              </a:rPr>
              <a:t>Konan Search Manual</a:t>
            </a:r>
            <a:r>
              <a:rPr lang="ko-KR" altLang="en-US" sz="1400" dirty="0" smtClean="0">
                <a:latin typeface="+mn-ea"/>
              </a:rPr>
              <a:t>을 참고</a:t>
            </a:r>
            <a:endParaRPr lang="en-US" altLang="ko-KR" sz="1400" dirty="0" smtClean="0">
              <a:latin typeface="+mn-ea"/>
            </a:endParaRPr>
          </a:p>
          <a:p>
            <a:pPr lvl="1"/>
            <a:endParaRPr lang="en-US" altLang="ko-KR" sz="1400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가져올 필드 선택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en-US" altLang="ko-KR" sz="1400" b="1" dirty="0" err="1" smtClean="0">
                <a:latin typeface="+mn-ea"/>
              </a:rPr>
              <a:t>pkey</a:t>
            </a:r>
            <a:r>
              <a:rPr lang="en-US" altLang="ko-KR" sz="1400" b="1" dirty="0" smtClean="0">
                <a:latin typeface="+mn-ea"/>
              </a:rPr>
              <a:t>/title/contents</a:t>
            </a:r>
            <a:r>
              <a:rPr lang="ko-KR" altLang="en-US" sz="1400" b="1" dirty="0" smtClean="0">
                <a:latin typeface="+mn-ea"/>
              </a:rPr>
              <a:t>필드 </a:t>
            </a:r>
            <a:r>
              <a:rPr lang="ko-KR" altLang="en-US" sz="1400" dirty="0" smtClean="0">
                <a:latin typeface="+mn-ea"/>
              </a:rPr>
              <a:t>그리고 </a:t>
            </a:r>
            <a:r>
              <a:rPr lang="en-US" altLang="ko-KR" sz="1400" b="1" dirty="0" err="1" smtClean="0">
                <a:latin typeface="+mn-ea"/>
              </a:rPr>
              <a:t>customfield</a:t>
            </a:r>
            <a:r>
              <a:rPr lang="ko-KR" altLang="en-US" sz="1400" dirty="0" smtClean="0">
                <a:latin typeface="+mn-ea"/>
              </a:rPr>
              <a:t>를 </a:t>
            </a:r>
            <a:r>
              <a:rPr lang="ko-KR" altLang="en-US" sz="1400" dirty="0" err="1" smtClean="0">
                <a:latin typeface="+mn-ea"/>
              </a:rPr>
              <a:t>매핑한다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ko-KR" altLang="en-US" sz="1400" dirty="0" smtClean="0">
                <a:latin typeface="+mn-ea"/>
              </a:rPr>
              <a:t>문서필터를 수행할 필드를 지정한다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en-US" altLang="ko-KR" sz="1400" dirty="0" err="1" smtClean="0">
                <a:latin typeface="+mn-ea"/>
              </a:rPr>
              <a:t>customfield</a:t>
            </a:r>
            <a:r>
              <a:rPr lang="ko-KR" altLang="en-US" sz="1400" dirty="0" smtClean="0">
                <a:latin typeface="+mn-ea"/>
              </a:rPr>
              <a:t>명은 변환페이지에서 변경 가능하다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endParaRPr lang="en-US" altLang="ko-KR" sz="1400" dirty="0" smtClean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where </a:t>
            </a:r>
            <a:r>
              <a:rPr lang="ko-KR" altLang="en-US" sz="1600" dirty="0" smtClean="0">
                <a:latin typeface="+mn-ea"/>
              </a:rPr>
              <a:t>조건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ko-KR" altLang="en-US" sz="1400" dirty="0" smtClean="0">
                <a:latin typeface="+mn-ea"/>
              </a:rPr>
              <a:t>수입 할 데이터의 조건을 입력한다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/>
            <a:r>
              <a:rPr lang="ko-KR" altLang="en-US" sz="1400" dirty="0" smtClean="0">
                <a:latin typeface="+mn-ea"/>
              </a:rPr>
              <a:t>사용하는 </a:t>
            </a:r>
            <a:r>
              <a:rPr lang="en-US" altLang="ko-KR" sz="1400" dirty="0" smtClean="0">
                <a:latin typeface="+mn-ea"/>
              </a:rPr>
              <a:t>DB</a:t>
            </a:r>
            <a:r>
              <a:rPr lang="ko-KR" altLang="en-US" sz="1400" dirty="0" smtClean="0">
                <a:latin typeface="+mn-ea"/>
              </a:rPr>
              <a:t>에 맞는 조건식을 사용해야 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 lvl="1">
              <a:defRPr/>
            </a:pPr>
            <a:endParaRPr lang="ko-KR" altLang="en-US" dirty="0" smtClean="0"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000760" y="4286256"/>
          <a:ext cx="2643206" cy="142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603"/>
                <a:gridCol w="1321603"/>
              </a:tblGrid>
              <a:tr h="3571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원천 데이터 필드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필드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primary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key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uuid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chunk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가져오기 </a:t>
            </a:r>
            <a:r>
              <a:rPr lang="en-US" altLang="ko-KR" dirty="0" smtClean="0">
                <a:latin typeface="+mn-ea"/>
                <a:ea typeface="+mn-ea"/>
              </a:rPr>
              <a:t>- DB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20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지원 </a:t>
            </a:r>
            <a:r>
              <a:rPr lang="en-US" altLang="ko-KR" dirty="0" smtClean="0"/>
              <a:t>Database</a:t>
            </a:r>
          </a:p>
          <a:p>
            <a:pPr lvl="1"/>
            <a:r>
              <a:rPr lang="en-US" altLang="ko-KR" dirty="0" smtClean="0"/>
              <a:t>KQL</a:t>
            </a:r>
          </a:p>
          <a:p>
            <a:pPr lvl="1"/>
            <a:r>
              <a:rPr lang="en-US" altLang="ko-KR" dirty="0" smtClean="0"/>
              <a:t>Oracle</a:t>
            </a:r>
          </a:p>
          <a:p>
            <a:pPr lvl="1"/>
            <a:r>
              <a:rPr lang="en-US" altLang="ko-KR" dirty="0" err="1" smtClean="0"/>
              <a:t>MariaDB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Microsoft SQL Server</a:t>
            </a:r>
          </a:p>
          <a:p>
            <a:pPr lvl="1"/>
            <a:r>
              <a:rPr lang="en-US" altLang="ko-KR" dirty="0" smtClean="0"/>
              <a:t>DB2</a:t>
            </a:r>
          </a:p>
          <a:p>
            <a:pPr lvl="1"/>
            <a:r>
              <a:rPr lang="en-US" altLang="ko-KR" dirty="0" err="1" smtClean="0"/>
              <a:t>Altibase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CUBRID</a:t>
            </a:r>
          </a:p>
          <a:p>
            <a:pPr lvl="1"/>
            <a:r>
              <a:rPr lang="en-US" altLang="ko-KR" dirty="0" err="1" smtClean="0"/>
              <a:t>Tibero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PostgreSQL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가져오기 </a:t>
            </a:r>
            <a:r>
              <a:rPr lang="en-US" altLang="ko-KR" dirty="0" smtClean="0">
                <a:latin typeface="+mn-ea"/>
                <a:ea typeface="+mn-ea"/>
              </a:rPr>
              <a:t>– </a:t>
            </a:r>
            <a:r>
              <a:rPr lang="ko-KR" altLang="en-US" dirty="0" smtClean="0">
                <a:latin typeface="+mn-ea"/>
                <a:ea typeface="+mn-ea"/>
              </a:rPr>
              <a:t>서버 문서파일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21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 smtClean="0"/>
              <a:t>서버에 존재하는 파일을 한 번에 </a:t>
            </a:r>
            <a:r>
              <a:rPr lang="ko-KR" altLang="en-US" sz="1600" dirty="0" err="1" smtClean="0"/>
              <a:t>필터링하여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색인할</a:t>
            </a:r>
            <a:r>
              <a:rPr lang="ko-KR" altLang="en-US" sz="1600" dirty="0" smtClean="0"/>
              <a:t>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Konan LLM / RAG-X </a:t>
            </a:r>
            <a:r>
              <a:rPr lang="ko-KR" altLang="en-US" sz="1600" dirty="0" smtClean="0"/>
              <a:t>환경에서는 </a:t>
            </a:r>
            <a:r>
              <a:rPr lang="en-US" altLang="ko-KR" sz="1600" b="1" dirty="0" err="1" smtClean="0"/>
              <a:t>DocAI</a:t>
            </a:r>
            <a:r>
              <a:rPr lang="en-US" altLang="ko-KR" sz="1600" b="1" dirty="0" smtClean="0"/>
              <a:t> </a:t>
            </a:r>
            <a:r>
              <a:rPr lang="ko-KR" altLang="en-US" sz="1600" b="1" dirty="0" smtClean="0"/>
              <a:t>문서필터</a:t>
            </a:r>
            <a:r>
              <a:rPr lang="ko-KR" altLang="en-US" sz="1600" dirty="0" smtClean="0"/>
              <a:t>를 사용하며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DocAI</a:t>
            </a:r>
            <a:r>
              <a:rPr lang="ko-KR" altLang="en-US" sz="1600" dirty="0" smtClean="0"/>
              <a:t>를 사용할 수 없는 환경에서는 </a:t>
            </a:r>
            <a:r>
              <a:rPr lang="en-US" altLang="ko-KR" sz="1600" b="1" dirty="0" err="1" smtClean="0"/>
              <a:t>TextFilter</a:t>
            </a:r>
            <a:r>
              <a:rPr lang="ko-KR" altLang="en-US" sz="1600" dirty="0" smtClean="0"/>
              <a:t>로 문서 </a:t>
            </a:r>
            <a:r>
              <a:rPr lang="ko-KR" altLang="en-US" sz="1600" dirty="0" err="1" smtClean="0"/>
              <a:t>필터링을</a:t>
            </a:r>
            <a:r>
              <a:rPr lang="ko-KR" altLang="en-US" sz="1600" dirty="0" smtClean="0"/>
              <a:t> 수행한다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357430"/>
            <a:ext cx="8383617" cy="3515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가져오기 </a:t>
            </a:r>
            <a:r>
              <a:rPr lang="en-US" altLang="ko-KR" dirty="0" smtClean="0">
                <a:latin typeface="+mn-ea"/>
                <a:ea typeface="+mn-ea"/>
              </a:rPr>
              <a:t>- </a:t>
            </a:r>
            <a:r>
              <a:rPr lang="ko-KR" altLang="en-US" dirty="0" smtClean="0">
                <a:latin typeface="+mn-ea"/>
                <a:ea typeface="+mn-ea"/>
              </a:rPr>
              <a:t>덤프파일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22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b="1" dirty="0" smtClean="0">
                <a:latin typeface="+mn-ea"/>
              </a:rPr>
              <a:t>Chunking</a:t>
            </a:r>
            <a:r>
              <a:rPr lang="ko-KR" altLang="en-US" sz="1400" b="1" dirty="0" smtClean="0">
                <a:latin typeface="+mn-ea"/>
              </a:rPr>
              <a:t>이나 데이터 가공에 커스텀 작업</a:t>
            </a:r>
            <a:r>
              <a:rPr lang="ko-KR" altLang="en-US" sz="1400" dirty="0" smtClean="0">
                <a:latin typeface="+mn-ea"/>
              </a:rPr>
              <a:t>이 필요하다면</a:t>
            </a:r>
            <a:r>
              <a:rPr lang="en-US" altLang="ko-KR" sz="1400" dirty="0" smtClean="0">
                <a:latin typeface="+mn-ea"/>
              </a:rPr>
              <a:t>, </a:t>
            </a:r>
            <a:br>
              <a:rPr lang="en-US" altLang="ko-KR" sz="1400" dirty="0" smtClean="0">
                <a:latin typeface="+mn-ea"/>
              </a:rPr>
            </a:br>
            <a:r>
              <a:rPr lang="ko-KR" altLang="en-US" sz="1400" dirty="0" smtClean="0">
                <a:latin typeface="+mn-ea"/>
              </a:rPr>
              <a:t>전처리 단계는 별도의 도구로 먼저 구축한 뒤 </a:t>
            </a:r>
            <a:r>
              <a:rPr lang="ko-KR" altLang="en-US" sz="1400" b="1" dirty="0" smtClean="0">
                <a:latin typeface="+mn-ea"/>
              </a:rPr>
              <a:t>덤프 파일 형태로 출력</a:t>
            </a:r>
            <a:r>
              <a:rPr lang="ko-KR" altLang="en-US" sz="1400" dirty="0" smtClean="0">
                <a:latin typeface="+mn-ea"/>
              </a:rPr>
              <a:t>하면 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생성한 덤프 파일을 </a:t>
            </a:r>
            <a:r>
              <a:rPr lang="ko-KR" altLang="en-US" sz="1400" b="1" dirty="0" smtClean="0">
                <a:latin typeface="+mn-ea"/>
              </a:rPr>
              <a:t>원천 데이터로 사용하는 작업</a:t>
            </a:r>
            <a:r>
              <a:rPr lang="en-US" altLang="ko-KR" sz="1400" b="1" dirty="0" smtClean="0">
                <a:latin typeface="+mn-ea"/>
              </a:rPr>
              <a:t>(</a:t>
            </a:r>
            <a:r>
              <a:rPr lang="ko-KR" altLang="en-US" sz="1400" b="1" dirty="0" err="1" smtClean="0">
                <a:latin typeface="+mn-ea"/>
              </a:rPr>
              <a:t>테스크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을 생성해</a:t>
            </a:r>
            <a:r>
              <a:rPr lang="en-US" altLang="ko-KR" sz="1400" dirty="0" smtClean="0">
                <a:latin typeface="+mn-ea"/>
              </a:rPr>
              <a:t>, </a:t>
            </a:r>
            <a:br>
              <a:rPr lang="en-US" altLang="ko-KR" sz="1400" dirty="0" smtClean="0">
                <a:latin typeface="+mn-ea"/>
              </a:rPr>
            </a:br>
            <a:r>
              <a:rPr lang="ko-KR" altLang="en-US" sz="1400" dirty="0" smtClean="0">
                <a:latin typeface="+mn-ea"/>
              </a:rPr>
              <a:t>이후 </a:t>
            </a:r>
            <a:r>
              <a:rPr lang="en-US" altLang="ko-KR" sz="1400" dirty="0" smtClean="0">
                <a:latin typeface="+mn-ea"/>
              </a:rPr>
              <a:t>RAG</a:t>
            </a:r>
            <a:r>
              <a:rPr lang="ko-KR" altLang="en-US" sz="1400" dirty="0" smtClean="0">
                <a:latin typeface="+mn-ea"/>
              </a:rPr>
              <a:t>용 데이터 구축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색인</a:t>
            </a:r>
            <a:r>
              <a:rPr lang="en-US" altLang="ko-KR" sz="1400" dirty="0" smtClean="0">
                <a:latin typeface="+mn-ea"/>
              </a:rPr>
              <a:t>) </a:t>
            </a:r>
            <a:r>
              <a:rPr lang="ko-KR" altLang="en-US" sz="1400" dirty="0" smtClean="0">
                <a:latin typeface="+mn-ea"/>
              </a:rPr>
              <a:t>단계로 이어서 진행할 수 있다</a:t>
            </a:r>
            <a:r>
              <a:rPr lang="en-US" altLang="ko-KR" sz="1400" dirty="0" smtClean="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2214554"/>
            <a:ext cx="6167817" cy="411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변환설정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23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chunk</a:t>
            </a:r>
          </a:p>
          <a:p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내용에 </a:t>
            </a:r>
            <a:r>
              <a:rPr lang="en-US" altLang="ko-KR" sz="1400" dirty="0" err="1" smtClean="0">
                <a:latin typeface="+mn-ea"/>
              </a:rPr>
              <a:t>customfield</a:t>
            </a:r>
            <a:r>
              <a:rPr lang="ko-KR" altLang="en-US" sz="1400" dirty="0" smtClean="0">
                <a:latin typeface="+mn-ea"/>
              </a:rPr>
              <a:t>를 포함하고 싶은 경우 사용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에 본문 내용 추가할 형식 지정 가능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초기 필드 타입은 텍스트를 </a:t>
            </a:r>
            <a:r>
              <a:rPr lang="ko-KR" altLang="en-US" sz="1400" dirty="0" err="1">
                <a:latin typeface="+mn-ea"/>
              </a:rPr>
              <a:t>스캔해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text, </a:t>
            </a:r>
            <a:r>
              <a:rPr lang="en-US" altLang="ko-KR" sz="1400" dirty="0" err="1">
                <a:latin typeface="+mn-ea"/>
              </a:rPr>
              <a:t>int</a:t>
            </a:r>
            <a:r>
              <a:rPr lang="en-US" altLang="ko-KR" sz="1400" dirty="0">
                <a:latin typeface="+mn-ea"/>
              </a:rPr>
              <a:t>, string </a:t>
            </a:r>
            <a:r>
              <a:rPr lang="ko-KR" altLang="en-US" sz="1400" dirty="0">
                <a:latin typeface="+mn-ea"/>
              </a:rPr>
              <a:t>등으로 자동 설정되며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어떤 필드 타입도 탐지되지 않으면 기본값으로 </a:t>
            </a:r>
            <a:r>
              <a:rPr lang="en-US" altLang="ko-KR" sz="1400" u="sng" dirty="0">
                <a:latin typeface="+mn-ea"/>
              </a:rPr>
              <a:t>string list </a:t>
            </a:r>
            <a:r>
              <a:rPr lang="ko-KR" altLang="en-US" sz="1400" u="sng" dirty="0">
                <a:latin typeface="+mn-ea"/>
              </a:rPr>
              <a:t>타입</a:t>
            </a:r>
            <a:r>
              <a:rPr lang="ko-KR" altLang="en-US" sz="1400" dirty="0">
                <a:latin typeface="+mn-ea"/>
              </a:rPr>
              <a:t>을 적용합니다</a:t>
            </a:r>
            <a:r>
              <a:rPr lang="en-US" altLang="ko-KR" sz="1400" dirty="0">
                <a:latin typeface="+mn-ea"/>
              </a:rPr>
              <a:t>.</a:t>
            </a:r>
            <a:endParaRPr lang="en-US" altLang="ko-KR" sz="1400" dirty="0" smtClean="0"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/>
          <a:srcRect b="10041"/>
          <a:stretch/>
        </p:blipFill>
        <p:spPr bwMode="auto">
          <a:xfrm>
            <a:off x="467544" y="2544396"/>
            <a:ext cx="5019698" cy="416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그룹 5"/>
          <p:cNvGrpSpPr/>
          <p:nvPr/>
        </p:nvGrpSpPr>
        <p:grpSpPr>
          <a:xfrm>
            <a:off x="3397072" y="2911563"/>
            <a:ext cx="5591795" cy="3797068"/>
            <a:chOff x="3397072" y="2911563"/>
            <a:chExt cx="5591795" cy="3797068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7072" y="2911563"/>
              <a:ext cx="5591795" cy="37970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3397072" y="4849780"/>
              <a:ext cx="2928958" cy="150019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397072" y="3921086"/>
              <a:ext cx="2928958" cy="285752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476339" y="4509120"/>
              <a:ext cx="2512528" cy="86409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변환설정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24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err="1" smtClean="0"/>
              <a:t>customfield</a:t>
            </a:r>
            <a:endParaRPr lang="en-US" altLang="ko-KR" sz="1600" b="1" dirty="0" smtClean="0"/>
          </a:p>
          <a:p>
            <a:r>
              <a:rPr lang="en-US" altLang="ko-KR" sz="1400" dirty="0" err="1" smtClean="0"/>
              <a:t>customfield</a:t>
            </a:r>
            <a:r>
              <a:rPr lang="ko-KR" altLang="en-US" sz="1400" dirty="0" smtClean="0"/>
              <a:t>의 색인관련 설정 가능</a:t>
            </a:r>
            <a:endParaRPr lang="en-US" altLang="ko-KR" sz="1400" dirty="0" smtClean="0"/>
          </a:p>
          <a:p>
            <a:r>
              <a:rPr lang="en-US" altLang="ko-KR" sz="1400" dirty="0" err="1" smtClean="0"/>
              <a:t>cutomfield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타입 변경 </a:t>
            </a:r>
            <a:endParaRPr lang="en-US" altLang="ko-KR" sz="1400" dirty="0" smtClean="0"/>
          </a:p>
          <a:p>
            <a:r>
              <a:rPr lang="ko-KR" altLang="en-US" sz="1400" dirty="0" smtClean="0"/>
              <a:t>원본 </a:t>
            </a:r>
            <a:r>
              <a:rPr lang="en-US" altLang="ko-KR" sz="1400" dirty="0" err="1" smtClean="0"/>
              <a:t>customfield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데이터 변형 </a:t>
            </a:r>
            <a:r>
              <a:rPr lang="en-US" altLang="ko-KR" sz="1400" dirty="0" smtClean="0"/>
              <a:t>(ex. </a:t>
            </a:r>
            <a:r>
              <a:rPr lang="ko-KR" altLang="en-US" sz="1400" dirty="0" smtClean="0"/>
              <a:t>날짜 형신 변경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키워드 추출 등</a:t>
            </a:r>
            <a:r>
              <a:rPr lang="en-US" altLang="ko-KR" sz="1400" dirty="0" smtClean="0"/>
              <a:t>)</a:t>
            </a:r>
          </a:p>
          <a:p>
            <a:r>
              <a:rPr lang="ko-KR" altLang="en-US" sz="1400" dirty="0" smtClean="0"/>
              <a:t>필드 추가 </a:t>
            </a:r>
            <a:r>
              <a:rPr lang="en-US" altLang="ko-KR" sz="1400" dirty="0" smtClean="0"/>
              <a:t>(ex. </a:t>
            </a:r>
            <a:r>
              <a:rPr lang="ko-KR" altLang="en-US" sz="1400" dirty="0" smtClean="0"/>
              <a:t>데이터 길이 계산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등</a:t>
            </a:r>
            <a:r>
              <a:rPr lang="en-US" altLang="ko-KR" sz="1400" dirty="0" smtClean="0"/>
              <a:t>)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0" y="2556195"/>
            <a:ext cx="7715240" cy="2801650"/>
            <a:chOff x="0" y="2564904"/>
            <a:chExt cx="7715240" cy="280165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 l="2703"/>
            <a:stretch>
              <a:fillRect/>
            </a:stretch>
          </p:blipFill>
          <p:spPr bwMode="auto">
            <a:xfrm>
              <a:off x="0" y="2564904"/>
              <a:ext cx="7715240" cy="2801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직사각형 7"/>
            <p:cNvSpPr/>
            <p:nvPr/>
          </p:nvSpPr>
          <p:spPr>
            <a:xfrm>
              <a:off x="3491161" y="3813418"/>
              <a:ext cx="1656904" cy="288032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491161" y="4149080"/>
            <a:ext cx="5652839" cy="2717276"/>
            <a:chOff x="3491161" y="4161446"/>
            <a:chExt cx="5652839" cy="2717276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/>
            <a:srcRect t="1014"/>
            <a:stretch>
              <a:fillRect/>
            </a:stretch>
          </p:blipFill>
          <p:spPr bwMode="auto">
            <a:xfrm>
              <a:off x="3491161" y="4164078"/>
              <a:ext cx="5652839" cy="27146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직사각형 6"/>
            <p:cNvSpPr/>
            <p:nvPr/>
          </p:nvSpPr>
          <p:spPr>
            <a:xfrm>
              <a:off x="3491161" y="4161446"/>
              <a:ext cx="576783" cy="26328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스케줄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25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 smtClean="0">
                <a:latin typeface="+mn-ea"/>
              </a:rPr>
              <a:t>색인 스케줄을 지정할 수 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관련 </a:t>
            </a:r>
            <a:r>
              <a:rPr lang="en-US" altLang="ko-KR" sz="1400" dirty="0" smtClean="0">
                <a:latin typeface="+mn-ea"/>
              </a:rPr>
              <a:t>task</a:t>
            </a:r>
            <a:r>
              <a:rPr lang="ko-KR" altLang="en-US" sz="1400" dirty="0" smtClean="0">
                <a:latin typeface="+mn-ea"/>
              </a:rPr>
              <a:t>를 순차적으로 수행해야 한다면</a:t>
            </a:r>
            <a:r>
              <a:rPr lang="en-US" altLang="ko-KR" sz="1400" dirty="0" smtClean="0">
                <a:latin typeface="+mn-ea"/>
              </a:rPr>
              <a:t>, pipeline</a:t>
            </a:r>
            <a:r>
              <a:rPr lang="ko-KR" altLang="en-US" sz="1400" dirty="0" smtClean="0">
                <a:latin typeface="+mn-ea"/>
              </a:rPr>
              <a:t>으로 스케줄을 구성할 수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만약</a:t>
            </a:r>
            <a:r>
              <a:rPr lang="en-US" altLang="ko-KR" sz="1400" dirty="0" smtClean="0">
                <a:latin typeface="+mn-ea"/>
              </a:rPr>
              <a:t>, custom script</a:t>
            </a:r>
            <a:r>
              <a:rPr lang="ko-KR" altLang="en-US" sz="1400" dirty="0" smtClean="0">
                <a:latin typeface="+mn-ea"/>
              </a:rPr>
              <a:t>가 존재한다면 색인 스크립트와 같이 스케줄링이 가능하다</a:t>
            </a:r>
            <a:r>
              <a:rPr lang="en-US" altLang="ko-KR" sz="1400" dirty="0" smtClean="0">
                <a:latin typeface="+mn-ea"/>
              </a:rPr>
              <a:t>. </a:t>
            </a:r>
          </a:p>
          <a:p>
            <a:pPr lvl="1"/>
            <a:r>
              <a:rPr lang="en-US" altLang="ko-KR" sz="1400" b="1" dirty="0" smtClean="0">
                <a:latin typeface="+mn-ea"/>
              </a:rPr>
              <a:t>k-code </a:t>
            </a:r>
            <a:r>
              <a:rPr lang="ko-KR" altLang="en-US" sz="1400" b="1" dirty="0" smtClean="0">
                <a:latin typeface="+mn-ea"/>
              </a:rPr>
              <a:t>스크립트</a:t>
            </a:r>
            <a:r>
              <a:rPr lang="ko-KR" altLang="en-US" sz="1400" dirty="0" smtClean="0">
                <a:latin typeface="+mn-ea"/>
              </a:rPr>
              <a:t>만 가능</a:t>
            </a:r>
            <a:endParaRPr lang="en-US" altLang="ko-KR" sz="1400" dirty="0">
              <a:latin typeface="+mn-ea"/>
            </a:endParaRPr>
          </a:p>
          <a:p>
            <a:pPr lvl="1"/>
            <a:r>
              <a:rPr lang="ko-KR" altLang="en-US" sz="1400" dirty="0" smtClean="0">
                <a:latin typeface="+mn-ea"/>
              </a:rPr>
              <a:t>예</a:t>
            </a:r>
            <a:r>
              <a:rPr lang="en-US" altLang="ko-KR" sz="1400" dirty="0" smtClean="0">
                <a:latin typeface="+mn-ea"/>
              </a:rPr>
              <a:t>) </a:t>
            </a:r>
            <a:r>
              <a:rPr lang="ko-KR" altLang="en-US" sz="1400" dirty="0" smtClean="0">
                <a:latin typeface="+mn-ea"/>
              </a:rPr>
              <a:t>색인 후 서비스용 볼륨으로 복사</a:t>
            </a:r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2578102"/>
            <a:ext cx="5072098" cy="3803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직사각형 5"/>
          <p:cNvSpPr/>
          <p:nvPr/>
        </p:nvSpPr>
        <p:spPr>
          <a:xfrm>
            <a:off x="1857356" y="4441760"/>
            <a:ext cx="4946892" cy="1152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색인 </a:t>
            </a:r>
            <a:r>
              <a:rPr lang="ko-KR" altLang="en-US" dirty="0" err="1" smtClean="0">
                <a:latin typeface="+mn-ea"/>
                <a:ea typeface="+mn-ea"/>
              </a:rPr>
              <a:t>커스터마이징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26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Indexing Wizard</a:t>
            </a:r>
            <a:r>
              <a:rPr lang="ko-KR" altLang="en-US" sz="1400" dirty="0"/>
              <a:t>로 생성된 </a:t>
            </a:r>
            <a:r>
              <a:rPr lang="ko-KR" altLang="en-US" sz="1400" b="1" dirty="0"/>
              <a:t>색인 스크립트</a:t>
            </a:r>
            <a:r>
              <a:rPr lang="ko-KR" altLang="en-US" sz="1400" dirty="0"/>
              <a:t>를 활용해 </a:t>
            </a:r>
            <a:r>
              <a:rPr lang="ko-KR" altLang="en-US" sz="1400" b="1" dirty="0" err="1"/>
              <a:t>커스터마이징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가능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smtClean="0"/>
              <a:t>스크립트 </a:t>
            </a:r>
            <a:r>
              <a:rPr lang="ko-KR" altLang="en-US" sz="1400" b="1" dirty="0"/>
              <a:t>경로</a:t>
            </a:r>
            <a:endParaRPr lang="ko-KR" altLang="en-US" sz="1400" dirty="0"/>
          </a:p>
          <a:p>
            <a:r>
              <a:rPr lang="en-US" altLang="ko-KR" sz="1400" dirty="0"/>
              <a:t>$ENGINE_HOME/workspace/{workspace</a:t>
            </a:r>
            <a:r>
              <a:rPr lang="ko-KR" altLang="en-US" sz="1400" dirty="0"/>
              <a:t>경로</a:t>
            </a:r>
            <a:r>
              <a:rPr lang="en-US" altLang="ko-KR" sz="1400" dirty="0"/>
              <a:t>}/{</a:t>
            </a:r>
            <a:r>
              <a:rPr lang="en-US" altLang="ko-KR" sz="1400" dirty="0" err="1"/>
              <a:t>taskname</a:t>
            </a:r>
            <a:r>
              <a:rPr lang="en-US" altLang="ko-KR" sz="1400" dirty="0"/>
              <a:t>}/scripts/</a:t>
            </a:r>
          </a:p>
          <a:p>
            <a:pPr marL="0" indent="0">
              <a:buNone/>
            </a:pP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smtClean="0"/>
              <a:t>설명</a:t>
            </a:r>
            <a:endParaRPr lang="ko-KR" altLang="en-US" sz="1400" dirty="0"/>
          </a:p>
          <a:p>
            <a:r>
              <a:rPr lang="en-US" altLang="ko-KR" sz="1400" dirty="0"/>
              <a:t>Task </a:t>
            </a:r>
            <a:r>
              <a:rPr lang="ko-KR" altLang="en-US" sz="1400" dirty="0"/>
              <a:t>단위로 생성된 스크립트들이 </a:t>
            </a:r>
            <a:r>
              <a:rPr lang="en-US" altLang="ko-KR" sz="1400" dirty="0"/>
              <a:t>scripts </a:t>
            </a:r>
            <a:r>
              <a:rPr lang="ko-KR" altLang="en-US" sz="1400" dirty="0"/>
              <a:t>폴더에 저장됨</a:t>
            </a:r>
          </a:p>
          <a:p>
            <a:r>
              <a:rPr lang="ko-KR" altLang="en-US" sz="1400" dirty="0" err="1"/>
              <a:t>커스터마이징</a:t>
            </a:r>
            <a:r>
              <a:rPr lang="ko-KR" altLang="en-US" sz="1400" dirty="0"/>
              <a:t> 시 이 경로의 파일을 수정</a:t>
            </a:r>
            <a:r>
              <a:rPr lang="en-US" altLang="ko-KR" sz="1400" dirty="0"/>
              <a:t>/</a:t>
            </a:r>
            <a:r>
              <a:rPr lang="ko-KR" altLang="en-US" sz="1400" dirty="0"/>
              <a:t>관리</a:t>
            </a:r>
          </a:p>
          <a:p>
            <a:pPr marL="0" indent="0">
              <a:buNone/>
            </a:pP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err="1" smtClean="0"/>
              <a:t>스크립트별</a:t>
            </a:r>
            <a:r>
              <a:rPr lang="ko-KR" altLang="en-US" sz="1400" b="1" dirty="0" smtClean="0"/>
              <a:t> </a:t>
            </a:r>
            <a:r>
              <a:rPr lang="ko-KR" altLang="en-US" sz="1400" b="1" dirty="0"/>
              <a:t>설명</a:t>
            </a:r>
            <a:endParaRPr lang="ko-KR" altLang="en-US" sz="1400" dirty="0"/>
          </a:p>
          <a:p>
            <a:r>
              <a:rPr lang="en-US" altLang="ko-KR" sz="1400" dirty="0" err="1"/>
              <a:t>dump.k</a:t>
            </a:r>
            <a:r>
              <a:rPr lang="en-US" altLang="ko-KR" sz="1400" dirty="0"/>
              <a:t> : </a:t>
            </a:r>
            <a:r>
              <a:rPr lang="ko-KR" altLang="en-US" sz="1400" dirty="0"/>
              <a:t>원본 데이터를 </a:t>
            </a:r>
            <a:r>
              <a:rPr lang="en-US" altLang="ko-KR" sz="1400" b="1" dirty="0"/>
              <a:t>FGF </a:t>
            </a:r>
            <a:r>
              <a:rPr lang="ko-KR" altLang="en-US" sz="1400" b="1" dirty="0"/>
              <a:t>파일로 생성</a:t>
            </a:r>
            <a:endParaRPr lang="ko-KR" altLang="en-US" sz="1400" dirty="0"/>
          </a:p>
          <a:p>
            <a:r>
              <a:rPr lang="en-US" altLang="ko-KR" sz="1400" dirty="0" err="1"/>
              <a:t>ddl.k</a:t>
            </a:r>
            <a:r>
              <a:rPr lang="en-US" altLang="ko-KR" sz="1400" dirty="0"/>
              <a:t> : </a:t>
            </a:r>
            <a:r>
              <a:rPr lang="ko-KR" altLang="en-US" sz="1400" b="1" dirty="0"/>
              <a:t>볼륨 및 테이블 생성</a:t>
            </a:r>
            <a:r>
              <a:rPr lang="ko-KR" altLang="en-US" sz="1400" dirty="0"/>
              <a:t> </a:t>
            </a:r>
            <a:r>
              <a:rPr lang="en-US" altLang="ko-KR" sz="1400" dirty="0"/>
              <a:t>(Schema </a:t>
            </a:r>
            <a:r>
              <a:rPr lang="ko-KR" altLang="en-US" sz="1400" dirty="0"/>
              <a:t>설정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 err="1"/>
              <a:t>dml.k</a:t>
            </a:r>
            <a:r>
              <a:rPr lang="en-US" altLang="ko-KR" sz="1400" dirty="0"/>
              <a:t> : </a:t>
            </a:r>
            <a:r>
              <a:rPr lang="en-US" altLang="ko-KR" sz="1400" b="1" dirty="0"/>
              <a:t>chunking + embedding + </a:t>
            </a:r>
            <a:r>
              <a:rPr lang="ko-KR" altLang="en-US" sz="1400" b="1" dirty="0"/>
              <a:t>색인</a:t>
            </a:r>
            <a:r>
              <a:rPr lang="ko-KR" altLang="en-US" sz="1400" dirty="0"/>
              <a:t> 수행</a:t>
            </a:r>
          </a:p>
          <a:p>
            <a:pPr marL="0" indent="0">
              <a:buNone/>
            </a:pP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14000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색인 </a:t>
            </a:r>
            <a:r>
              <a:rPr lang="ko-KR" altLang="en-US" dirty="0" err="1" smtClean="0">
                <a:latin typeface="+mn-ea"/>
                <a:ea typeface="+mn-ea"/>
              </a:rPr>
              <a:t>커스터마이징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– </a:t>
            </a:r>
            <a:r>
              <a:rPr lang="en-US" altLang="ko-KR" dirty="0" err="1" smtClean="0">
                <a:latin typeface="+mn-ea"/>
                <a:ea typeface="+mn-ea"/>
              </a:rPr>
              <a:t>ddl.k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27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 smtClean="0"/>
              <a:t>ddl.k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486714" y="1556792"/>
            <a:ext cx="7072362" cy="45365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import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ksui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http, sys, container, rag;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void main() {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dict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d = {"fields":{},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"volume":"ds01",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"embedding":"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</a:rPr>
              <a:t>embedding-10“,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“use_ngram”:0    // </a:t>
            </a:r>
            <a:r>
              <a:rPr lang="en-US" altLang="ko-KR" sz="1100" b="1" dirty="0" err="1" smtClean="0">
                <a:solidFill>
                  <a:srgbClr val="C00000"/>
                </a:solidFill>
                <a:latin typeface="+mj-ea"/>
                <a:ea typeface="+mj-ea"/>
              </a:rPr>
              <a:t>ngram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색인 제외</a:t>
            </a:r>
            <a:endParaRPr lang="en-US" altLang="ko-KR" sz="11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</a:rPr>
              <a:t>};</a:t>
            </a: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ksui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task_increment_record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('1768440579758-52274852', 'ds01');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bool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create_force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= true;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if ((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volume_created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 &amp;&amp;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create_force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) || !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volume_created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 ){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if(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volume_exists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(d['volume'])){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volpath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show_volumes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()['VOLUME_NAME'][d['volume']]['CONFIG'];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destroy_volume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rmdir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volpath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}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rag::create_volume_table_v5(d.to());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return;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}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else if(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volume_created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 &amp;&amp; !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create_force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){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return;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}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rag::create_volume_table_v5(d.to());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409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색인 </a:t>
            </a:r>
            <a:r>
              <a:rPr lang="ko-KR" altLang="en-US" dirty="0" err="1" smtClean="0">
                <a:latin typeface="+mn-ea"/>
                <a:ea typeface="+mn-ea"/>
              </a:rPr>
              <a:t>커스터마이징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– </a:t>
            </a:r>
            <a:r>
              <a:rPr lang="en-US" altLang="ko-KR" dirty="0" err="1" smtClean="0">
                <a:latin typeface="+mn-ea"/>
                <a:ea typeface="+mn-ea"/>
              </a:rPr>
              <a:t>dml.k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28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 smtClean="0"/>
              <a:t>dml.k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486714" y="1556792"/>
            <a:ext cx="7072362" cy="46805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import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ksui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sys, container, rag;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int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main(string task='1768440579758-52274852.ds01.dl') 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dict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d, res;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res = {'id': -1};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d = {"chunk_size":"2048",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csfd_map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":{},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fd_map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"body":"&lt;__body__&gt;",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uuid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":"&lt;__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pkey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__&gt;",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"title":"&lt;__title__&gt;"},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"volume":"ds01",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"embedding":"embedding-10",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en-US" altLang="ko-KR" sz="1100" b="1" dirty="0">
                <a:solidFill>
                  <a:srgbClr val="C00000"/>
                </a:solidFill>
                <a:latin typeface="+mj-ea"/>
                <a:ea typeface="+mj-ea"/>
              </a:rPr>
              <a:t>"parallel":"0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",   // 0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일 땐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, </a:t>
            </a:r>
            <a:r>
              <a:rPr lang="en-US" altLang="ko-KR" sz="1100" b="1" dirty="0" err="1" smtClean="0">
                <a:solidFill>
                  <a:srgbClr val="C00000"/>
                </a:solidFill>
                <a:latin typeface="+mj-ea"/>
                <a:ea typeface="+mj-ea"/>
              </a:rPr>
              <a:t>kql.rc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::</a:t>
            </a:r>
            <a:r>
              <a:rPr lang="en-US" altLang="ko-KR" sz="1100" b="1" dirty="0" err="1" smtClean="0">
                <a:solidFill>
                  <a:srgbClr val="C00000"/>
                </a:solidFill>
                <a:latin typeface="+mj-ea"/>
                <a:ea typeface="+mj-ea"/>
              </a:rPr>
              <a:t>no_of_parallel_task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로 설정된 전체 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thread 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사용</a:t>
            </a:r>
            <a:endParaRPr lang="en-US" altLang="ko-KR" sz="11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"transform":{},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lconf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":"",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dump_path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":"../workspace/ds/ds01/data/dump",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dump_tags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":[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"&lt;__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pkey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__&gt;", "&lt;__title__&gt;", "&lt;__body__&gt;"],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"chunk_overlap":"256"};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d['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taskid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'] = task;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b="1" dirty="0">
                <a:solidFill>
                  <a:srgbClr val="0070C0"/>
                </a:solidFill>
                <a:latin typeface="+mj-ea"/>
                <a:ea typeface="+mj-ea"/>
              </a:rPr>
              <a:t>rag::</a:t>
            </a:r>
            <a:r>
              <a:rPr lang="en-US" altLang="ko-KR" sz="1100" b="1" dirty="0" err="1">
                <a:solidFill>
                  <a:srgbClr val="0070C0"/>
                </a:solidFill>
                <a:latin typeface="+mj-ea"/>
                <a:ea typeface="+mj-ea"/>
              </a:rPr>
              <a:t>ragx_fgf_bulk</a:t>
            </a:r>
            <a:r>
              <a:rPr lang="en-US" altLang="ko-KR" sz="1100" b="1" dirty="0">
                <a:solidFill>
                  <a:srgbClr val="0070C0"/>
                </a:solidFill>
                <a:latin typeface="+mj-ea"/>
                <a:ea typeface="+mj-ea"/>
              </a:rPr>
              <a:t>(d.to</a:t>
            </a:r>
            <a:r>
              <a:rPr lang="en-US" altLang="ko-KR" sz="1100" b="1" dirty="0" smtClean="0">
                <a:solidFill>
                  <a:srgbClr val="0070C0"/>
                </a:solidFill>
                <a:latin typeface="+mj-ea"/>
                <a:ea typeface="+mj-ea"/>
              </a:rPr>
              <a:t>());  // </a:t>
            </a:r>
            <a:r>
              <a:rPr lang="ko-KR" altLang="en-US" sz="1100" b="1" dirty="0" smtClean="0">
                <a:solidFill>
                  <a:srgbClr val="0070C0"/>
                </a:solidFill>
                <a:latin typeface="+mj-ea"/>
                <a:ea typeface="+mj-ea"/>
              </a:rPr>
              <a:t>실제 </a:t>
            </a:r>
            <a:r>
              <a:rPr lang="en-US" altLang="ko-KR" sz="1100" b="1" dirty="0" err="1" smtClean="0">
                <a:solidFill>
                  <a:srgbClr val="0070C0"/>
                </a:solidFill>
                <a:latin typeface="+mj-ea"/>
                <a:ea typeface="+mj-ea"/>
              </a:rPr>
              <a:t>chunking+embedding</a:t>
            </a:r>
            <a:r>
              <a:rPr lang="en-US" altLang="ko-KR" sz="1100" b="1" dirty="0" smtClean="0">
                <a:solidFill>
                  <a:srgbClr val="0070C0"/>
                </a:solidFill>
                <a:latin typeface="+mj-ea"/>
                <a:ea typeface="+mj-ea"/>
              </a:rPr>
              <a:t>+</a:t>
            </a:r>
            <a:r>
              <a:rPr lang="ko-KR" altLang="en-US" sz="1100" b="1" dirty="0" smtClean="0">
                <a:solidFill>
                  <a:srgbClr val="0070C0"/>
                </a:solidFill>
                <a:latin typeface="+mj-ea"/>
                <a:ea typeface="+mj-ea"/>
              </a:rPr>
              <a:t>색인을 수행하는 함수</a:t>
            </a:r>
            <a:endParaRPr lang="en-US" altLang="ko-KR" sz="1100" b="1" dirty="0">
              <a:solidFill>
                <a:srgbClr val="0070C0"/>
              </a:solidFill>
              <a:latin typeface="+mj-ea"/>
              <a:ea typeface="+mj-ea"/>
            </a:endParaRP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return res['id'];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519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문서필터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44791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err="1" smtClean="0">
                <a:latin typeface="+mn-ea"/>
                <a:ea typeface="+mn-ea"/>
              </a:rPr>
              <a:t>DocAI</a:t>
            </a:r>
            <a:r>
              <a:rPr lang="en-US" altLang="ko-KR" dirty="0" smtClean="0">
                <a:latin typeface="+mn-ea"/>
                <a:ea typeface="+mn-ea"/>
              </a:rPr>
              <a:t> vs </a:t>
            </a:r>
            <a:r>
              <a:rPr lang="en-US" altLang="ko-KR" dirty="0" err="1" smtClean="0">
                <a:latin typeface="+mn-ea"/>
                <a:ea typeface="+mn-ea"/>
              </a:rPr>
              <a:t>TextFilter</a:t>
            </a:r>
            <a:r>
              <a:rPr lang="en-US" altLang="ko-KR" dirty="0" smtClean="0">
                <a:latin typeface="+mn-ea"/>
                <a:ea typeface="+mn-ea"/>
              </a:rPr>
              <a:t> vs </a:t>
            </a:r>
            <a:r>
              <a:rPr lang="en-US" altLang="ko-KR" dirty="0" err="1" smtClean="0">
                <a:latin typeface="+mn-ea"/>
                <a:ea typeface="+mn-ea"/>
              </a:rPr>
              <a:t>DocuAnalyzer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30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>
          <a:xfrm>
            <a:off x="539552" y="5268341"/>
            <a:ext cx="8229600" cy="96897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latin typeface="+mn-ea"/>
              </a:rPr>
              <a:t>docling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u="sng" dirty="0">
                <a:latin typeface="+mn-ea"/>
              </a:rPr>
              <a:t>표</a:t>
            </a:r>
            <a:r>
              <a:rPr lang="en-US" altLang="ko-KR" u="sng" dirty="0">
                <a:latin typeface="+mn-ea"/>
              </a:rPr>
              <a:t>/</a:t>
            </a:r>
            <a:r>
              <a:rPr lang="ko-KR" altLang="en-US" u="sng" dirty="0">
                <a:latin typeface="+mn-ea"/>
              </a:rPr>
              <a:t>레이아웃</a:t>
            </a:r>
            <a:r>
              <a:rPr lang="ko-KR" altLang="en-US" dirty="0">
                <a:latin typeface="+mn-ea"/>
              </a:rPr>
              <a:t> 복원 최우선 문서에 최적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err="1">
                <a:latin typeface="+mn-ea"/>
              </a:rPr>
              <a:t>origin_synap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텍스트 누락 최소화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구조는 약함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 smtClean="0">
                <a:latin typeface="+mn-ea"/>
              </a:rPr>
              <a:t>DocuAnalyzer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u="sng" dirty="0">
                <a:latin typeface="+mn-ea"/>
              </a:rPr>
              <a:t>OCR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커버리지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스캔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이미지 포함</a:t>
            </a:r>
            <a:r>
              <a:rPr lang="en-US" altLang="ko-KR" dirty="0">
                <a:latin typeface="+mn-ea"/>
              </a:rPr>
              <a:t>), </a:t>
            </a:r>
            <a:r>
              <a:rPr lang="ko-KR" altLang="en-US" dirty="0">
                <a:latin typeface="+mn-ea"/>
              </a:rPr>
              <a:t>대신 느릴 수 있음</a:t>
            </a:r>
          </a:p>
          <a:p>
            <a:endParaRPr lang="ko-KR" altLang="en-US" dirty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447536"/>
              </p:ext>
            </p:extLst>
          </p:nvPr>
        </p:nvGraphicFramePr>
        <p:xfrm>
          <a:off x="321192" y="1092244"/>
          <a:ext cx="8640960" cy="3960439"/>
        </p:xfrm>
        <a:graphic>
          <a:graphicData uri="http://schemas.openxmlformats.org/drawingml/2006/table">
            <a:tbl>
              <a:tblPr/>
              <a:tblGrid>
                <a:gridCol w="1323294"/>
                <a:gridCol w="2349114"/>
                <a:gridCol w="2520280"/>
                <a:gridCol w="2448272"/>
              </a:tblGrid>
              <a:tr h="3712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dirty="0" smtClean="0">
                          <a:effectLst/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11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 smtClean="0">
                          <a:effectLst/>
                          <a:latin typeface="+mn-ea"/>
                          <a:ea typeface="+mn-ea"/>
                        </a:rPr>
                        <a:t>docai</a:t>
                      </a:r>
                      <a:r>
                        <a:rPr lang="en-US" sz="1100" b="1" dirty="0" smtClean="0"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en-US" sz="1100" b="1" dirty="0" err="1" smtClean="0">
                          <a:effectLst/>
                          <a:latin typeface="+mn-ea"/>
                          <a:ea typeface="+mn-ea"/>
                        </a:rPr>
                        <a:t>Docling</a:t>
                      </a:r>
                      <a:r>
                        <a:rPr lang="en-US" sz="1100" b="1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err="1" smtClean="0">
                          <a:latin typeface="+mn-ea"/>
                          <a:ea typeface="+mn-ea"/>
                        </a:rPr>
                        <a:t>textfilter</a:t>
                      </a:r>
                      <a:r>
                        <a:rPr lang="en-US" altLang="ko-KR" sz="1100" b="1" dirty="0" smtClean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b="1" dirty="0" err="1" smtClean="0">
                          <a:effectLst/>
                          <a:latin typeface="+mn-ea"/>
                          <a:ea typeface="+mn-ea"/>
                        </a:rPr>
                        <a:t>origin_synap</a:t>
                      </a:r>
                      <a:r>
                        <a:rPr lang="en-US" sz="1100" b="1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 smtClean="0">
                          <a:effectLst/>
                          <a:latin typeface="+mn-ea"/>
                          <a:ea typeface="+mn-ea"/>
                        </a:rPr>
                        <a:t>DocuAnalyzer</a:t>
                      </a:r>
                      <a:endParaRPr lang="en-US" sz="11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</a:tr>
              <a:tr h="6188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텍스트 누락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표 구조는 잘 잡지만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ko-KR" altLang="en-US" sz="1100" b="0" dirty="0" smtClean="0">
                          <a:latin typeface="+mn-ea"/>
                          <a:ea typeface="+mn-ea"/>
                        </a:rPr>
                        <a:t>표 내부 텍스트가 누락될 수 있음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문자 단위 인식률 높아 누락 거의 없음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대신 구조 붕괴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textfilter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보단 누락 많고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Docling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보단 적음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6188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 인식 성능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표 구조 복원 비교적 우수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병합셀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헤더 강점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셀 내용 손실 가능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표 구조 인식 불가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텍스트만 단순 추출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표 구조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내용은 안정적이나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ko-KR" altLang="en-US" sz="1100" b="1" dirty="0" err="1" smtClean="0">
                          <a:latin typeface="+mn-ea"/>
                          <a:ea typeface="+mn-ea"/>
                        </a:rPr>
                        <a:t>병합셀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 처리 품질은 </a:t>
                      </a:r>
                      <a:r>
                        <a:rPr lang="en-US" altLang="ko-KR" sz="1100" b="1" dirty="0" err="1" smtClean="0">
                          <a:latin typeface="+mn-ea"/>
                          <a:ea typeface="+mn-ea"/>
                        </a:rPr>
                        <a:t>Docling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보다 낮음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371291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문단</a:t>
                      </a:r>
                      <a:r>
                        <a:rPr lang="en-US" altLang="ko-KR" sz="11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구조 인식</a:t>
                      </a:r>
                      <a:endParaRPr lang="ko-KR" altLang="en-US" sz="1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문서 계층 구조 비교적 안정적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문단 경계 무너지고 한 줄로 이어짐</a:t>
                      </a:r>
                      <a:endParaRPr lang="ko-KR" altLang="en-US" sz="1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문단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리스트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순서 비교적 안정적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371291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마크다운 변환 여부</a:t>
                      </a:r>
                      <a:endParaRPr lang="ko-KR" altLang="en-US" sz="1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가능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구조적 </a:t>
                      </a:r>
                      <a:r>
                        <a:rPr lang="en-US" altLang="ko-KR" sz="1100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Markdown </a:t>
                      </a:r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변환 가능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불가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단순 텍스트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수준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가능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구조적 </a:t>
                      </a:r>
                      <a:r>
                        <a:rPr lang="en-US" altLang="ko-KR" sz="1100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Markdown </a:t>
                      </a:r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변환 가능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6188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필터링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속도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(* RAG bench v1)</a:t>
                      </a:r>
                      <a:endParaRPr lang="en-US" altLang="ko-KR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1206s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문서 크기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표 많을수록 느려짐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484s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텍스트만 단순 </a:t>
                      </a:r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필터링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3578s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11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가장 느림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314095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이미지 추출</a:t>
                      </a:r>
                      <a:endParaRPr lang="ko-KR" altLang="en-US" sz="1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미지원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미지원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지원 가능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676015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공식 지원 문서 유형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pdf,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xlsx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pptx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markdown, </a:t>
                      </a:r>
                    </a:p>
                    <a:p>
                      <a:pPr algn="l"/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html,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xhtml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csv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txt, pdf,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doc,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ppt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pptx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/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xls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xlsx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hwp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...</a:t>
                      </a:r>
                      <a:endParaRPr lang="ko-KR" alt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hwp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hwpx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doc,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docx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ppt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pptx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/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xls,xlsx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pdf, </a:t>
                      </a:r>
                      <a:r>
                        <a:rPr lang="ko-KR" alt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png</a:t>
                      </a:r>
                      <a:r>
                        <a:rPr lang="en-US" altLang="ko-KR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jpg, tiff...)...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71" marR="10071" marT="7553" marB="7553" anchor="ctr">
                    <a:lnL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20072" y="4967295"/>
            <a:ext cx="37444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n-ea"/>
              </a:rPr>
              <a:t>* RAG bench v1: </a:t>
            </a:r>
            <a:r>
              <a:rPr lang="ko-KR" altLang="en-US" sz="900" dirty="0" smtClean="0">
                <a:latin typeface="+mn-ea"/>
              </a:rPr>
              <a:t>사내 </a:t>
            </a:r>
            <a:r>
              <a:rPr lang="en-US" altLang="ko-KR" sz="900" dirty="0" smtClean="0">
                <a:latin typeface="+mn-ea"/>
              </a:rPr>
              <a:t>RAG </a:t>
            </a:r>
            <a:r>
              <a:rPr lang="ko-KR" altLang="en-US" sz="900" dirty="0" smtClean="0">
                <a:latin typeface="+mn-ea"/>
              </a:rPr>
              <a:t>벤치 테스트용 문서 </a:t>
            </a:r>
            <a:r>
              <a:rPr lang="en-US" altLang="ko-KR" sz="900" dirty="0" smtClean="0">
                <a:latin typeface="+mn-ea"/>
              </a:rPr>
              <a:t>70</a:t>
            </a:r>
            <a:r>
              <a:rPr lang="ko-KR" altLang="en-US" sz="900" dirty="0" smtClean="0">
                <a:latin typeface="+mn-ea"/>
              </a:rPr>
              <a:t>개 </a:t>
            </a:r>
            <a:r>
              <a:rPr lang="en-US" altLang="ko-KR" sz="900" dirty="0" smtClean="0">
                <a:latin typeface="+mn-ea"/>
              </a:rPr>
              <a:t>(pdf, </a:t>
            </a:r>
            <a:r>
              <a:rPr lang="en-US" altLang="ko-KR" sz="900" dirty="0" err="1" smtClean="0">
                <a:latin typeface="+mn-ea"/>
              </a:rPr>
              <a:t>hwp</a:t>
            </a:r>
            <a:r>
              <a:rPr lang="en-US" altLang="ko-KR" sz="900" dirty="0" smtClean="0">
                <a:latin typeface="+mn-ea"/>
              </a:rPr>
              <a:t>, docs)</a:t>
            </a:r>
            <a:endParaRPr lang="ko-KR" alt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설정파일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400" b="1" dirty="0" err="1">
                <a:latin typeface="+mn-ea"/>
              </a:rPr>
              <a:t>kylin-docai</a:t>
            </a:r>
            <a:r>
              <a:rPr lang="en-US" altLang="ko-KR" sz="1400" b="1" dirty="0">
                <a:latin typeface="+mn-ea"/>
              </a:rPr>
              <a:t>/</a:t>
            </a:r>
            <a:r>
              <a:rPr lang="en-US" altLang="ko-KR" sz="1400" b="1" dirty="0" err="1">
                <a:latin typeface="+mn-ea"/>
              </a:rPr>
              <a:t>config</a:t>
            </a:r>
            <a:r>
              <a:rPr lang="en-US" altLang="ko-KR" sz="1400" b="1" dirty="0">
                <a:latin typeface="+mn-ea"/>
              </a:rPr>
              <a:t>/</a:t>
            </a:r>
            <a:r>
              <a:rPr lang="en-US" altLang="ko-KR" sz="1400" b="1" dirty="0" err="1">
                <a:latin typeface="+mn-ea"/>
              </a:rPr>
              <a:t>config.yml</a:t>
            </a:r>
            <a:endParaRPr lang="en-US" altLang="ko-KR" sz="1400" b="1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기본 제공 문서필터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400" dirty="0" err="1" smtClean="0">
                <a:latin typeface="+mn-ea"/>
              </a:rPr>
              <a:t>docling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en-US" altLang="ko-KR" sz="1400" dirty="0" err="1" smtClean="0">
                <a:latin typeface="+mn-ea"/>
              </a:rPr>
              <a:t>origin_synap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en-US" altLang="ko-KR" sz="1400" dirty="0" err="1" smtClean="0">
                <a:latin typeface="+mn-ea"/>
              </a:rPr>
              <a:t>textfilter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만약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기본 문서필터와 </a:t>
            </a:r>
            <a:r>
              <a:rPr lang="en-US" altLang="ko-KR" sz="1400" dirty="0" smtClean="0">
                <a:latin typeface="+mn-ea"/>
              </a:rPr>
              <a:t>fallback </a:t>
            </a:r>
            <a:r>
              <a:rPr lang="ko-KR" altLang="en-US" sz="1400" dirty="0" smtClean="0">
                <a:latin typeface="+mn-ea"/>
              </a:rPr>
              <a:t>문서필터를 변경하고 싶다면 설정 변경</a:t>
            </a:r>
            <a:endParaRPr lang="en-US" altLang="ko-KR" sz="1400" dirty="0" smtClean="0">
              <a:latin typeface="+mn-ea"/>
            </a:endParaRPr>
          </a:p>
          <a:p>
            <a:pPr marL="685800" lvl="1">
              <a:lnSpc>
                <a:spcPct val="150000"/>
              </a:lnSpc>
            </a:pPr>
            <a:r>
              <a:rPr lang="en-US" altLang="ko-KR" sz="1400" dirty="0" err="1">
                <a:latin typeface="+mn-ea"/>
              </a:rPr>
              <a:t>default_base_filter.filter</a:t>
            </a:r>
            <a:r>
              <a:rPr lang="en-US" altLang="ko-KR" sz="1400" dirty="0">
                <a:latin typeface="+mn-ea"/>
              </a:rPr>
              <a:t>: 1</a:t>
            </a:r>
            <a:r>
              <a:rPr lang="ko-KR" altLang="en-US" sz="1400" dirty="0">
                <a:latin typeface="+mn-ea"/>
              </a:rPr>
              <a:t>차 처리 필터</a:t>
            </a:r>
            <a:endParaRPr lang="en-US" altLang="ko-KR" sz="1400" dirty="0">
              <a:latin typeface="+mn-ea"/>
            </a:endParaRPr>
          </a:p>
          <a:p>
            <a:pPr marL="685800" lvl="1">
              <a:lnSpc>
                <a:spcPct val="150000"/>
              </a:lnSpc>
            </a:pPr>
            <a:r>
              <a:rPr lang="en-US" altLang="ko-KR" sz="1400" dirty="0" err="1">
                <a:latin typeface="+mn-ea"/>
              </a:rPr>
              <a:t>default_base_filter.fallback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실패 시 자동으로 다음 필터로 재시도하여 결과를 확보</a:t>
            </a:r>
          </a:p>
          <a:p>
            <a:pPr marL="685800" lvl="1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</a:pPr>
            <a:endParaRPr lang="ko-KR" altLang="en-US" sz="1400" dirty="0">
              <a:latin typeface="+mn-ea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1475656" y="2301763"/>
            <a:ext cx="2232248" cy="1199245"/>
          </a:xfrm>
          <a:prstGeom prst="ellipse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err="1" smtClean="0">
                <a:latin typeface="+mn-ea"/>
                <a:ea typeface="+mn-ea"/>
              </a:rPr>
              <a:t>DocAI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  <a:r>
              <a:rPr lang="ko-KR" altLang="en-US" dirty="0" smtClean="0">
                <a:latin typeface="+mn-ea"/>
                <a:ea typeface="+mn-ea"/>
              </a:rPr>
              <a:t>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31</a:t>
            </a:fld>
            <a:endParaRPr lang="ko-KR" altLang="en-US" dirty="0">
              <a:latin typeface="+mn-ea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3984991" y="2378021"/>
            <a:ext cx="1440160" cy="1368152"/>
            <a:chOff x="3159442" y="3043794"/>
            <a:chExt cx="1716184" cy="1368152"/>
          </a:xfrm>
        </p:grpSpPr>
        <p:sp>
          <p:nvSpPr>
            <p:cNvPr id="6" name="직사각형 5"/>
            <p:cNvSpPr/>
            <p:nvPr/>
          </p:nvSpPr>
          <p:spPr>
            <a:xfrm>
              <a:off x="3159442" y="3043794"/>
              <a:ext cx="1716184" cy="1368152"/>
            </a:xfrm>
            <a:prstGeom prst="rect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3347864" y="3121214"/>
              <a:ext cx="1368151" cy="43204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latin typeface="+mn-ea"/>
                </a:rPr>
                <a:t>docling</a:t>
              </a:r>
              <a:endParaRPr lang="ko-KR" altLang="en-US" sz="1400" dirty="0">
                <a:latin typeface="+mn-ea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3299926" y="3908388"/>
              <a:ext cx="1503584" cy="4320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latin typeface="+mn-ea"/>
                </a:rPr>
                <a:t>origin_synap</a:t>
              </a:r>
              <a:endParaRPr lang="ko-KR" altLang="en-US" sz="1400" dirty="0">
                <a:latin typeface="+mn-ea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4005209" y="3574475"/>
              <a:ext cx="0" cy="308382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 flipV="1">
              <a:off x="4103343" y="3574476"/>
              <a:ext cx="0" cy="30838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680856" y="3619858"/>
              <a:ext cx="7471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>
                  <a:latin typeface="+mn-ea"/>
                </a:rPr>
                <a:t>fallback</a:t>
              </a:r>
              <a:endParaRPr lang="ko-KR" altLang="en-US" sz="1200" b="1" dirty="0">
                <a:latin typeface="+mn-ea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932231" y="2132856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 smtClean="0">
                <a:latin typeface="+mn-ea"/>
              </a:rPr>
              <a:t>DocAI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25" name="직선 화살표 연결선 24"/>
          <p:cNvCxnSpPr>
            <a:stCxn id="7" idx="3"/>
            <a:endCxn id="3077" idx="1"/>
          </p:cNvCxnSpPr>
          <p:nvPr/>
        </p:nvCxnSpPr>
        <p:spPr>
          <a:xfrm flipV="1">
            <a:off x="5291211" y="2671158"/>
            <a:ext cx="659657" cy="3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50868" y="2847752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38" y="5332847"/>
            <a:ext cx="6263083" cy="723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868" y="2393956"/>
            <a:ext cx="554404" cy="554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파일:PDF file icon.sv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912" y="2399339"/>
            <a:ext cx="380946" cy="46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 descr="한글 2024 아이콘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968" y="2435503"/>
            <a:ext cx="408102" cy="40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8" descr="undefined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4" r="42932" b="62282"/>
          <a:stretch/>
        </p:blipFill>
        <p:spPr bwMode="auto">
          <a:xfrm>
            <a:off x="1832589" y="2894600"/>
            <a:ext cx="476623" cy="43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 descr="undefined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33" r="21188" b="62282"/>
          <a:stretch/>
        </p:blipFill>
        <p:spPr bwMode="auto">
          <a:xfrm>
            <a:off x="2370058" y="2898379"/>
            <a:ext cx="478517" cy="43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undefined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89" b="62282"/>
          <a:stretch/>
        </p:blipFill>
        <p:spPr bwMode="auto">
          <a:xfrm>
            <a:off x="2957284" y="2924348"/>
            <a:ext cx="462588" cy="43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339752" y="331515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Files</a:t>
            </a:r>
            <a:endParaRPr lang="ko-KR" altLang="en-US" dirty="0"/>
          </a:p>
        </p:txBody>
      </p:sp>
      <p:cxnSp>
        <p:nvCxnSpPr>
          <p:cNvPr id="21" name="직선 화살표 연결선 20"/>
          <p:cNvCxnSpPr>
            <a:endCxn id="7" idx="1"/>
          </p:cNvCxnSpPr>
          <p:nvPr/>
        </p:nvCxnSpPr>
        <p:spPr>
          <a:xfrm>
            <a:off x="3548378" y="2671158"/>
            <a:ext cx="594730" cy="3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70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err="1" smtClean="0">
                <a:latin typeface="+mn-ea"/>
                <a:ea typeface="+mn-ea"/>
              </a:rPr>
              <a:t>DocuAnalyzer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  <a:r>
              <a:rPr lang="ko-KR" altLang="en-US" dirty="0" smtClean="0">
                <a:latin typeface="+mn-ea"/>
                <a:ea typeface="+mn-ea"/>
              </a:rPr>
              <a:t>연동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32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 smtClean="0">
                <a:latin typeface="+mn-ea"/>
              </a:rPr>
              <a:t>1. API Key </a:t>
            </a:r>
            <a:r>
              <a:rPr lang="ko-KR" altLang="en-US" sz="1600" b="1" dirty="0" smtClean="0">
                <a:latin typeface="+mn-ea"/>
              </a:rPr>
              <a:t>설정</a:t>
            </a:r>
            <a:endParaRPr lang="en-US" altLang="ko-KR" sz="1600" b="1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r>
              <a:rPr lang="en-US" altLang="ko-KR" dirty="0" err="1" smtClean="0">
                <a:latin typeface="+mn-ea"/>
              </a:rPr>
              <a:t>synap</a:t>
            </a:r>
            <a:r>
              <a:rPr lang="ko-KR" altLang="en-US" dirty="0" smtClean="0">
                <a:latin typeface="+mn-ea"/>
              </a:rPr>
              <a:t>에서 제공받은 </a:t>
            </a:r>
            <a:r>
              <a:rPr lang="en-US" altLang="ko-KR" u="sng" dirty="0" err="1" smtClean="0">
                <a:latin typeface="+mn-ea"/>
              </a:rPr>
              <a:t>settings.json</a:t>
            </a:r>
            <a:r>
              <a:rPr lang="ko-KR" altLang="en-US" u="sng" dirty="0" smtClean="0">
                <a:latin typeface="+mn-ea"/>
              </a:rPr>
              <a:t>을 </a:t>
            </a:r>
            <a:r>
              <a:rPr lang="en-US" altLang="ko-KR" u="sng" dirty="0" err="1" smtClean="0">
                <a:latin typeface="+mn-ea"/>
              </a:rPr>
              <a:t>setting.json</a:t>
            </a:r>
            <a:r>
              <a:rPr lang="ko-KR" altLang="en-US" dirty="0" smtClean="0">
                <a:latin typeface="+mn-ea"/>
              </a:rPr>
              <a:t>으로 변경하여 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 err="1" smtClean="0">
                <a:latin typeface="+mn-ea"/>
              </a:rPr>
              <a:t>kylin-docai</a:t>
            </a:r>
            <a:r>
              <a:rPr lang="en-US" altLang="ko-KR" dirty="0" smtClean="0">
                <a:latin typeface="+mn-ea"/>
              </a:rPr>
              <a:t>/</a:t>
            </a:r>
            <a:r>
              <a:rPr lang="en-US" altLang="ko-KR" dirty="0" err="1" smtClean="0">
                <a:latin typeface="+mn-ea"/>
              </a:rPr>
              <a:t>synap</a:t>
            </a:r>
            <a:r>
              <a:rPr lang="en-US" altLang="ko-KR" dirty="0" smtClean="0">
                <a:latin typeface="+mn-ea"/>
              </a:rPr>
              <a:t>/</a:t>
            </a:r>
            <a:r>
              <a:rPr lang="en-US" altLang="ko-KR" dirty="0" err="1" smtClean="0">
                <a:latin typeface="+mn-ea"/>
              </a:rPr>
              <a:t>setting.json</a:t>
            </a:r>
            <a:r>
              <a:rPr lang="ko-KR" altLang="en-US" dirty="0">
                <a:latin typeface="+mn-ea"/>
              </a:rPr>
              <a:t>파일을 생성</a:t>
            </a: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0" lvl="2" indent="0">
              <a:lnSpc>
                <a:spcPct val="150000"/>
              </a:lnSpc>
              <a:buNone/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r>
              <a:rPr lang="en-US" altLang="ko-KR" dirty="0" err="1" smtClean="0">
                <a:latin typeface="+mn-ea"/>
              </a:rPr>
              <a:t>Kylin-docai</a:t>
            </a:r>
            <a:r>
              <a:rPr lang="en-US" altLang="ko-KR" dirty="0" smtClean="0">
                <a:latin typeface="+mn-ea"/>
              </a:rPr>
              <a:t>/</a:t>
            </a:r>
            <a:r>
              <a:rPr lang="en-US" altLang="ko-KR" dirty="0" err="1" smtClean="0">
                <a:latin typeface="+mn-ea"/>
              </a:rPr>
              <a:t>docker_compose.yaml</a:t>
            </a:r>
            <a:r>
              <a:rPr lang="ko-KR" altLang="en-US" dirty="0" smtClean="0">
                <a:latin typeface="+mn-ea"/>
              </a:rPr>
              <a:t>설정에 </a:t>
            </a:r>
            <a:r>
              <a:rPr lang="en-US" altLang="ko-KR" dirty="0" smtClean="0">
                <a:latin typeface="+mn-ea"/>
              </a:rPr>
              <a:t>volume</a:t>
            </a:r>
            <a:r>
              <a:rPr lang="ko-KR" altLang="en-US" dirty="0" smtClean="0">
                <a:latin typeface="+mn-ea"/>
              </a:rPr>
              <a:t>추가</a:t>
            </a: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r>
              <a:rPr lang="ko-KR" altLang="en-US" dirty="0"/>
              <a:t>컨테이너 내부 </a:t>
            </a:r>
            <a:r>
              <a:rPr lang="ko-KR" altLang="en-US" dirty="0" smtClean="0"/>
              <a:t>기준으로 생성된 설정파일</a:t>
            </a:r>
            <a:r>
              <a:rPr lang="en-US" altLang="ko-KR" dirty="0" smtClean="0"/>
              <a:t>: </a:t>
            </a:r>
            <a:r>
              <a:rPr lang="en-US" altLang="ko-KR" b="1" dirty="0"/>
              <a:t>/Workspace/tools/</a:t>
            </a:r>
            <a:r>
              <a:rPr lang="en-US" altLang="ko-KR" b="1" dirty="0" err="1"/>
              <a:t>ocr</a:t>
            </a:r>
            <a:r>
              <a:rPr lang="en-US" altLang="ko-KR" b="1" dirty="0"/>
              <a:t>/</a:t>
            </a:r>
            <a:r>
              <a:rPr lang="en-US" altLang="ko-KR" b="1" dirty="0" err="1"/>
              <a:t>synap</a:t>
            </a:r>
            <a:r>
              <a:rPr lang="en-US" altLang="ko-KR" b="1" dirty="0"/>
              <a:t>/</a:t>
            </a:r>
            <a:r>
              <a:rPr lang="en-US" altLang="ko-KR" b="1" dirty="0" err="1"/>
              <a:t>setting.json</a:t>
            </a:r>
            <a:endParaRPr lang="ko-KR" altLang="en-US" b="1" dirty="0"/>
          </a:p>
          <a:p>
            <a:pPr marL="342900" lvl="2" indent="-342900"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09" y="2322753"/>
            <a:ext cx="3744416" cy="176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09" y="4869160"/>
            <a:ext cx="45624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445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err="1" smtClean="0">
                <a:latin typeface="+mn-ea"/>
                <a:ea typeface="+mn-ea"/>
              </a:rPr>
              <a:t>DocuAnalyzer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  <a:r>
              <a:rPr lang="ko-KR" altLang="en-US" dirty="0" smtClean="0">
                <a:latin typeface="+mn-ea"/>
                <a:ea typeface="+mn-ea"/>
              </a:rPr>
              <a:t>연동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33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>
              <a:lnSpc>
                <a:spcPct val="150000"/>
              </a:lnSpc>
              <a:buNone/>
            </a:pPr>
            <a:r>
              <a:rPr lang="en-US" altLang="ko-KR" sz="1600" b="1" dirty="0" smtClean="0">
                <a:latin typeface="+mn-ea"/>
              </a:rPr>
              <a:t>2. </a:t>
            </a:r>
            <a:r>
              <a:rPr lang="en-US" altLang="ko-KR" sz="1600" b="1" dirty="0" err="1" smtClean="0">
                <a:latin typeface="+mn-ea"/>
              </a:rPr>
              <a:t>kylin-docai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en-US" altLang="ko-KR" sz="1600" b="1" dirty="0" err="1" smtClean="0">
                <a:latin typeface="+mn-ea"/>
              </a:rPr>
              <a:t>config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en-US" altLang="ko-KR" sz="1600" b="1" dirty="0" err="1" smtClean="0">
                <a:latin typeface="+mn-ea"/>
              </a:rPr>
              <a:t>config.yml</a:t>
            </a:r>
            <a:r>
              <a:rPr lang="en-US" altLang="ko-KR" sz="1600" b="1" dirty="0" smtClean="0">
                <a:latin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설정</a:t>
            </a:r>
            <a:endParaRPr lang="en-US" altLang="ko-KR" sz="1600" dirty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r>
              <a:rPr lang="en-US" altLang="ko-KR" dirty="0" err="1" smtClean="0">
                <a:latin typeface="+mn-ea"/>
              </a:rPr>
              <a:t>Synap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라이브러리를 연동하는 설정을 아래와 같이 변경</a:t>
            </a: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342900" lvl="2" indent="-342900">
              <a:lnSpc>
                <a:spcPct val="150000"/>
              </a:lnSpc>
            </a:pPr>
            <a:endParaRPr lang="en-US" altLang="ko-KR" dirty="0" smtClean="0">
              <a:latin typeface="+mn-ea"/>
            </a:endParaRPr>
          </a:p>
          <a:p>
            <a:pPr marL="285750" lvl="2" indent="-285750">
              <a:lnSpc>
                <a:spcPct val="150000"/>
              </a:lnSpc>
            </a:pPr>
            <a:r>
              <a:rPr lang="en-US" altLang="ko-KR" sz="1600" dirty="0" err="1" smtClean="0">
                <a:latin typeface="+mn-ea"/>
              </a:rPr>
              <a:t>DocuAnalyzer</a:t>
            </a:r>
            <a:r>
              <a:rPr lang="ko-KR" altLang="en-US" sz="1600" dirty="0">
                <a:latin typeface="+mn-ea"/>
              </a:rPr>
              <a:t>가 연동되어 있으면 </a:t>
            </a:r>
            <a:r>
              <a:rPr lang="en-US" altLang="ko-KR" sz="1600" b="1" dirty="0" err="1">
                <a:latin typeface="+mn-ea"/>
              </a:rPr>
              <a:t>DocuAnalyzer</a:t>
            </a:r>
            <a:r>
              <a:rPr lang="ko-KR" altLang="en-US" sz="1600" b="1" dirty="0">
                <a:latin typeface="+mn-ea"/>
              </a:rPr>
              <a:t>가 최우선 필터로 먼저 수행</a:t>
            </a:r>
            <a:r>
              <a:rPr lang="ko-KR" altLang="en-US" sz="1600" dirty="0">
                <a:latin typeface="+mn-ea"/>
              </a:rPr>
              <a:t>되며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smtClean="0">
                <a:latin typeface="+mn-ea"/>
              </a:rPr>
              <a:t/>
            </a:r>
            <a:br>
              <a:rPr lang="en-US" altLang="ko-KR" sz="1600" dirty="0" smtClean="0">
                <a:latin typeface="+mn-ea"/>
              </a:rPr>
            </a:br>
            <a:r>
              <a:rPr lang="ko-KR" altLang="en-US" sz="1600" dirty="0" smtClean="0">
                <a:latin typeface="+mn-ea"/>
              </a:rPr>
              <a:t>실패 </a:t>
            </a:r>
            <a:r>
              <a:rPr lang="ko-KR" altLang="en-US" sz="1600" dirty="0">
                <a:latin typeface="+mn-ea"/>
              </a:rPr>
              <a:t>시 </a:t>
            </a:r>
            <a:r>
              <a:rPr lang="en-US" altLang="ko-KR" sz="1600" dirty="0" err="1">
                <a:latin typeface="+mn-ea"/>
              </a:rPr>
              <a:t>default_base_filter.filter</a:t>
            </a:r>
            <a:r>
              <a:rPr lang="en-US" altLang="ko-KR" sz="1600" dirty="0">
                <a:latin typeface="+mn-ea"/>
              </a:rPr>
              <a:t> → </a:t>
            </a:r>
            <a:r>
              <a:rPr lang="en-US" altLang="ko-KR" sz="1600" dirty="0" err="1">
                <a:latin typeface="+mn-ea"/>
              </a:rPr>
              <a:t>default_base_filter.fallback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순으로 </a:t>
            </a:r>
            <a:r>
              <a:rPr lang="en-US" altLang="ko-KR" sz="1600" dirty="0" smtClean="0">
                <a:latin typeface="+mn-ea"/>
              </a:rPr>
              <a:t/>
            </a:r>
            <a:br>
              <a:rPr lang="en-US" altLang="ko-KR" sz="1600" dirty="0" smtClean="0">
                <a:latin typeface="+mn-ea"/>
              </a:rPr>
            </a:br>
            <a:r>
              <a:rPr lang="ko-KR" altLang="en-US" sz="1600" b="1" dirty="0" smtClean="0">
                <a:latin typeface="+mn-ea"/>
              </a:rPr>
              <a:t>순차적으로 </a:t>
            </a:r>
            <a:r>
              <a:rPr lang="en-US" altLang="ko-KR" sz="1600" b="1" dirty="0">
                <a:latin typeface="+mn-ea"/>
              </a:rPr>
              <a:t>fallback</a:t>
            </a:r>
            <a:r>
              <a:rPr lang="ko-KR" altLang="en-US" sz="1600" b="1" dirty="0">
                <a:latin typeface="+mn-ea"/>
              </a:rPr>
              <a:t>이 동작</a:t>
            </a:r>
            <a:r>
              <a:rPr lang="ko-KR" altLang="en-US" sz="1600" dirty="0">
                <a:latin typeface="+mn-ea"/>
              </a:rPr>
              <a:t>합니다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600" b="1" dirty="0" smtClean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540" y="2074693"/>
            <a:ext cx="1675099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 smtClean="0">
                <a:latin typeface="+mn-ea"/>
              </a:rPr>
              <a:t>기본</a:t>
            </a:r>
            <a:r>
              <a:rPr lang="en-US" altLang="ko-KR" sz="1400" b="1" dirty="0" smtClean="0">
                <a:latin typeface="+mn-ea"/>
              </a:rPr>
              <a:t>: OCR </a:t>
            </a:r>
            <a:r>
              <a:rPr lang="ko-KR" altLang="en-US" sz="1400" b="1" dirty="0" smtClean="0">
                <a:latin typeface="+mn-ea"/>
              </a:rPr>
              <a:t>미사용</a:t>
            </a:r>
            <a:endParaRPr lang="en-US" altLang="ko-KR" sz="1400" b="1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4740" y="2060848"/>
            <a:ext cx="1894775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 err="1" smtClean="0">
                <a:latin typeface="+mn-ea"/>
              </a:rPr>
              <a:t>DocuAnalyzer</a:t>
            </a:r>
            <a:r>
              <a:rPr lang="en-US" altLang="ko-KR" sz="1400" b="1" dirty="0" smtClean="0">
                <a:latin typeface="+mn-ea"/>
              </a:rPr>
              <a:t> </a:t>
            </a:r>
            <a:r>
              <a:rPr lang="ko-KR" altLang="en-US" sz="1400" b="1" dirty="0" smtClean="0">
                <a:latin typeface="+mn-ea"/>
              </a:rPr>
              <a:t>사용</a:t>
            </a:r>
            <a:endParaRPr lang="en-US" altLang="ko-KR" sz="1400" b="1" dirty="0" smtClean="0">
              <a:latin typeface="+mn-ea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2353474" y="2858596"/>
            <a:ext cx="49033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434734"/>
            <a:ext cx="5904656" cy="80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2425208"/>
            <a:ext cx="1812765" cy="818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947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err="1" smtClean="0">
                <a:latin typeface="+mn-ea"/>
                <a:ea typeface="+mn-ea"/>
              </a:rPr>
              <a:t>DocAI</a:t>
            </a:r>
            <a:r>
              <a:rPr lang="en-US" altLang="ko-KR" dirty="0" smtClean="0">
                <a:latin typeface="+mn-ea"/>
                <a:ea typeface="+mn-ea"/>
              </a:rPr>
              <a:t> API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34</a:t>
            </a:fld>
            <a:endParaRPr lang="ko-KR" altLang="en-US" dirty="0">
              <a:latin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>
              <a:lnSpc>
                <a:spcPct val="150000"/>
              </a:lnSpc>
              <a:buNone/>
            </a:pPr>
            <a:r>
              <a:rPr lang="ko-KR" altLang="en-US" sz="1600" b="1" dirty="0" smtClean="0">
                <a:latin typeface="+mn-ea"/>
              </a:rPr>
              <a:t>상세 매뉴얼은 </a:t>
            </a:r>
            <a:r>
              <a:rPr lang="en-US" altLang="ko-KR" sz="1600" b="1" dirty="0" err="1" smtClean="0">
                <a:latin typeface="+mn-ea"/>
              </a:rPr>
              <a:t>DocAI</a:t>
            </a:r>
            <a:r>
              <a:rPr lang="en-US" altLang="ko-KR" sz="1600" b="1" dirty="0" smtClean="0">
                <a:latin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가이드 문서 참조</a:t>
            </a:r>
            <a:r>
              <a:rPr lang="en-US" altLang="ko-KR" sz="1600" b="1" dirty="0" smtClean="0">
                <a:latin typeface="+mn-ea"/>
              </a:rPr>
              <a:t>.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6464"/>
            <a:ext cx="6597296" cy="477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259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Q&amp;A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44791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691488" y="2515546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Thank You.</a:t>
            </a:r>
            <a:endParaRPr lang="ko-KR" altLang="en-US" dirty="0"/>
          </a:p>
        </p:txBody>
      </p: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4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1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D2533C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25569</TotalTime>
  <Words>1989</Words>
  <Application>Microsoft Office PowerPoint</Application>
  <PresentationFormat>화면 슬라이드 쇼(4:3)</PresentationFormat>
  <Paragraphs>507</Paragraphs>
  <Slides>36</Slides>
  <Notes>28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테마</vt:lpstr>
      <vt:lpstr>RAG 교육 – 1부 색인</vt:lpstr>
      <vt:lpstr>■ 목차</vt:lpstr>
      <vt:lpstr>1. 개요</vt:lpstr>
      <vt:lpstr>■ 왜 RAG인가?</vt:lpstr>
      <vt:lpstr>■ RAG </vt:lpstr>
      <vt:lpstr>■ RAG 데이터 구축 </vt:lpstr>
      <vt:lpstr>2. Chunking (청킹)</vt:lpstr>
      <vt:lpstr>■ Chunking</vt:lpstr>
      <vt:lpstr>■ Chunking</vt:lpstr>
      <vt:lpstr>■ Konan Search의 Chunking</vt:lpstr>
      <vt:lpstr>3. Rag Volume 구성</vt:lpstr>
      <vt:lpstr>■ table 기본 스키마</vt:lpstr>
      <vt:lpstr>■ table 기본 스키마</vt:lpstr>
      <vt:lpstr>■ customfield</vt:lpstr>
      <vt:lpstr>4. Indexing Wizard</vt:lpstr>
      <vt:lpstr>■ Indexing Wizard</vt:lpstr>
      <vt:lpstr>■ 가져오기 작업 생성</vt:lpstr>
      <vt:lpstr>■ 가져오기 - DB</vt:lpstr>
      <vt:lpstr>■ 가져오기 - DB</vt:lpstr>
      <vt:lpstr>■ 가져오기 - DB</vt:lpstr>
      <vt:lpstr>■ 가져오기 – 서버 문서파일</vt:lpstr>
      <vt:lpstr>■ 가져오기 - 덤프파일</vt:lpstr>
      <vt:lpstr>■ 변환설정</vt:lpstr>
      <vt:lpstr>■ 변환설정</vt:lpstr>
      <vt:lpstr>■ 스케줄</vt:lpstr>
      <vt:lpstr>■ 색인 커스터마이징</vt:lpstr>
      <vt:lpstr>■ 색인 커스터마이징 – ddl.k</vt:lpstr>
      <vt:lpstr>■ 색인 커스터마이징 – dml.k</vt:lpstr>
      <vt:lpstr>5. 문서필터</vt:lpstr>
      <vt:lpstr>■ DocAI vs TextFilter vs DocuAnalyzer</vt:lpstr>
      <vt:lpstr>■ DocAI 설정</vt:lpstr>
      <vt:lpstr>■ DocuAnalyzer 연동</vt:lpstr>
      <vt:lpstr>■ DocuAnalyzer 연동</vt:lpstr>
      <vt:lpstr>■ DocAI API</vt:lpstr>
      <vt:lpstr>6. Q&amp;A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전주현</dc:creator>
  <cp:lastModifiedBy>전주현</cp:lastModifiedBy>
  <cp:revision>1229</cp:revision>
  <dcterms:created xsi:type="dcterms:W3CDTF">2023-05-09T04:33:32Z</dcterms:created>
  <dcterms:modified xsi:type="dcterms:W3CDTF">2026-02-03T03:16:49Z</dcterms:modified>
</cp:coreProperties>
</file>