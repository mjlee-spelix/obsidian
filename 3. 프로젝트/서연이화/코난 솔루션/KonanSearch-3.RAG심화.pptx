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75" r:id="rId2"/>
    <p:sldId id="257" r:id="rId3"/>
    <p:sldId id="296" r:id="rId4"/>
    <p:sldId id="300" r:id="rId5"/>
    <p:sldId id="304" r:id="rId6"/>
    <p:sldId id="315" r:id="rId7"/>
    <p:sldId id="298" r:id="rId8"/>
    <p:sldId id="303" r:id="rId9"/>
    <p:sldId id="302" r:id="rId10"/>
    <p:sldId id="316" r:id="rId11"/>
    <p:sldId id="317" r:id="rId12"/>
    <p:sldId id="306" r:id="rId13"/>
    <p:sldId id="305" r:id="rId14"/>
    <p:sldId id="308" r:id="rId15"/>
    <p:sldId id="319" r:id="rId16"/>
    <p:sldId id="318" r:id="rId17"/>
    <p:sldId id="309" r:id="rId18"/>
    <p:sldId id="307" r:id="rId19"/>
    <p:sldId id="310" r:id="rId20"/>
    <p:sldId id="311" r:id="rId21"/>
    <p:sldId id="312" r:id="rId22"/>
    <p:sldId id="313" r:id="rId23"/>
    <p:sldId id="314" r:id="rId24"/>
    <p:sldId id="278" r:id="rId25"/>
    <p:sldId id="301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0" autoAdjust="0"/>
    <p:restoredTop sz="94692" autoAdjust="0"/>
  </p:normalViewPr>
  <p:slideViewPr>
    <p:cSldViewPr>
      <p:cViewPr varScale="1">
        <p:scale>
          <a:sx n="115" d="100"/>
          <a:sy n="115" d="100"/>
        </p:scale>
        <p:origin x="-188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84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2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29688-BA56-4159-A616-B7D3977899EA}" type="datetimeFigureOut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6A127-61C8-46AB-BA37-F5F85D3D89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35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194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46A127-61C8-46AB-BA37-F5F85D3D8961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99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3568" y="38862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F11AC-94F5-45F5-960E-69F12C9DEAD9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4479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163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31219" y="6356350"/>
            <a:ext cx="28956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457200" y="167544"/>
            <a:ext cx="8229600" cy="562074"/>
          </a:xfrm>
        </p:spPr>
        <p:txBody>
          <a:bodyPr/>
          <a:lstStyle/>
          <a:p>
            <a:r>
              <a:rPr lang="ko-KR" altLang="en-US" dirty="0" smtClean="0"/>
              <a:t>■마스터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AB34-88E0-4F2E-9583-42A631969619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>
            <a:lvl1pPr algn="r">
              <a:defRPr/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36712"/>
            <a:ext cx="9141615" cy="0"/>
          </a:xfrm>
          <a:prstGeom prst="line">
            <a:avLst/>
          </a:prstGeom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52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7B671-8456-4F8D-9DE0-E856C0651ACB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3541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4CB80-8620-4D5A-8B9C-2FB219362195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37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24745"/>
            <a:ext cx="4040188" cy="72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844824"/>
            <a:ext cx="4040188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124745"/>
            <a:ext cx="4041775" cy="72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844824"/>
            <a:ext cx="4041775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E541-7C44-4096-8862-BBAA958840A4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그림 10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88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4464-BC5B-4793-8D5D-24CE3FC8969B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그림 6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5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3E657-A0E2-4BA1-AD61-C077A946A5E9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5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39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F3246-186C-426E-99A8-6B0B360320DF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92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706EC-CF83-46BA-8CF1-C77819322750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9" name="그림 8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289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D676E-BF0F-4B0C-8944-E87A69B42399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334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DAC7A-16A4-4F9C-8A3B-7FC79E46E018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 descr="BI_Konan Search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929058" y="6429396"/>
            <a:ext cx="1233476" cy="2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40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1999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84B8D-79E1-45C0-BACF-A1839C4007B0}" type="datetime1">
              <a:rPr lang="ko-KR" altLang="en-US" smtClean="0"/>
              <a:pPr/>
              <a:t>2026-04-16</a:t>
            </a:fld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44791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BC22E-DAEF-4EAF-895E-69A11BCEBA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6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Konan Search – </a:t>
            </a:r>
            <a:r>
              <a:rPr lang="ko-KR" altLang="en-US" dirty="0" smtClean="0"/>
              <a:t>심화 </a:t>
            </a:r>
            <a:r>
              <a:rPr lang="en-US" altLang="ko-KR" dirty="0" smtClean="0"/>
              <a:t>&amp; RAG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58292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altLang="ko-KR" sz="1800" dirty="0" smtClean="0"/>
              <a:t>KS</a:t>
            </a:r>
            <a:r>
              <a:rPr lang="ko-KR" altLang="en-US" sz="1800" dirty="0" smtClean="0"/>
              <a:t>그룹 엔진개발팀 전주현</a:t>
            </a:r>
            <a:endParaRPr lang="en-US" altLang="ko-KR" sz="1800" dirty="0" smtClean="0"/>
          </a:p>
          <a:p>
            <a:r>
              <a:rPr lang="ko-KR" altLang="en-US" sz="1800" dirty="0"/>
              <a:t>２０</a:t>
            </a:r>
            <a:r>
              <a:rPr lang="en-US" altLang="ko-KR" sz="1800" dirty="0" smtClean="0">
                <a:latin typeface="+mn-ea"/>
              </a:rPr>
              <a:t>2 6</a:t>
            </a:r>
            <a:r>
              <a:rPr lang="ko-KR" altLang="en-US" sz="1800" dirty="0" smtClean="0">
                <a:latin typeface="+mn-ea"/>
              </a:rPr>
              <a:t>．</a:t>
            </a:r>
            <a:r>
              <a:rPr lang="en-US" altLang="ko-KR" sz="1800" dirty="0" smtClean="0">
                <a:latin typeface="+mn-ea"/>
              </a:rPr>
              <a:t>04</a:t>
            </a:r>
            <a:endParaRPr lang="ko-KR" altLang="en-US" sz="1800" dirty="0">
              <a:latin typeface="+mn-ea"/>
            </a:endParaRPr>
          </a:p>
        </p:txBody>
      </p:sp>
      <p:cxnSp>
        <p:nvCxnSpPr>
          <p:cNvPr id="26" name="직선 연결선 25"/>
          <p:cNvCxnSpPr>
            <a:cxnSpLocks/>
          </p:cNvCxnSpPr>
          <p:nvPr/>
        </p:nvCxnSpPr>
        <p:spPr>
          <a:xfrm>
            <a:off x="693507" y="2520514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3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■ </a:t>
            </a:r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RAG </a:t>
            </a:r>
            <a:r>
              <a:rPr lang="ko-KR" altLang="en-US" b="1" dirty="0" smtClean="0"/>
              <a:t>색인 심화 </a:t>
            </a:r>
            <a:r>
              <a:rPr lang="en-US" altLang="ko-KR" b="1" dirty="0" smtClean="0"/>
              <a:t>(INSERT, UPDATE ,DELETE)</a:t>
            </a: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/</a:t>
            </a:r>
            <a:r>
              <a:rPr lang="en-US" altLang="ko-KR" b="1" dirty="0" err="1" smtClean="0"/>
              <a:t>ksm</a:t>
            </a:r>
            <a:r>
              <a:rPr lang="en-US" altLang="ko-KR" b="1" dirty="0" smtClean="0"/>
              <a:t>/rag/v5/search API</a:t>
            </a:r>
          </a:p>
          <a:p>
            <a:pPr marL="457200" indent="-457200">
              <a:buFont typeface="+mj-lt"/>
              <a:buAutoNum type="arabicPeriod"/>
            </a:pPr>
            <a:endParaRPr lang="en-US" altLang="ko-KR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/</a:t>
            </a:r>
            <a:r>
              <a:rPr lang="en-US" altLang="ko-KR" b="1" dirty="0" err="1" smtClean="0"/>
              <a:t>ksm</a:t>
            </a:r>
            <a:r>
              <a:rPr lang="en-US" altLang="ko-KR" b="1" dirty="0" smtClean="0"/>
              <a:t>/rag/v6/search API</a:t>
            </a: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endParaRPr lang="en-US" altLang="ko-KR" b="1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 smtClean="0"/>
              <a:t>debug log</a:t>
            </a:r>
            <a:endParaRPr lang="en-US" altLang="ko-KR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01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altLang="ko-KR" dirty="0" smtClean="0"/>
              <a:t>1. </a:t>
            </a:r>
            <a:r>
              <a:rPr lang="en-US" altLang="ko-KR" dirty="0"/>
              <a:t>RAG </a:t>
            </a:r>
            <a:r>
              <a:rPr lang="ko-KR" altLang="en-US" dirty="0"/>
              <a:t>색인 심화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en-US" altLang="ko-KR" dirty="0"/>
              <a:t>INSERT, UPDATE ,DELETE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9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 smtClean="0"/>
              <a:t>RAG </a:t>
            </a:r>
            <a:r>
              <a:rPr lang="ko-KR" altLang="en-US" dirty="0" smtClean="0"/>
              <a:t>색인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626159" y="2181883"/>
            <a:ext cx="1257075" cy="1137701"/>
            <a:chOff x="357158" y="1915473"/>
            <a:chExt cx="1257075" cy="1137701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/>
            <a:srcRect l="10067" r="9395"/>
            <a:stretch>
              <a:fillRect/>
            </a:stretch>
          </p:blipFill>
          <p:spPr bwMode="auto">
            <a:xfrm>
              <a:off x="624394" y="1915473"/>
              <a:ext cx="732896" cy="7634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357158" y="2714620"/>
              <a:ext cx="12570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/>
                <a:t>원천 데이터</a:t>
              </a:r>
              <a:endParaRPr lang="ko-KR" altLang="en-US" sz="1600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059978" y="2123774"/>
            <a:ext cx="923767" cy="1195810"/>
            <a:chOff x="2426009" y="1928802"/>
            <a:chExt cx="923767" cy="1195810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3"/>
            <a:srcRect l="9925" r="11350"/>
            <a:stretch>
              <a:fillRect/>
            </a:stretch>
          </p:blipFill>
          <p:spPr bwMode="auto">
            <a:xfrm>
              <a:off x="2426009" y="1928802"/>
              <a:ext cx="923767" cy="892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TextBox 10"/>
            <p:cNvSpPr txBox="1"/>
            <p:nvPr/>
          </p:nvSpPr>
          <p:spPr>
            <a:xfrm>
              <a:off x="2480454" y="2786058"/>
              <a:ext cx="8306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latin typeface="+mn-ea"/>
                </a:rPr>
                <a:t>chunks</a:t>
              </a:r>
              <a:endParaRPr lang="ko-KR" altLang="en-US" sz="1600" dirty="0">
                <a:latin typeface="+mn-ea"/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5050742" y="2016617"/>
            <a:ext cx="1388522" cy="1285884"/>
            <a:chOff x="4429124" y="1695852"/>
            <a:chExt cx="1388522" cy="1285884"/>
          </a:xfrm>
        </p:grpSpPr>
        <p:sp>
          <p:nvSpPr>
            <p:cNvPr id="13" name="TextBox 12"/>
            <p:cNvSpPr txBox="1"/>
            <p:nvPr/>
          </p:nvSpPr>
          <p:spPr>
            <a:xfrm>
              <a:off x="4429124" y="1695852"/>
              <a:ext cx="1388522" cy="1015663"/>
            </a:xfrm>
            <a:prstGeom prst="rect">
              <a:avLst/>
            </a:prstGeom>
            <a:noFill/>
            <a:ln>
              <a:solidFill>
                <a:schemeClr val="accent5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/>
                <a:t>{ 0.01, 014, 0.14… }</a:t>
              </a:r>
            </a:p>
            <a:p>
              <a:r>
                <a:rPr lang="en-US" altLang="ko-KR" sz="1200" dirty="0" smtClean="0"/>
                <a:t>{ 0.05, 018, 0.95… }</a:t>
              </a:r>
              <a:endParaRPr lang="ko-KR" altLang="en-US" sz="1200" dirty="0" smtClean="0"/>
            </a:p>
            <a:p>
              <a:r>
                <a:rPr lang="en-US" altLang="ko-KR" sz="1200" dirty="0" smtClean="0"/>
                <a:t>{ 0.01, 013, 0.21… }</a:t>
              </a:r>
            </a:p>
            <a:p>
              <a:r>
                <a:rPr lang="en-US" altLang="ko-KR" sz="1200" dirty="0" smtClean="0"/>
                <a:t>{ 0.01, 013, 0.21… }</a:t>
              </a:r>
              <a:endParaRPr lang="ko-KR" altLang="en-US" sz="1200" dirty="0" smtClean="0"/>
            </a:p>
            <a:p>
              <a:r>
                <a:rPr lang="en-US" altLang="ko-KR" sz="1200" dirty="0" smtClean="0"/>
                <a:t>….</a:t>
              </a:r>
              <a:endParaRPr lang="ko-KR" altLang="en-US" sz="12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692242" y="2643182"/>
              <a:ext cx="8451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latin typeface="+mn-ea"/>
                </a:rPr>
                <a:t>vectors</a:t>
              </a:r>
              <a:endParaRPr lang="ko-KR" altLang="en-US" sz="1600" dirty="0">
                <a:latin typeface="+mn-ea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7263375" y="2230931"/>
            <a:ext cx="1341073" cy="1088653"/>
            <a:chOff x="6994374" y="1821645"/>
            <a:chExt cx="1341073" cy="1088653"/>
          </a:xfrm>
        </p:grpSpPr>
        <p:pic>
          <p:nvPicPr>
            <p:cNvPr id="16" name="Picture 5"/>
            <p:cNvPicPr>
              <a:picLocks noChangeAspect="1" noChangeArrowheads="1"/>
            </p:cNvPicPr>
            <p:nvPr/>
          </p:nvPicPr>
          <p:blipFill>
            <a:blip r:embed="rId4"/>
            <a:srcRect l="22189" t="9615" r="20118"/>
            <a:stretch>
              <a:fillRect/>
            </a:stretch>
          </p:blipFill>
          <p:spPr bwMode="auto">
            <a:xfrm>
              <a:off x="7286644" y="1821645"/>
              <a:ext cx="790384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7" name="TextBox 16"/>
            <p:cNvSpPr txBox="1"/>
            <p:nvPr/>
          </p:nvSpPr>
          <p:spPr>
            <a:xfrm>
              <a:off x="6994374" y="2571744"/>
              <a:ext cx="13410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 smtClean="0">
                  <a:latin typeface="+mn-ea"/>
                </a:rPr>
                <a:t>RAG volume</a:t>
              </a:r>
              <a:endParaRPr lang="ko-KR" altLang="en-US" sz="1600" dirty="0">
                <a:latin typeface="+mn-ea"/>
              </a:endParaRPr>
            </a:p>
          </p:txBody>
        </p:sp>
      </p:grpSp>
      <p:cxnSp>
        <p:nvCxnSpPr>
          <p:cNvPr id="18" name="직선 화살표 연결선 17"/>
          <p:cNvCxnSpPr/>
          <p:nvPr/>
        </p:nvCxnSpPr>
        <p:spPr>
          <a:xfrm>
            <a:off x="2054919" y="2593398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4126621" y="2593398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6626951" y="2593398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rot="5400000">
            <a:off x="1912837" y="3159625"/>
            <a:ext cx="999338" cy="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12043" y="3731129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Chunking</a:t>
            </a:r>
            <a:endParaRPr lang="ko-KR" altLang="en-US" sz="1600" b="1" dirty="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 rot="5400000">
            <a:off x="3984539" y="3159625"/>
            <a:ext cx="999338" cy="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63315" y="3731129"/>
            <a:ext cx="18085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Embedding</a:t>
            </a:r>
          </a:p>
          <a:p>
            <a:r>
              <a:rPr lang="en-US" altLang="ko-KR" sz="1400" dirty="0" smtClean="0">
                <a:latin typeface="+mn-ea"/>
              </a:rPr>
              <a:t>embedding-10 </a:t>
            </a:r>
            <a:r>
              <a:rPr lang="ko-KR" altLang="en-US" sz="1400" dirty="0" smtClean="0">
                <a:latin typeface="+mn-ea"/>
              </a:rPr>
              <a:t>모델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 rot="5400000">
            <a:off x="6462423" y="3159625"/>
            <a:ext cx="999338" cy="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44535" y="3731129"/>
            <a:ext cx="168680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Indexing</a:t>
            </a:r>
          </a:p>
          <a:p>
            <a:pPr>
              <a:buFontTx/>
              <a:buChar char="-"/>
            </a:pPr>
            <a:r>
              <a:rPr lang="ko-KR" altLang="en-US" sz="1400" smtClean="0">
                <a:latin typeface="+mn-ea"/>
              </a:rPr>
              <a:t> 키워드 </a:t>
            </a:r>
            <a:r>
              <a:rPr lang="ko-KR" altLang="en-US" sz="1400" dirty="0" smtClean="0">
                <a:latin typeface="+mn-ea"/>
              </a:rPr>
              <a:t>추</a:t>
            </a:r>
            <a:r>
              <a:rPr lang="ko-KR" altLang="en-US" sz="1400" dirty="0">
                <a:latin typeface="+mn-ea"/>
              </a:rPr>
              <a:t>출</a:t>
            </a:r>
            <a:endParaRPr lang="en-US" altLang="ko-KR" sz="1400" dirty="0" smtClean="0">
              <a:latin typeface="+mn-ea"/>
            </a:endParaRPr>
          </a:p>
          <a:p>
            <a:pPr>
              <a:buFontTx/>
              <a:buChar char="-"/>
            </a:pPr>
            <a:r>
              <a:rPr lang="en-US" altLang="ko-KR" sz="1400" dirty="0" smtClean="0">
                <a:latin typeface="+mn-ea"/>
              </a:rPr>
              <a:t> vector </a:t>
            </a:r>
            <a:r>
              <a:rPr lang="ko-KR" altLang="en-US" sz="1400" dirty="0" smtClean="0">
                <a:latin typeface="+mn-ea"/>
              </a:rPr>
              <a:t>색인</a:t>
            </a:r>
            <a:endParaRPr lang="en-US" altLang="ko-KR" sz="1400" dirty="0" smtClean="0">
              <a:latin typeface="+mn-ea"/>
            </a:endParaRPr>
          </a:p>
          <a:p>
            <a:pPr>
              <a:buFontTx/>
              <a:buChar char="-"/>
            </a:pPr>
            <a:r>
              <a:rPr lang="en-US" altLang="ko-KR" sz="1400" dirty="0" smtClean="0">
                <a:latin typeface="+mn-ea"/>
              </a:rPr>
              <a:t> </a:t>
            </a:r>
            <a:r>
              <a:rPr lang="en-US" altLang="ko-KR" sz="1400" dirty="0" err="1" smtClean="0">
                <a:latin typeface="+mn-ea"/>
              </a:rPr>
              <a:t>customfield</a:t>
            </a:r>
            <a:r>
              <a:rPr lang="en-US" altLang="ko-KR" sz="1400" dirty="0" smtClean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색인</a:t>
            </a:r>
            <a:endParaRPr lang="ko-KR" altLang="en-US" dirty="0">
              <a:latin typeface="+mn-ea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rot="5400000">
            <a:off x="769829" y="3944649"/>
            <a:ext cx="999338" cy="79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9899" y="4445509"/>
            <a:ext cx="13478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DATA </a:t>
            </a:r>
            <a:r>
              <a:rPr lang="ko-KR" altLang="en-US" sz="1600" b="1" dirty="0" smtClean="0">
                <a:latin typeface="+mn-ea"/>
              </a:rPr>
              <a:t>추출</a:t>
            </a:r>
            <a:endParaRPr lang="en-US" altLang="ko-KR" sz="1600" b="1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- K-connector</a:t>
            </a:r>
          </a:p>
          <a:p>
            <a:r>
              <a:rPr lang="en-US" altLang="ko-KR" sz="1400" dirty="0" smtClean="0">
                <a:latin typeface="+mn-ea"/>
              </a:rPr>
              <a:t>- Text Filtering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905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99214"/>
            <a:ext cx="8229600" cy="706090"/>
          </a:xfrm>
        </p:spPr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</a:t>
            </a:r>
            <a:r>
              <a:rPr lang="en-US" altLang="ko-KR" dirty="0" smtClean="0">
                <a:latin typeface="+mn-ea"/>
                <a:ea typeface="+mn-ea"/>
              </a:rPr>
              <a:t> Konan Search</a:t>
            </a:r>
            <a:r>
              <a:rPr lang="ko-KR" altLang="en-US" dirty="0" smtClean="0">
                <a:latin typeface="+mn-ea"/>
                <a:ea typeface="+mn-ea"/>
              </a:rPr>
              <a:t>의 </a:t>
            </a:r>
            <a:r>
              <a:rPr lang="en-US" altLang="ko-KR" dirty="0" smtClean="0">
                <a:latin typeface="+mn-ea"/>
                <a:ea typeface="+mn-ea"/>
              </a:rPr>
              <a:t>Chunking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 Chunk Size / Overlap Size </a:t>
            </a:r>
            <a:r>
              <a:rPr lang="ko-KR" altLang="en-US" sz="1600" b="1" dirty="0" smtClean="0">
                <a:latin typeface="+mn-ea"/>
              </a:rPr>
              <a:t>기반 분리</a:t>
            </a:r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endParaRPr lang="ko-KR" altLang="en-US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문서를 </a:t>
            </a:r>
            <a:r>
              <a:rPr lang="en-US" altLang="ko-KR" sz="1400" b="1" dirty="0" smtClean="0">
                <a:latin typeface="+mn-ea"/>
              </a:rPr>
              <a:t>Chunk Size(</a:t>
            </a:r>
            <a:r>
              <a:rPr lang="ko-KR" altLang="en-US" sz="1400" b="1" dirty="0" smtClean="0">
                <a:latin typeface="+mn-ea"/>
              </a:rPr>
              <a:t>최대 길이</a:t>
            </a:r>
            <a:r>
              <a:rPr lang="en-US" altLang="ko-KR" sz="1400" b="1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 기준으로 잘라 </a:t>
            </a:r>
            <a:r>
              <a:rPr lang="ko-KR" altLang="en-US" sz="1400" b="1" dirty="0" err="1" smtClean="0">
                <a:latin typeface="+mn-ea"/>
              </a:rPr>
              <a:t>청크</a:t>
            </a:r>
            <a:r>
              <a:rPr lang="ko-KR" altLang="en-US" sz="1400" b="1" dirty="0" smtClean="0">
                <a:latin typeface="+mn-ea"/>
              </a:rPr>
              <a:t> 단위</a:t>
            </a:r>
            <a:r>
              <a:rPr lang="ko-KR" altLang="en-US" sz="1400" dirty="0" smtClean="0">
                <a:latin typeface="+mn-ea"/>
              </a:rPr>
              <a:t>로 저장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ko-KR" altLang="en-US" sz="1400" dirty="0" smtClean="0">
                <a:latin typeface="+mn-ea"/>
              </a:rPr>
              <a:t>단락 경계에서 의미가 끊기지 않도록 </a:t>
            </a:r>
            <a:r>
              <a:rPr lang="en-US" altLang="ko-KR" sz="1400" b="1" dirty="0" smtClean="0">
                <a:latin typeface="+mn-ea"/>
              </a:rPr>
              <a:t>Overlap Size(</a:t>
            </a:r>
            <a:r>
              <a:rPr lang="ko-KR" altLang="en-US" sz="1400" b="1" dirty="0" smtClean="0">
                <a:latin typeface="+mn-ea"/>
              </a:rPr>
              <a:t>겹침 길이</a:t>
            </a:r>
            <a:r>
              <a:rPr lang="en-US" altLang="ko-KR" sz="1400" b="1" dirty="0" smtClean="0">
                <a:latin typeface="+mn-ea"/>
              </a:rPr>
              <a:t>)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ko-KR" altLang="en-US" sz="1400" dirty="0" err="1" smtClean="0">
                <a:latin typeface="+mn-ea"/>
              </a:rPr>
              <a:t>를</a:t>
            </a:r>
            <a:r>
              <a:rPr lang="ko-KR" altLang="en-US" sz="1400" dirty="0" smtClean="0">
                <a:latin typeface="+mn-ea"/>
              </a:rPr>
              <a:t> 적용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ko-KR" altLang="en-US" sz="1400" dirty="0" smtClean="0">
                <a:latin typeface="+mn-ea"/>
              </a:rPr>
              <a:t>앞 </a:t>
            </a:r>
            <a:r>
              <a:rPr lang="ko-KR" altLang="en-US" sz="1400" dirty="0" err="1" smtClean="0">
                <a:latin typeface="+mn-ea"/>
              </a:rPr>
              <a:t>청크의</a:t>
            </a:r>
            <a:r>
              <a:rPr lang="ko-KR" altLang="en-US" sz="1400" dirty="0" smtClean="0">
                <a:latin typeface="+mn-ea"/>
              </a:rPr>
              <a:t> 끝부분 일부를 다음 </a:t>
            </a:r>
            <a:r>
              <a:rPr lang="ko-KR" altLang="en-US" sz="1400" dirty="0" err="1" smtClean="0">
                <a:latin typeface="+mn-ea"/>
              </a:rPr>
              <a:t>청크에</a:t>
            </a:r>
            <a:r>
              <a:rPr lang="ko-KR" altLang="en-US" sz="1400" dirty="0" smtClean="0">
                <a:latin typeface="+mn-ea"/>
              </a:rPr>
              <a:t> 포함 → </a:t>
            </a:r>
            <a:r>
              <a:rPr lang="ko-KR" altLang="en-US" sz="1400" b="1" dirty="0" smtClean="0">
                <a:latin typeface="+mn-ea"/>
              </a:rPr>
              <a:t>문맥 보존 </a:t>
            </a:r>
            <a:r>
              <a:rPr lang="en-US" altLang="ko-KR" sz="1400" b="1" dirty="0" smtClean="0">
                <a:latin typeface="+mn-ea"/>
              </a:rPr>
              <a:t>/ </a:t>
            </a:r>
            <a:r>
              <a:rPr lang="ko-KR" altLang="en-US" sz="1400" b="1" dirty="0" smtClean="0">
                <a:latin typeface="+mn-ea"/>
              </a:rPr>
              <a:t>검색 누락 감소</a:t>
            </a:r>
            <a:endParaRPr lang="ko-KR" altLang="en-US" sz="1400" dirty="0" smtClean="0">
              <a:latin typeface="+mn-ea"/>
            </a:endParaRP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소제목 추출 → </a:t>
            </a:r>
            <a:r>
              <a:rPr lang="en-US" altLang="ko-KR" sz="1600" b="1" dirty="0" smtClean="0">
                <a:latin typeface="+mn-ea"/>
              </a:rPr>
              <a:t>Chunk Title</a:t>
            </a:r>
            <a:r>
              <a:rPr lang="ko-KR" altLang="en-US" sz="1600" b="1" dirty="0" smtClean="0">
                <a:latin typeface="+mn-ea"/>
              </a:rPr>
              <a:t>로 활용</a:t>
            </a:r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endParaRPr lang="ko-KR" altLang="en-US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문서의 </a:t>
            </a:r>
            <a:r>
              <a:rPr lang="ko-KR" altLang="en-US" sz="1400" b="1" dirty="0" smtClean="0">
                <a:latin typeface="+mn-ea"/>
              </a:rPr>
              <a:t>소제목</a:t>
            </a:r>
            <a:r>
              <a:rPr lang="en-US" altLang="ko-KR" sz="1400" b="1" dirty="0" smtClean="0">
                <a:latin typeface="+mn-ea"/>
              </a:rPr>
              <a:t>(Heading)</a:t>
            </a:r>
            <a:r>
              <a:rPr lang="ko-KR" altLang="en-US" sz="1400" dirty="0" smtClean="0">
                <a:latin typeface="+mn-ea"/>
              </a:rPr>
              <a:t> 을 추출해 각 </a:t>
            </a:r>
            <a:r>
              <a:rPr lang="ko-KR" altLang="en-US" sz="1400" dirty="0" err="1" smtClean="0">
                <a:latin typeface="+mn-ea"/>
              </a:rPr>
              <a:t>청크의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title</a:t>
            </a:r>
            <a:r>
              <a:rPr lang="ko-KR" altLang="en-US" sz="1400" smtClean="0">
                <a:latin typeface="+mn-ea"/>
              </a:rPr>
              <a:t>에 추가</a:t>
            </a:r>
            <a:endParaRPr lang="en-US" altLang="ko-KR" sz="1400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소제목이 추가되어 </a:t>
            </a:r>
            <a:r>
              <a:rPr lang="en-US" altLang="ko-KR" sz="1400" dirty="0" smtClean="0">
                <a:latin typeface="+mn-ea"/>
              </a:rPr>
              <a:t>title </a:t>
            </a:r>
            <a:r>
              <a:rPr lang="ko-KR" altLang="en-US" sz="1400" dirty="0" smtClean="0">
                <a:latin typeface="+mn-ea"/>
              </a:rPr>
              <a:t>기반 정렬 가중치 부여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Markdown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문서에서 안정적으로 제공</a:t>
            </a:r>
            <a:endParaRPr lang="en-US" altLang="ko-KR" sz="1400" dirty="0" smtClean="0">
              <a:latin typeface="+mn-ea"/>
            </a:endParaRPr>
          </a:p>
          <a:p>
            <a:pPr>
              <a:buNone/>
            </a:pPr>
            <a:endParaRPr lang="en-US" altLang="ko-KR" b="1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표</a:t>
            </a:r>
            <a:r>
              <a:rPr lang="en-US" altLang="ko-KR" sz="1600" b="1" dirty="0" smtClean="0">
                <a:latin typeface="+mn-ea"/>
              </a:rPr>
              <a:t>(Table)</a:t>
            </a:r>
            <a:r>
              <a:rPr lang="ko-KR" altLang="en-US" sz="1600" b="1" dirty="0" smtClean="0">
                <a:latin typeface="+mn-ea"/>
              </a:rPr>
              <a:t>는 깨지지 않게 “</a:t>
            </a:r>
            <a:r>
              <a:rPr lang="en-US" altLang="ko-KR" sz="1600" b="1" dirty="0" smtClean="0">
                <a:latin typeface="+mn-ea"/>
              </a:rPr>
              <a:t>1</a:t>
            </a:r>
            <a:r>
              <a:rPr lang="ko-KR" altLang="en-US" sz="1600" b="1" dirty="0" smtClean="0">
                <a:latin typeface="+mn-ea"/>
              </a:rPr>
              <a:t>개 </a:t>
            </a:r>
            <a:r>
              <a:rPr lang="en-US" altLang="ko-KR" sz="1600" b="1" dirty="0" smtClean="0">
                <a:latin typeface="+mn-ea"/>
              </a:rPr>
              <a:t>Chunk”</a:t>
            </a:r>
            <a:r>
              <a:rPr lang="ko-KR" altLang="en-US" sz="1600" b="1" dirty="0" smtClean="0">
                <a:latin typeface="+mn-ea"/>
              </a:rPr>
              <a:t>로 추출</a:t>
            </a:r>
            <a:endParaRPr lang="en-US" altLang="ko-KR" sz="1600" b="1" dirty="0" smtClean="0">
              <a:latin typeface="+mn-ea"/>
            </a:endParaRPr>
          </a:p>
          <a:p>
            <a:pPr>
              <a:buNone/>
            </a:pPr>
            <a:endParaRPr lang="ko-KR" altLang="en-US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표는 행</a:t>
            </a:r>
            <a:r>
              <a:rPr lang="en-US" altLang="ko-KR" sz="1400" dirty="0" smtClean="0">
                <a:latin typeface="+mn-ea"/>
              </a:rPr>
              <a:t>/</a:t>
            </a:r>
            <a:r>
              <a:rPr lang="ko-KR" altLang="en-US" sz="1400" dirty="0" smtClean="0">
                <a:latin typeface="+mn-ea"/>
              </a:rPr>
              <a:t>열 구조가 무너지면 의미가 크게 </a:t>
            </a:r>
            <a:r>
              <a:rPr lang="ko-KR" altLang="en-US" sz="1400" dirty="0" err="1" smtClean="0">
                <a:latin typeface="+mn-ea"/>
              </a:rPr>
              <a:t>훼손되기때문에</a:t>
            </a:r>
            <a:r>
              <a:rPr lang="en-US" altLang="ko-KR" sz="1400" dirty="0" smtClean="0">
                <a:latin typeface="+mn-ea"/>
              </a:rPr>
              <a:t/>
            </a:r>
            <a:br>
              <a:rPr lang="en-US" altLang="ko-KR" sz="1400" dirty="0" smtClean="0">
                <a:latin typeface="+mn-ea"/>
              </a:rPr>
            </a:br>
            <a:r>
              <a:rPr lang="ko-KR" altLang="en-US" sz="1400" dirty="0" smtClean="0">
                <a:latin typeface="+mn-ea"/>
              </a:rPr>
              <a:t>표 영역은 </a:t>
            </a:r>
            <a:r>
              <a:rPr lang="ko-KR" altLang="en-US" sz="1400" b="1" dirty="0" smtClean="0">
                <a:latin typeface="+mn-ea"/>
              </a:rPr>
              <a:t>분할하지 않고 하나의 </a:t>
            </a:r>
            <a:r>
              <a:rPr lang="ko-KR" altLang="en-US" sz="1400" b="1" dirty="0" err="1" smtClean="0">
                <a:latin typeface="+mn-ea"/>
              </a:rPr>
              <a:t>청크로</a:t>
            </a:r>
            <a:r>
              <a:rPr lang="ko-KR" altLang="en-US" sz="1400" b="1" dirty="0" smtClean="0">
                <a:latin typeface="+mn-ea"/>
              </a:rPr>
              <a:t> 통째로</a:t>
            </a:r>
            <a:r>
              <a:rPr lang="ko-KR" altLang="en-US" sz="1400" dirty="0" smtClean="0">
                <a:latin typeface="+mn-ea"/>
              </a:rPr>
              <a:t> 추출한다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r>
              <a:rPr lang="en-US" altLang="ko-KR" sz="1400" b="1" dirty="0" smtClean="0">
                <a:latin typeface="+mn-ea"/>
              </a:rPr>
              <a:t>Markdown </a:t>
            </a:r>
            <a:r>
              <a:rPr lang="ko-KR" altLang="en-US" sz="1400" b="1" dirty="0" smtClean="0">
                <a:latin typeface="+mn-ea"/>
              </a:rPr>
              <a:t>형식</a:t>
            </a:r>
            <a:r>
              <a:rPr lang="ko-KR" altLang="en-US" sz="1400" dirty="0" smtClean="0">
                <a:latin typeface="+mn-ea"/>
              </a:rPr>
              <a:t>일 때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소제목과 표 추출이 정확하다</a:t>
            </a:r>
            <a:r>
              <a:rPr lang="en-US" altLang="ko-KR" sz="1400" dirty="0" smtClean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5</a:t>
            </a:fld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598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99214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table </a:t>
            </a:r>
            <a:r>
              <a:rPr lang="ko-KR" altLang="en-US" dirty="0" smtClean="0">
                <a:latin typeface="+mn-ea"/>
                <a:ea typeface="+mn-ea"/>
              </a:rPr>
              <a:t>기본 스키마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6</a:t>
            </a:fld>
            <a:endParaRPr lang="ko-KR" altLang="en-US" dirty="0">
              <a:latin typeface="+mn-ea"/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884055"/>
              </p:ext>
            </p:extLst>
          </p:nvPr>
        </p:nvGraphicFramePr>
        <p:xfrm>
          <a:off x="714348" y="1643050"/>
          <a:ext cx="6929486" cy="433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/>
                <a:gridCol w="5283566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필드명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cid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 id (primary)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err="1" smtClean="0">
                          <a:latin typeface="+mn-ea"/>
                          <a:ea typeface="+mn-ea"/>
                        </a:rPr>
                        <a:t>uuid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latin typeface="+mn-ea"/>
                          <a:ea typeface="+mn-ea"/>
                        </a:rPr>
                        <a:t>문서</a:t>
                      </a:r>
                      <a:r>
                        <a:rPr lang="ko-KR" altLang="en-US" sz="12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 baseline="0" dirty="0" smtClean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title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latin typeface="+mn-ea"/>
                          <a:ea typeface="+mn-ea"/>
                        </a:rPr>
                        <a:t>문서 제목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chunk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en-US" altLang="ko-KR" sz="1200" b="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lines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chunk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line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단위로 색인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c_vec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Chunk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embedding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 </a:t>
                      </a:r>
                      <a:r>
                        <a:rPr lang="en-US" altLang="ko-KR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vector. 1024</a:t>
                      </a: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차원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c_kwd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에서 추출한 키워드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c_ngram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를 </a:t>
                      </a:r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ngram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으로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색인한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필드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다국어 환경에서 사용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dt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날짜필드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파일을 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업로드하는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경우 파일명에서 자동 추출되는 필드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.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최신순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 정렬에 사용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latinLnBrk="1"/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…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기타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field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및 </a:t>
                      </a:r>
                      <a:r>
                        <a:rPr lang="en-US" altLang="ko-KR" sz="1200" dirty="0" err="1" smtClean="0">
                          <a:latin typeface="+mn-ea"/>
                          <a:ea typeface="+mn-ea"/>
                        </a:rPr>
                        <a:t>customfield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1472" y="1142984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latin typeface="+mn-ea"/>
              </a:rPr>
              <a:t>tabc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172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3491879" y="3551530"/>
            <a:ext cx="1800201" cy="1123321"/>
            <a:chOff x="3419871" y="1772816"/>
            <a:chExt cx="1800201" cy="1123321"/>
          </a:xfrm>
        </p:grpSpPr>
        <p:sp>
          <p:nvSpPr>
            <p:cNvPr id="7" name="사다리꼴 6"/>
            <p:cNvSpPr/>
            <p:nvPr/>
          </p:nvSpPr>
          <p:spPr>
            <a:xfrm rot="16200000">
              <a:off x="3758311" y="1434377"/>
              <a:ext cx="1123321" cy="1800200"/>
            </a:xfrm>
            <a:prstGeom prst="trapezoid">
              <a:avLst>
                <a:gd name="adj" fmla="val 36064"/>
              </a:avLst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/>
            <p:cNvCxnSpPr/>
            <p:nvPr/>
          </p:nvCxnSpPr>
          <p:spPr>
            <a:xfrm flipV="1">
              <a:off x="3419872" y="1772816"/>
              <a:ext cx="1800200" cy="4060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3419871" y="2492897"/>
              <a:ext cx="1800201" cy="3984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 smtClean="0"/>
              <a:t>RAG </a:t>
            </a:r>
            <a:r>
              <a:rPr lang="ko-KR" altLang="en-US" dirty="0" smtClean="0"/>
              <a:t>색인 </a:t>
            </a:r>
            <a:r>
              <a:rPr lang="en-US" altLang="ko-KR" smtClean="0"/>
              <a:t>- Insert</a:t>
            </a:r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388575"/>
              </p:ext>
            </p:extLst>
          </p:nvPr>
        </p:nvGraphicFramePr>
        <p:xfrm>
          <a:off x="539552" y="3606465"/>
          <a:ext cx="2952327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/>
                <a:gridCol w="984109"/>
                <a:gridCol w="984109"/>
              </a:tblGrid>
              <a:tr h="323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pkey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title 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body</a:t>
                      </a:r>
                      <a:endParaRPr lang="ko-KR" altLang="en-US" sz="1600" dirty="0"/>
                    </a:p>
                  </a:txBody>
                  <a:tcPr/>
                </a:tc>
              </a:tr>
              <a:tr h="323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문서</a:t>
                      </a:r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내용</a:t>
                      </a:r>
                      <a:r>
                        <a:rPr lang="en-US" altLang="ko-KR" sz="1600" dirty="0" smtClean="0"/>
                        <a:t>1…</a:t>
                      </a:r>
                      <a:endParaRPr lang="ko-KR" altLang="en-US" sz="1600" dirty="0"/>
                    </a:p>
                  </a:txBody>
                  <a:tcPr/>
                </a:tc>
              </a:tr>
              <a:tr h="323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문서</a:t>
                      </a:r>
                      <a:r>
                        <a:rPr lang="en-US" altLang="ko-KR" sz="1600" dirty="0" smtClean="0"/>
                        <a:t>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내용</a:t>
                      </a:r>
                      <a:r>
                        <a:rPr lang="en-US" altLang="ko-KR" sz="1600" dirty="0" smtClean="0"/>
                        <a:t>2…</a:t>
                      </a:r>
                      <a:endParaRPr lang="ko-KR" altLang="en-US" sz="1600" dirty="0"/>
                    </a:p>
                  </a:txBody>
                  <a:tcPr/>
                </a:tc>
              </a:tr>
              <a:tr h="323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문서</a:t>
                      </a:r>
                      <a:r>
                        <a:rPr lang="en-US" altLang="ko-KR" sz="1600" dirty="0" smtClean="0"/>
                        <a:t>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내용</a:t>
                      </a:r>
                      <a:r>
                        <a:rPr lang="en-US" altLang="ko-KR" sz="1600" dirty="0" smtClean="0"/>
                        <a:t>3…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16866"/>
              </p:ext>
            </p:extLst>
          </p:nvPr>
        </p:nvGraphicFramePr>
        <p:xfrm>
          <a:off x="5076056" y="3198698"/>
          <a:ext cx="367240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1224136"/>
                <a:gridCol w="864096"/>
                <a:gridCol w="79208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uuid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cid</a:t>
                      </a:r>
                      <a:r>
                        <a:rPr lang="en-US" altLang="ko-KR" sz="1600" dirty="0" smtClean="0"/>
                        <a:t> (primary)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c_vec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r>
                        <a:rPr lang="en-US" altLang="ko-KR" sz="1600" b="1" dirty="0" smtClean="0"/>
                        <a:t>_01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chunk1..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[0.11…]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r>
                        <a:rPr lang="en-US" altLang="ko-KR" sz="1600" b="1" dirty="0" smtClean="0"/>
                        <a:t>_02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chunk2..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[0.11…]</a:t>
                      </a:r>
                      <a:endParaRPr lang="ko-KR" altLang="en-US" sz="16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doc01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r>
                        <a:rPr lang="en-US" altLang="ko-KR" sz="1600" b="1" dirty="0" smtClean="0"/>
                        <a:t>_03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chunk3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[0.11…]</a:t>
                      </a:r>
                      <a:endParaRPr lang="ko-KR" altLang="en-US" sz="16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doc02</a:t>
                      </a:r>
                      <a:r>
                        <a:rPr lang="en-US" altLang="ko-KR" sz="1600" b="1" dirty="0" smtClean="0"/>
                        <a:t>_01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chunk1..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[0.11…]</a:t>
                      </a:r>
                      <a:endParaRPr lang="ko-KR" altLang="en-US" sz="1600" dirty="0" smtClean="0"/>
                    </a:p>
                  </a:txBody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…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dirty="0" smtClean="0">
                <a:latin typeface="+mn-ea"/>
              </a:rPr>
              <a:t>RAG </a:t>
            </a:r>
            <a:r>
              <a:rPr lang="ko-KR" altLang="en-US" sz="1600" dirty="0" smtClean="0">
                <a:latin typeface="+mn-ea"/>
              </a:rPr>
              <a:t>색인 시 </a:t>
            </a:r>
            <a:r>
              <a:rPr lang="en-US" altLang="ko-KR" sz="1600" dirty="0" smtClean="0">
                <a:latin typeface="+mn-ea"/>
              </a:rPr>
              <a:t>chunking</a:t>
            </a:r>
            <a:r>
              <a:rPr lang="ko-KR" altLang="en-US" sz="1600" dirty="0" smtClean="0">
                <a:latin typeface="+mn-ea"/>
              </a:rPr>
              <a:t>이 수행되기 때문에 </a:t>
            </a:r>
            <a:r>
              <a:rPr lang="en-US" altLang="ko-KR" sz="1600" dirty="0" smtClean="0">
                <a:latin typeface="+mn-ea"/>
              </a:rPr>
              <a:t>1</a:t>
            </a:r>
            <a:r>
              <a:rPr lang="ko-KR" altLang="en-US" sz="1600" dirty="0" smtClean="0">
                <a:latin typeface="+mn-ea"/>
              </a:rPr>
              <a:t>문서가 </a:t>
            </a:r>
            <a:r>
              <a:rPr lang="en-US" altLang="ko-KR" sz="1600" dirty="0" smtClean="0">
                <a:latin typeface="+mn-ea"/>
              </a:rPr>
              <a:t>N</a:t>
            </a:r>
            <a:r>
              <a:rPr lang="ko-KR" altLang="en-US" sz="1600" dirty="0" smtClean="0">
                <a:latin typeface="+mn-ea"/>
              </a:rPr>
              <a:t>개의 </a:t>
            </a:r>
            <a:r>
              <a:rPr lang="en-US" altLang="ko-KR" sz="1600" dirty="0" smtClean="0">
                <a:latin typeface="+mn-ea"/>
              </a:rPr>
              <a:t>row</a:t>
            </a:r>
            <a:r>
              <a:rPr lang="ko-KR" altLang="en-US" sz="1600" dirty="0" smtClean="0">
                <a:latin typeface="+mn-ea"/>
              </a:rPr>
              <a:t>로 분리된다</a:t>
            </a:r>
            <a:r>
              <a:rPr lang="en-US" altLang="ko-KR" sz="1600" dirty="0" smtClean="0">
                <a:latin typeface="+mn-ea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600" dirty="0" smtClean="0">
              <a:latin typeface="+mn-ea"/>
            </a:endParaRPr>
          </a:p>
          <a:p>
            <a:r>
              <a:rPr lang="en-US" altLang="ko-KR" sz="1600" dirty="0" smtClean="0">
                <a:latin typeface="+mn-ea"/>
              </a:rPr>
              <a:t>Chunking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문서를 일정 단위로 분할 </a:t>
            </a:r>
            <a:r>
              <a:rPr lang="en-US" altLang="ko-KR" sz="1600" dirty="0">
                <a:latin typeface="+mn-ea"/>
              </a:rPr>
              <a:t>(1 doc → N chunks)</a:t>
            </a:r>
          </a:p>
          <a:p>
            <a:r>
              <a:rPr lang="en-US" altLang="ko-KR" sz="1600" dirty="0">
                <a:latin typeface="+mn-ea"/>
              </a:rPr>
              <a:t>Embedding: </a:t>
            </a:r>
            <a:r>
              <a:rPr lang="ko-KR" altLang="en-US" sz="1600" dirty="0">
                <a:latin typeface="+mn-ea"/>
              </a:rPr>
              <a:t>각 </a:t>
            </a:r>
            <a:r>
              <a:rPr lang="en-US" altLang="ko-KR" sz="1600" dirty="0">
                <a:latin typeface="+mn-ea"/>
              </a:rPr>
              <a:t>chunk</a:t>
            </a:r>
            <a:r>
              <a:rPr lang="ko-KR" altLang="en-US" sz="1600" dirty="0">
                <a:latin typeface="+mn-ea"/>
              </a:rPr>
              <a:t>를 벡터로 변환</a:t>
            </a:r>
          </a:p>
          <a:p>
            <a:r>
              <a:rPr lang="en-US" altLang="ko-KR" sz="1600" dirty="0" smtClean="0">
                <a:latin typeface="+mn-ea"/>
              </a:rPr>
              <a:t>Indexing: </a:t>
            </a:r>
            <a:r>
              <a:rPr lang="ko-KR" altLang="en-US" sz="1600" dirty="0">
                <a:latin typeface="+mn-ea"/>
              </a:rPr>
              <a:t>키워드 기반 검색을 위한 </a:t>
            </a:r>
            <a:r>
              <a:rPr lang="ko-KR" altLang="en-US" sz="1600" dirty="0" smtClean="0">
                <a:latin typeface="+mn-ea"/>
              </a:rPr>
              <a:t>형태소분석 및 </a:t>
            </a:r>
            <a:r>
              <a:rPr lang="en-US" altLang="ko-KR" sz="1600" dirty="0" smtClean="0">
                <a:latin typeface="+mn-ea"/>
              </a:rPr>
              <a:t>metadata </a:t>
            </a:r>
            <a:r>
              <a:rPr lang="ko-KR" altLang="en-US" sz="1600" dirty="0" smtClean="0">
                <a:latin typeface="+mn-ea"/>
              </a:rPr>
              <a:t>색인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552" y="3191490"/>
            <a:ext cx="1098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n-ea"/>
              </a:rPr>
              <a:t>원본 </a:t>
            </a:r>
            <a:r>
              <a:rPr lang="en-US" altLang="ko-KR" sz="1600" b="1" dirty="0" smtClean="0">
                <a:latin typeface="+mn-ea"/>
              </a:rPr>
              <a:t>data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86982" y="2852936"/>
            <a:ext cx="116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RAG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table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6653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 smtClean="0"/>
              <a:t>RAG </a:t>
            </a:r>
            <a:r>
              <a:rPr lang="ko-KR" altLang="en-US" dirty="0" smtClean="0"/>
              <a:t>색인 </a:t>
            </a:r>
            <a:r>
              <a:rPr lang="en-US" altLang="ko-KR" dirty="0"/>
              <a:t> </a:t>
            </a:r>
            <a:r>
              <a:rPr lang="en-US" altLang="ko-KR" dirty="0" smtClean="0"/>
              <a:t>- Delete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3389763"/>
              </p:ext>
            </p:extLst>
          </p:nvPr>
        </p:nvGraphicFramePr>
        <p:xfrm>
          <a:off x="4248097" y="2870944"/>
          <a:ext cx="3564263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959"/>
                <a:gridCol w="1080120"/>
                <a:gridCol w="864096"/>
                <a:gridCol w="79208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uuid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cid</a:t>
                      </a:r>
                      <a:r>
                        <a:rPr lang="en-US" altLang="ko-KR" sz="1600" dirty="0" smtClean="0"/>
                        <a:t> (primary)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c_vec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doc01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doc01_01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chunk1..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[0.11…]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doc01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doc01_02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chunk2..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[0.11…]</a:t>
                      </a:r>
                      <a:endParaRPr lang="ko-KR" altLang="en-US" sz="1600" b="0" strike="sngStrike" dirty="0" smtClean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doc01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doc01_03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chunk3..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[0.11…]</a:t>
                      </a:r>
                      <a:endParaRPr lang="ko-KR" altLang="en-US" sz="1600" b="0" strike="sngStrike" dirty="0" smtClean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…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 smtClean="0">
                <a:latin typeface="+mn-ea"/>
              </a:rPr>
              <a:t>Delete </a:t>
            </a:r>
            <a:r>
              <a:rPr lang="ko-KR" altLang="en-US" sz="1600" dirty="0" smtClean="0">
                <a:latin typeface="+mn-ea"/>
              </a:rPr>
              <a:t>동작에서는 </a:t>
            </a:r>
            <a:r>
              <a:rPr lang="en-US" altLang="ko-KR" sz="1600" dirty="0" err="1" smtClean="0">
                <a:latin typeface="+mn-ea"/>
              </a:rPr>
              <a:t>pkey</a:t>
            </a:r>
            <a:r>
              <a:rPr lang="en-US" altLang="ko-KR" sz="1600" dirty="0" smtClean="0">
                <a:latin typeface="+mn-ea"/>
              </a:rPr>
              <a:t> field</a:t>
            </a:r>
            <a:r>
              <a:rPr lang="ko-KR" altLang="en-US" sz="1600" dirty="0" smtClean="0">
                <a:latin typeface="+mn-ea"/>
              </a:rPr>
              <a:t>만 입력하면 된다</a:t>
            </a:r>
            <a:r>
              <a:rPr lang="en-US" altLang="ko-KR" sz="1600" dirty="0" smtClean="0">
                <a:latin typeface="+mn-ea"/>
              </a:rPr>
              <a:t>.</a:t>
            </a:r>
          </a:p>
          <a:p>
            <a:pPr marL="0" indent="0">
              <a:buNone/>
            </a:pPr>
            <a:r>
              <a:rPr lang="ko-KR" altLang="en-US" sz="1600" dirty="0" smtClean="0">
                <a:latin typeface="+mn-ea"/>
              </a:rPr>
              <a:t>존재하는 모든 </a:t>
            </a:r>
            <a:r>
              <a:rPr lang="en-US" altLang="ko-KR" sz="1600" dirty="0" err="1" smtClean="0">
                <a:latin typeface="+mn-ea"/>
              </a:rPr>
              <a:t>pkey</a:t>
            </a:r>
            <a:r>
              <a:rPr lang="ko-KR" altLang="en-US" sz="1600" dirty="0" smtClean="0">
                <a:latin typeface="+mn-ea"/>
              </a:rPr>
              <a:t>를 탐색하여 삭제한다</a:t>
            </a:r>
            <a:r>
              <a:rPr lang="en-US" altLang="ko-KR" sz="1600" dirty="0" smtClean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40637" y="2847483"/>
            <a:ext cx="20705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Delete </a:t>
            </a:r>
            <a:r>
              <a:rPr lang="ko-KR" altLang="en-US" sz="1600" b="1" dirty="0" smtClean="0">
                <a:latin typeface="+mn-ea"/>
              </a:rPr>
              <a:t>용 원본 </a:t>
            </a:r>
            <a:r>
              <a:rPr lang="en-US" altLang="ko-KR" sz="1600" b="1" dirty="0" smtClean="0">
                <a:latin typeface="+mn-ea"/>
              </a:rPr>
              <a:t>data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59023" y="2525182"/>
            <a:ext cx="116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RAG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table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25" name="오른쪽 중괄호 24"/>
          <p:cNvSpPr/>
          <p:nvPr/>
        </p:nvSpPr>
        <p:spPr>
          <a:xfrm>
            <a:off x="8003379" y="3216764"/>
            <a:ext cx="181628" cy="11448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8185007" y="36421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삭제</a:t>
            </a:r>
            <a:endParaRPr lang="ko-KR" altLang="en-US" dirty="0"/>
          </a:p>
        </p:txBody>
      </p:sp>
      <p:grpSp>
        <p:nvGrpSpPr>
          <p:cNvPr id="16" name="그룹 15"/>
          <p:cNvGrpSpPr/>
          <p:nvPr/>
        </p:nvGrpSpPr>
        <p:grpSpPr>
          <a:xfrm>
            <a:off x="2375889" y="3250719"/>
            <a:ext cx="1800201" cy="1123321"/>
            <a:chOff x="3419871" y="1772816"/>
            <a:chExt cx="1800201" cy="1123321"/>
          </a:xfrm>
        </p:grpSpPr>
        <p:sp>
          <p:nvSpPr>
            <p:cNvPr id="21" name="사다리꼴 20"/>
            <p:cNvSpPr/>
            <p:nvPr/>
          </p:nvSpPr>
          <p:spPr>
            <a:xfrm rot="16200000">
              <a:off x="3758311" y="1434377"/>
              <a:ext cx="1123321" cy="1800200"/>
            </a:xfrm>
            <a:prstGeom prst="trapezoid">
              <a:avLst>
                <a:gd name="adj" fmla="val 36064"/>
              </a:avLst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" name="직선 연결선 21"/>
            <p:cNvCxnSpPr/>
            <p:nvPr/>
          </p:nvCxnSpPr>
          <p:spPr>
            <a:xfrm flipV="1">
              <a:off x="3419872" y="1772816"/>
              <a:ext cx="1800200" cy="4060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>
              <a:off x="3419871" y="2492897"/>
              <a:ext cx="1800201" cy="3984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9526497"/>
              </p:ext>
            </p:extLst>
          </p:nvPr>
        </p:nvGraphicFramePr>
        <p:xfrm>
          <a:off x="1427651" y="3334504"/>
          <a:ext cx="984109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/>
              </a:tblGrid>
              <a:tr h="323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pkey</a:t>
                      </a:r>
                      <a:endParaRPr lang="ko-KR" altLang="en-US" sz="1600" dirty="0"/>
                    </a:p>
                  </a:txBody>
                  <a:tcPr/>
                </a:tc>
              </a:tr>
              <a:tr h="323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271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2662300" y="3509697"/>
            <a:ext cx="2309299" cy="1577384"/>
            <a:chOff x="3012705" y="2129487"/>
            <a:chExt cx="2353010" cy="1270993"/>
          </a:xfrm>
        </p:grpSpPr>
        <p:sp>
          <p:nvSpPr>
            <p:cNvPr id="14" name="사다리꼴 13"/>
            <p:cNvSpPr/>
            <p:nvPr/>
          </p:nvSpPr>
          <p:spPr>
            <a:xfrm rot="18312356">
              <a:off x="3898315" y="1449913"/>
              <a:ext cx="581790" cy="2353010"/>
            </a:xfrm>
            <a:prstGeom prst="trapezoid">
              <a:avLst>
                <a:gd name="adj" fmla="val 36064"/>
              </a:avLst>
            </a:prstGeom>
            <a:solidFill>
              <a:schemeClr val="accent1"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/>
            <p:cNvCxnSpPr>
              <a:stCxn id="5" idx="3"/>
            </p:cNvCxnSpPr>
            <p:nvPr/>
          </p:nvCxnSpPr>
          <p:spPr>
            <a:xfrm>
              <a:off x="3564503" y="2129487"/>
              <a:ext cx="1331811" cy="6361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3564503" y="2412592"/>
              <a:ext cx="1331811" cy="9878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 smtClean="0"/>
              <a:t>RAG </a:t>
            </a:r>
            <a:r>
              <a:rPr lang="ko-KR" altLang="en-US" dirty="0" smtClean="0"/>
              <a:t>색인 </a:t>
            </a:r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en-US" altLang="ko-KR" dirty="0" err="1" smtClean="0"/>
              <a:t>Updatae</a:t>
            </a:r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5537415"/>
              </p:ext>
            </p:extLst>
          </p:nvPr>
        </p:nvGraphicFramePr>
        <p:xfrm>
          <a:off x="251520" y="3174417"/>
          <a:ext cx="2952327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4109"/>
                <a:gridCol w="984109"/>
                <a:gridCol w="984109"/>
              </a:tblGrid>
              <a:tr h="323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pkey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title 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body</a:t>
                      </a:r>
                      <a:endParaRPr lang="ko-KR" altLang="en-US" sz="1600" dirty="0"/>
                    </a:p>
                  </a:txBody>
                  <a:tcPr/>
                </a:tc>
              </a:tr>
              <a:tr h="3239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문서</a:t>
                      </a:r>
                      <a:r>
                        <a:rPr lang="en-US" altLang="ko-KR" sz="1600" dirty="0" smtClean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내용</a:t>
                      </a:r>
                      <a:r>
                        <a:rPr lang="en-US" altLang="ko-KR" sz="1600" dirty="0" smtClean="0"/>
                        <a:t>1…</a:t>
                      </a:r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6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6394409"/>
              </p:ext>
            </p:extLst>
          </p:nvPr>
        </p:nvGraphicFramePr>
        <p:xfrm>
          <a:off x="4499991" y="2766650"/>
          <a:ext cx="374441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1296144"/>
                <a:gridCol w="864096"/>
                <a:gridCol w="792088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uuid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cid</a:t>
                      </a:r>
                      <a:r>
                        <a:rPr lang="en-US" altLang="ko-KR" sz="1600" dirty="0" smtClean="0"/>
                        <a:t> (primary)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c_vec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doc01</a:t>
                      </a:r>
                      <a:endParaRPr lang="ko-KR" altLang="en-US" sz="1600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doc01</a:t>
                      </a:r>
                      <a:r>
                        <a:rPr lang="en-US" altLang="ko-KR" sz="1600" b="1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_01</a:t>
                      </a:r>
                      <a:endParaRPr lang="ko-KR" altLang="en-US" sz="1600" b="1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chunk1..</a:t>
                      </a:r>
                      <a:endParaRPr lang="ko-KR" altLang="en-US" sz="1600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[0.11…]</a:t>
                      </a:r>
                      <a:endParaRPr lang="ko-KR" altLang="en-US" sz="1600" b="0" strike="sngStrike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doc01</a:t>
                      </a:r>
                      <a:endParaRPr lang="ko-KR" altLang="en-US" sz="1600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doc01</a:t>
                      </a:r>
                      <a:r>
                        <a:rPr lang="en-US" altLang="ko-KR" sz="1600" b="1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_02</a:t>
                      </a:r>
                      <a:endParaRPr lang="ko-KR" altLang="en-US" sz="1600" b="1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chunk2..</a:t>
                      </a:r>
                      <a:endParaRPr lang="ko-KR" altLang="en-US" sz="1600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[0.11…]</a:t>
                      </a:r>
                      <a:endParaRPr lang="ko-KR" altLang="en-US" sz="1600" b="0" strike="sngStrike" dirty="0" smtClean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doc01</a:t>
                      </a:r>
                      <a:endParaRPr lang="ko-KR" altLang="en-US" sz="1600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doc01</a:t>
                      </a:r>
                      <a:r>
                        <a:rPr lang="en-US" altLang="ko-KR" sz="1600" b="1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_03</a:t>
                      </a:r>
                      <a:endParaRPr lang="ko-KR" altLang="en-US" sz="1600" b="1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trike="sngStrike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chunk3</a:t>
                      </a:r>
                      <a:endParaRPr lang="ko-KR" altLang="en-US" sz="1600" strike="sngStrike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strike="sng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[0.11…]</a:t>
                      </a:r>
                      <a:endParaRPr lang="ko-KR" altLang="en-US" sz="1600" b="0" strike="sngStrike" dirty="0" smtClean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r>
                        <a:rPr lang="en-US" altLang="ko-KR" sz="1600" b="1" dirty="0" smtClean="0"/>
                        <a:t>_01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chunk1..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[0.11..]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doc01</a:t>
                      </a:r>
                      <a:r>
                        <a:rPr lang="en-US" altLang="ko-KR" sz="1600" b="1" dirty="0" smtClean="0"/>
                        <a:t>_02</a:t>
                      </a:r>
                      <a:endParaRPr lang="ko-KR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chunk2..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[0.11..]</a:t>
                      </a:r>
                      <a:endParaRPr lang="ko-KR" altLang="en-US" sz="1600" dirty="0"/>
                    </a:p>
                  </a:txBody>
                  <a:tcPr/>
                </a:tc>
              </a:tr>
              <a:tr h="370840"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…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dirty="0" smtClean="0">
                <a:latin typeface="+mn-ea"/>
              </a:rPr>
              <a:t>UPDATE</a:t>
            </a:r>
            <a:r>
              <a:rPr lang="ko-KR" altLang="en-US" sz="1600" dirty="0" smtClean="0">
                <a:latin typeface="+mn-ea"/>
              </a:rPr>
              <a:t>시에는 데이터 정합을 맞추기 위해서</a:t>
            </a:r>
            <a:r>
              <a:rPr lang="en-US" altLang="ko-KR" sz="1600" dirty="0" smtClean="0">
                <a:latin typeface="+mn-ea"/>
              </a:rPr>
              <a:t>,</a:t>
            </a:r>
          </a:p>
          <a:p>
            <a:pPr marL="0" indent="0">
              <a:buNone/>
            </a:pPr>
            <a:r>
              <a:rPr lang="ko-KR" altLang="en-US" sz="1600" dirty="0" err="1" smtClean="0">
                <a:latin typeface="+mn-ea"/>
              </a:rPr>
              <a:t>색인하려는</a:t>
            </a:r>
            <a:r>
              <a:rPr lang="ko-KR" altLang="en-US" sz="1600" dirty="0" smtClean="0">
                <a:latin typeface="+mn-ea"/>
              </a:rPr>
              <a:t> 데이터가 존재하면</a:t>
            </a:r>
            <a:r>
              <a:rPr lang="en-US" altLang="ko-KR" sz="1600" dirty="0" smtClean="0">
                <a:latin typeface="+mn-ea"/>
              </a:rPr>
              <a:t>, </a:t>
            </a:r>
            <a:r>
              <a:rPr lang="ko-KR" altLang="en-US" sz="1600" dirty="0" smtClean="0">
                <a:latin typeface="+mn-ea"/>
              </a:rPr>
              <a:t>기존의 </a:t>
            </a:r>
            <a:r>
              <a:rPr lang="en-US" altLang="ko-KR" sz="1600" dirty="0" smtClean="0">
                <a:latin typeface="+mn-ea"/>
              </a:rPr>
              <a:t>chunk</a:t>
            </a:r>
            <a:r>
              <a:rPr lang="ko-KR" altLang="en-US" sz="1600" dirty="0" smtClean="0">
                <a:latin typeface="+mn-ea"/>
              </a:rPr>
              <a:t>를 모두 삭제하는 과정을 먼저 수행</a:t>
            </a: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r>
              <a:rPr lang="ko-KR" altLang="en-US" sz="1600" dirty="0" smtClean="0">
                <a:latin typeface="+mn-ea"/>
              </a:rPr>
              <a:t>결과적으로</a:t>
            </a:r>
            <a:r>
              <a:rPr lang="en-US" altLang="ko-KR" sz="1600" dirty="0" smtClean="0">
                <a:latin typeface="+mn-ea"/>
              </a:rPr>
              <a:t>: </a:t>
            </a:r>
            <a:r>
              <a:rPr lang="en-US" altLang="ko-KR" sz="1600" b="1" dirty="0" smtClean="0">
                <a:latin typeface="+mn-ea"/>
              </a:rPr>
              <a:t>UPDATE = DELETE + INSERT</a:t>
            </a:r>
          </a:p>
          <a:p>
            <a:pPr>
              <a:buFont typeface="+mj-lt"/>
              <a:buAutoNum type="arabicPeriod"/>
            </a:pP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520" y="2759442"/>
            <a:ext cx="20849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Update</a:t>
            </a:r>
            <a:r>
              <a:rPr lang="ko-KR" altLang="en-US" sz="1600" b="1" dirty="0" smtClean="0">
                <a:latin typeface="+mn-ea"/>
              </a:rPr>
              <a:t>용 원본 </a:t>
            </a:r>
            <a:r>
              <a:rPr lang="en-US" altLang="ko-KR" sz="1600" b="1" dirty="0" smtClean="0">
                <a:latin typeface="+mn-ea"/>
              </a:rPr>
              <a:t>data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10917" y="2420888"/>
            <a:ext cx="116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n-ea"/>
              </a:rPr>
              <a:t>RAG</a:t>
            </a:r>
            <a:r>
              <a:rPr lang="ko-KR" altLang="en-US" sz="1600" b="1" dirty="0" smtClean="0">
                <a:latin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table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25" name="오른쪽 중괄호 24"/>
          <p:cNvSpPr/>
          <p:nvPr/>
        </p:nvSpPr>
        <p:spPr>
          <a:xfrm>
            <a:off x="8314457" y="3154428"/>
            <a:ext cx="181628" cy="114480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8460432" y="35421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삭제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67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99214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색인 </a:t>
            </a:r>
            <a:r>
              <a:rPr lang="ko-KR" altLang="en-US" dirty="0" err="1" smtClean="0">
                <a:latin typeface="+mn-ea"/>
                <a:ea typeface="+mn-ea"/>
              </a:rPr>
              <a:t>커스터마이징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– </a:t>
            </a:r>
            <a:r>
              <a:rPr lang="en-US" altLang="ko-KR" dirty="0" err="1" smtClean="0">
                <a:latin typeface="+mn-ea"/>
                <a:ea typeface="+mn-ea"/>
              </a:rPr>
              <a:t>ddl.k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10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 smtClean="0"/>
              <a:t>ddl.k</a:t>
            </a:r>
            <a:endParaRPr lang="en-US" altLang="ko-KR" sz="1400" b="1" dirty="0" smtClean="0"/>
          </a:p>
          <a:p>
            <a:pPr marL="0" indent="0">
              <a:buNone/>
            </a:pPr>
            <a:endParaRPr lang="en-US" altLang="ko-KR" sz="1400" b="1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486714" y="1556792"/>
            <a:ext cx="7072362" cy="453650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import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ksui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, http, sys, container, rag;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void main() {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dict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d = {"fields":{},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"volume":"ds01",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"embedding":"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ea typeface="+mj-ea"/>
              </a:rPr>
              <a:t>embedding-10“,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“use_ngram”:0    // </a:t>
            </a:r>
            <a:r>
              <a:rPr lang="en-US" altLang="ko-KR" sz="1100" b="1" dirty="0" err="1" smtClean="0">
                <a:solidFill>
                  <a:srgbClr val="C00000"/>
                </a:solidFill>
                <a:latin typeface="+mj-ea"/>
                <a:ea typeface="+mj-ea"/>
              </a:rPr>
              <a:t>ngram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</a:rPr>
              <a:t>색인 제외</a:t>
            </a:r>
            <a:endParaRPr lang="en-US" altLang="ko-KR" sz="11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 smtClean="0">
                <a:solidFill>
                  <a:schemeClr val="tx1"/>
                </a:solidFill>
                <a:latin typeface="+mj-ea"/>
                <a:ea typeface="+mj-ea"/>
              </a:rPr>
              <a:t>};</a:t>
            </a: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ksui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task_increment_record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('1768440579758-52274852', 'ds01');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bool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create_force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= true;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if ((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volume_created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 &amp;&amp;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create_force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) || !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volume_created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 ){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if(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volume_exists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(d['volume'])){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volpath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=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show_volumes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()['VOLUME_NAME'][d['volume']]['CONFIG'];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destroy_volume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rmdir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volpath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);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}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rag::create_volume_table_v5(d.to());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return;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}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else if(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::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volume_created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(d['volume']) &amp;&amp; !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create_force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){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    return;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}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rag::create_volume_table_v5(d.to());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185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99214"/>
            <a:ext cx="8229600" cy="706090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색인 </a:t>
            </a:r>
            <a:r>
              <a:rPr lang="ko-KR" altLang="en-US" dirty="0" err="1" smtClean="0">
                <a:latin typeface="+mn-ea"/>
                <a:ea typeface="+mn-ea"/>
              </a:rPr>
              <a:t>커스터마이징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– </a:t>
            </a:r>
            <a:r>
              <a:rPr lang="en-US" altLang="ko-KR" dirty="0" err="1" smtClean="0">
                <a:latin typeface="+mn-ea"/>
                <a:ea typeface="+mn-ea"/>
              </a:rPr>
              <a:t>dml.k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7239" y="6356350"/>
            <a:ext cx="2133600" cy="365125"/>
          </a:xfrm>
        </p:spPr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11</a:t>
            </a:fld>
            <a:endParaRPr lang="ko-KR" altLang="en-US" dirty="0">
              <a:latin typeface="+mn-ea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 err="1" smtClean="0"/>
              <a:t>dml.k</a:t>
            </a:r>
            <a:endParaRPr lang="en-US" altLang="ko-KR" sz="1400" b="1" dirty="0" smtClean="0"/>
          </a:p>
          <a:p>
            <a:pPr marL="0" indent="0">
              <a:buNone/>
            </a:pPr>
            <a:endParaRPr lang="en-US" altLang="ko-KR" sz="1400" b="1" dirty="0" smtClean="0"/>
          </a:p>
        </p:txBody>
      </p:sp>
      <p:sp>
        <p:nvSpPr>
          <p:cNvPr id="6" name="직사각형 5"/>
          <p:cNvSpPr/>
          <p:nvPr/>
        </p:nvSpPr>
        <p:spPr>
          <a:xfrm>
            <a:off x="486714" y="1556792"/>
            <a:ext cx="7072362" cy="46805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import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kql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ksui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, sys, container, rag;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int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main(string task='1768440579758-52274852.ds01.dl') 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dict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d, res;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res = {'id': -1};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d = {"chunk_size":"2048",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csfd_map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":{},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fd_map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":{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"body":"&lt;__body__&gt;",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uuid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":"&lt;__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pkey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__&gt;",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"title":"&lt;__title__&gt;"},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"volume":"ds01",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"embedding":"embedding-10",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</a:t>
            </a:r>
            <a:r>
              <a:rPr lang="en-US" altLang="ko-KR" sz="1100" b="1" dirty="0">
                <a:solidFill>
                  <a:srgbClr val="C00000"/>
                </a:solidFill>
                <a:latin typeface="+mj-ea"/>
                <a:ea typeface="+mj-ea"/>
              </a:rPr>
              <a:t>"parallel":"0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",   // 0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</a:rPr>
              <a:t>일 땐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, </a:t>
            </a:r>
            <a:r>
              <a:rPr lang="en-US" altLang="ko-KR" sz="1100" b="1" dirty="0" err="1" smtClean="0">
                <a:solidFill>
                  <a:srgbClr val="C00000"/>
                </a:solidFill>
                <a:latin typeface="+mj-ea"/>
                <a:ea typeface="+mj-ea"/>
              </a:rPr>
              <a:t>kql.rc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::</a:t>
            </a:r>
            <a:r>
              <a:rPr lang="en-US" altLang="ko-KR" sz="1100" b="1" dirty="0" err="1" smtClean="0">
                <a:solidFill>
                  <a:srgbClr val="C00000"/>
                </a:solidFill>
                <a:latin typeface="+mj-ea"/>
                <a:ea typeface="+mj-ea"/>
              </a:rPr>
              <a:t>no_of_parallel_task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</a:rPr>
              <a:t>로 설정된 전체 </a:t>
            </a:r>
            <a:r>
              <a:rPr lang="en-US" altLang="ko-KR" sz="1100" b="1" dirty="0" smtClean="0">
                <a:solidFill>
                  <a:srgbClr val="C00000"/>
                </a:solidFill>
                <a:latin typeface="+mj-ea"/>
                <a:ea typeface="+mj-ea"/>
              </a:rPr>
              <a:t>thread </a:t>
            </a:r>
            <a:r>
              <a:rPr lang="ko-KR" altLang="en-US" sz="1100" b="1" dirty="0" smtClean="0">
                <a:solidFill>
                  <a:srgbClr val="C00000"/>
                </a:solidFill>
                <a:latin typeface="+mj-ea"/>
                <a:ea typeface="+mj-ea"/>
              </a:rPr>
              <a:t>사용</a:t>
            </a:r>
            <a:endParaRPr lang="en-US" altLang="ko-KR" sz="11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"transform":{},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lconf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":"",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dump_path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":"../workspace/ds/ds01/data/dump",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dump_tags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":[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"&lt;__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pkey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__&gt;", "&lt;__title__&gt;", "&lt;__body__&gt;"],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"chunk_overlap":"256"};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d['</a:t>
            </a:r>
            <a:r>
              <a:rPr lang="en-US" altLang="ko-KR" sz="1100" dirty="0" err="1">
                <a:solidFill>
                  <a:schemeClr val="tx1"/>
                </a:solidFill>
                <a:latin typeface="+mj-ea"/>
                <a:ea typeface="+mj-ea"/>
              </a:rPr>
              <a:t>taskid</a:t>
            </a: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'] = task;</a:t>
            </a: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</a:t>
            </a:r>
            <a:r>
              <a:rPr lang="en-US" altLang="ko-KR" sz="1100" b="1" dirty="0">
                <a:solidFill>
                  <a:srgbClr val="0070C0"/>
                </a:solidFill>
                <a:latin typeface="+mj-ea"/>
                <a:ea typeface="+mj-ea"/>
              </a:rPr>
              <a:t>rag::</a:t>
            </a:r>
            <a:r>
              <a:rPr lang="en-US" altLang="ko-KR" sz="1100" b="1" dirty="0" err="1">
                <a:solidFill>
                  <a:srgbClr val="0070C0"/>
                </a:solidFill>
                <a:latin typeface="+mj-ea"/>
                <a:ea typeface="+mj-ea"/>
              </a:rPr>
              <a:t>ragx_fgf_bulk</a:t>
            </a:r>
            <a:r>
              <a:rPr lang="en-US" altLang="ko-KR" sz="1100" b="1" dirty="0">
                <a:solidFill>
                  <a:srgbClr val="0070C0"/>
                </a:solidFill>
                <a:latin typeface="+mj-ea"/>
                <a:ea typeface="+mj-ea"/>
              </a:rPr>
              <a:t>(d.to</a:t>
            </a:r>
            <a:r>
              <a:rPr lang="en-US" altLang="ko-KR" sz="1100" b="1" dirty="0" smtClean="0">
                <a:solidFill>
                  <a:srgbClr val="0070C0"/>
                </a:solidFill>
                <a:latin typeface="+mj-ea"/>
                <a:ea typeface="+mj-ea"/>
              </a:rPr>
              <a:t>());  // </a:t>
            </a:r>
            <a:r>
              <a:rPr lang="ko-KR" altLang="en-US" sz="1100" b="1" dirty="0" smtClean="0">
                <a:solidFill>
                  <a:srgbClr val="0070C0"/>
                </a:solidFill>
                <a:latin typeface="+mj-ea"/>
                <a:ea typeface="+mj-ea"/>
              </a:rPr>
              <a:t>실제 </a:t>
            </a:r>
            <a:r>
              <a:rPr lang="en-US" altLang="ko-KR" sz="1100" b="1" dirty="0" err="1" smtClean="0">
                <a:solidFill>
                  <a:srgbClr val="0070C0"/>
                </a:solidFill>
                <a:latin typeface="+mj-ea"/>
                <a:ea typeface="+mj-ea"/>
              </a:rPr>
              <a:t>chunking+embedding</a:t>
            </a:r>
            <a:r>
              <a:rPr lang="en-US" altLang="ko-KR" sz="1100" b="1" dirty="0" smtClean="0">
                <a:solidFill>
                  <a:srgbClr val="0070C0"/>
                </a:solidFill>
                <a:latin typeface="+mj-ea"/>
                <a:ea typeface="+mj-ea"/>
              </a:rPr>
              <a:t>+</a:t>
            </a:r>
            <a:r>
              <a:rPr lang="ko-KR" altLang="en-US" sz="1100" b="1" dirty="0" smtClean="0">
                <a:solidFill>
                  <a:srgbClr val="0070C0"/>
                </a:solidFill>
                <a:latin typeface="+mj-ea"/>
                <a:ea typeface="+mj-ea"/>
              </a:rPr>
              <a:t>색인을 수행하는 함수</a:t>
            </a:r>
            <a:endParaRPr lang="en-US" altLang="ko-KR" sz="1100" b="1" dirty="0">
              <a:solidFill>
                <a:srgbClr val="0070C0"/>
              </a:solidFill>
              <a:latin typeface="+mj-ea"/>
              <a:ea typeface="+mj-ea"/>
            </a:endParaRPr>
          </a:p>
          <a:p>
            <a:pPr>
              <a:buNone/>
            </a:pPr>
            <a:endParaRPr lang="en-US" altLang="ko-KR" sz="110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    return res['id'];</a:t>
            </a:r>
          </a:p>
          <a:p>
            <a:pPr>
              <a:buNone/>
            </a:pPr>
            <a:r>
              <a:rPr lang="en-US" altLang="ko-KR" sz="1100" dirty="0">
                <a:solidFill>
                  <a:schemeClr val="tx1"/>
                </a:solidFill>
                <a:latin typeface="+mj-ea"/>
                <a:ea typeface="+mj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026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altLang="ko-KR" dirty="0"/>
              <a:t>2</a:t>
            </a:r>
            <a:r>
              <a:rPr lang="en-US" altLang="ko-KR" dirty="0" smtClean="0"/>
              <a:t>. /</a:t>
            </a:r>
            <a:r>
              <a:rPr lang="en-US" altLang="ko-KR" dirty="0" err="1" smtClean="0"/>
              <a:t>ksm</a:t>
            </a:r>
            <a:r>
              <a:rPr lang="en-US" altLang="ko-KR" dirty="0" smtClean="0"/>
              <a:t>/rag/v5/search 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24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/>
              <a:t>/</a:t>
            </a:r>
            <a:r>
              <a:rPr lang="en-US" altLang="ko-KR" dirty="0" err="1"/>
              <a:t>ksm</a:t>
            </a:r>
            <a:r>
              <a:rPr lang="en-US" altLang="ko-KR" dirty="0"/>
              <a:t>/rag/v5/search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Keyword/Vector</a:t>
            </a:r>
            <a:r>
              <a:rPr lang="ko-KR" altLang="en-US" dirty="0">
                <a:latin typeface="+mn-ea"/>
              </a:rPr>
              <a:t>검색에서 사용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RAG</a:t>
            </a:r>
            <a:r>
              <a:rPr lang="ko-KR" altLang="en-US" dirty="0">
                <a:latin typeface="+mn-ea"/>
              </a:rPr>
              <a:t>에 특화된 검색을 수행하는 </a:t>
            </a:r>
            <a:r>
              <a:rPr lang="en-US" altLang="ko-KR" dirty="0">
                <a:latin typeface="+mn-ea"/>
              </a:rPr>
              <a:t>API</a:t>
            </a:r>
          </a:p>
          <a:p>
            <a:r>
              <a:rPr lang="en-US" altLang="ko-KR" dirty="0">
                <a:latin typeface="+mn-ea"/>
              </a:rPr>
              <a:t>chunk</a:t>
            </a:r>
            <a:r>
              <a:rPr lang="ko-KR" altLang="en-US" dirty="0">
                <a:latin typeface="+mn-ea"/>
              </a:rPr>
              <a:t>단위로 색인된 볼륨을 검색하여 결과 반환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지원 </a:t>
            </a:r>
            <a:r>
              <a:rPr lang="en-US" altLang="ko-KR" dirty="0">
                <a:latin typeface="+mn-ea"/>
              </a:rPr>
              <a:t>method: GET, POST</a:t>
            </a:r>
          </a:p>
          <a:p>
            <a:endParaRPr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446131" y="2661174"/>
            <a:ext cx="7929618" cy="9286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050" dirty="0" smtClean="0">
                <a:latin typeface="+mj-ea"/>
                <a:ea typeface="+mj-ea"/>
              </a:rPr>
              <a:t>GET /</a:t>
            </a:r>
            <a:r>
              <a:rPr lang="en-US" altLang="ko-KR" sz="1050" dirty="0" err="1" smtClean="0">
                <a:latin typeface="+mj-ea"/>
                <a:ea typeface="+mj-ea"/>
              </a:rPr>
              <a:t>ksm</a:t>
            </a:r>
            <a:r>
              <a:rPr lang="en-US" altLang="ko-KR" sz="1050" dirty="0" smtClean="0">
                <a:latin typeface="+mj-ea"/>
                <a:ea typeface="+mj-ea"/>
              </a:rPr>
              <a:t>/rag/v5/</a:t>
            </a:r>
            <a:r>
              <a:rPr lang="en-US" altLang="ko-KR" sz="1050" dirty="0" err="1" smtClean="0">
                <a:latin typeface="+mj-ea"/>
                <a:ea typeface="+mj-ea"/>
              </a:rPr>
              <a:t>search?text</a:t>
            </a:r>
            <a:r>
              <a:rPr lang="en-US" altLang="ko-KR" sz="1050" dirty="0" smtClean="0">
                <a:latin typeface="+mj-ea"/>
                <a:ea typeface="+mj-ea"/>
              </a:rPr>
              <a:t>=</a:t>
            </a:r>
            <a:r>
              <a:rPr lang="ko-KR" altLang="en-US" sz="1050" dirty="0" smtClean="0">
                <a:latin typeface="+mj-ea"/>
              </a:rPr>
              <a:t> 검색엔진에서 오류가 나는데 어떤 로그를 </a:t>
            </a:r>
            <a:r>
              <a:rPr lang="ko-KR" altLang="en-US" sz="1050" dirty="0" err="1" smtClean="0">
                <a:latin typeface="+mj-ea"/>
              </a:rPr>
              <a:t>확인해야하나요</a:t>
            </a:r>
            <a:r>
              <a:rPr lang="ko-KR" altLang="en-US" sz="1050" dirty="0" smtClean="0">
                <a:latin typeface="+mj-ea"/>
              </a:rPr>
              <a:t> </a:t>
            </a:r>
            <a:r>
              <a:rPr lang="en-US" altLang="ko-KR" sz="1050" dirty="0" smtClean="0">
                <a:latin typeface="+mj-ea"/>
                <a:ea typeface="+mj-ea"/>
              </a:rPr>
              <a:t>&amp;</a:t>
            </a:r>
            <a:r>
              <a:rPr lang="en-US" altLang="ko-KR" sz="1050" dirty="0" err="1" smtClean="0">
                <a:latin typeface="+mj-ea"/>
                <a:ea typeface="+mj-ea"/>
              </a:rPr>
              <a:t>topk</a:t>
            </a:r>
            <a:r>
              <a:rPr lang="en-US" altLang="ko-KR" sz="1050" dirty="0" smtClean="0">
                <a:latin typeface="+mj-ea"/>
                <a:ea typeface="+mj-ea"/>
              </a:rPr>
              <a:t>=30&amp;rr=0&amp;threshold=0.5&amp;embedding=embedding-10&amp;llmyn=0&amp;vk=2&amp;relscore=0.0&amp;ro=</a:t>
            </a:r>
            <a:r>
              <a:rPr lang="en-US" altLang="ko-KR" sz="1050" dirty="0" err="1" smtClean="0">
                <a:latin typeface="+mj-ea"/>
                <a:ea typeface="+mj-ea"/>
              </a:rPr>
              <a:t>kwd&amp;vols</a:t>
            </a:r>
            <a:r>
              <a:rPr lang="en-US" altLang="ko-KR" sz="1050" dirty="0" smtClean="0">
                <a:latin typeface="+mj-ea"/>
                <a:ea typeface="+mj-ea"/>
              </a:rPr>
              <a:t>=</a:t>
            </a:r>
            <a:r>
              <a:rPr lang="en-US" altLang="ko-KR" sz="1050" dirty="0" err="1" smtClean="0">
                <a:latin typeface="+mj-ea"/>
                <a:ea typeface="+mj-ea"/>
              </a:rPr>
              <a:t>ragx_zeus&amp;userid</a:t>
            </a:r>
            <a:r>
              <a:rPr lang="en-US" altLang="ko-KR" sz="1050" dirty="0" smtClean="0">
                <a:latin typeface="+mj-ea"/>
                <a:ea typeface="+mj-ea"/>
              </a:rPr>
              <a:t>=&amp;</a:t>
            </a:r>
            <a:r>
              <a:rPr lang="en-US" altLang="ko-KR" sz="1050" dirty="0" err="1" smtClean="0">
                <a:latin typeface="+mj-ea"/>
                <a:ea typeface="+mj-ea"/>
              </a:rPr>
              <a:t>customfields</a:t>
            </a:r>
            <a:r>
              <a:rPr lang="en-US" altLang="ko-KR" sz="1050" dirty="0" smtClean="0">
                <a:latin typeface="+mj-ea"/>
                <a:ea typeface="+mj-ea"/>
              </a:rPr>
              <a:t>=</a:t>
            </a:r>
            <a:r>
              <a:rPr lang="en-US" altLang="ko-KR" sz="1050" dirty="0" err="1" smtClean="0">
                <a:latin typeface="+mj-ea"/>
                <a:ea typeface="+mj-ea"/>
              </a:rPr>
              <a:t>url,createdAt,updated,reporter</a:t>
            </a:r>
            <a:endParaRPr lang="en-US" altLang="ko-KR" sz="1050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7419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/</a:t>
            </a:r>
            <a:r>
              <a:rPr lang="en-US" altLang="ko-KR" dirty="0" err="1" smtClean="0">
                <a:latin typeface="+mn-ea"/>
                <a:ea typeface="+mn-ea"/>
              </a:rPr>
              <a:t>ksm</a:t>
            </a:r>
            <a:r>
              <a:rPr lang="en-US" altLang="ko-KR" dirty="0" smtClean="0">
                <a:latin typeface="+mn-ea"/>
                <a:ea typeface="+mn-ea"/>
              </a:rPr>
              <a:t>/rag/v5/search </a:t>
            </a:r>
            <a:r>
              <a:rPr lang="en-US" altLang="ko-KR" dirty="0" err="1" smtClean="0">
                <a:latin typeface="+mn-ea"/>
                <a:ea typeface="+mn-ea"/>
              </a:rPr>
              <a:t>api</a:t>
            </a:r>
            <a:r>
              <a:rPr lang="en-US" altLang="ko-KR" dirty="0" smtClean="0">
                <a:latin typeface="+mn-ea"/>
                <a:ea typeface="+mn-ea"/>
              </a:rPr>
              <a:t> Parameter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1400" dirty="0" smtClean="0">
              <a:latin typeface="+mn-ea"/>
            </a:endParaRPr>
          </a:p>
          <a:p>
            <a:pPr marL="0" indent="0">
              <a:buNone/>
            </a:pPr>
            <a:endParaRPr lang="en-US" altLang="ko-KR" sz="1400" dirty="0">
              <a:latin typeface="+mn-ea"/>
            </a:endParaRPr>
          </a:p>
          <a:p>
            <a:pPr marL="0" indent="0">
              <a:buNone/>
            </a:pP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14</a:t>
            </a:fld>
            <a:endParaRPr lang="ko-KR" altLang="en-US" dirty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342468"/>
              </p:ext>
            </p:extLst>
          </p:nvPr>
        </p:nvGraphicFramePr>
        <p:xfrm>
          <a:off x="106746" y="1128098"/>
          <a:ext cx="8929750" cy="5093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/>
                <a:gridCol w="1000132"/>
                <a:gridCol w="1960934"/>
                <a:gridCol w="1656184"/>
                <a:gridCol w="3312368"/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입력인자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타입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설명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예시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필수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</a:rPr>
                        <a:t>선택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text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사용자 질의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"</a:t>
                      </a:r>
                      <a:r>
                        <a:rPr lang="ko-KR" altLang="en-US" sz="900" dirty="0"/>
                        <a:t>주민등록 초본 받을 때 필요한 서류는</a:t>
                      </a:r>
                      <a:r>
                        <a:rPr lang="en-US" altLang="ko-KR" sz="900" dirty="0"/>
                        <a:t>?"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필수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vols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검색할 볼륨 목록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"laws2,qamois" (</a:t>
                      </a:r>
                      <a:r>
                        <a:rPr lang="ko-KR" altLang="en-US" sz="900"/>
                        <a:t>콤마</a:t>
                      </a:r>
                      <a:r>
                        <a:rPr lang="en-US" altLang="ko-KR" sz="900"/>
                        <a:t>(,)</a:t>
                      </a:r>
                      <a:r>
                        <a:rPr lang="ko-KR" altLang="en-US" sz="900"/>
                        <a:t>로 구분</a:t>
                      </a:r>
                      <a:r>
                        <a:rPr lang="en-US" altLang="ko-KR" sz="900"/>
                        <a:t>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 err="1"/>
                        <a:t>userid</a:t>
                      </a:r>
                      <a:r>
                        <a:rPr lang="ko-KR" altLang="en-US" sz="900" dirty="0"/>
                        <a:t>가 </a:t>
                      </a:r>
                      <a:r>
                        <a:rPr lang="en-US" altLang="ko-KR" sz="900" dirty="0"/>
                        <a:t>''</a:t>
                      </a:r>
                      <a:r>
                        <a:rPr lang="ko-KR" altLang="en-US" sz="900" dirty="0"/>
                        <a:t>이면 필수</a:t>
                      </a:r>
                      <a:r>
                        <a:rPr lang="en-US" altLang="ko-KR" sz="900" dirty="0"/>
                        <a:t>. </a:t>
                      </a:r>
                      <a:r>
                        <a:rPr lang="en-US" altLang="ko-KR" sz="900" dirty="0" err="1"/>
                        <a:t>vols</a:t>
                      </a:r>
                      <a:r>
                        <a:rPr lang="ko-KR" altLang="en-US" sz="900" dirty="0"/>
                        <a:t>가 </a:t>
                      </a:r>
                      <a:r>
                        <a:rPr lang="en-US" altLang="ko-KR" sz="900" dirty="0" err="1"/>
                        <a:t>userid</a:t>
                      </a:r>
                      <a:r>
                        <a:rPr lang="ko-KR" altLang="en-US" sz="900" dirty="0"/>
                        <a:t>에 우선</a:t>
                      </a:r>
                      <a:r>
                        <a:rPr lang="en-US" altLang="ko-KR" sz="900" dirty="0"/>
                        <a:t>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userid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사용자 </a:t>
                      </a:r>
                      <a:r>
                        <a:rPr lang="en-US" sz="900" dirty="0"/>
                        <a:t>ID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"demo5@konantech.com"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 err="1"/>
                        <a:t>vols</a:t>
                      </a:r>
                      <a:r>
                        <a:rPr lang="ko-KR" altLang="en-US" sz="900" dirty="0"/>
                        <a:t>가 ‘</a:t>
                      </a:r>
                      <a:r>
                        <a:rPr lang="en-US" altLang="ko-KR" sz="900" dirty="0"/>
                        <a:t>'</a:t>
                      </a:r>
                      <a:r>
                        <a:rPr lang="ko-KR" altLang="en-US" sz="900" dirty="0"/>
                        <a:t>이면 필수</a:t>
                      </a:r>
                      <a:r>
                        <a:rPr lang="en-US" altLang="ko-KR" sz="900" dirty="0"/>
                        <a:t>, </a:t>
                      </a:r>
                      <a:r>
                        <a:rPr lang="en-US" altLang="ko-KR" sz="900" dirty="0" err="1"/>
                        <a:t>vols</a:t>
                      </a:r>
                      <a:r>
                        <a:rPr lang="ko-KR" altLang="en-US" sz="900" dirty="0"/>
                        <a:t>가 </a:t>
                      </a:r>
                      <a:r>
                        <a:rPr lang="en-US" altLang="ko-KR" sz="900" dirty="0"/>
                        <a:t>'’</a:t>
                      </a:r>
                      <a:r>
                        <a:rPr lang="ko-KR" altLang="en-US" sz="900" dirty="0"/>
                        <a:t>일 때 검색할 볼륨을 </a:t>
                      </a:r>
                      <a:r>
                        <a:rPr lang="en-US" altLang="ko-KR" sz="900" dirty="0"/>
                        <a:t>ID</a:t>
                      </a:r>
                      <a:r>
                        <a:rPr lang="ko-KR" altLang="en-US" sz="900" dirty="0"/>
                        <a:t>기반으로 결정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여러 </a:t>
                      </a:r>
                      <a:r>
                        <a:rPr lang="en-US" altLang="ko-KR" sz="900" dirty="0"/>
                        <a:t>ID</a:t>
                      </a:r>
                      <a:r>
                        <a:rPr lang="ko-KR" altLang="en-US" sz="900" dirty="0"/>
                        <a:t>를 넣을 때는 콤마</a:t>
                      </a:r>
                      <a:r>
                        <a:rPr lang="en-US" altLang="ko-KR" sz="900" dirty="0"/>
                        <a:t>(,)</a:t>
                      </a:r>
                      <a:r>
                        <a:rPr lang="ko-KR" altLang="en-US" sz="900" dirty="0"/>
                        <a:t>로 구분</a:t>
                      </a:r>
                      <a:r>
                        <a:rPr lang="en-US" altLang="ko-KR" sz="900" dirty="0"/>
                        <a:t>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customfields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 err="1"/>
                        <a:t>커스텀</a:t>
                      </a:r>
                      <a:r>
                        <a:rPr lang="ko-KR" altLang="en-US" sz="900" dirty="0"/>
                        <a:t> 필드 목록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"</a:t>
                      </a:r>
                      <a:r>
                        <a:rPr lang="en-US" sz="900" dirty="0" err="1"/>
                        <a:t>depname,class,no</a:t>
                      </a:r>
                      <a:r>
                        <a:rPr lang="en-US" sz="900" dirty="0"/>
                        <a:t>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("")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topk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chunk</a:t>
                      </a:r>
                      <a:r>
                        <a:rPr lang="ko-KR" altLang="en-US" sz="900" dirty="0"/>
                        <a:t>를 몇 개 가져올지 지정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4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:3)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threshold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float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벡터 검색 시 거리 차가 </a:t>
                      </a:r>
                      <a:endParaRPr lang="en-US" altLang="ko-KR" sz="900" dirty="0" smtClean="0"/>
                    </a:p>
                    <a:p>
                      <a:r>
                        <a:rPr lang="en-US" altLang="ko-KR" sz="900" dirty="0" smtClean="0"/>
                        <a:t>threshold </a:t>
                      </a:r>
                      <a:r>
                        <a:rPr lang="ko-KR" altLang="en-US" sz="900" dirty="0"/>
                        <a:t>이상인 것은 버림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0.2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 0.135) \\ - </a:t>
                      </a:r>
                      <a:r>
                        <a:rPr lang="ko-KR" altLang="en-US" sz="900" dirty="0"/>
                        <a:t>숫자가 크면 덜 유사해도 </a:t>
                      </a:r>
                      <a:r>
                        <a:rPr lang="ko-KR" altLang="en-US" sz="900" dirty="0" err="1"/>
                        <a:t>결과나옴</a:t>
                      </a:r>
                      <a:endParaRPr lang="ko-KR" alt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embedding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벡터 </a:t>
                      </a:r>
                      <a:r>
                        <a:rPr lang="ko-KR" altLang="en-US" sz="900" dirty="0" err="1"/>
                        <a:t>임베딩</a:t>
                      </a:r>
                      <a:r>
                        <a:rPr lang="ko-KR" altLang="en-US" sz="900" dirty="0"/>
                        <a:t> 이름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“embedding-10”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 “embedding-10”. </a:t>
                      </a:r>
                      <a:r>
                        <a:rPr lang="ko-KR" altLang="en-US" sz="900" dirty="0"/>
                        <a:t>파일 색인 시 사용한 </a:t>
                      </a:r>
                      <a:r>
                        <a:rPr lang="ko-KR" altLang="en-US" sz="900" dirty="0" err="1"/>
                        <a:t>임베딩</a:t>
                      </a:r>
                      <a:r>
                        <a:rPr lang="ko-KR" altLang="en-US" sz="900" dirty="0"/>
                        <a:t> 값과 맞춰줘야 합니다</a:t>
                      </a:r>
                      <a:r>
                        <a:rPr lang="en-US" altLang="ko-KR" sz="900" dirty="0"/>
                        <a:t>.)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/>
                        <a:t>method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키워드 검색 시 사용할 </a:t>
                      </a:r>
                      <a:r>
                        <a:rPr lang="ko-KR" altLang="en-US" sz="900" dirty="0" err="1"/>
                        <a:t>메서드</a:t>
                      </a:r>
                      <a:endParaRPr lang="ko-KR" alt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(0,1,2</a:t>
                      </a:r>
                      <a:r>
                        <a:rPr lang="ko-KR" altLang="en-US" sz="900" dirty="0"/>
                        <a:t>가능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:0) \\ - </a:t>
                      </a:r>
                      <a:r>
                        <a:rPr lang="ko-KR" altLang="en-US" sz="900" dirty="0"/>
                        <a:t>숫자가 클수록 엄격한 </a:t>
                      </a:r>
                      <a:r>
                        <a:rPr lang="ko-KR" altLang="en-US" sz="900" dirty="0" err="1"/>
                        <a:t>검색메서드</a:t>
                      </a:r>
                      <a:r>
                        <a:rPr lang="ko-KR" altLang="en-US" sz="900" dirty="0"/>
                        <a:t> 사용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vk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/>
                        <a:t>int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키워드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벡터 검색 방식 중 선택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2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(0,1,2 </a:t>
                      </a:r>
                      <a:r>
                        <a:rPr lang="ko-KR" altLang="en-US" sz="900" dirty="0"/>
                        <a:t>가능</a:t>
                      </a:r>
                      <a:r>
                        <a:rPr lang="en-US" altLang="ko-KR" sz="900" dirty="0"/>
                        <a:t>. 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 0)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- 0: </a:t>
                      </a:r>
                      <a:r>
                        <a:rPr lang="ko-KR" altLang="en-US" sz="900" dirty="0"/>
                        <a:t>키워드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벡터 모두 이용 검색 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 err="1"/>
                        <a:t>HyDE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사용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- 1: </a:t>
                      </a:r>
                      <a:r>
                        <a:rPr lang="ko-KR" altLang="en-US" sz="900" dirty="0"/>
                        <a:t>벡터 검색만 이용</a:t>
                      </a:r>
                      <a:r>
                        <a:rPr lang="en-US" altLang="ko-KR" sz="900" dirty="0"/>
                        <a:t>. (</a:t>
                      </a:r>
                      <a:r>
                        <a:rPr lang="en-US" altLang="ko-KR" sz="900" dirty="0" err="1"/>
                        <a:t>HyDE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사용하지 않음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- 2: </a:t>
                      </a:r>
                      <a:r>
                        <a:rPr lang="ko-KR" altLang="en-US" sz="900" dirty="0"/>
                        <a:t>키워드 검색만 이용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synfile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사용자 동의어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표제어 방식</a:t>
                      </a:r>
                      <a:r>
                        <a:rPr lang="en-US" altLang="ko-KR" sz="900" dirty="0"/>
                        <a:t>) </a:t>
                      </a:r>
                      <a:r>
                        <a:rPr lang="ko-KR" altLang="en-US" sz="900" dirty="0"/>
                        <a:t>사전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""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:""(</a:t>
                      </a:r>
                      <a:r>
                        <a:rPr lang="ko-KR" altLang="en-US" sz="900" dirty="0" err="1"/>
                        <a:t>미적용</a:t>
                      </a:r>
                      <a:r>
                        <a:rPr lang="en-US" altLang="ko-KR" sz="900" dirty="0"/>
                        <a:t>))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/>
                        <a:t>relscore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float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적합도 “</a:t>
                      </a:r>
                      <a:r>
                        <a:rPr lang="ko-KR" altLang="en-US" sz="900" dirty="0" err="1"/>
                        <a:t>상대값</a:t>
                      </a:r>
                      <a:r>
                        <a:rPr lang="ko-KR" altLang="en-US" sz="900" dirty="0"/>
                        <a:t>”에 의한 </a:t>
                      </a:r>
                      <a:r>
                        <a:rPr lang="ko-KR" altLang="en-US" sz="900" dirty="0" err="1"/>
                        <a:t>필터링</a:t>
                      </a:r>
                      <a:endParaRPr lang="ko-KR" alt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0.5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기본값</a:t>
                      </a:r>
                      <a:r>
                        <a:rPr lang="en-US" altLang="ko-KR" sz="900" dirty="0"/>
                        <a:t>:0.0. [0.0~1.0] </a:t>
                      </a:r>
                      <a:r>
                        <a:rPr lang="ko-KR" altLang="en-US" sz="900" dirty="0"/>
                        <a:t>사이 선택 가능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적합도 </a:t>
                      </a:r>
                      <a:r>
                        <a:rPr lang="en-US" altLang="ko-KR" sz="900" dirty="0"/>
                        <a:t>min-max </a:t>
                      </a:r>
                      <a:r>
                        <a:rPr lang="ko-KR" altLang="en-US" sz="900" dirty="0"/>
                        <a:t>스케일링 값에 따라 </a:t>
                      </a:r>
                      <a:r>
                        <a:rPr lang="en-US" altLang="ko-KR" sz="900" dirty="0" err="1"/>
                        <a:t>relscore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이하인 결과 버림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/>
                        <a:t>userfilter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사용자권한 필터링 조건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err="1" smtClean="0"/>
                        <a:t>createdAt</a:t>
                      </a:r>
                      <a:r>
                        <a:rPr lang="en-US" sz="900" baseline="0" dirty="0" smtClean="0"/>
                        <a:t> between 20250101 000000and 20261231235959</a:t>
                      </a:r>
                      <a:endParaRPr lang="en-US" sz="900" dirty="0"/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</a:t>
                      </a:r>
                      <a:br>
                        <a:rPr lang="ko-KR" altLang="en-US" sz="900" dirty="0"/>
                      </a:br>
                      <a:r>
                        <a:rPr lang="en-US" altLang="ko-KR" sz="900" dirty="0"/>
                        <a:t>※ </a:t>
                      </a:r>
                      <a:r>
                        <a:rPr lang="ko-KR" altLang="en-US" sz="900" dirty="0"/>
                        <a:t>인자는 </a:t>
                      </a:r>
                      <a:r>
                        <a:rPr lang="en-US" altLang="ko-KR" sz="900" dirty="0"/>
                        <a:t>URL</a:t>
                      </a:r>
                      <a:r>
                        <a:rPr lang="ko-KR" altLang="en-US" sz="900" dirty="0" err="1"/>
                        <a:t>인코딩</a:t>
                      </a:r>
                      <a:r>
                        <a:rPr lang="ko-KR" altLang="en-US" sz="900" dirty="0"/>
                        <a:t> 후 전달해야 함</a:t>
                      </a:r>
                      <a:r>
                        <a:rPr lang="en-US" altLang="ko-KR" sz="900" dirty="0"/>
                        <a:t>.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29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■</a:t>
            </a:r>
            <a:r>
              <a:rPr lang="en-US" altLang="ko-KR" dirty="0" smtClean="0">
                <a:latin typeface="+mn-ea"/>
                <a:ea typeface="+mn-ea"/>
              </a:rPr>
              <a:t> Keyword </a:t>
            </a:r>
            <a:r>
              <a:rPr lang="ko-KR" altLang="en-US" dirty="0" smtClean="0">
                <a:latin typeface="+mn-ea"/>
                <a:ea typeface="+mn-ea"/>
              </a:rPr>
              <a:t>검색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Keyword </a:t>
            </a:r>
            <a:r>
              <a:rPr lang="ko-KR" altLang="en-US" sz="1600" b="1" dirty="0" smtClean="0">
                <a:latin typeface="+mn-ea"/>
              </a:rPr>
              <a:t>검색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 smtClean="0">
                <a:latin typeface="+mn-ea"/>
              </a:rPr>
              <a:t>설정한 볼륨의 </a:t>
            </a:r>
            <a:r>
              <a:rPr lang="en-US" altLang="ko-KR" sz="1400" b="1" dirty="0" err="1" smtClean="0">
                <a:latin typeface="+mn-ea"/>
              </a:rPr>
              <a:t>tabc</a:t>
            </a:r>
            <a:r>
              <a:rPr lang="ko-KR" altLang="en-US" sz="1400" dirty="0" smtClean="0">
                <a:latin typeface="+mn-ea"/>
              </a:rPr>
              <a:t>테이블을 대상으로 검색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title/chunk/lines</a:t>
            </a:r>
            <a:r>
              <a:rPr lang="ko-KR" altLang="en-US" sz="1400" dirty="0" smtClean="0">
                <a:latin typeface="+mn-ea"/>
              </a:rPr>
              <a:t>필드를 대상으로 검색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en-US" altLang="ko-KR" sz="1400" b="1" dirty="0">
                <a:latin typeface="+mn-ea"/>
              </a:rPr>
              <a:t>lines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필드는 </a:t>
            </a:r>
            <a:r>
              <a:rPr lang="en-US" altLang="ko-KR" sz="1400" dirty="0">
                <a:latin typeface="+mn-ea"/>
              </a:rPr>
              <a:t>chunk</a:t>
            </a:r>
            <a:r>
              <a:rPr lang="ko-KR" altLang="en-US" sz="1400" dirty="0">
                <a:latin typeface="+mn-ea"/>
              </a:rPr>
              <a:t>를 </a:t>
            </a:r>
            <a:r>
              <a:rPr lang="ko-KR" altLang="en-US" sz="1400" b="1" dirty="0">
                <a:latin typeface="+mn-ea"/>
              </a:rPr>
              <a:t>라인 단위로 분리해 </a:t>
            </a:r>
            <a:r>
              <a:rPr lang="ko-KR" altLang="en-US" sz="1400" b="1" dirty="0" err="1">
                <a:latin typeface="+mn-ea"/>
              </a:rPr>
              <a:t>색인</a:t>
            </a:r>
            <a:r>
              <a:rPr lang="ko-KR" altLang="en-US" sz="1400" dirty="0" err="1">
                <a:latin typeface="+mn-ea"/>
              </a:rPr>
              <a:t>한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smtClean="0">
                <a:latin typeface="+mn-ea"/>
              </a:rPr>
              <a:t>필드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ko-KR" altLang="en-US" sz="1400" dirty="0">
                <a:latin typeface="+mn-ea"/>
              </a:rPr>
              <a:t>입력된 질의문의 키워드가 </a:t>
            </a:r>
            <a:r>
              <a:rPr lang="ko-KR" altLang="en-US" sz="1400" b="1" dirty="0">
                <a:latin typeface="+mn-ea"/>
              </a:rPr>
              <a:t>동일 라인 내에서 출현 빈도가 높을수록</a:t>
            </a:r>
            <a:r>
              <a:rPr lang="ko-KR" altLang="en-US" sz="1400" dirty="0">
                <a:latin typeface="+mn-ea"/>
              </a:rPr>
              <a:t> 더 높은 가중치를 부여하기 위해 </a:t>
            </a:r>
            <a:r>
              <a:rPr lang="ko-KR" altLang="en-US" sz="1400" dirty="0" smtClean="0">
                <a:latin typeface="+mn-ea"/>
              </a:rPr>
              <a:t>사용한다</a:t>
            </a:r>
            <a:r>
              <a:rPr lang="en-US" altLang="ko-KR" sz="1400" dirty="0" smtClean="0">
                <a:latin typeface="+mn-ea"/>
              </a:rPr>
              <a:t>.</a:t>
            </a:r>
            <a:endParaRPr lang="en-US" altLang="ko-KR" sz="1200" dirty="0" smtClean="0">
              <a:latin typeface="+mn-ea"/>
            </a:endParaRPr>
          </a:p>
          <a:p>
            <a:r>
              <a:rPr lang="ko-KR" altLang="en-US" sz="1400" dirty="0" err="1" smtClean="0">
                <a:latin typeface="+mn-ea"/>
              </a:rPr>
              <a:t>질의문에서</a:t>
            </a:r>
            <a:r>
              <a:rPr lang="ko-KR" altLang="en-US" sz="1400" dirty="0" smtClean="0">
                <a:latin typeface="+mn-ea"/>
              </a:rPr>
              <a:t>  키워드를 추출한 뒤</a:t>
            </a:r>
            <a:r>
              <a:rPr lang="en-US" altLang="ko-KR" sz="1400" dirty="0" smtClean="0">
                <a:latin typeface="+mn-ea"/>
              </a:rPr>
              <a:t>, </a:t>
            </a:r>
            <a:r>
              <a:rPr lang="ko-KR" altLang="en-US" sz="1400" dirty="0" smtClean="0">
                <a:latin typeface="+mn-ea"/>
              </a:rPr>
              <a:t>해당 키워드가 포함된 문서를 대상으로 검색한다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ko-KR" altLang="en-US" sz="1600" b="1" dirty="0" smtClean="0">
                <a:latin typeface="+mn-ea"/>
              </a:rPr>
              <a:t>정렬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키워드 </a:t>
            </a:r>
            <a:r>
              <a:rPr lang="ko-KR" altLang="en-US" sz="1400" dirty="0" err="1">
                <a:latin typeface="+mn-ea"/>
              </a:rPr>
              <a:t>매칭</a:t>
            </a:r>
            <a:r>
              <a:rPr lang="ko-KR" altLang="en-US" sz="1400" dirty="0">
                <a:latin typeface="+mn-ea"/>
              </a:rPr>
              <a:t> 필드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키워드 인접도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매칭</a:t>
            </a:r>
            <a:r>
              <a:rPr lang="ko-KR" altLang="en-US" sz="1400" dirty="0">
                <a:latin typeface="+mn-ea"/>
              </a:rPr>
              <a:t> 개수 등을 기반으로 </a:t>
            </a:r>
            <a:r>
              <a:rPr lang="en-US" altLang="ko-KR" sz="1400" b="1" dirty="0">
                <a:latin typeface="+mn-ea"/>
              </a:rPr>
              <a:t>relevance score</a:t>
            </a:r>
            <a:r>
              <a:rPr lang="ko-KR" altLang="en-US" sz="1400" dirty="0">
                <a:latin typeface="+mn-ea"/>
              </a:rPr>
              <a:t>를 계산해 랭킹 정렬</a:t>
            </a:r>
            <a:endParaRPr lang="ko-KR" altLang="en-US" sz="1400" dirty="0" smtClean="0">
              <a:latin typeface="+mn-ea"/>
            </a:endParaRPr>
          </a:p>
          <a:p>
            <a:r>
              <a:rPr lang="en-US" altLang="ko-KR" sz="1400" b="1" dirty="0" smtClean="0">
                <a:latin typeface="+mn-ea"/>
              </a:rPr>
              <a:t>Boosting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특정 신호에 </a:t>
            </a:r>
            <a:r>
              <a:rPr lang="ko-KR" altLang="en-US" sz="1400" b="1" dirty="0">
                <a:latin typeface="+mn-ea"/>
              </a:rPr>
              <a:t>가중치</a:t>
            </a:r>
            <a:r>
              <a:rPr lang="ko-KR" altLang="en-US" sz="1400" dirty="0">
                <a:latin typeface="+mn-ea"/>
              </a:rPr>
              <a:t>를 부여해 최종 점수에 더 크게 </a:t>
            </a:r>
            <a:r>
              <a:rPr lang="ko-KR" altLang="en-US" sz="1400" dirty="0" smtClean="0">
                <a:latin typeface="+mn-ea"/>
              </a:rPr>
              <a:t>반영</a:t>
            </a:r>
            <a:endParaRPr lang="en-US" altLang="ko-KR" sz="1400" dirty="0" smtClean="0">
              <a:latin typeface="+mn-ea"/>
            </a:endParaRPr>
          </a:p>
          <a:p>
            <a:pPr lvl="1"/>
            <a:r>
              <a:rPr lang="en-US" altLang="ko-KR" sz="1400" dirty="0" smtClean="0">
                <a:latin typeface="+mn-ea"/>
              </a:rPr>
              <a:t>Title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smtClean="0">
                <a:latin typeface="+mn-ea"/>
              </a:rPr>
              <a:t>match</a:t>
            </a:r>
            <a:r>
              <a:rPr lang="ko-KR" altLang="en-US" sz="1400" dirty="0" smtClean="0">
                <a:latin typeface="+mn-ea"/>
              </a:rPr>
              <a:t>된 </a:t>
            </a:r>
            <a:r>
              <a:rPr lang="en-US" altLang="ko-KR" sz="1400" dirty="0" smtClean="0">
                <a:latin typeface="+mn-ea"/>
              </a:rPr>
              <a:t>chunk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가중치 </a:t>
            </a:r>
            <a:r>
              <a:rPr lang="en-US" altLang="ko-KR" sz="1400" dirty="0" smtClean="0">
                <a:latin typeface="+mn-ea"/>
              </a:rPr>
              <a:t>50%</a:t>
            </a:r>
          </a:p>
          <a:p>
            <a:pPr lvl="1"/>
            <a:r>
              <a:rPr lang="ko-KR" altLang="en-US" sz="1400" dirty="0" smtClean="0">
                <a:latin typeface="+mn-ea"/>
              </a:rPr>
              <a:t>키워드가 </a:t>
            </a:r>
            <a:r>
              <a:rPr lang="ko-KR" altLang="en-US" sz="1400" dirty="0" err="1" smtClean="0">
                <a:latin typeface="+mn-ea"/>
              </a:rPr>
              <a:t>한라인에</a:t>
            </a:r>
            <a:r>
              <a:rPr lang="ko-KR" altLang="en-US" sz="1400" dirty="0" smtClean="0">
                <a:latin typeface="+mn-ea"/>
              </a:rPr>
              <a:t> 인접한 </a:t>
            </a:r>
            <a:r>
              <a:rPr lang="en-US" altLang="ko-KR" sz="1400" dirty="0" smtClean="0">
                <a:latin typeface="+mn-ea"/>
              </a:rPr>
              <a:t>chunk: </a:t>
            </a:r>
            <a:r>
              <a:rPr lang="ko-KR" altLang="en-US" sz="1400" dirty="0" smtClean="0">
                <a:latin typeface="+mn-ea"/>
              </a:rPr>
              <a:t>가중치 </a:t>
            </a:r>
            <a:r>
              <a:rPr lang="en-US" altLang="ko-KR" sz="1400" dirty="0" smtClean="0">
                <a:latin typeface="+mn-ea"/>
              </a:rPr>
              <a:t>25%</a:t>
            </a:r>
          </a:p>
          <a:p>
            <a:pPr lvl="1"/>
            <a:r>
              <a:rPr lang="ko-KR" altLang="en-US" sz="1400" dirty="0" smtClean="0">
                <a:latin typeface="+mn-ea"/>
              </a:rPr>
              <a:t>최신성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ko-KR" altLang="en-US" sz="1400" dirty="0" smtClean="0">
                <a:latin typeface="+mn-ea"/>
              </a:rPr>
              <a:t>가중치 </a:t>
            </a:r>
            <a:r>
              <a:rPr lang="en-US" altLang="ko-KR" sz="1400" dirty="0" smtClean="0">
                <a:latin typeface="+mn-ea"/>
              </a:rPr>
              <a:t>5%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15</a:t>
            </a:fld>
            <a:endParaRPr lang="ko-KR" altLang="en-US" dirty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99592" y="5013176"/>
            <a:ext cx="7072362" cy="11430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400" dirty="0" smtClean="0">
                <a:latin typeface="+mj-ea"/>
                <a:ea typeface="+mj-ea"/>
              </a:rPr>
              <a:t>$1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50,                          // title match boost</a:t>
            </a:r>
          </a:p>
          <a:p>
            <a:pPr>
              <a:buNone/>
            </a:pPr>
            <a:r>
              <a:rPr lang="en-US" altLang="ko-KR" sz="1400" dirty="0" smtClean="0">
                <a:latin typeface="+mj-ea"/>
                <a:ea typeface="+mj-ea"/>
              </a:rPr>
              <a:t>$match(lines)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25,            // </a:t>
            </a:r>
            <a:r>
              <a:rPr lang="ko-KR" altLang="en-US" sz="1400" dirty="0" smtClean="0">
                <a:latin typeface="+mj-ea"/>
                <a:ea typeface="+mj-ea"/>
              </a:rPr>
              <a:t>키워드 인접도 </a:t>
            </a:r>
            <a:r>
              <a:rPr lang="en-US" altLang="ko-KR" sz="1400" dirty="0" smtClean="0">
                <a:latin typeface="+mj-ea"/>
                <a:ea typeface="+mj-ea"/>
              </a:rPr>
              <a:t>boost</a:t>
            </a:r>
          </a:p>
          <a:p>
            <a:pPr>
              <a:buNone/>
            </a:pPr>
            <a:r>
              <a:rPr lang="en-US" altLang="ko-KR" sz="1400" dirty="0" smtClean="0">
                <a:latin typeface="+mj-ea"/>
                <a:ea typeface="+mj-ea"/>
              </a:rPr>
              <a:t>$relevance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15                // </a:t>
            </a:r>
            <a:r>
              <a:rPr lang="ko-KR" altLang="en-US" sz="1400" dirty="0" smtClean="0">
                <a:latin typeface="+mj-ea"/>
                <a:ea typeface="+mj-ea"/>
              </a:rPr>
              <a:t>기본 적합도 정렬</a:t>
            </a:r>
            <a:endParaRPr lang="en-US" altLang="ko-KR" sz="1400" dirty="0" smtClean="0">
              <a:latin typeface="+mj-ea"/>
              <a:ea typeface="+mj-ea"/>
            </a:endParaRPr>
          </a:p>
          <a:p>
            <a:pPr>
              <a:buNone/>
            </a:pPr>
            <a:r>
              <a:rPr lang="en-US" altLang="ko-KR" sz="1400" dirty="0" err="1" smtClean="0">
                <a:latin typeface="+mj-ea"/>
                <a:ea typeface="+mj-ea"/>
              </a:rPr>
              <a:t>createdAt</a:t>
            </a:r>
            <a:r>
              <a:rPr lang="en-US" altLang="ko-KR" sz="1400" dirty="0" smtClean="0">
                <a:latin typeface="+mj-ea"/>
                <a:ea typeface="+mj-ea"/>
              </a:rPr>
              <a:t> </a:t>
            </a:r>
            <a:r>
              <a:rPr lang="en-US" altLang="ko-KR" sz="1400" dirty="0" err="1" smtClean="0">
                <a:latin typeface="+mj-ea"/>
                <a:ea typeface="+mj-ea"/>
              </a:rPr>
              <a:t>desc</a:t>
            </a:r>
            <a:r>
              <a:rPr lang="en-US" altLang="ko-KR" sz="1400" dirty="0" smtClean="0">
                <a:latin typeface="+mj-ea"/>
                <a:ea typeface="+mj-ea"/>
              </a:rPr>
              <a:t> 5                   // </a:t>
            </a:r>
            <a:r>
              <a:rPr lang="ko-KR" altLang="en-US" sz="1400" dirty="0" smtClean="0">
                <a:latin typeface="+mj-ea"/>
                <a:ea typeface="+mj-ea"/>
              </a:rPr>
              <a:t>최신성 </a:t>
            </a:r>
            <a:r>
              <a:rPr lang="en-US" altLang="ko-KR" sz="1400" dirty="0" smtClean="0">
                <a:latin typeface="+mj-ea"/>
                <a:ea typeface="+mj-ea"/>
              </a:rPr>
              <a:t>boost </a:t>
            </a:r>
            <a:endParaRPr lang="ko-KR" alt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1736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  <a:ea typeface="+mn-ea"/>
              </a:rPr>
              <a:t>■ </a:t>
            </a:r>
            <a:r>
              <a:rPr lang="en-US" altLang="ko-KR" dirty="0" smtClean="0">
                <a:latin typeface="+mn-ea"/>
                <a:ea typeface="+mn-ea"/>
              </a:rPr>
              <a:t>Keyword </a:t>
            </a:r>
            <a:r>
              <a:rPr lang="ko-KR" altLang="en-US" dirty="0" smtClean="0">
                <a:latin typeface="+mn-ea"/>
                <a:ea typeface="+mn-ea"/>
              </a:rPr>
              <a:t>검색 튜닝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>
                <a:latin typeface="+mn-ea"/>
              </a:rPr>
              <a:pPr/>
              <a:t>16</a:t>
            </a:fld>
            <a:endParaRPr lang="ko-KR" altLang="en-US" dirty="0">
              <a:latin typeface="+mn-ea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600" b="1" dirty="0" smtClean="0">
                <a:latin typeface="+mn-ea"/>
              </a:rPr>
              <a:t>method</a:t>
            </a:r>
          </a:p>
          <a:p>
            <a:r>
              <a:rPr lang="ko-KR" altLang="en-US" sz="1400" dirty="0" smtClean="0">
                <a:latin typeface="+mn-ea"/>
              </a:rPr>
              <a:t>검색 엄격도 설정</a:t>
            </a:r>
            <a:endParaRPr lang="en-US" altLang="ko-KR" sz="1400" dirty="0" smtClean="0">
              <a:latin typeface="+mn-ea"/>
            </a:endParaRPr>
          </a:p>
          <a:p>
            <a:r>
              <a:rPr lang="en-US" altLang="ko-KR" sz="1400" dirty="0" smtClean="0">
                <a:latin typeface="+mn-ea"/>
              </a:rPr>
              <a:t>0~3</a:t>
            </a:r>
            <a:r>
              <a:rPr lang="ko-KR" altLang="en-US" sz="1400" dirty="0" err="1" smtClean="0">
                <a:latin typeface="+mn-ea"/>
              </a:rPr>
              <a:t>까지설정</a:t>
            </a:r>
            <a:r>
              <a:rPr lang="ko-KR" altLang="en-US" sz="1400" dirty="0" smtClean="0">
                <a:latin typeface="+mn-ea"/>
              </a:rPr>
              <a:t> 가능하며 숫자가 높을 수록 더 엄격한 검색을 수행한다</a:t>
            </a:r>
            <a:r>
              <a:rPr lang="en-US" altLang="ko-KR" sz="1400" dirty="0" smtClean="0">
                <a:latin typeface="+mn-ea"/>
              </a:rPr>
              <a:t>.</a:t>
            </a: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endParaRPr lang="en-US" altLang="ko-KR" sz="1400" dirty="0" smtClean="0">
              <a:latin typeface="+mn-ea"/>
            </a:endParaRPr>
          </a:p>
          <a:p>
            <a:pPr>
              <a:buNone/>
            </a:pPr>
            <a:r>
              <a:rPr lang="en-US" altLang="ko-KR" sz="1400" b="1" dirty="0" err="1">
                <a:latin typeface="+mn-ea"/>
              </a:rPr>
              <a:t>relscore</a:t>
            </a:r>
            <a:endParaRPr lang="en-US" altLang="ko-KR" sz="1400" b="1" dirty="0">
              <a:latin typeface="+mn-ea"/>
            </a:endParaRPr>
          </a:p>
          <a:p>
            <a:r>
              <a:rPr lang="en-US" altLang="ko-KR" sz="1400" dirty="0"/>
              <a:t>Keyword </a:t>
            </a:r>
            <a:r>
              <a:rPr lang="ko-KR" altLang="en-US" sz="1400" dirty="0"/>
              <a:t>검색 결과의 </a:t>
            </a:r>
            <a:r>
              <a:rPr lang="en-US" altLang="ko-KR" sz="1400" b="1" dirty="0"/>
              <a:t>relevance </a:t>
            </a:r>
            <a:r>
              <a:rPr lang="ko-KR" altLang="en-US" sz="1400" b="1" dirty="0"/>
              <a:t>점수</a:t>
            </a:r>
            <a:r>
              <a:rPr lang="ko-KR" altLang="en-US" sz="1400" dirty="0"/>
              <a:t>를 최소값</a:t>
            </a:r>
            <a:r>
              <a:rPr lang="en-US" altLang="ko-KR" sz="1400" dirty="0"/>
              <a:t>/</a:t>
            </a:r>
            <a:r>
              <a:rPr lang="ko-KR" altLang="en-US" sz="1400" dirty="0"/>
              <a:t>최대값 기준으로 </a:t>
            </a:r>
            <a:r>
              <a:rPr lang="en-US" altLang="ko-KR" sz="1400" b="1" dirty="0"/>
              <a:t>0~1 </a:t>
            </a:r>
            <a:r>
              <a:rPr lang="ko-KR" altLang="en-US" sz="1400" b="1" dirty="0"/>
              <a:t>범위로 정규화</a:t>
            </a:r>
            <a:r>
              <a:rPr lang="ko-KR" altLang="en-US" sz="1400" dirty="0"/>
              <a:t>함</a:t>
            </a:r>
          </a:p>
          <a:p>
            <a:r>
              <a:rPr lang="ko-KR" altLang="en-US" sz="1400" dirty="0"/>
              <a:t>정규화된 점수가 </a:t>
            </a:r>
            <a:r>
              <a:rPr lang="en-US" altLang="ko-KR" sz="1400" b="1" dirty="0" err="1"/>
              <a:t>relscore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미만</a:t>
            </a:r>
            <a:r>
              <a:rPr lang="ko-KR" altLang="en-US" sz="1400" dirty="0"/>
              <a:t>인 결과는 </a:t>
            </a:r>
            <a:r>
              <a:rPr lang="ko-KR" altLang="en-US" sz="1400" b="1" dirty="0"/>
              <a:t>검색 결과에서 </a:t>
            </a:r>
            <a:r>
              <a:rPr lang="ko-KR" altLang="en-US" sz="1400" b="1" dirty="0" smtClean="0"/>
              <a:t>제외</a:t>
            </a:r>
            <a:r>
              <a:rPr lang="ko-KR" altLang="en-US" sz="1400" dirty="0" smtClean="0"/>
              <a:t>함</a:t>
            </a:r>
            <a:endParaRPr lang="en-US" altLang="ko-KR" sz="1400" dirty="0" smtClean="0"/>
          </a:p>
          <a:p>
            <a:endParaRPr lang="ko-KR" altLang="en-US" sz="1400" dirty="0"/>
          </a:p>
          <a:p>
            <a:endParaRPr lang="en-US" altLang="ko-KR" sz="1400" dirty="0" smtClean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291323"/>
              </p:ext>
            </p:extLst>
          </p:nvPr>
        </p:nvGraphicFramePr>
        <p:xfrm>
          <a:off x="539552" y="2132856"/>
          <a:ext cx="8143931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3569086"/>
                <a:gridCol w="3782757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method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query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설명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(($1 title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}‘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synonym)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lines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chunk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natural synonym 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title/lines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과반수 이상의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개 키워드 이상 매치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(($1 title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synonym)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lines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allword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chunk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과 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에는 과반수 이상의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lines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전체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(($1 title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synonym)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chunk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allword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과반수 이상의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전체 키워드 매치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(($1 title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someword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synonym) </a:t>
                      </a:r>
                    </a:p>
                    <a:p>
                      <a:pPr latinLnBrk="1"/>
                      <a:r>
                        <a:rPr lang="en-US" sz="1200" dirty="0" smtClean="0">
                          <a:latin typeface="+mn-ea"/>
                          <a:ea typeface="+mn-ea"/>
                        </a:rPr>
                        <a:t>or lines = '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ko-KR" altLang="en-US" sz="1200" dirty="0" err="1" smtClean="0">
                          <a:latin typeface="+mn-ea"/>
                          <a:ea typeface="+mn-ea"/>
                        </a:rPr>
                        <a:t>질의문</a:t>
                      </a:r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}' </a:t>
                      </a:r>
                      <a:r>
                        <a:rPr lang="en-US" sz="1200" dirty="0" err="1" smtClean="0">
                          <a:latin typeface="+mn-ea"/>
                          <a:ea typeface="+mn-ea"/>
                        </a:rPr>
                        <a:t>allword</a:t>
                      </a:r>
                      <a:r>
                        <a:rPr lang="en-US" sz="1200" dirty="0" smtClean="0">
                          <a:latin typeface="+mn-ea"/>
                          <a:ea typeface="+mn-ea"/>
                        </a:rPr>
                        <a:t> synonym )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과반수 이상의 키워드 매치</a:t>
                      </a:r>
                      <a:endParaRPr lang="en-US" altLang="ko-KR" sz="12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lines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필드에 전체 키워드 매치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96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altLang="ko-KR" dirty="0"/>
              <a:t>3</a:t>
            </a:r>
            <a:r>
              <a:rPr lang="en-US" altLang="ko-KR" dirty="0" smtClean="0"/>
              <a:t>. /</a:t>
            </a:r>
            <a:r>
              <a:rPr lang="en-US" altLang="ko-KR" dirty="0" err="1" smtClean="0"/>
              <a:t>ksm</a:t>
            </a:r>
            <a:r>
              <a:rPr lang="en-US" altLang="ko-KR" dirty="0" smtClean="0"/>
              <a:t>/rag/v6/search 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60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/>
              <a:t>/</a:t>
            </a:r>
            <a:r>
              <a:rPr lang="en-US" altLang="ko-KR" dirty="0" err="1" smtClean="0"/>
              <a:t>ksm</a:t>
            </a:r>
            <a:r>
              <a:rPr lang="en-US" altLang="ko-KR" dirty="0" smtClean="0"/>
              <a:t>/rag/v6/search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v5 </a:t>
            </a:r>
            <a:r>
              <a:rPr lang="ko-KR" altLang="en-US" dirty="0" smtClean="0"/>
              <a:t>대비 </a:t>
            </a:r>
            <a:r>
              <a:rPr lang="ko-KR" altLang="en-US" b="1" u="sng" dirty="0" smtClean="0"/>
              <a:t>키워드 검색 쿼리 </a:t>
            </a:r>
            <a:r>
              <a:rPr lang="en-US" altLang="ko-KR" dirty="0" smtClean="0"/>
              <a:t>/ </a:t>
            </a:r>
            <a:r>
              <a:rPr lang="ko-KR" altLang="en-US" b="1" u="sng" dirty="0" smtClean="0"/>
              <a:t>정렬 가중치</a:t>
            </a:r>
            <a:r>
              <a:rPr lang="ko-KR" altLang="en-US" dirty="0" smtClean="0"/>
              <a:t> </a:t>
            </a:r>
            <a:r>
              <a:rPr lang="en-US" altLang="ko-KR" dirty="0" smtClean="0"/>
              <a:t>/ </a:t>
            </a:r>
            <a:r>
              <a:rPr lang="ko-KR" altLang="en-US" b="1" u="sng" dirty="0" smtClean="0"/>
              <a:t>키워드 추출 옵션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커스터마이징</a:t>
            </a:r>
            <a:r>
              <a:rPr lang="ko-KR" altLang="en-US" dirty="0" smtClean="0"/>
              <a:t> 제공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055536"/>
              </p:ext>
            </p:extLst>
          </p:nvPr>
        </p:nvGraphicFramePr>
        <p:xfrm>
          <a:off x="106746" y="1772816"/>
          <a:ext cx="8929750" cy="4118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/>
                <a:gridCol w="1000132"/>
                <a:gridCol w="2825030"/>
                <a:gridCol w="1656184"/>
                <a:gridCol w="2448272"/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입력인자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타입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예시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필수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text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사용자 질의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주민등록 초본 받을 때 필요한 서류는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필수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vols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검색할 볼륨 목록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laws2,{demo5@konantech.com},qamois (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콤마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(,)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로 구분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필수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hide_tt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int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청크 제목 숨기기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:0(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보여줌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)), 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제목구분자 기준으로 숨김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보여줌 처리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customfields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커스텀 필드 목록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depname,class,no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("")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topk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int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chunk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를 몇 개 가져올지 지정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:3)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 err="1">
                          <a:effectLst/>
                          <a:latin typeface="+mn-ea"/>
                          <a:ea typeface="+mn-ea"/>
                        </a:rPr>
                        <a:t>kwdopt</a:t>
                      </a:r>
                      <a:endParaRPr lang="en-US" sz="9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키워드 추출 옵션키워드 추출 옵션이 입력되면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dirty="0" err="1">
                          <a:effectLst/>
                          <a:latin typeface="+mn-ea"/>
                          <a:ea typeface="+mn-ea"/>
                        </a:rPr>
                        <a:t>use_numeric,kwd_intact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옵션이 무시된다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9AFVX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선택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lconf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  <a:latin typeface="+mn-ea"/>
                          <a:ea typeface="+mn-ea"/>
                        </a:rPr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사용자사전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90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동의어 사전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신조어사전등 검색시 사용자 사전 사용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""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:""(</a:t>
                      </a:r>
                      <a:r>
                        <a:rPr lang="ko-KR" altLang="en-US" sz="900">
                          <a:effectLst/>
                          <a:latin typeface="+mn-ea"/>
                          <a:ea typeface="+mn-ea"/>
                        </a:rPr>
                        <a:t>미적용</a:t>
                      </a:r>
                      <a:r>
                        <a:rPr lang="en-US" altLang="ko-KR" sz="900">
                          <a:effectLst/>
                          <a:latin typeface="+mn-ea"/>
                          <a:ea typeface="+mn-ea"/>
                        </a:rPr>
                        <a:t>))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where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string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 err="1">
                          <a:effectLst/>
                          <a:latin typeface="+mn-ea"/>
                          <a:ea typeface="+mn-ea"/>
                        </a:rPr>
                        <a:t>조건문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900" dirty="0" err="1">
                          <a:effectLst/>
                          <a:latin typeface="+mn-ea"/>
                          <a:ea typeface="+mn-ea"/>
                        </a:rPr>
                        <a:t>정렬문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{{text}}: 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원문이 치환될 위치</a:t>
                      </a:r>
                      <a:b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{{</a:t>
                      </a:r>
                      <a:r>
                        <a:rPr lang="en-US" altLang="ko-KR" sz="900" dirty="0" err="1">
                          <a:effectLst/>
                          <a:latin typeface="+mn-ea"/>
                          <a:ea typeface="+mn-ea"/>
                        </a:rPr>
                        <a:t>cooked_text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}}: </a:t>
                      </a:r>
                      <a:r>
                        <a:rPr lang="en-US" altLang="ko-KR" sz="900" dirty="0" err="1">
                          <a:effectLst/>
                          <a:latin typeface="+mn-ea"/>
                          <a:ea typeface="+mn-ea"/>
                        </a:rPr>
                        <a:t>kwdopt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옵션으로 추출된 키워드</a:t>
                      </a:r>
                      <a:b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{{threshold}}: vector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검색 </a:t>
                      </a:r>
                      <a:r>
                        <a:rPr lang="ko-KR" altLang="en-US" sz="900" dirty="0" err="1">
                          <a:effectLst/>
                          <a:latin typeface="+mn-ea"/>
                          <a:ea typeface="+mn-ea"/>
                        </a:rPr>
                        <a:t>수행시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거리 </a:t>
                      </a:r>
                      <a:r>
                        <a:rPr lang="ko-KR" altLang="en-US" sz="900" dirty="0" err="1">
                          <a:effectLst/>
                          <a:latin typeface="+mn-ea"/>
                          <a:ea typeface="+mn-ea"/>
                        </a:rPr>
                        <a:t>필터링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값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. threshold </a:t>
                      </a:r>
                      <a:r>
                        <a:rPr lang="ko-KR" altLang="en-US" sz="900" dirty="0" err="1">
                          <a:effectLst/>
                          <a:latin typeface="+mn-ea"/>
                          <a:ea typeface="+mn-ea"/>
                        </a:rPr>
                        <a:t>파라미터로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치환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($1 </a:t>
                      </a:r>
                      <a:r>
                        <a:rPr lang="en-US" sz="900" dirty="0" err="1">
                          <a:effectLst/>
                          <a:latin typeface="+mn-ea"/>
                          <a:ea typeface="+mn-ea"/>
                        </a:rPr>
                        <a:t>c_vec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=`</a:t>
                      </a:r>
                      <a:r>
                        <a:rPr lang="en-US" sz="900" dirty="0" err="1">
                          <a:effectLst/>
                          <a:latin typeface="+mn-ea"/>
                          <a:ea typeface="+mn-ea"/>
                        </a:rPr>
                        <a:t>vec</a:t>
                      </a:r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::embedding("{{text}}", "embedding-10")` {{threshold}}) order by $1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필수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threshold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  <a:latin typeface="+mn-ea"/>
                          <a:ea typeface="+mn-ea"/>
                        </a:rPr>
                        <a:t>float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벡터 </a:t>
                      </a:r>
                      <a:r>
                        <a:rPr lang="ko-KR" altLang="en-US" sz="900" dirty="0" err="1">
                          <a:effectLst/>
                          <a:latin typeface="+mn-ea"/>
                          <a:ea typeface="+mn-ea"/>
                        </a:rPr>
                        <a:t>검색시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거리 </a:t>
                      </a:r>
                      <a:r>
                        <a:rPr lang="ko-KR" altLang="en-US" sz="900" dirty="0" err="1">
                          <a:effectLst/>
                          <a:latin typeface="+mn-ea"/>
                          <a:ea typeface="+mn-ea"/>
                        </a:rPr>
                        <a:t>필터링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 값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effectLst/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900" dirty="0">
                          <a:effectLst/>
                          <a:latin typeface="+mn-ea"/>
                          <a:ea typeface="+mn-ea"/>
                        </a:rPr>
                        <a:t>:2.0)</a:t>
                      </a:r>
                    </a:p>
                  </a:txBody>
                  <a:tcPr marL="47625" marR="47625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279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/>
              <a:t>/</a:t>
            </a:r>
            <a:r>
              <a:rPr lang="en-US" altLang="ko-KR" dirty="0" err="1" smtClean="0"/>
              <a:t>ksm</a:t>
            </a:r>
            <a:r>
              <a:rPr lang="en-US" altLang="ko-KR" dirty="0" smtClean="0"/>
              <a:t>/rag/v6/search – where </a:t>
            </a:r>
            <a:r>
              <a:rPr lang="ko-KR" altLang="en-US" dirty="0" err="1" smtClean="0"/>
              <a:t>파라미터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457200" y="1052736"/>
            <a:ext cx="8363272" cy="5073427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w</a:t>
            </a:r>
            <a:r>
              <a:rPr lang="en-US" altLang="ko-KR" dirty="0" smtClean="0">
                <a:latin typeface="+mn-ea"/>
              </a:rPr>
              <a:t>here</a:t>
            </a:r>
            <a:r>
              <a:rPr lang="ko-KR" altLang="en-US" dirty="0" err="1" smtClean="0">
                <a:latin typeface="+mn-ea"/>
              </a:rPr>
              <a:t>조건절</a:t>
            </a:r>
            <a:r>
              <a:rPr lang="ko-KR" altLang="en-US" dirty="0" smtClean="0">
                <a:latin typeface="+mn-ea"/>
              </a:rPr>
              <a:t> 입력</a:t>
            </a:r>
            <a:endParaRPr lang="en-US" altLang="ko-KR" dirty="0" smtClean="0">
              <a:latin typeface="+mn-ea"/>
            </a:endParaRPr>
          </a:p>
          <a:p>
            <a:r>
              <a:rPr lang="ko-KR" altLang="en-US" b="1" dirty="0" smtClean="0">
                <a:latin typeface="+mn-ea"/>
              </a:rPr>
              <a:t>작성 방법은 기본적으로 검색 쿼리와 동일</a:t>
            </a:r>
            <a:endParaRPr lang="en-US" altLang="ko-KR" b="1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차이점은 질의문의 치환될 위치를 지정하는 것</a:t>
            </a:r>
            <a:endParaRPr lang="en-US" altLang="ko-KR" dirty="0" smtClean="0">
              <a:latin typeface="+mn-ea"/>
            </a:endParaRPr>
          </a:p>
          <a:p>
            <a:pPr lvl="1"/>
            <a:endParaRPr lang="en-US" altLang="ko-KR" dirty="0" smtClean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Keyword </a:t>
            </a:r>
            <a:r>
              <a:rPr lang="ko-KR" altLang="en-US" dirty="0" smtClean="0">
                <a:latin typeface="+mn-ea"/>
              </a:rPr>
              <a:t>검색 쿼리 예시</a:t>
            </a:r>
            <a:endParaRPr lang="en-US" altLang="ko-KR" dirty="0" smtClean="0">
              <a:latin typeface="+mn-ea"/>
            </a:endParaRPr>
          </a:p>
          <a:p>
            <a:pPr lvl="1"/>
            <a:r>
              <a:rPr lang="en-US" altLang="ko-KR" dirty="0" smtClean="0">
                <a:latin typeface="+mn-ea"/>
              </a:rPr>
              <a:t>{{text}}: </a:t>
            </a:r>
            <a:r>
              <a:rPr lang="ko-KR" altLang="en-US" dirty="0" err="1" smtClean="0">
                <a:latin typeface="+mn-ea"/>
              </a:rPr>
              <a:t>질의문</a:t>
            </a:r>
            <a:r>
              <a:rPr lang="ko-KR" altLang="en-US" dirty="0" smtClean="0">
                <a:latin typeface="+mn-ea"/>
              </a:rPr>
              <a:t> 변형 없이 그대로 입력되는 위치</a:t>
            </a:r>
            <a:endParaRPr lang="en-US" altLang="ko-KR" dirty="0" smtClean="0">
              <a:latin typeface="+mn-ea"/>
            </a:endParaRPr>
          </a:p>
          <a:p>
            <a:pPr lvl="1"/>
            <a:r>
              <a:rPr lang="en-US" altLang="ko-KR" dirty="0" smtClean="0">
                <a:latin typeface="+mn-ea"/>
              </a:rPr>
              <a:t>{{</a:t>
            </a:r>
            <a:r>
              <a:rPr lang="en-US" altLang="ko-KR" dirty="0" err="1" smtClean="0">
                <a:latin typeface="+mn-ea"/>
              </a:rPr>
              <a:t>cooked_text</a:t>
            </a:r>
            <a:r>
              <a:rPr lang="en-US" altLang="ko-KR" dirty="0" smtClean="0">
                <a:latin typeface="+mn-ea"/>
              </a:rPr>
              <a:t>}}: </a:t>
            </a:r>
            <a:r>
              <a:rPr lang="en-US" altLang="ko-KR" dirty="0" err="1" smtClean="0">
                <a:latin typeface="+mn-ea"/>
              </a:rPr>
              <a:t>kwdopt</a:t>
            </a:r>
            <a:r>
              <a:rPr lang="ko-KR" altLang="en-US" dirty="0" smtClean="0">
                <a:latin typeface="+mn-ea"/>
              </a:rPr>
              <a:t>옵션으로 추출된 키워드 목록이 입력될 위치</a:t>
            </a:r>
            <a:endParaRPr lang="en-US" altLang="ko-KR" dirty="0">
              <a:latin typeface="+mn-ea"/>
            </a:endParaRPr>
          </a:p>
          <a:p>
            <a:pPr lvl="1"/>
            <a:endParaRPr lang="en-US" altLang="ko-KR" dirty="0" smtClean="0"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latin typeface="+mn-ea"/>
            </a:endParaRPr>
          </a:p>
          <a:p>
            <a:pPr lvl="1"/>
            <a:endParaRPr lang="en-US" altLang="ko-KR" dirty="0" smtClean="0">
              <a:latin typeface="+mn-ea"/>
            </a:endParaRPr>
          </a:p>
          <a:p>
            <a:r>
              <a:rPr lang="en-US" altLang="ko-KR" dirty="0" smtClean="0">
                <a:latin typeface="+mn-ea"/>
              </a:rPr>
              <a:t>Vector </a:t>
            </a:r>
            <a:r>
              <a:rPr lang="ko-KR" altLang="en-US" dirty="0" smtClean="0">
                <a:latin typeface="+mn-ea"/>
              </a:rPr>
              <a:t>검색 쿼리 예시</a:t>
            </a:r>
            <a:endParaRPr lang="en-US" altLang="ko-KR" dirty="0">
              <a:latin typeface="+mn-ea"/>
            </a:endParaRPr>
          </a:p>
          <a:p>
            <a:pPr lvl="1"/>
            <a:r>
              <a:rPr lang="en-US" altLang="ko-KR" dirty="0" err="1" smtClean="0">
                <a:latin typeface="+mn-ea"/>
              </a:rPr>
              <a:t>vec</a:t>
            </a:r>
            <a:r>
              <a:rPr lang="en-US" altLang="ko-KR" dirty="0" smtClean="0">
                <a:latin typeface="+mn-ea"/>
              </a:rPr>
              <a:t>::embedding()</a:t>
            </a:r>
            <a:r>
              <a:rPr lang="ko-KR" altLang="en-US" dirty="0" smtClean="0">
                <a:latin typeface="+mn-ea"/>
              </a:rPr>
              <a:t>함수를 사용하여 </a:t>
            </a:r>
            <a:r>
              <a:rPr lang="ko-KR" altLang="en-US" dirty="0" err="1" smtClean="0">
                <a:latin typeface="+mn-ea"/>
              </a:rPr>
              <a:t>질의문에</a:t>
            </a:r>
            <a:r>
              <a:rPr lang="ko-KR" altLang="en-US" dirty="0" smtClean="0">
                <a:latin typeface="+mn-ea"/>
              </a:rPr>
              <a:t> 대한 </a:t>
            </a:r>
            <a:r>
              <a:rPr lang="en-US" altLang="ko-KR" dirty="0" smtClean="0">
                <a:latin typeface="+mn-ea"/>
              </a:rPr>
              <a:t>vector</a:t>
            </a:r>
            <a:r>
              <a:rPr lang="ko-KR" altLang="en-US" dirty="0" smtClean="0">
                <a:latin typeface="+mn-ea"/>
              </a:rPr>
              <a:t>를 검색에 활용할 수 있도록 작성</a:t>
            </a:r>
            <a:endParaRPr lang="en-US" altLang="ko-KR" dirty="0" smtClean="0">
              <a:latin typeface="+mn-ea"/>
            </a:endParaRPr>
          </a:p>
          <a:p>
            <a:pPr lvl="1"/>
            <a:r>
              <a:rPr lang="en-US" altLang="ko-KR" dirty="0" smtClean="0">
                <a:latin typeface="+mn-ea"/>
              </a:rPr>
              <a:t>{{threshold}}: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vector </a:t>
            </a:r>
            <a:r>
              <a:rPr lang="ko-KR" altLang="en-US" dirty="0" err="1" smtClean="0">
                <a:latin typeface="+mn-ea"/>
              </a:rPr>
              <a:t>검색시</a:t>
            </a:r>
            <a:r>
              <a:rPr lang="ko-KR" altLang="en-US" dirty="0" smtClean="0">
                <a:latin typeface="+mn-ea"/>
              </a:rPr>
              <a:t> 사용할 </a:t>
            </a:r>
            <a:r>
              <a:rPr lang="en-US" altLang="ko-KR" dirty="0" smtClean="0">
                <a:latin typeface="+mn-ea"/>
              </a:rPr>
              <a:t>threshold. threshold </a:t>
            </a:r>
            <a:r>
              <a:rPr lang="ko-KR" altLang="en-US" dirty="0" err="1" smtClean="0">
                <a:latin typeface="+mn-ea"/>
              </a:rPr>
              <a:t>파라미터의</a:t>
            </a:r>
            <a:r>
              <a:rPr lang="ko-KR" altLang="en-US" dirty="0" smtClean="0">
                <a:latin typeface="+mn-ea"/>
              </a:rPr>
              <a:t> 값으로 치환</a:t>
            </a:r>
            <a:r>
              <a:rPr lang="en-US" altLang="ko-KR" dirty="0" smtClean="0">
                <a:latin typeface="+mn-ea"/>
              </a:rPr>
              <a:t>.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51851" y="3356992"/>
            <a:ext cx="7929618" cy="5040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200" dirty="0"/>
              <a:t>($1 title in {'{{text}}'', '{{</a:t>
            </a:r>
            <a:r>
              <a:rPr lang="en-US" altLang="ko-KR" sz="1200" dirty="0" err="1"/>
              <a:t>cooked_text</a:t>
            </a:r>
            <a:r>
              <a:rPr lang="en-US" altLang="ko-KR" sz="1200" dirty="0"/>
              <a:t>}}''} </a:t>
            </a:r>
            <a:r>
              <a:rPr lang="en-US" altLang="ko-KR" sz="1200" dirty="0" err="1"/>
              <a:t>someword</a:t>
            </a:r>
            <a:r>
              <a:rPr lang="en-US" altLang="ko-KR" sz="1200" dirty="0"/>
              <a:t>) or (chunk in {'{{text}}'', '{{</a:t>
            </a:r>
            <a:r>
              <a:rPr lang="en-US" altLang="ko-KR" sz="1200" dirty="0" err="1"/>
              <a:t>cooked_text</a:t>
            </a:r>
            <a:r>
              <a:rPr lang="en-US" altLang="ko-KR" sz="1200" dirty="0"/>
              <a:t>}}''} </a:t>
            </a:r>
            <a:r>
              <a:rPr lang="en-US" altLang="ko-KR" sz="1200" dirty="0" err="1"/>
              <a:t>someword</a:t>
            </a:r>
            <a:r>
              <a:rPr lang="en-US" altLang="ko-KR" sz="1200" dirty="0"/>
              <a:t>) order by $1 </a:t>
            </a:r>
            <a:r>
              <a:rPr lang="en-US" altLang="ko-KR" sz="1200" dirty="0" err="1"/>
              <a:t>desc</a:t>
            </a:r>
            <a:endParaRPr lang="en-US" altLang="ko-KR" sz="1200" dirty="0" smtClean="0">
              <a:latin typeface="+mj-ea"/>
              <a:ea typeface="+mj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58806" y="5445224"/>
            <a:ext cx="7929618" cy="5040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200" dirty="0"/>
              <a:t>($1 </a:t>
            </a:r>
            <a:r>
              <a:rPr lang="en-US" altLang="ko-KR" sz="1200" dirty="0" err="1"/>
              <a:t>c_vec</a:t>
            </a:r>
            <a:r>
              <a:rPr lang="en-US" altLang="ko-KR" sz="1200" dirty="0"/>
              <a:t>=`</a:t>
            </a:r>
            <a:r>
              <a:rPr lang="en-US" altLang="ko-KR" sz="1200" dirty="0" err="1"/>
              <a:t>vec</a:t>
            </a:r>
            <a:r>
              <a:rPr lang="en-US" altLang="ko-KR" sz="1200" dirty="0"/>
              <a:t>::embedding("{{text}}", "embedding-10")` {{threshold}}) order by $1</a:t>
            </a:r>
            <a:endParaRPr lang="en-US" altLang="ko-KR" sz="1200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13827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/>
              <a:t>/</a:t>
            </a:r>
            <a:r>
              <a:rPr lang="en-US" altLang="ko-KR" dirty="0" err="1" smtClean="0"/>
              <a:t>ksm</a:t>
            </a:r>
            <a:r>
              <a:rPr lang="en-US" altLang="ko-KR" dirty="0" smtClean="0"/>
              <a:t>/rag/v6/search – </a:t>
            </a:r>
            <a:r>
              <a:rPr lang="ko-KR" altLang="en-US" dirty="0" smtClean="0"/>
              <a:t>기타 </a:t>
            </a:r>
            <a:r>
              <a:rPr lang="ko-KR" altLang="en-US" dirty="0" err="1" smtClean="0"/>
              <a:t>파라미터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b="1" dirty="0">
                <a:latin typeface="+mn-ea"/>
              </a:rPr>
              <a:t>t</a:t>
            </a:r>
            <a:r>
              <a:rPr lang="en-US" altLang="ko-KR" sz="1600" b="1" dirty="0" smtClean="0">
                <a:latin typeface="+mn-ea"/>
              </a:rPr>
              <a:t>hreshold</a:t>
            </a:r>
          </a:p>
          <a:p>
            <a:r>
              <a:rPr lang="en-US" altLang="ko-KR" sz="1600" dirty="0" smtClean="0">
                <a:latin typeface="+mn-ea"/>
              </a:rPr>
              <a:t>vector </a:t>
            </a:r>
            <a:r>
              <a:rPr lang="ko-KR" altLang="en-US" sz="1600" dirty="0" smtClean="0">
                <a:latin typeface="+mn-ea"/>
              </a:rPr>
              <a:t>검색 시 활용할 거리 임계 </a:t>
            </a:r>
            <a:r>
              <a:rPr lang="ko-KR" altLang="en-US" sz="1600" dirty="0">
                <a:latin typeface="+mn-ea"/>
              </a:rPr>
              <a:t>값</a:t>
            </a:r>
            <a:r>
              <a:rPr lang="en-US" altLang="ko-KR" sz="1600" dirty="0" smtClean="0">
                <a:latin typeface="+mn-ea"/>
              </a:rPr>
              <a:t>. Where</a:t>
            </a:r>
            <a:r>
              <a:rPr lang="ko-KR" altLang="en-US" sz="1600" dirty="0" smtClean="0">
                <a:latin typeface="+mn-ea"/>
              </a:rPr>
              <a:t>절의 </a:t>
            </a:r>
            <a:r>
              <a:rPr lang="en-US" altLang="ko-KR" sz="1600" dirty="0" smtClean="0">
                <a:latin typeface="+mn-ea"/>
              </a:rPr>
              <a:t>{{threshold}}</a:t>
            </a:r>
            <a:r>
              <a:rPr lang="ko-KR" altLang="en-US" sz="1600" dirty="0" smtClean="0">
                <a:latin typeface="+mn-ea"/>
              </a:rPr>
              <a:t>에 치환된다</a:t>
            </a:r>
            <a:r>
              <a:rPr lang="en-US" altLang="ko-KR" sz="1600" dirty="0" smtClean="0">
                <a:latin typeface="+mn-ea"/>
              </a:rPr>
              <a:t>. </a:t>
            </a:r>
          </a:p>
          <a:p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b="1" dirty="0" err="1">
                <a:latin typeface="+mn-ea"/>
              </a:rPr>
              <a:t>k</a:t>
            </a:r>
            <a:r>
              <a:rPr lang="en-US" altLang="ko-KR" sz="1600" b="1" dirty="0" err="1" smtClean="0">
                <a:latin typeface="+mn-ea"/>
              </a:rPr>
              <a:t>wdopt</a:t>
            </a:r>
            <a:endParaRPr lang="en-US" altLang="ko-KR" sz="1600" b="1" dirty="0" smtClean="0">
              <a:latin typeface="+mn-ea"/>
            </a:endParaRPr>
          </a:p>
          <a:p>
            <a:r>
              <a:rPr lang="ko-KR" altLang="en-US" sz="1600" dirty="0" smtClean="0">
                <a:latin typeface="+mn-ea"/>
              </a:rPr>
              <a:t>키워드 </a:t>
            </a:r>
            <a:r>
              <a:rPr lang="ko-KR" altLang="en-US" sz="1600" dirty="0" err="1" smtClean="0">
                <a:latin typeface="+mn-ea"/>
              </a:rPr>
              <a:t>추출시</a:t>
            </a:r>
            <a:r>
              <a:rPr lang="ko-KR" altLang="en-US" sz="1600" dirty="0" smtClean="0">
                <a:latin typeface="+mn-ea"/>
              </a:rPr>
              <a:t> 사용할 옵션</a:t>
            </a:r>
            <a:endParaRPr lang="en-US" altLang="ko-KR" sz="1600" dirty="0" smtClean="0">
              <a:latin typeface="+mn-ea"/>
            </a:endParaRPr>
          </a:p>
          <a:p>
            <a:r>
              <a:rPr lang="ko-KR" altLang="en-US" sz="1600" dirty="0" smtClean="0">
                <a:latin typeface="+mn-ea"/>
              </a:rPr>
              <a:t>아래 </a:t>
            </a:r>
            <a:r>
              <a:rPr lang="ko-KR" altLang="en-US" sz="1600" dirty="0" err="1" smtClean="0">
                <a:latin typeface="+mn-ea"/>
              </a:rPr>
              <a:t>옵션말고도</a:t>
            </a:r>
            <a:r>
              <a:rPr lang="ko-KR" altLang="en-US" sz="1600" dirty="0" smtClean="0">
                <a:latin typeface="+mn-ea"/>
              </a:rPr>
              <a:t> 더 많은 옵션은 매뉴얼 참고</a:t>
            </a:r>
            <a:endParaRPr lang="en-US" altLang="ko-KR" sz="1600" dirty="0">
              <a:latin typeface="+mn-ea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874822"/>
              </p:ext>
            </p:extLst>
          </p:nvPr>
        </p:nvGraphicFramePr>
        <p:xfrm>
          <a:off x="413501" y="2858465"/>
          <a:ext cx="8229600" cy="3594871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11463"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</a:rPr>
                        <a:t>옵션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F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</a:rPr>
                        <a:t>설명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F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</a:rPr>
                        <a:t>값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F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</a:rPr>
                        <a:t>비고 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</a:rPr>
                        <a:t>사용자 언어설정 옵션</a:t>
                      </a:r>
                      <a:r>
                        <a:rPr lang="en-US" altLang="ko-KR" sz="100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FDC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2/3/4/5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복합어 결합 수준 </a:t>
                      </a:r>
                      <a:r>
                        <a:rPr lang="en-US" altLang="ko-KR" sz="1000">
                          <a:effectLst/>
                        </a:rPr>
                        <a:t>(</a:t>
                      </a:r>
                      <a:r>
                        <a:rPr lang="en-US" sz="1000">
                          <a:effectLst/>
                        </a:rPr>
                        <a:t>compound level)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없음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compound_level = 2~5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9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최장 복합명사 추출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없음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maximal_np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A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부사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stop_kad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B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동사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stop_kvv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E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영문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stop_enn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F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접미사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없음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G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한글 자모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없음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J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형용사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stop_kaj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숫자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stop_nud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O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명사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stop_knn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P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대명사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stop_knp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R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단순 숫자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없음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T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관형사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stop_kdt</a:t>
                      </a:r>
                      <a:r>
                        <a:rPr lang="en-US" sz="1000" dirty="0">
                          <a:effectLst/>
                        </a:rPr>
                        <a:t>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V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용언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없음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X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effectLst/>
                        </a:rPr>
                        <a:t>의존명사 포함 키워드 배제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stop_knx</a:t>
                      </a:r>
                      <a:r>
                        <a:rPr lang="en-US" sz="1000" dirty="0">
                          <a:effectLst/>
                        </a:rPr>
                        <a:t>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5"/>
                    </a:solidFill>
                  </a:tcPr>
                </a:tc>
              </a:tr>
              <a:tr h="211463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a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effectLst/>
                        </a:rPr>
                        <a:t>라틴 문자 알파벳 변환 키워드 추출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effectLst/>
                        </a:rPr>
                        <a:t>+/-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effectLst/>
                        </a:rPr>
                        <a:t>use_latin_letter_en</a:t>
                      </a:r>
                      <a:r>
                        <a:rPr lang="en-US" sz="1000" dirty="0">
                          <a:effectLst/>
                        </a:rPr>
                        <a:t> = y/n</a:t>
                      </a:r>
                    </a:p>
                  </a:txBody>
                  <a:tcPr marL="27250" marR="27250" marT="27250" marB="2725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986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/>
            <a:r>
              <a:rPr lang="en-US" altLang="ko-KR" dirty="0"/>
              <a:t>3</a:t>
            </a:r>
            <a:r>
              <a:rPr lang="en-US" altLang="ko-KR" dirty="0" smtClean="0"/>
              <a:t>. debug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91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 smtClean="0"/>
              <a:t>debug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600" dirty="0" smtClean="0"/>
              <a:t>DEBUG </a:t>
            </a:r>
            <a:r>
              <a:rPr lang="ko-KR" altLang="en-US" sz="1600" dirty="0"/>
              <a:t>플래그를 아래와 같이 설정한 후 검색 혹은 색인을 실행한다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endParaRPr lang="en-US" altLang="ko-KR" sz="1600" dirty="0" smtClean="0"/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endParaRPr lang="en-US" altLang="ko-KR" sz="1600" dirty="0" smtClean="0"/>
          </a:p>
          <a:p>
            <a:pPr>
              <a:buNone/>
            </a:pPr>
            <a:r>
              <a:rPr lang="en-US" altLang="ko-KR" sz="1600" dirty="0" smtClean="0"/>
              <a:t>DEBUG</a:t>
            </a:r>
            <a:r>
              <a:rPr lang="ko-KR" altLang="en-US" sz="1600" dirty="0"/>
              <a:t>파일을 확인한다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endParaRPr lang="en-US" altLang="ko-KR" sz="1600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91013" y="1412776"/>
            <a:ext cx="8072494" cy="14401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en-US" altLang="ko-KR" sz="1000" dirty="0" err="1">
                <a:latin typeface="+mn-ea"/>
              </a:rPr>
              <a:t>k</a:t>
            </a:r>
            <a:r>
              <a:rPr lang="en-US" altLang="ko-KR" sz="1000" dirty="0" err="1" smtClean="0">
                <a:latin typeface="+mn-ea"/>
              </a:rPr>
              <a:t>ql</a:t>
            </a:r>
            <a:r>
              <a:rPr lang="en-US" altLang="ko-KR" sz="1000" dirty="0" smtClean="0">
                <a:latin typeface="+mn-ea"/>
              </a:rPr>
              <a:t>&gt;&gt; import </a:t>
            </a:r>
            <a:r>
              <a:rPr lang="en-US" altLang="ko-KR" sz="1000" dirty="0" err="1" smtClean="0">
                <a:latin typeface="+mn-ea"/>
              </a:rPr>
              <a:t>shm</a:t>
            </a:r>
            <a:r>
              <a:rPr lang="en-US" altLang="ko-KR" sz="1000" dirty="0" smtClean="0">
                <a:latin typeface="+mn-ea"/>
              </a:rPr>
              <a:t>;</a:t>
            </a:r>
          </a:p>
          <a:p>
            <a:pPr>
              <a:buNone/>
            </a:pPr>
            <a:r>
              <a:rPr lang="en-US" altLang="ko-KR" sz="1000" dirty="0" smtClean="0">
                <a:latin typeface="+mn-ea"/>
              </a:rPr>
              <a:t>OK</a:t>
            </a:r>
          </a:p>
          <a:p>
            <a:pPr>
              <a:buNone/>
            </a:pPr>
            <a:endParaRPr lang="en-US" altLang="ko-KR" sz="1000" dirty="0">
              <a:latin typeface="+mn-ea"/>
            </a:endParaRPr>
          </a:p>
          <a:p>
            <a:pPr>
              <a:buNone/>
            </a:pPr>
            <a:r>
              <a:rPr lang="en-US" altLang="ko-KR" sz="1000" dirty="0" err="1" smtClean="0">
                <a:latin typeface="+mn-ea"/>
              </a:rPr>
              <a:t>kql</a:t>
            </a:r>
            <a:r>
              <a:rPr lang="en-US" altLang="ko-KR" sz="1000" dirty="0" smtClean="0">
                <a:latin typeface="+mn-ea"/>
              </a:rPr>
              <a:t>&gt;&gt; </a:t>
            </a:r>
            <a:r>
              <a:rPr lang="en-US" altLang="ko-KR" sz="1000" dirty="0" err="1" smtClean="0">
                <a:latin typeface="+mn-ea"/>
              </a:rPr>
              <a:t>shm</a:t>
            </a:r>
            <a:r>
              <a:rPr lang="en-US" altLang="ko-KR" sz="1000" dirty="0" smtClean="0">
                <a:latin typeface="+mn-ea"/>
              </a:rPr>
              <a:t>::create(“DEBUG_RAG”, 0x01, 0x01,. “”);</a:t>
            </a:r>
          </a:p>
          <a:p>
            <a:pPr>
              <a:buNone/>
            </a:pPr>
            <a:r>
              <a:rPr lang="en-US" altLang="ko-KR" sz="1000" dirty="0" smtClean="0">
                <a:latin typeface="+mn-ea"/>
              </a:rPr>
              <a:t>OK</a:t>
            </a:r>
          </a:p>
          <a:p>
            <a:pPr>
              <a:buNone/>
            </a:pPr>
            <a:endParaRPr lang="en-US" altLang="ko-KR" sz="1000" dirty="0" smtClean="0">
              <a:latin typeface="+mn-ea"/>
            </a:endParaRPr>
          </a:p>
          <a:p>
            <a:pPr>
              <a:buNone/>
            </a:pP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// debug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가 종료되면 아래 명령어를 실행하여 꼭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debug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모드를 끝내야 한다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.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>
              <a:buNone/>
            </a:pPr>
            <a:r>
              <a:rPr lang="en-US" altLang="ko-KR" sz="1000" dirty="0" err="1">
                <a:latin typeface="+mn-ea"/>
              </a:rPr>
              <a:t>kql</a:t>
            </a:r>
            <a:r>
              <a:rPr lang="en-US" altLang="ko-KR" sz="1000" dirty="0">
                <a:latin typeface="+mn-ea"/>
              </a:rPr>
              <a:t>&gt;&gt; </a:t>
            </a:r>
            <a:r>
              <a:rPr lang="en-US" altLang="ko-KR" sz="1000" dirty="0" err="1">
                <a:latin typeface="+mn-ea"/>
              </a:rPr>
              <a:t>shm</a:t>
            </a:r>
            <a:r>
              <a:rPr lang="en-US" altLang="ko-KR" sz="1000" dirty="0" smtClean="0">
                <a:latin typeface="+mn-ea"/>
              </a:rPr>
              <a:t>::delete(“</a:t>
            </a:r>
            <a:r>
              <a:rPr lang="en-US" altLang="ko-KR" sz="1000" dirty="0">
                <a:latin typeface="+mn-ea"/>
              </a:rPr>
              <a:t>DEBUG_RAG”, </a:t>
            </a:r>
            <a:r>
              <a:rPr lang="en-US" altLang="ko-KR" sz="1000" dirty="0" smtClean="0">
                <a:latin typeface="+mn-ea"/>
              </a:rPr>
              <a:t>0x01);</a:t>
            </a:r>
            <a:endParaRPr lang="en-US" altLang="ko-KR" sz="1000" dirty="0">
              <a:latin typeface="+mn-ea"/>
            </a:endParaRPr>
          </a:p>
          <a:p>
            <a:pPr>
              <a:buNone/>
            </a:pPr>
            <a:r>
              <a:rPr lang="en-US" altLang="ko-KR" sz="1000" dirty="0" smtClean="0">
                <a:latin typeface="+mn-ea"/>
              </a:rPr>
              <a:t>OK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91013" y="3501008"/>
            <a:ext cx="8072494" cy="25202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da-DK" altLang="ko-KR" sz="900" dirty="0">
                <a:latin typeface="+mn-ea"/>
              </a:rPr>
              <a:t>root@00e8b8d2ae3d:~# cd bin/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root@00e8b8d2ae3d:~/bin# cat </a:t>
            </a:r>
            <a:r>
              <a:rPr lang="da-DK" altLang="ko-KR" sz="900" dirty="0" smtClean="0">
                <a:latin typeface="+mn-ea"/>
              </a:rPr>
              <a:t>debug.log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Jan 15 17:04:47 2026 :1996 rag::build_chunks() build_chunks_from_pages </a:t>
            </a:r>
            <a:r>
              <a:rPr lang="ko-KR" altLang="en-US" sz="900" dirty="0">
                <a:latin typeface="+mn-ea"/>
              </a:rPr>
              <a:t>전 </a:t>
            </a:r>
            <a:r>
              <a:rPr lang="en-US" altLang="ko-KR" sz="900" dirty="0">
                <a:latin typeface="+mn-ea"/>
              </a:rPr>
              <a:t>=&gt;{}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Jan 15 17:04:47 2026 :2655 rag::build_chunks_from_pages() chunked_file=[../users/jhjeon/dump/594ce949/tmp46bac5f17c77fd9b.fgf]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Jan 15 17:04:47 2026 :2663 rag::build_chunks_from_pages() dt_guess={'org_dt':'2026', 'std_dt':'20260101', 'fmt':'YYYY'}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Jan 15 17:04:47 2026 :687 rag::import_files() imp smt=&gt;#tag rag_import_files_incr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import rag</a:t>
            </a:r>
          </a:p>
          <a:p>
            <a:pPr>
              <a:buNone/>
            </a:pPr>
            <a:endParaRPr lang="da-DK" altLang="ko-KR" sz="900" dirty="0">
              <a:latin typeface="+mn-ea"/>
            </a:endParaRPr>
          </a:p>
          <a:p>
            <a:pPr>
              <a:buNone/>
            </a:pPr>
            <a:r>
              <a:rPr lang="da-DK" altLang="ko-KR" sz="900" dirty="0">
                <a:latin typeface="+mn-ea"/>
              </a:rPr>
              <a:t>void main() {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setenv('lconf','RAG_INDEX_COMP5');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setenv('privilege','superuser');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import files ../users/jhjeon/dump/594ce949 *.fgf to /jhjeon/tabc format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uuid = "``uuid``",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cid = "``cid``",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prev_cid = "``prev_cid``",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title = "``title``",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  chunk = "``chunk</a:t>
            </a:r>
            <a:r>
              <a:rPr lang="da-DK" altLang="ko-KR" sz="900" dirty="0" smtClean="0">
                <a:latin typeface="+mn-ea"/>
              </a:rPr>
              <a:t>``", </a:t>
            </a:r>
          </a:p>
          <a:p>
            <a:pPr>
              <a:buNone/>
            </a:pPr>
            <a:r>
              <a:rPr lang="da-DK" altLang="ko-KR" sz="900" dirty="0" smtClean="0">
                <a:latin typeface="+mn-ea"/>
              </a:rPr>
              <a:t>....</a:t>
            </a:r>
            <a:endParaRPr lang="da-DK" altLang="ko-KR" sz="900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39552" y="4365104"/>
            <a:ext cx="3987708" cy="16561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0" y="4391816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  <a:latin typeface="+mn-ea"/>
              </a:rPr>
              <a:t>색인시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 수행되는 쿼리 확인</a:t>
            </a:r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9822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■ </a:t>
            </a:r>
            <a:r>
              <a:rPr lang="en-US" altLang="ko-KR" dirty="0" smtClean="0"/>
              <a:t>debug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BC22E-DAEF-4EAF-895E-69A11BCEBA92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15" name="내용 개체 틀 2"/>
          <p:cNvSpPr txBox="1">
            <a:spLocks/>
          </p:cNvSpPr>
          <p:nvPr/>
        </p:nvSpPr>
        <p:spPr>
          <a:xfrm>
            <a:off x="412460" y="1052736"/>
            <a:ext cx="8229600" cy="5073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endParaRPr lang="en-US" altLang="ko-KR" sz="1600" dirty="0" smtClean="0">
              <a:latin typeface="+mn-ea"/>
            </a:endParaRPr>
          </a:p>
          <a:p>
            <a:pPr marL="0" indent="0">
              <a:buNone/>
            </a:pPr>
            <a:endParaRPr lang="en-US" altLang="ko-KR" sz="1600" dirty="0" smtClean="0">
              <a:latin typeface="+mn-ea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DEBUG</a:t>
            </a:r>
            <a:r>
              <a:rPr lang="ko-KR" altLang="en-US" sz="1600" dirty="0"/>
              <a:t>파일을 확인한다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endParaRPr lang="en-US" altLang="ko-KR" sz="1600" dirty="0"/>
          </a:p>
          <a:p>
            <a:endParaRPr lang="en-US" altLang="ko-KR" sz="1600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91013" y="836712"/>
            <a:ext cx="8072494" cy="60212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44000" tIns="108000" rIns="144000" bIns="108000" rtlCol="0" anchor="ctr"/>
          <a:lstStyle/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./src/rag-search-v6.k:162 rag::search_v6_get() &gt;&gt;&gt;&gt;&gt;&gt;&gt;&gt;&gt;&gt;&gt;&gt;&gt;&gt;&gt;&gt;&gt;&gt;&gt;&gt;&gt;&gt;&gt; argv=&gt;{'DAEMON_THREAD_ID':'w0', 'SERVER_IP':'10.10.30.3', 'SERVER_PORT':6541, 'customfields':'', 'embedding':'embedding-10', 'hide_tt':0, 'protocol':'HTTP', 'lconf':'1770596945262-098f6bcd', 'credential':'eyJhbGciOiJIUzI1NnxBRVMxMjhfQ0ZCOCIsImFlc19rZXkiOjQzNSwiaHMyNTZfa2V5Ijo0MjEsImFlc19pdiI6MTMxLCJ0eXAiOiJKV1QifQ.006796b3a82385de5cacf50c635cf39a6299ca6e1079834701b1e959795c4704b5744e7b812a0f9120b213fcfc90e8e9f1e398a0c546d97494dadac080acd1b773d86fd51f5f8a637755.49c0b327fdf037bed58810944640c766cfb139fa0f006f5d0e7ae1588ac46fff', 'CLIENT_IP':'10.10.17.33', 'URI':'/ksm/rag/v6/search', 'threshold':1.0, 'CLIENT_PORT':57604, 'text':'22</a:t>
            </a:r>
            <a:r>
              <a:rPr lang="ko-KR" altLang="en-US" sz="900" dirty="0">
                <a:latin typeface="+mn-ea"/>
              </a:rPr>
              <a:t>대 대통령이 누구야</a:t>
            </a:r>
            <a:r>
              <a:rPr lang="en-US" altLang="ko-KR" sz="900" dirty="0">
                <a:latin typeface="+mn-ea"/>
              </a:rPr>
              <a:t>?', '</a:t>
            </a:r>
            <a:r>
              <a:rPr lang="da-DK" altLang="ko-KR" sz="900" dirty="0">
                <a:latin typeface="+mn-ea"/>
              </a:rPr>
              <a:t>topk':10, 'where':'aliasing chunk as weight_chunk (weight_chunk="</a:t>
            </a:r>
            <a:r>
              <a:rPr lang="ko-KR" altLang="en-US" sz="900" dirty="0">
                <a:latin typeface="+mn-ea"/>
              </a:rPr>
              <a:t>경기도</a:t>
            </a:r>
            <a:r>
              <a:rPr lang="en-US" altLang="ko-KR" sz="900" dirty="0">
                <a:latin typeface="+mn-ea"/>
              </a:rPr>
              <a:t>" </a:t>
            </a:r>
            <a:r>
              <a:rPr lang="da-DK" altLang="ko-KR" sz="900" dirty="0">
                <a:latin typeface="+mn-ea"/>
              </a:rPr>
              <a:t>allword and (title = \'{{cooked_text}}\' someword synonym or chunk = \'{{text}}\' allword synonym) ) or (title = \'{{cooked_text}}\' someword synonym or chunk = \'{{text}}\' allword synonym ) order by  {$MATCH(weight_chunk) desc 30, $MATCH(title) desc 30, $relevance desc 30 }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', 'HOST':'10.10.30.3:6541', 'vols':'ragx01,ragx02'}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./src/rag-search-v6.k:135 rag::search_v6() code=&gt;function main() {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setenv('credential', 'eyJhbGciOiJIUzI1NnxBRVMxMjhfQ0ZCOCIsImFlc19rZXkiOjQzNSwiaHMyNTZfa2V5Ijo0MjEsImFlc19pdiI6MTMxLCJ0eXAiOiJKV1QifQ.006796b3a82385de5cacf50c635cf39a6299ca6e1079834701b1e959795c4704b5744e7b812a0f9120b213fcfc90e8e9f1e398a0c546d97494dadac080acd1b773d86fd51f5f8a637755.49c0b327fdf037bed58810944640c766cfb139fa0f006f5d0e7ae1588ac46fff')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setenv('lconf', '1770596945262-098f6bcd');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alias vol "ragx01 ragx02";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use volume vol;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select cid from tabc where aliasing chunk as weight_chunk (weight_chunk="</a:t>
            </a:r>
            <a:r>
              <a:rPr lang="ko-KR" altLang="en-US" sz="900" dirty="0">
                <a:latin typeface="+mn-ea"/>
              </a:rPr>
              <a:t>경기도</a:t>
            </a:r>
            <a:r>
              <a:rPr lang="en-US" altLang="ko-KR" sz="900" dirty="0">
                <a:latin typeface="+mn-ea"/>
              </a:rPr>
              <a:t>" </a:t>
            </a:r>
            <a:r>
              <a:rPr lang="da-DK" altLang="ko-KR" sz="900" dirty="0">
                <a:latin typeface="+mn-ea"/>
              </a:rPr>
              <a:t>allword and (title = '</a:t>
            </a:r>
            <a:r>
              <a:rPr lang="ko-KR" altLang="en-US" sz="900" dirty="0">
                <a:latin typeface="+mn-ea"/>
              </a:rPr>
              <a:t>대통령</a:t>
            </a:r>
            <a:r>
              <a:rPr lang="en-US" altLang="ko-KR" sz="900" dirty="0">
                <a:latin typeface="+mn-ea"/>
              </a:rPr>
              <a:t>' </a:t>
            </a:r>
            <a:r>
              <a:rPr lang="da-DK" altLang="ko-KR" sz="900" dirty="0">
                <a:latin typeface="+mn-ea"/>
              </a:rPr>
              <a:t>someword synonym or chunk = '22</a:t>
            </a:r>
            <a:r>
              <a:rPr lang="ko-KR" altLang="en-US" sz="900" dirty="0">
                <a:latin typeface="+mn-ea"/>
              </a:rPr>
              <a:t>대 대통령이 누구야</a:t>
            </a:r>
            <a:r>
              <a:rPr lang="en-US" altLang="ko-KR" sz="900" dirty="0">
                <a:latin typeface="+mn-ea"/>
              </a:rPr>
              <a:t>?' </a:t>
            </a:r>
            <a:r>
              <a:rPr lang="da-DK" altLang="ko-KR" sz="900" dirty="0">
                <a:latin typeface="+mn-ea"/>
              </a:rPr>
              <a:t>allword synonym) ) or (title = '</a:t>
            </a:r>
            <a:r>
              <a:rPr lang="ko-KR" altLang="en-US" sz="900" dirty="0">
                <a:latin typeface="+mn-ea"/>
              </a:rPr>
              <a:t>대통령</a:t>
            </a:r>
            <a:r>
              <a:rPr lang="en-US" altLang="ko-KR" sz="900" dirty="0">
                <a:latin typeface="+mn-ea"/>
              </a:rPr>
              <a:t>' </a:t>
            </a:r>
            <a:r>
              <a:rPr lang="da-DK" altLang="ko-KR" sz="900" dirty="0">
                <a:latin typeface="+mn-ea"/>
              </a:rPr>
              <a:t>someword synonym or chunk = '22</a:t>
            </a:r>
            <a:r>
              <a:rPr lang="ko-KR" altLang="en-US" sz="900" dirty="0">
                <a:latin typeface="+mn-ea"/>
              </a:rPr>
              <a:t>대 대통령이 누구야</a:t>
            </a:r>
            <a:r>
              <a:rPr lang="en-US" altLang="ko-KR" sz="900" dirty="0">
                <a:latin typeface="+mn-ea"/>
              </a:rPr>
              <a:t>?' </a:t>
            </a:r>
            <a:r>
              <a:rPr lang="da-DK" altLang="ko-KR" sz="900" dirty="0">
                <a:latin typeface="+mn-ea"/>
              </a:rPr>
              <a:t>allword synonym ) order by  {$MATCH(weight_chunk) desc 30, $MATCH(title) desc 30, $relevance desc 30 }</a:t>
            </a:r>
          </a:p>
          <a:p>
            <a:pPr>
              <a:buNone/>
            </a:pPr>
            <a:endParaRPr lang="da-DK" altLang="ko-KR" sz="900" dirty="0">
              <a:latin typeface="+mn-ea"/>
            </a:endParaRPr>
          </a:p>
          <a:p>
            <a:pPr>
              <a:buNone/>
            </a:pPr>
            <a:r>
              <a:rPr lang="da-DK" altLang="ko-KR" sz="900" dirty="0">
                <a:latin typeface="+mn-ea"/>
              </a:rPr>
              <a:t>      pagelength=10 format=json;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return KQL_STATEMENT_OUT;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}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./src/rag-search-v6.k:139 rag::search_v6() select_res["total"]:9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./src/rag-search-v6.k:170 rag::search_v6_get() cids.length()=9 num_total=9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./src/rag-search-v6.k:172 rag::search_v6_get() vols=['ragx01', 'ragx02'] (type:list&lt;string&gt;)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:344 rag::build_return_dict() &gt;&gt;&gt;&gt;&gt;&gt;&gt;&gt;&gt;&gt; cids_to_visit=[{'ragx01/06efd43b-d72f-43e9-9bbf-1df2a23fb69c.1.0.e064722d8', 'ragx01/ed3a1cd9-cbed-42c1-9032-514a4043c8c3.1.0.5d2fa29f2', 'ragx01/2f6829ec-44ae-4afd-9cb3-564e51abd359.1.0.62d8ed452', 'ragx01/0e5a3e10-6260-4d36-8462-70caf5c021b1.1.0.1493ad0bf', 'ragx01/ab8d7c04-5bbf-4702-ac53-d46ff830d79e.1.0.388667055', 'ragx01/2f6829ec-44ae-4afd-9cb3-564e51abd359.1.1.523c3636f', 'ragx01/7383b23e-9a45-48c9-825f-8367e2fef2fe.1.0.fcd7b85b7', 'ragx01/58c2fd31-b1ce-43fe-9caa-a52b39e56c48.1.0.58d5a914a', 'ragx01/7db0472d-3849-4d59-b7aa-3c83aca76d57.1.0.97c2bd9e8'}]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:369 rag::build_return_dict() &gt;&gt;&gt;&gt;&gt;&gt;&gt;&gt;&gt;&gt; query=[alias vol 'ragx01'; use volume vol;setenv('credential', 'eyJhbGciOiJIUzI1NnxBRVMxMjhfQ0ZCOCIsImFlc19rZXkiOjQzNSwiaHMyNTZfa2V5Ijo0MjEsImFlc19pdiI6MTMxLCJ0eXAiOiJKV1QifQ.006796b3a82385de5cacf50c635cf39a6299ca6e1079834701b1e959795c4704b5744e7b812a0f9120b213fcfc90e8e9f1e398a0c546d97494dadac080acd1b773d86fd51f5f8a637755.49c0b327fdf037bed58810944640c766cfb139fa0f006f5d0e7ae1588ac46fff');select cid, title,chunk,pgno,prev_cid,next_cid ,filepath ,dt,tm ,uuid  from tabc where cid in {'2f6829ec-44ae-4afd-9cb3-564e51abd359.1.0.62d8ed452', '2f6829ec-44ae-4afd-9cb3-564e51abd359.1.1.523c3636f', '58c2fd31-b1ce-43fe-9caa-a52b39e56c48.1.0.58d5a914a', '7383b23e-9a45-48c9-825f-8367e2fef2fe.1.0.fcd7b85b7', '7db0472d-3849-4d59-b7aa-3c83aca76d57.1.0.97c2bd9e8', 'ab8d7c04-5bbf-4702-ac53-d46ff830d79e.1.0.388667055', 'ed3a1cd9-cbed-42c1-9032-514a4043c8c3.1.0.5d2fa29f2', '0e5a3e10-6260-4d36-8462-70caf5c021b1.1.0.1493ad0bf', '06efd43b-d72f-43e9-9bbf-1df2a23fb69c.1.0.e064722d8'} format=json pagelength=18;]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:469 rag::build_return_dict elapsed time = 0.1 sec</a:t>
            </a:r>
          </a:p>
          <a:p>
            <a:pPr>
              <a:buNone/>
            </a:pPr>
            <a:r>
              <a:rPr lang="da-DK" altLang="ko-KR" sz="900" dirty="0">
                <a:latin typeface="+mn-ea"/>
              </a:rPr>
              <a:t>Thu Mar 12 12:44:14 2026 ./src/rag-search-v6.k:176 rag::search_v6_get() total elapsed time = 0.2sec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546056" y="2960948"/>
            <a:ext cx="7914376" cy="13321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2843808" y="296094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검색 쿼리</a:t>
            </a:r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92080" y="4293096"/>
            <a:ext cx="1386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rgbClr val="FF0000"/>
                </a:solidFill>
                <a:latin typeface="+mn-ea"/>
              </a:rPr>
              <a:t>검색 결과 건수</a:t>
            </a:r>
            <a:endParaRPr lang="ko-KR" altLang="en-US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47864" y="4293096"/>
            <a:ext cx="3331134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509618" y="4694746"/>
            <a:ext cx="7950814" cy="7504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516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691488" y="2515546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Q&amp;A</a:t>
            </a:r>
            <a:endParaRPr lang="ko-KR" altLang="en-US" dirty="0"/>
          </a:p>
        </p:txBody>
      </p: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74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>
            <a:cxnSpLocks/>
          </p:cNvCxnSpPr>
          <p:nvPr/>
        </p:nvCxnSpPr>
        <p:spPr>
          <a:xfrm>
            <a:off x="691488" y="2515546"/>
            <a:ext cx="0" cy="720080"/>
          </a:xfrm>
          <a:prstGeom prst="line">
            <a:avLst/>
          </a:prstGeom>
          <a:ln w="381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5698" y="2140364"/>
            <a:ext cx="7772400" cy="1470025"/>
          </a:xfrm>
        </p:spPr>
        <p:txBody>
          <a:bodyPr/>
          <a:lstStyle/>
          <a:p>
            <a:r>
              <a:rPr lang="en-US" altLang="ko-KR" dirty="0" smtClean="0"/>
              <a:t>Thank You.</a:t>
            </a:r>
            <a:endParaRPr lang="ko-KR" altLang="en-US" dirty="0"/>
          </a:p>
        </p:txBody>
      </p:sp>
      <p:pic>
        <p:nvPicPr>
          <p:cNvPr id="6" name="그림 5" descr="BI_Konan Search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16" y="1857364"/>
            <a:ext cx="1590666" cy="34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0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3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005390"/>
      </a:accent1>
      <a:accent2>
        <a:srgbClr val="D2533C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흐름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38332</TotalTime>
  <Words>2660</Words>
  <Application>Microsoft Office PowerPoint</Application>
  <PresentationFormat>화면 슬라이드 쇼(4:3)</PresentationFormat>
  <Paragraphs>612</Paragraphs>
  <Slides>25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Konan Search – 심화 &amp; RAG</vt:lpstr>
      <vt:lpstr>■ 목차</vt:lpstr>
      <vt:lpstr>1. RAG 색인 심화  (INSERT, UPDATE ,DELETE)</vt:lpstr>
      <vt:lpstr>■ RAG 색인</vt:lpstr>
      <vt:lpstr>■ Konan Search의 Chunking</vt:lpstr>
      <vt:lpstr>■ table 기본 스키마</vt:lpstr>
      <vt:lpstr>■ RAG 색인 - Insert</vt:lpstr>
      <vt:lpstr>■ RAG 색인  - Delete</vt:lpstr>
      <vt:lpstr>■ RAG 색인  - Updatae</vt:lpstr>
      <vt:lpstr>■ 색인 커스터마이징 – ddl.k</vt:lpstr>
      <vt:lpstr>■ 색인 커스터마이징 – dml.k</vt:lpstr>
      <vt:lpstr>2. /ksm/rag/v5/search </vt:lpstr>
      <vt:lpstr>■ /ksm/rag/v5/search </vt:lpstr>
      <vt:lpstr>■ /ksm/rag/v5/search api Parameter</vt:lpstr>
      <vt:lpstr>■ Keyword 검색</vt:lpstr>
      <vt:lpstr>■ Keyword 검색 튜닝</vt:lpstr>
      <vt:lpstr>3. /ksm/rag/v6/search </vt:lpstr>
      <vt:lpstr>■ /ksm/rag/v6/search </vt:lpstr>
      <vt:lpstr>■ /ksm/rag/v6/search – where 파라미터 </vt:lpstr>
      <vt:lpstr>■ /ksm/rag/v6/search – 기타 파라미터</vt:lpstr>
      <vt:lpstr>3. debug</vt:lpstr>
      <vt:lpstr>■ debug</vt:lpstr>
      <vt:lpstr>■ debug</vt:lpstr>
      <vt:lpstr>Q&amp;A</vt:lpstr>
      <vt:lpstr>Thank You.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전주현</dc:creator>
  <cp:lastModifiedBy>전주현</cp:lastModifiedBy>
  <cp:revision>1496</cp:revision>
  <dcterms:created xsi:type="dcterms:W3CDTF">2023-05-09T04:33:32Z</dcterms:created>
  <dcterms:modified xsi:type="dcterms:W3CDTF">2026-04-16T07:27:37Z</dcterms:modified>
</cp:coreProperties>
</file>