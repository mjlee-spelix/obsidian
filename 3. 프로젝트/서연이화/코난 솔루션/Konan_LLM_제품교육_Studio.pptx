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0" r:id="rId10"/>
    <p:sldId id="281" r:id="rId11"/>
    <p:sldId id="264" r:id="rId12"/>
    <p:sldId id="265" r:id="rId13"/>
    <p:sldId id="268" r:id="rId14"/>
    <p:sldId id="266" r:id="rId15"/>
    <p:sldId id="267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Urbanist" panose="020B0604020202020204" charset="0"/>
      <p:regular r:id="rId32"/>
      <p:bold r:id="rId33"/>
      <p:italic r:id="rId34"/>
      <p:boldItalic r:id="rId35"/>
    </p:embeddedFont>
    <p:embeddedFont>
      <p:font typeface="Noto Sans KR" panose="020B0200000000000000" pitchFamily="50" charset="-127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3EE820E-6938-4F20-8F82-41D3D9338B61}">
  <a:tblStyle styleId="{33EE820E-6938-4F20-8F82-41D3D9338B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1704" y="-8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93946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95275" y="1958231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KonanLLM</a:t>
            </a:r>
            <a:r>
              <a:rPr lang="en-US" sz="6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 i="0" u="none" strike="noStrike" cap="none" dirty="0" smtClean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- </a:t>
            </a:r>
            <a:r>
              <a:rPr lang="en-US" sz="6000" b="1" i="0" u="none" strike="noStrike" cap="none" dirty="0" smtClean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Studio</a:t>
            </a:r>
            <a:endParaRPr dirty="0"/>
          </a:p>
        </p:txBody>
      </p:sp>
      <p:sp>
        <p:nvSpPr>
          <p:cNvPr id="4" name="Google Shape;89;p13"/>
          <p:cNvSpPr txBox="1"/>
          <p:nvPr/>
        </p:nvSpPr>
        <p:spPr>
          <a:xfrm>
            <a:off x="9055100" y="5943599"/>
            <a:ext cx="2647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smtClean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2026.04.17.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8767"/>
            <a:ext cx="5405437" cy="165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048767"/>
            <a:ext cx="5405437" cy="165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42308"/>
            <a:ext cx="5405437" cy="165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3942308"/>
            <a:ext cx="5405437" cy="165541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66775" y="2344042"/>
            <a:ext cx="50556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01. 스튜디오 소개 및 메뉴 안내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66775" y="2963167"/>
            <a:ext cx="48148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 개요 및 주요 UI 기능 상세 설명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10337" y="2344042"/>
            <a:ext cx="50556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02. 시스템 구조 및 설치 확인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10337" y="2963167"/>
            <a:ext cx="48148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아키텍처 구성, 컨테이너 리스트 및 점검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4237583"/>
            <a:ext cx="50556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03. Gateway 및 로그 수집 구조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6775" y="4856708"/>
            <a:ext cx="48148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라우팅, 필터링 및 데이터 처리 흐름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510337" y="4237583"/>
            <a:ext cx="50556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04. 문제 발생 시 대처 방법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510337" y="4856708"/>
            <a:ext cx="48148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로그 분석 및 장애 유형별 대응 가이드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목차 / Contents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149531" y="2055463"/>
            <a:ext cx="1384659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endParaRPr dirty="0"/>
          </a:p>
        </p:txBody>
      </p:sp>
      <p:sp>
        <p:nvSpPr>
          <p:cNvPr id="119" name="Google Shape;119;p15"/>
          <p:cNvSpPr/>
          <p:nvPr/>
        </p:nvSpPr>
        <p:spPr>
          <a:xfrm>
            <a:off x="1354957" y="3440877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396522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메뉴 기능과 사용 안내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295275" y="2298352"/>
            <a:ext cx="1160145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스튜디오 소개 및 메뉴 안내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60190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60190"/>
            <a:ext cx="2571750" cy="233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33750" y="1760190"/>
            <a:ext cx="2571750" cy="233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84166"/>
            <a:ext cx="5334000" cy="189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71525" y="1960215"/>
            <a:ext cx="21717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Studio (관리 콘솔)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3533775" y="1960215"/>
            <a:ext cx="21717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Agent (채팅 서비스)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71525" y="4484191"/>
            <a:ext cx="493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접속 경로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71525" y="4912816"/>
            <a:ext cx="4933950" cy="115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Studio – </a:t>
            </a:r>
            <a:r>
              <a:rPr lang="en-US" sz="1350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ip:</a:t>
            </a:r>
            <a:r>
              <a:rPr lang="en-US" sz="135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port</a:t>
            </a:r>
            <a:r>
              <a:rPr lang="en-US" sz="135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/studio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Agent – </a:t>
            </a:r>
            <a:r>
              <a:rPr lang="en-US" sz="135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ip:port</a:t>
            </a:r>
            <a:r>
              <a:rPr lang="en-US" sz="135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/agent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00" b="0" i="0" u="none" strike="noStrike" cap="none" dirty="0" smtClean="0">
              <a:solidFill>
                <a:srgbClr val="CBD5E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*</a:t>
            </a:r>
            <a:r>
              <a:rPr lang="en-US" sz="100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Gateway </a:t>
            </a:r>
            <a:r>
              <a:rPr lang="en-US" sz="1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단일</a:t>
            </a:r>
            <a:r>
              <a:rPr lang="en-US" sz="1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포트</a:t>
            </a:r>
            <a:r>
              <a:rPr lang="en-US" sz="100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0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운영</a:t>
            </a:r>
            <a:endParaRPr sz="1000"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1095375" y="236883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152525" y="2369790"/>
            <a:ext cx="1790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관리 및 학습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95375" y="264312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52525" y="2644080"/>
            <a:ext cx="1790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프롬프트 갤러리/플레이그라운드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95375" y="319170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52525" y="3192660"/>
            <a:ext cx="1790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배치, 데이터셋 관리 및 평가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3857625" y="236883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3914775" y="2369790"/>
            <a:ext cx="1790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사용자용 채팅 UI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3857625" y="264312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3914775" y="2644080"/>
            <a:ext cx="1790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RAG 검색 연동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3857625" y="291741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3914775" y="2918370"/>
            <a:ext cx="1790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Tools / 파일 업로드 지원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KonanLLM Studio</a:t>
            </a:r>
            <a:r>
              <a:rPr lang="en-US" sz="33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소개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116964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LLM 스튜디오 플랫폼 - 프롬프트 설계부터 서비스 배포까지</a:t>
            </a:r>
            <a:endParaRPr/>
          </a:p>
        </p:txBody>
      </p:sp>
      <p:pic>
        <p:nvPicPr>
          <p:cNvPr id="150" name="Google Shape;15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87938" y="1275036"/>
            <a:ext cx="5531124" cy="492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60200"/>
            <a:ext cx="3524250" cy="14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760200"/>
            <a:ext cx="3524250" cy="14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1760200"/>
            <a:ext cx="3524250" cy="14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85098"/>
            <a:ext cx="3524250" cy="14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33875" y="3285098"/>
            <a:ext cx="3524250" cy="14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0" y="3285098"/>
            <a:ext cx="3524250" cy="14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866775" y="2055465"/>
            <a:ext cx="3080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대시보드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66775" y="2621012"/>
            <a:ext cx="293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GPU 상태 &amp; </a:t>
            </a: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요청 현황 모니터링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4629150" y="2055465"/>
            <a:ext cx="308038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모델 관리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629150" y="2621012"/>
            <a:ext cx="293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LLM 모델 조회 관리</a:t>
            </a:r>
            <a:r>
              <a:rPr lang="en-US" sz="135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및 상태 확인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93425" y="3573774"/>
            <a:ext cx="308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프롬프트 갤러리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93425" y="4150037"/>
            <a:ext cx="293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템플릿 생성 및 버전 관리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572000" y="3564345"/>
            <a:ext cx="308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플레이그라운드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572000" y="4140608"/>
            <a:ext cx="293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모델/프롬프트 실시간 테스트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334375" y="3564345"/>
            <a:ext cx="308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배치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334375" y="4140608"/>
            <a:ext cx="293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대량 추론 작업 실행 및 관리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391525" y="1994445"/>
            <a:ext cx="308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모델 학습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391525" y="2559992"/>
            <a:ext cx="293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Fine-tuning 수행 및 모델 생성 관리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Studio 메인 메뉴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571500" y="116964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상단 네비게이션 메뉴 구성</a:t>
            </a:r>
            <a:endParaRPr/>
          </a:p>
        </p:txBody>
      </p:sp>
      <p:pic>
        <p:nvPicPr>
          <p:cNvPr id="177" name="Google Shape;17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32750"/>
            <a:ext cx="5386400" cy="15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778669" y="4989456"/>
            <a:ext cx="5029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데이터셋 (Dataset)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1009650" y="5399031"/>
            <a:ext cx="4648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사전학습 (Pretrain) : 대용량 원천 데이터 관리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009650" y="5673321"/>
            <a:ext cx="4648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미세조정 (Fine-tune) : 버전별 학습 데이터 관리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009650" y="5947611"/>
            <a:ext cx="4648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RAG : 지식 베이스 관리 및 벡터 인덱싱</a:t>
            </a:r>
            <a:endParaRPr/>
          </a:p>
        </p:txBody>
      </p:sp>
      <p:pic>
        <p:nvPicPr>
          <p:cNvPr id="182" name="Google Shape;18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4100" y="4832750"/>
            <a:ext cx="5386400" cy="15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6441269" y="4989456"/>
            <a:ext cx="5029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사용자메뉴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6631775" y="5399028"/>
            <a:ext cx="4648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대화이력 : 채팅 로그 조회 및 검색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631775" y="5673318"/>
            <a:ext cx="4648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작업이력 : 시스템 이벤트 로그 조회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631775" y="5947608"/>
            <a:ext cx="4648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 관리 : 계정 관리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952350" y="539903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952350" y="567332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952350" y="5947618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574475" y="539903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574475" y="567332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574475" y="5947618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60190"/>
            <a:ext cx="5334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03190"/>
            <a:ext cx="5334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46190"/>
            <a:ext cx="5334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771525" y="1960215"/>
            <a:ext cx="493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프롬프트 설계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771525" y="3103215"/>
            <a:ext cx="493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버전 관리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771525" y="4246215"/>
            <a:ext cx="493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배포 (Publish)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프롬프트 갤러리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571500" y="116964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비즈니스 작업에 필요한 프롬프트를 설계하고 </a:t>
            </a:r>
            <a:r>
              <a:rPr lang="en-US" sz="150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사용 가능하도록 </a:t>
            </a: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배포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60203"/>
            <a:ext cx="3524250" cy="371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760203"/>
            <a:ext cx="3524250" cy="371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1760203"/>
            <a:ext cx="3524250" cy="371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055465"/>
            <a:ext cx="29337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866775" y="2626965"/>
            <a:ext cx="308038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멀티턴 채팅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866775" y="3246090"/>
            <a:ext cx="2933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프롬프트 적용</a:t>
            </a:r>
            <a:endParaRPr sz="1350" b="0" i="0" u="none" strike="noStrike" cap="none">
              <a:solidFill>
                <a:srgbClr val="CBD5E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SSE 스트리밍 실시간 응답 확인</a:t>
            </a:r>
            <a:endParaRPr/>
          </a:p>
        </p:txBody>
      </p:sp>
      <p:pic>
        <p:nvPicPr>
          <p:cNvPr id="218" name="Google Shape;21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9150" y="2055465"/>
            <a:ext cx="29337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4629150" y="2626965"/>
            <a:ext cx="308038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모델 &amp; 파라미터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4629150" y="3246090"/>
            <a:ext cx="2933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로드된 모델 선택</a:t>
            </a:r>
            <a:endParaRPr sz="1350">
              <a:solidFill>
                <a:srgbClr val="CBD5E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135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, 파라미터 별 </a:t>
            </a: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응답 비교</a:t>
            </a:r>
            <a:endParaRPr/>
          </a:p>
        </p:txBody>
      </p:sp>
      <p:pic>
        <p:nvPicPr>
          <p:cNvPr id="221" name="Google Shape;22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91525" y="2055465"/>
            <a:ext cx="29337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8391525" y="2626965"/>
            <a:ext cx="308038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Tools 연동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8391525" y="3246090"/>
            <a:ext cx="29337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RAG(문서 검색)</a:t>
            </a:r>
            <a:endParaRPr sz="1350">
              <a:solidFill>
                <a:srgbClr val="CBD5E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웹 검색</a:t>
            </a:r>
            <a:endParaRPr sz="1350">
              <a:solidFill>
                <a:srgbClr val="CBD5E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MCP 연동</a:t>
            </a:r>
            <a:endParaRPr sz="1350">
              <a:solidFill>
                <a:srgbClr val="CBD5E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파일 업로드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플레이그라운드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571500" y="116964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모델과 프롬프트를 실시간으로 테스트하는 채팅 인터페이스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35585"/>
            <a:ext cx="11049000" cy="998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60190"/>
            <a:ext cx="5429250" cy="1784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760190"/>
            <a:ext cx="5429250" cy="178489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809625" y="4097535"/>
            <a:ext cx="10620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확인: 완료 시 요청 건수(성공/실패) 요약 제공 및 결과 파일(.jsonl) 다운로드 지원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771525" y="1960215"/>
            <a:ext cx="5029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Step 1. 데이터 설정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6391275" y="1960215"/>
            <a:ext cx="5029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Step 2. 실행 설정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1095375" y="236883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1152525" y="2369790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파일 업로드 (JSONL 형식)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1095375" y="264312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1152525" y="2644080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각 행 단위 자동 추론 요청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1095375" y="291741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1152525" y="2918370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업로드 데이터 미리보기 및 검증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715125" y="236883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772275" y="2369790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추론 모델 및 프롬프트 선택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715125" y="264312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772275" y="2644080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출력 필드명 지정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715125" y="291741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772275" y="2918370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작업 상태 모니터링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배치 (Batch)</a:t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571500" y="116964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대량의 프롬프트를 일괄 처리하고 결과물을 관리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8FAFC"/>
                </a:solidFill>
                <a:latin typeface="Urbanist"/>
              </a:rPr>
              <a:t>데이터셋 / RAG 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169640"/>
            <a:ext cx="1104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Noto Sans KR"/>
              </a:rPr>
              <a:t>지식 베이스 구축부터 RAG 검색 연동까지의 데이터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00" y="185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3" b="1">
                <a:solidFill>
                  <a:srgbClr val="38BDF8"/>
                </a:solidFill>
                <a:latin typeface="Noto Sans KR"/>
              </a:rPr>
              <a:t>사전학습 (Pretrain)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00" y="2230000"/>
            <a:ext cx="3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2"/>
              </a:spcAft>
            </a:pPr>
            <a:r>
              <a:rPr sz="1220" b="0">
                <a:solidFill>
                  <a:srgbClr val="CBD5E1"/>
                </a:solidFill>
                <a:latin typeface="Noto Sans KR"/>
              </a:rPr>
              <a:t>대용량 원천 데이터 관리</a:t>
            </a:r>
          </a:p>
          <a:p>
            <a:pPr algn="l">
              <a:spcAft>
                <a:spcPts val="472"/>
              </a:spcAft>
            </a:pPr>
            <a:r>
              <a:rPr sz="1220" b="0">
                <a:solidFill>
                  <a:srgbClr val="CBD5E1"/>
                </a:solidFill>
                <a:latin typeface="Noto Sans KR"/>
              </a:rPr>
              <a:t>비정형 텍스트 데이터 업로드 및 버전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1500" y="185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3" b="1">
                <a:solidFill>
                  <a:srgbClr val="38BDF8"/>
                </a:solidFill>
                <a:latin typeface="Noto Sans KR"/>
              </a:rPr>
              <a:t>미세조정 (Fine-tune)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1500" y="2230000"/>
            <a:ext cx="3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2"/>
              </a:spcAft>
            </a:pPr>
            <a:r>
              <a:rPr sz="1220" b="0">
                <a:solidFill>
                  <a:srgbClr val="CBD5E1"/>
                </a:solidFill>
                <a:latin typeface="Noto Sans KR"/>
              </a:rPr>
              <a:t>버전별 학습 데이터 관리</a:t>
            </a:r>
          </a:p>
          <a:p>
            <a:pPr algn="l">
              <a:spcAft>
                <a:spcPts val="472"/>
              </a:spcAft>
            </a:pPr>
            <a:r>
              <a:rPr sz="1220" b="0">
                <a:solidFill>
                  <a:srgbClr val="CBD5E1"/>
                </a:solidFill>
                <a:latin typeface="Noto Sans KR"/>
              </a:rPr>
              <a:t>Instruction / Output 쌍 데이터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1500" y="185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3" b="1">
                <a:solidFill>
                  <a:srgbClr val="38BDF8"/>
                </a:solidFill>
                <a:latin typeface="Noto Sans KR"/>
              </a:rPr>
              <a:t>RAG 데이터셋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1500" y="2230000"/>
            <a:ext cx="3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72"/>
              </a:spcAft>
            </a:pPr>
            <a:r>
              <a:rPr sz="1220" b="0">
                <a:solidFill>
                  <a:srgbClr val="CBD5E1"/>
                </a:solidFill>
                <a:latin typeface="Noto Sans KR"/>
              </a:rPr>
              <a:t>지식 베이스 관리 및 벡터 인덱싱</a:t>
            </a:r>
          </a:p>
          <a:p>
            <a:pPr algn="l">
              <a:spcAft>
                <a:spcPts val="472"/>
              </a:spcAft>
            </a:pPr>
            <a:r>
              <a:rPr sz="1220" b="0">
                <a:solidFill>
                  <a:srgbClr val="CBD5E1"/>
                </a:solidFill>
                <a:latin typeface="Noto Sans KR"/>
              </a:rPr>
              <a:t>문서 업로드 → 청킹 → 임베딩 → 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500000"/>
            <a:ext cx="11049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Noto Sans KR"/>
              </a:rPr>
              <a:t>RAG 연동 흐름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000000"/>
            <a:ext cx="11049000" cy="30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77" b="0" dirty="0">
                <a:solidFill>
                  <a:srgbClr val="CBD5E1"/>
                </a:solidFill>
                <a:latin typeface="Noto Sans KR"/>
              </a:rPr>
              <a:t>①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문서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업로드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 → 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텍스트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추출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/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청킹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 → 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벡터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377" b="0" dirty="0" err="1" smtClean="0">
                <a:solidFill>
                  <a:srgbClr val="CBD5E1"/>
                </a:solidFill>
                <a:latin typeface="Noto Sans KR"/>
              </a:rPr>
              <a:t>임베딩</a:t>
            </a:r>
            <a:r>
              <a:rPr lang="en-US" sz="1377" b="0" dirty="0" smtClean="0">
                <a:solidFill>
                  <a:srgbClr val="CBD5E1"/>
                </a:solidFill>
                <a:latin typeface="Noto Sans KR"/>
              </a:rPr>
              <a:t> </a:t>
            </a:r>
            <a:r>
              <a:rPr sz="1377" b="0" dirty="0" smtClean="0">
                <a:solidFill>
                  <a:srgbClr val="CBD5E1"/>
                </a:solidFill>
                <a:latin typeface="Noto Sans KR"/>
              </a:rPr>
              <a:t> → 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저장</a:t>
            </a:r>
            <a:endParaRPr sz="1377" b="0" dirty="0">
              <a:solidFill>
                <a:srgbClr val="CBD5E1"/>
              </a:solidFill>
              <a:latin typeface="Noto Sans K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1500" y="4450000"/>
            <a:ext cx="11049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77" b="0" dirty="0">
                <a:solidFill>
                  <a:srgbClr val="CBD5E1"/>
                </a:solidFill>
                <a:latin typeface="Noto Sans KR"/>
              </a:rPr>
              <a:t>②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사용자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질문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 → 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쿼리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임베딩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 → 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유사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문서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검색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 → 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컨텍스트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+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프롬프트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 →  LLM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응답</a:t>
            </a:r>
            <a:r>
              <a:rPr sz="1377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377" b="0" dirty="0" err="1">
                <a:solidFill>
                  <a:srgbClr val="CBD5E1"/>
                </a:solidFill>
                <a:latin typeface="Noto Sans KR"/>
              </a:rPr>
              <a:t>생성</a:t>
            </a:r>
            <a:endParaRPr sz="1377" b="0" dirty="0">
              <a:solidFill>
                <a:srgbClr val="CBD5E1"/>
              </a:solidFill>
              <a:latin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1500" y="5100000"/>
            <a:ext cx="11049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Noto Sans KR"/>
              </a:rPr>
              <a:t>※ 플레이그라운드와 Agent 모두에서 RAG 도구를 연동하여 지식 기반 응답을 테스트할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8FAFC"/>
                </a:solidFill>
                <a:latin typeface="Urbanist"/>
              </a:rPr>
              <a:t>전체 워크플로우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169640"/>
            <a:ext cx="11049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94A3B8"/>
                </a:solidFill>
                <a:latin typeface="Noto Sans KR"/>
              </a:rPr>
              <a:t>예시</a:t>
            </a:r>
            <a:r>
              <a:rPr sz="1500" b="0" dirty="0">
                <a:solidFill>
                  <a:srgbClr val="94A3B8"/>
                </a:solidFill>
                <a:latin typeface="Noto Sans KR"/>
              </a:rPr>
              <a:t>: </a:t>
            </a:r>
            <a:r>
              <a:rPr sz="1500" b="0" dirty="0" err="1">
                <a:solidFill>
                  <a:srgbClr val="94A3B8"/>
                </a:solidFill>
                <a:latin typeface="Noto Sans KR"/>
              </a:rPr>
              <a:t>고객</a:t>
            </a:r>
            <a:r>
              <a:rPr sz="1500" b="0" dirty="0">
                <a:solidFill>
                  <a:srgbClr val="94A3B8"/>
                </a:solidFill>
                <a:latin typeface="Noto Sans KR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Noto Sans KR"/>
              </a:rPr>
              <a:t>문의</a:t>
            </a:r>
            <a:r>
              <a:rPr sz="1500" b="0" dirty="0">
                <a:solidFill>
                  <a:srgbClr val="94A3B8"/>
                </a:solidFill>
                <a:latin typeface="Noto Sans KR"/>
              </a:rPr>
              <a:t> </a:t>
            </a:r>
            <a:r>
              <a:rPr lang="ko-KR" altLang="en-US" sz="1500" b="0" dirty="0" smtClean="0">
                <a:solidFill>
                  <a:srgbClr val="94A3B8"/>
                </a:solidFill>
                <a:latin typeface="Noto Sans KR"/>
              </a:rPr>
              <a:t>답변</a:t>
            </a:r>
            <a:r>
              <a:rPr sz="1500" b="0" dirty="0" smtClean="0">
                <a:solidFill>
                  <a:srgbClr val="94A3B8"/>
                </a:solidFill>
                <a:latin typeface="Noto Sans KR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Noto Sans KR"/>
              </a:rPr>
              <a:t>시스템</a:t>
            </a:r>
            <a:r>
              <a:rPr sz="1500" b="0" dirty="0">
                <a:solidFill>
                  <a:srgbClr val="94A3B8"/>
                </a:solidFill>
                <a:latin typeface="Noto Sans KR"/>
              </a:rPr>
              <a:t> </a:t>
            </a:r>
            <a:r>
              <a:rPr sz="1500" b="0" dirty="0" err="1">
                <a:solidFill>
                  <a:srgbClr val="94A3B8"/>
                </a:solidFill>
                <a:latin typeface="Noto Sans KR"/>
              </a:rPr>
              <a:t>구축</a:t>
            </a:r>
            <a:endParaRPr sz="1500" b="0" dirty="0">
              <a:solidFill>
                <a:srgbClr val="94A3B8"/>
              </a:solidFill>
              <a:latin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0000" y="175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74" b="1">
                <a:solidFill>
                  <a:srgbClr val="38BDF8"/>
                </a:solidFill>
                <a:latin typeface="Noto Sans KR"/>
              </a:rPr>
              <a:t>Step 1. 모델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000" y="207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99" b="0" dirty="0" err="1">
                <a:solidFill>
                  <a:srgbClr val="CBD5E1"/>
                </a:solidFill>
                <a:latin typeface="Noto Sans KR"/>
              </a:rPr>
              <a:t>모델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관리에서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LLM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모델을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로드하고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Running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상태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확인</a:t>
            </a:r>
            <a:endParaRPr sz="1299" b="0" dirty="0">
              <a:solidFill>
                <a:srgbClr val="CBD5E1"/>
              </a:solidFill>
              <a:latin typeface="Noto Sans K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0000" y="250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74" b="1">
                <a:solidFill>
                  <a:srgbClr val="38BDF8"/>
                </a:solidFill>
                <a:latin typeface="Noto Sans KR"/>
              </a:rPr>
              <a:t>Step 2. 데이터 구축 (RAG)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282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99" b="0" dirty="0">
                <a:solidFill>
                  <a:srgbClr val="CBD5E1"/>
                </a:solidFill>
                <a:latin typeface="Noto Sans KR"/>
              </a:rPr>
              <a:t>RAG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데이터셋에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업무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매뉴얼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, FAQ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문서를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업로드하여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지식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베이스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구축</a:t>
            </a:r>
            <a:endParaRPr sz="1299" b="0" dirty="0">
              <a:solidFill>
                <a:srgbClr val="CBD5E1"/>
              </a:solidFill>
              <a:latin typeface="Noto Sans K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0000" y="325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74" b="1">
                <a:solidFill>
                  <a:srgbClr val="38BDF8"/>
                </a:solidFill>
                <a:latin typeface="Noto Sans KR"/>
              </a:rPr>
              <a:t>Step 3. 프롬프트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000" y="3570000"/>
            <a:ext cx="10800000" cy="29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99" b="0" dirty="0" err="1">
                <a:solidFill>
                  <a:srgbClr val="CBD5E1"/>
                </a:solidFill>
                <a:latin typeface="Noto Sans KR"/>
              </a:rPr>
              <a:t>프롬프트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갤러리에서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 smtClean="0">
                <a:solidFill>
                  <a:srgbClr val="CBD5E1"/>
                </a:solidFill>
                <a:latin typeface="Noto Sans KR"/>
              </a:rPr>
              <a:t>지침과</a:t>
            </a:r>
            <a:r>
              <a:rPr sz="1299" b="0" dirty="0" smtClean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출력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형식을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포함한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프롬프트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작성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smtClean="0">
                <a:solidFill>
                  <a:srgbClr val="CBD5E1"/>
                </a:solidFill>
                <a:latin typeface="Noto Sans KR"/>
              </a:rPr>
              <a:t>및</a:t>
            </a:r>
            <a:r>
              <a:rPr lang="en-US" sz="1299" b="0" dirty="0" smtClean="0">
                <a:solidFill>
                  <a:srgbClr val="CBD5E1"/>
                </a:solidFill>
                <a:latin typeface="Noto Sans KR"/>
              </a:rPr>
              <a:t> </a:t>
            </a:r>
            <a:r>
              <a:rPr lang="ko-KR" altLang="en-US" sz="1299" b="0" dirty="0" smtClean="0">
                <a:solidFill>
                  <a:srgbClr val="CBD5E1"/>
                </a:solidFill>
                <a:latin typeface="Noto Sans KR"/>
              </a:rPr>
              <a:t>버전</a:t>
            </a:r>
            <a:r>
              <a:rPr sz="1299" b="0" dirty="0" smtClean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관리</a:t>
            </a:r>
            <a:endParaRPr sz="1299" b="0" dirty="0">
              <a:solidFill>
                <a:srgbClr val="CBD5E1"/>
              </a:solidFill>
              <a:latin typeface="Noto Sans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0000" y="400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74" b="1">
                <a:solidFill>
                  <a:srgbClr val="38BDF8"/>
                </a:solidFill>
                <a:latin typeface="Noto Sans KR"/>
              </a:rPr>
              <a:t>Step 4. 테스트 및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00" y="432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99" b="0" dirty="0" err="1">
                <a:solidFill>
                  <a:srgbClr val="CBD5E1"/>
                </a:solidFill>
                <a:latin typeface="Noto Sans KR"/>
              </a:rPr>
              <a:t>플레이그라운드에서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RAG +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프롬프트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조합을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실시간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테스트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,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파라미터</a:t>
            </a:r>
            <a:r>
              <a:rPr sz="1299" b="0" dirty="0">
                <a:solidFill>
                  <a:srgbClr val="CBD5E1"/>
                </a:solidFill>
                <a:latin typeface="Noto Sans KR"/>
              </a:rPr>
              <a:t> </a:t>
            </a:r>
            <a:r>
              <a:rPr sz="1299" b="0" dirty="0" err="1">
                <a:solidFill>
                  <a:srgbClr val="CBD5E1"/>
                </a:solidFill>
                <a:latin typeface="Noto Sans KR"/>
              </a:rPr>
              <a:t>튜닝</a:t>
            </a:r>
            <a:endParaRPr sz="1299" b="0" dirty="0">
              <a:solidFill>
                <a:srgbClr val="CBD5E1"/>
              </a:solidFill>
              <a:latin typeface="Noto Sans K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0000" y="475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74" b="1">
                <a:solidFill>
                  <a:srgbClr val="38BDF8"/>
                </a:solidFill>
                <a:latin typeface="Noto Sans KR"/>
              </a:rPr>
              <a:t>Step 5. 대량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000" y="507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99" b="0">
                <a:solidFill>
                  <a:srgbClr val="CBD5E1"/>
                </a:solidFill>
                <a:latin typeface="Noto Sans KR"/>
              </a:rPr>
              <a:t>배치 기능으로 수천 건의 고객 문의를 JSONL 일괄 추론, 결과 다운로드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000" y="550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74" b="1">
                <a:solidFill>
                  <a:srgbClr val="38BDF8"/>
                </a:solidFill>
                <a:latin typeface="Noto Sans KR"/>
              </a:rPr>
              <a:t>Step 6. 서비스 개발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000" y="5820000"/>
            <a:ext cx="10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99" b="0">
                <a:solidFill>
                  <a:srgbClr val="CBD5E1"/>
                </a:solidFill>
                <a:latin typeface="Noto Sans KR"/>
              </a:rPr>
              <a:t>Completion API를 활용하여 실제 서비스 페이지를 별도 개발 및 배포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6400000"/>
            <a:ext cx="11049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9" b="0">
                <a:solidFill>
                  <a:srgbClr val="94A3B8"/>
                </a:solidFill>
                <a:latin typeface="Noto Sans KR"/>
              </a:rPr>
              <a:t>※ Step 1~5는 Studio에서 수행하며, Step 6은 플랫폼이 제공하는 API 기반으로 별도 진행됩니다.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869425" y="2065475"/>
            <a:ext cx="19914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1413227" y="3409952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71500" y="396522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아키텍처 개요, 컨테이너 확인, 운영 명령어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295275" y="2298352"/>
            <a:ext cx="1160145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시스템 구조 및 설치 확인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시스템 전체 구성</a:t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571500" y="116964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※ 모든 외부 요청은 Gateway(:10005)를 통해 각 서비스로 라우팅됨</a:t>
            </a:r>
            <a:endParaRPr/>
          </a:p>
        </p:txBody>
      </p:sp>
      <p:pic>
        <p:nvPicPr>
          <p:cNvPr id="270" name="Google Shape;270;p22"/>
          <p:cNvPicPr preferRelativeResize="0"/>
          <p:nvPr/>
        </p:nvPicPr>
        <p:blipFill rotWithShape="1">
          <a:blip r:embed="rId4">
            <a:alphaModFix/>
          </a:blip>
          <a:srcRect l="527" t="14705"/>
          <a:stretch/>
        </p:blipFill>
        <p:spPr>
          <a:xfrm>
            <a:off x="1545050" y="1714487"/>
            <a:ext cx="9273874" cy="43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5"/>
          <p:cNvSpPr/>
          <p:nvPr/>
        </p:nvSpPr>
        <p:spPr>
          <a:xfrm>
            <a:off x="571500" y="2574577"/>
            <a:ext cx="31728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5645348" y="2574577"/>
            <a:ext cx="59751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571500" y="3603277"/>
            <a:ext cx="31728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5645348" y="3603277"/>
            <a:ext cx="59751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571500" y="4631977"/>
            <a:ext cx="31728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5645348" y="4631977"/>
            <a:ext cx="597515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5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컨테이너 목록 및 주요 정보</a:t>
            </a: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" name="Google Shape;332;p25"/>
          <p:cNvGraphicFramePr/>
          <p:nvPr>
            <p:extLst>
              <p:ext uri="{D42A27DB-BD31-4B8C-83A1-F6EECF244321}">
                <p14:modId xmlns:p14="http://schemas.microsoft.com/office/powerpoint/2010/main" val="803839732"/>
              </p:ext>
            </p:extLst>
          </p:nvPr>
        </p:nvGraphicFramePr>
        <p:xfrm>
          <a:off x="571500" y="1455391"/>
          <a:ext cx="11049000" cy="4125730"/>
        </p:xfrm>
        <a:graphic>
          <a:graphicData uri="http://schemas.openxmlformats.org/drawingml/2006/table">
            <a:tbl>
              <a:tblPr firstRow="1" bandRow="1">
                <a:noFill/>
                <a:tableStyleId>{33EE820E-6938-4F20-8F82-41D3D9338B61}</a:tableStyleId>
              </a:tblPr>
              <a:tblGrid>
                <a:gridCol w="3172875"/>
                <a:gridCol w="1900975"/>
                <a:gridCol w="5975150"/>
              </a:tblGrid>
              <a:tr h="4125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컨테이너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포트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역할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4125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kylin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-gateway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10005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API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라우팅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인증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로깅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(Entry)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4125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kylin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-studio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10004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UI 및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백엔드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API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125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kylin-mgmt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LLM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ko-KR" altLang="en-US" sz="1275" b="0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4125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kylin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-service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10002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Modular RAG 및 LLM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추론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</a:tr>
              <a:tr h="4125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kylin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-search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10001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벡터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저장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및 RAG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검색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엔진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4125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0" i="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kylin</a:t>
                      </a:r>
                      <a:r>
                        <a:rPr lang="en-US" altLang="ko-KR" sz="1400" b="0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-batch</a:t>
                      </a:r>
                      <a:endParaRPr lang="en-US" altLang="ko-KR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10009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75" b="0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대량 </a:t>
                      </a:r>
                      <a:r>
                        <a:rPr lang="en-US" sz="1275" b="0" i="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프롬프트</a:t>
                      </a:r>
                      <a:r>
                        <a:rPr lang="en-US" sz="1275" b="0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ko-KR" altLang="en-US" sz="1275" b="0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실행 모듈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</a:tr>
              <a:tr h="4125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0" i="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postgresql</a:t>
                      </a:r>
                      <a:endParaRPr lang="en-US" altLang="ko-KR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10006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프롬프트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및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대화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이력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저장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4125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lakefs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10008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0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학습 데이터 관리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</a:tr>
              <a:tr h="4125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fluentd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75" b="0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대화 수집</a:t>
                      </a:r>
                      <a:r>
                        <a:rPr lang="ko-KR" altLang="en-US" sz="1275" b="0" i="0" u="none" strike="noStrike" cap="none" baseline="0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모듈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93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88965"/>
            <a:ext cx="11049000" cy="248781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771525" y="3588990"/>
            <a:ext cx="10648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접속 불가 시 점검 순서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1485900" y="3998565"/>
            <a:ext cx="9934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docker ps로 컨테이너 가동 상태 및 Exited 여부 확인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485900" y="4415730"/>
            <a:ext cx="9934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Gateway 로그 확인: docker logs kylin-gateway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1485900" y="4832895"/>
            <a:ext cx="9934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방화벽 정책 점검 (Gateway 포트 개방 여부)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1485900" y="5250060"/>
            <a:ext cx="99345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.env 파일 내 STUDIO_URI, SERVICE_URI 등 IP 설정 확인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설치 확인 - 웹 접속 테스트</a:t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3998565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4415730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4832895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5250060"/>
            <a:ext cx="133498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" name="Google Shape;277;p23"/>
          <p:cNvGraphicFramePr/>
          <p:nvPr/>
        </p:nvGraphicFramePr>
        <p:xfrm>
          <a:off x="571500" y="1455390"/>
          <a:ext cx="11049000" cy="1647825"/>
        </p:xfrm>
        <a:graphic>
          <a:graphicData uri="http://schemas.openxmlformats.org/drawingml/2006/table">
            <a:tbl>
              <a:tblPr firstRow="1" bandRow="1">
                <a:noFill/>
                <a:tableStyleId>{33EE820E-6938-4F20-8F82-41D3D9338B61}</a:tableStyleId>
              </a:tblPr>
              <a:tblGrid>
                <a:gridCol w="3150400"/>
                <a:gridCol w="3632600"/>
                <a:gridCol w="4266000"/>
              </a:tblGrid>
              <a:tr h="549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확인</a:t>
                      </a:r>
                      <a:r>
                        <a:rPr lang="en-US" sz="1500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항목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URL 경로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Studio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관리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페이지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http://&lt;</a:t>
                      </a:r>
                      <a:r>
                        <a:rPr lang="en-US" sz="1275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IP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&gt;:</a:t>
                      </a:r>
                      <a:r>
                        <a:rPr lang="en-US" sz="1275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&lt;Gateway Port&gt;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/studio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후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웰컴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페이지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표시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49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Agent 채팅 데모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http://</a:t>
                      </a:r>
                      <a:r>
                        <a:rPr lang="en-US" sz="1275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&lt;IP&gt;</a:t>
                      </a: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:</a:t>
                      </a:r>
                      <a:r>
                        <a:rPr lang="en-US" sz="1275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&lt;Gateway Port&gt;</a:t>
                      </a: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/agent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채팅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인터페이스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정상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표시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3" name="Google Shape;303;p24"/>
          <p:cNvGraphicFramePr/>
          <p:nvPr/>
        </p:nvGraphicFramePr>
        <p:xfrm>
          <a:off x="571500" y="1455390"/>
          <a:ext cx="11049000" cy="2659000"/>
        </p:xfrm>
        <a:graphic>
          <a:graphicData uri="http://schemas.openxmlformats.org/drawingml/2006/table">
            <a:tbl>
              <a:tblPr firstRow="1" bandRow="1">
                <a:noFill/>
                <a:tableStyleId>{33EE820E-6938-4F20-8F82-41D3D9338B61}</a:tableStyleId>
              </a:tblPr>
              <a:tblGrid>
                <a:gridCol w="2722075"/>
                <a:gridCol w="4073725"/>
                <a:gridCol w="4253200"/>
              </a:tblGrid>
              <a:tr h="53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점검</a:t>
                      </a:r>
                      <a:r>
                        <a:rPr lang="en-US" sz="1500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항목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확인 방법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예상 결과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53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모델 로드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Studio → 모델 관리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상태 "Running"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채팅 테스트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Agent 페이지 채팅 입력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LLM 스트리밍 응답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3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라이선스 확인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curl 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ksm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</a:t>
                      </a:r>
                      <a:r>
                        <a:rPr lang="en-US" sz="1275" b="0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lic</a:t>
                      </a:r>
                      <a:r>
                        <a:rPr lang="en-US" sz="1275" b="0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/keys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issued: true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GPU 상태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nvidia-smi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GPU 프로세스 점유 확인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" name="그룹 1"/>
          <p:cNvGrpSpPr/>
          <p:nvPr/>
        </p:nvGrpSpPr>
        <p:grpSpPr>
          <a:xfrm>
            <a:off x="571500" y="5143881"/>
            <a:ext cx="11049000" cy="581100"/>
            <a:chOff x="571500" y="5544495"/>
            <a:chExt cx="11049000" cy="581100"/>
          </a:xfrm>
        </p:grpSpPr>
        <p:sp>
          <p:nvSpPr>
            <p:cNvPr id="304" name="Google Shape;304;p24"/>
            <p:cNvSpPr/>
            <p:nvPr/>
          </p:nvSpPr>
          <p:spPr>
            <a:xfrm>
              <a:off x="571500" y="5544495"/>
              <a:ext cx="11049000" cy="581100"/>
            </a:xfrm>
            <a:prstGeom prst="rect">
              <a:avLst/>
            </a:prstGeom>
            <a:solidFill>
              <a:srgbClr val="0C4A6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24"/>
            <p:cNvSpPr txBox="1"/>
            <p:nvPr/>
          </p:nvSpPr>
          <p:spPr>
            <a:xfrm>
              <a:off x="762000" y="5734995"/>
              <a:ext cx="10668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모델</a:t>
              </a:r>
              <a:r>
                <a:rPr lang="en-US" sz="1200" b="1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1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로드</a:t>
              </a:r>
              <a:r>
                <a:rPr lang="en-US" sz="1200" b="1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1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실패</a:t>
              </a:r>
              <a:r>
                <a:rPr lang="en-US" sz="1200" b="1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시:</a:t>
              </a:r>
              <a:r>
                <a:rPr lang="en-US" sz="1200" b="0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라이선스</a:t>
              </a:r>
              <a:r>
                <a:rPr lang="en-US" sz="1200" b="0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서버</a:t>
              </a:r>
              <a:r>
                <a:rPr lang="en-US" sz="1200" b="0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연결</a:t>
              </a:r>
              <a:r>
                <a:rPr lang="en-US" sz="1200" b="0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상태</a:t>
              </a:r>
              <a:r>
                <a:rPr lang="en-US" sz="1200" b="0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, GPU-Docker </a:t>
              </a:r>
              <a:r>
                <a:rPr lang="en-US" sz="1200" b="0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이미지</a:t>
              </a:r>
              <a:r>
                <a:rPr lang="en-US" sz="1200" b="0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호환성</a:t>
              </a:r>
              <a:r>
                <a:rPr lang="en-US" sz="1200" b="0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, Fabric Manager </a:t>
              </a:r>
              <a:r>
                <a:rPr lang="en-US" sz="1200" b="0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설치</a:t>
              </a:r>
              <a:r>
                <a:rPr lang="en-US" sz="1200" b="0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여부를</a:t>
              </a:r>
              <a:r>
                <a:rPr lang="en-US" sz="1200" b="0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우선</a:t>
              </a:r>
              <a:r>
                <a:rPr lang="en-US" sz="1200" b="0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확인하십시오</a:t>
              </a:r>
              <a:r>
                <a:rPr lang="en-US" sz="1200" b="0" i="0" u="none" strike="noStrike" cap="none" dirty="0">
                  <a:solidFill>
                    <a:srgbClr val="F1F5F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.</a:t>
              </a:r>
              <a:endParaRPr dirty="0"/>
            </a:p>
          </p:txBody>
        </p:sp>
      </p:grpSp>
      <p:sp>
        <p:nvSpPr>
          <p:cNvPr id="306" name="Google Shape;306;p24"/>
          <p:cNvSpPr/>
          <p:nvPr/>
        </p:nvSpPr>
        <p:spPr>
          <a:xfrm>
            <a:off x="571500" y="5142622"/>
            <a:ext cx="47700" cy="581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571500" y="4117627"/>
            <a:ext cx="27220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3293566" y="4117627"/>
            <a:ext cx="40737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7367289" y="4117627"/>
            <a:ext cx="42532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571500" y="4123608"/>
            <a:ext cx="2722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3293566" y="4123608"/>
            <a:ext cx="4073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7367289" y="4123608"/>
            <a:ext cx="4253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설치 후 기능 점검 체크리스트</a:t>
            </a:r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205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8250" y="1360140"/>
            <a:ext cx="103822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0787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38250" y="2245965"/>
            <a:ext cx="103822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19370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38250" y="3131790"/>
            <a:ext cx="103822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407952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38250" y="4017615"/>
            <a:ext cx="103822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496535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38250" y="4903440"/>
            <a:ext cx="1038225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6"/>
          <p:cNvSpPr txBox="1"/>
          <p:nvPr/>
        </p:nvSpPr>
        <p:spPr>
          <a:xfrm>
            <a:off x="1341120" y="1569690"/>
            <a:ext cx="9015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</a:t>
            </a:r>
            <a:r>
              <a:rPr lang="en-US" sz="1200" b="1" i="0" u="none" strike="noStrike" cap="none" dirty="0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요청</a:t>
            </a:r>
            <a:endParaRPr dirty="0"/>
          </a:p>
        </p:txBody>
      </p:sp>
      <p:sp>
        <p:nvSpPr>
          <p:cNvPr id="373" name="Google Shape;373;p26"/>
          <p:cNvSpPr txBox="1"/>
          <p:nvPr/>
        </p:nvSpPr>
        <p:spPr>
          <a:xfrm>
            <a:off x="1341120" y="2455515"/>
            <a:ext cx="107123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Gateway </a:t>
            </a:r>
            <a:r>
              <a:rPr lang="en-US" sz="1200" b="1" i="0" u="none" strike="noStrike" cap="none" dirty="0" err="1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필터</a:t>
            </a:r>
            <a:endParaRPr dirty="0"/>
          </a:p>
        </p:txBody>
      </p:sp>
      <p:sp>
        <p:nvSpPr>
          <p:cNvPr id="374" name="Google Shape;374;p26"/>
          <p:cNvSpPr txBox="1"/>
          <p:nvPr/>
        </p:nvSpPr>
        <p:spPr>
          <a:xfrm>
            <a:off x="1341120" y="3341340"/>
            <a:ext cx="105397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lang="en-US" sz="1200" b="1" i="0" u="none" strike="noStrike" cap="none" dirty="0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라우팅</a:t>
            </a:r>
            <a:endParaRPr dirty="0"/>
          </a:p>
        </p:txBody>
      </p:sp>
      <p:sp>
        <p:nvSpPr>
          <p:cNvPr id="375" name="Google Shape;375;p26"/>
          <p:cNvSpPr txBox="1"/>
          <p:nvPr/>
        </p:nvSpPr>
        <p:spPr>
          <a:xfrm>
            <a:off x="1341121" y="4227165"/>
            <a:ext cx="109623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추론</a:t>
            </a:r>
            <a:r>
              <a:rPr lang="en-US" sz="1200" b="1" i="0" u="none" strike="noStrike" cap="none" dirty="0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1200" b="1" i="0" u="none" strike="noStrike" cap="none" dirty="0" err="1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로직</a:t>
            </a:r>
            <a:r>
              <a:rPr lang="en-US" sz="1200" b="1" i="0" u="none" strike="noStrike" cap="none" dirty="0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수행</a:t>
            </a:r>
            <a:endParaRPr dirty="0"/>
          </a:p>
        </p:txBody>
      </p:sp>
      <p:sp>
        <p:nvSpPr>
          <p:cNvPr id="376" name="Google Shape;376;p26"/>
          <p:cNvSpPr txBox="1"/>
          <p:nvPr/>
        </p:nvSpPr>
        <p:spPr>
          <a:xfrm>
            <a:off x="1341121" y="5112990"/>
            <a:ext cx="94383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로깅</a:t>
            </a:r>
            <a:r>
              <a:rPr lang="en-US" sz="1200" b="1" i="0" u="none" strike="noStrike" cap="none" dirty="0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200" b="1" i="0" u="none" strike="noStrike" cap="none" dirty="0" err="1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반환</a:t>
            </a:r>
            <a:endParaRPr dirty="0"/>
          </a:p>
        </p:txBody>
      </p:sp>
      <p:sp>
        <p:nvSpPr>
          <p:cNvPr id="377" name="Google Shape;377;p26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요청 처리 흐름</a:t>
            </a:r>
            <a:endParaRPr/>
          </a:p>
        </p:txBody>
      </p:sp>
      <p:sp>
        <p:nvSpPr>
          <p:cNvPr id="378" name="Google Shape;378;p26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7"/>
          <p:cNvSpPr txBox="1"/>
          <p:nvPr/>
        </p:nvSpPr>
        <p:spPr>
          <a:xfrm>
            <a:off x="2155300" y="2019988"/>
            <a:ext cx="15828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endParaRPr/>
          </a:p>
        </p:txBody>
      </p:sp>
      <p:sp>
        <p:nvSpPr>
          <p:cNvPr id="385" name="Google Shape;385;p27"/>
          <p:cNvSpPr/>
          <p:nvPr/>
        </p:nvSpPr>
        <p:spPr>
          <a:xfrm>
            <a:off x="2479815" y="323249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7"/>
          <p:cNvSpPr txBox="1"/>
          <p:nvPr/>
        </p:nvSpPr>
        <p:spPr>
          <a:xfrm>
            <a:off x="571500" y="396522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Spring Cloud Gateway</a:t>
            </a:r>
            <a:endParaRPr/>
          </a:p>
        </p:txBody>
      </p:sp>
      <p:sp>
        <p:nvSpPr>
          <p:cNvPr id="387" name="Google Shape;387;p27"/>
          <p:cNvSpPr txBox="1"/>
          <p:nvPr/>
        </p:nvSpPr>
        <p:spPr>
          <a:xfrm>
            <a:off x="295275" y="2298352"/>
            <a:ext cx="1160145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Gateway 구조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60140"/>
            <a:ext cx="5405437" cy="192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1360140"/>
            <a:ext cx="5405437" cy="1929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27970"/>
            <a:ext cx="5405437" cy="165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5062" y="3527970"/>
            <a:ext cx="5405437" cy="165541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9"/>
          <p:cNvSpPr txBox="1"/>
          <p:nvPr/>
        </p:nvSpPr>
        <p:spPr>
          <a:xfrm>
            <a:off x="866775" y="1655415"/>
            <a:ext cx="50556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API 라우팅</a:t>
            </a:r>
            <a:endParaRPr/>
          </a:p>
        </p:txBody>
      </p:sp>
      <p:sp>
        <p:nvSpPr>
          <p:cNvPr id="421" name="Google Shape;421;p29"/>
          <p:cNvSpPr txBox="1"/>
          <p:nvPr/>
        </p:nvSpPr>
        <p:spPr>
          <a:xfrm>
            <a:off x="866775" y="2274540"/>
            <a:ext cx="4814887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패턴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경로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매칭을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백엔드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서비스로</a:t>
            </a:r>
            <a:r>
              <a:rPr lang="en-US" sz="135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요청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분배</a:t>
            </a:r>
            <a:endParaRPr dirty="0"/>
          </a:p>
        </p:txBody>
      </p:sp>
      <p:sp>
        <p:nvSpPr>
          <p:cNvPr id="422" name="Google Shape;422;p29"/>
          <p:cNvSpPr txBox="1"/>
          <p:nvPr/>
        </p:nvSpPr>
        <p:spPr>
          <a:xfrm>
            <a:off x="6510337" y="1655415"/>
            <a:ext cx="50556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인증/인가</a:t>
            </a:r>
            <a:endParaRPr/>
          </a:p>
        </p:txBody>
      </p:sp>
      <p:sp>
        <p:nvSpPr>
          <p:cNvPr id="423" name="Google Shape;423;p29"/>
          <p:cNvSpPr txBox="1"/>
          <p:nvPr/>
        </p:nvSpPr>
        <p:spPr>
          <a:xfrm>
            <a:off x="6510337" y="2274540"/>
            <a:ext cx="4814887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JWT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토큰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검증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, API Key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인증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, IP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접근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제한</a:t>
            </a:r>
            <a:endParaRPr dirty="0"/>
          </a:p>
        </p:txBody>
      </p:sp>
      <p:sp>
        <p:nvSpPr>
          <p:cNvPr id="424" name="Google Shape;424;p29"/>
          <p:cNvSpPr txBox="1"/>
          <p:nvPr/>
        </p:nvSpPr>
        <p:spPr>
          <a:xfrm>
            <a:off x="866775" y="3823245"/>
            <a:ext cx="50556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로깅/모니터링</a:t>
            </a:r>
            <a:endParaRPr/>
          </a:p>
        </p:txBody>
      </p:sp>
      <p:sp>
        <p:nvSpPr>
          <p:cNvPr id="425" name="Google Shape;425;p29"/>
          <p:cNvSpPr txBox="1"/>
          <p:nvPr/>
        </p:nvSpPr>
        <p:spPr>
          <a:xfrm>
            <a:off x="866775" y="4442370"/>
            <a:ext cx="4814887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Access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로그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135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대화 </a:t>
            </a:r>
            <a:r>
              <a:rPr lang="en-US" sz="135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로그</a:t>
            </a:r>
            <a:endParaRPr dirty="0"/>
          </a:p>
        </p:txBody>
      </p:sp>
      <p:sp>
        <p:nvSpPr>
          <p:cNvPr id="426" name="Google Shape;426;p29"/>
          <p:cNvSpPr txBox="1"/>
          <p:nvPr/>
        </p:nvSpPr>
        <p:spPr>
          <a:xfrm>
            <a:off x="6510337" y="3823245"/>
            <a:ext cx="50556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보안</a:t>
            </a:r>
            <a:r>
              <a:rPr lang="en-US" sz="1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/CORS</a:t>
            </a:r>
            <a:endParaRPr dirty="0"/>
          </a:p>
        </p:txBody>
      </p:sp>
      <p:sp>
        <p:nvSpPr>
          <p:cNvPr id="427" name="Google Shape;427;p29"/>
          <p:cNvSpPr txBox="1"/>
          <p:nvPr/>
        </p:nvSpPr>
        <p:spPr>
          <a:xfrm>
            <a:off x="6510337" y="4442370"/>
            <a:ext cx="4814887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CORS </a:t>
            </a:r>
            <a:r>
              <a:rPr lang="en-US" sz="1350" b="0" i="0" u="none" strike="noStrike" cap="none" dirty="0" err="1" smtClean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설정</a:t>
            </a:r>
            <a:endParaRPr dirty="0"/>
          </a:p>
        </p:txBody>
      </p:sp>
      <p:sp>
        <p:nvSpPr>
          <p:cNvPr id="428" name="Google Shape;428;p29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Gateway 역할 및 구조</a:t>
            </a:r>
            <a:endParaRPr/>
          </a:p>
        </p:txBody>
      </p:sp>
      <p:sp>
        <p:nvSpPr>
          <p:cNvPr id="429" name="Google Shape;429;p29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그룹 1"/>
          <p:cNvGrpSpPr/>
          <p:nvPr/>
        </p:nvGrpSpPr>
        <p:grpSpPr>
          <a:xfrm>
            <a:off x="571500" y="6258165"/>
            <a:ext cx="11049000" cy="322715"/>
            <a:chOff x="571500" y="5970768"/>
            <a:chExt cx="11049000" cy="322715"/>
          </a:xfrm>
        </p:grpSpPr>
        <p:pic>
          <p:nvPicPr>
            <p:cNvPr id="435" name="Google Shape;435;p30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5988186"/>
              <a:ext cx="11049000" cy="3052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" name="Google Shape;441;p30"/>
            <p:cNvSpPr txBox="1"/>
            <p:nvPr/>
          </p:nvSpPr>
          <p:spPr>
            <a:xfrm>
              <a:off x="809625" y="5970768"/>
              <a:ext cx="106203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※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채팅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(Completion)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요청은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별도의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1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LoggingFilter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를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통해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대화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이력을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수집합니다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.</a:t>
              </a:r>
              <a:endParaRPr dirty="0"/>
            </a:p>
          </p:txBody>
        </p:sp>
      </p:grpSp>
      <p:sp>
        <p:nvSpPr>
          <p:cNvPr id="462" name="Google Shape;462;p30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Gateway 라우팅 테이블</a:t>
            </a:r>
            <a:endParaRPr/>
          </a:p>
        </p:txBody>
      </p:sp>
      <p:sp>
        <p:nvSpPr>
          <p:cNvPr id="463" name="Google Shape;463;p30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" name="Google Shape;436;p30"/>
          <p:cNvGraphicFramePr/>
          <p:nvPr>
            <p:extLst>
              <p:ext uri="{D42A27DB-BD31-4B8C-83A1-F6EECF244321}">
                <p14:modId xmlns:p14="http://schemas.microsoft.com/office/powerpoint/2010/main" val="3622959090"/>
              </p:ext>
            </p:extLst>
          </p:nvPr>
        </p:nvGraphicFramePr>
        <p:xfrm>
          <a:off x="571500" y="1455390"/>
          <a:ext cx="11048975" cy="3827324"/>
        </p:xfrm>
        <a:graphic>
          <a:graphicData uri="http://schemas.openxmlformats.org/drawingml/2006/table">
            <a:tbl>
              <a:tblPr firstRow="1" bandRow="1">
                <a:noFill/>
                <a:tableStyleId>{33EE820E-6938-4F20-8F82-41D3D9338B61}</a:tableStyleId>
              </a:tblPr>
              <a:tblGrid>
                <a:gridCol w="2525900"/>
                <a:gridCol w="3572025"/>
                <a:gridCol w="1871950"/>
                <a:gridCol w="3079100"/>
              </a:tblGrid>
              <a:tr h="53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ID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패턴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필터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4385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studio-</a:t>
                      </a:r>
                      <a:r>
                        <a:rPr lang="en-US" sz="1275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api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/v1/studio/**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Studio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75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Authentication</a:t>
                      </a:r>
                      <a:endParaRPr lang="en-US" altLang="ko-KR" sz="1400" b="0" i="0" u="none" strike="noStrike" cap="none" dirty="0" smtClean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studio-static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/studio/**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Studio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4005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service-chat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/v3/</a:t>
                      </a:r>
                      <a:r>
                        <a:rPr lang="en-US" sz="1275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api</a:t>
                      </a:r>
                      <a:r>
                        <a:rPr lang="en-US" sz="1275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/responses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Service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Logging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930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mgmt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/v2/**, /v3/**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Mgmt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75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Authentication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40059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</a:t>
                      </a:r>
                      <a:r>
                        <a:rPr lang="en-US" sz="1275" i="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ksm</a:t>
                      </a:r>
                      <a:r>
                        <a:rPr lang="en-US" sz="1275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/rag/**,/search5/**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i="0" u="none" strike="noStrike" cap="none" dirty="0" smtClean="0">
                          <a:latin typeface="Noto Sans KR"/>
                          <a:ea typeface="Noto Sans KR"/>
                          <a:sym typeface="Noto Sans KR"/>
                        </a:rPr>
                        <a:t>Search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75" i="0" u="none" strike="noStrike" cap="none" dirty="0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Authentication, </a:t>
                      </a:r>
                      <a:r>
                        <a:rPr lang="en-US" altLang="ko-KR" sz="1275" i="0" u="none" strike="noStrike" cap="none" dirty="0" err="1" smtClean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KsCredential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34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34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60140"/>
            <a:ext cx="5429250" cy="1274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360140"/>
            <a:ext cx="5429250" cy="1274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25055"/>
            <a:ext cx="5429250" cy="1274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825055"/>
            <a:ext cx="5429250" cy="127441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1"/>
          <p:cNvSpPr txBox="1"/>
          <p:nvPr/>
        </p:nvSpPr>
        <p:spPr>
          <a:xfrm>
            <a:off x="771525" y="1560165"/>
            <a:ext cx="5029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인증 제외 경로 추가</a:t>
            </a:r>
            <a:endParaRPr/>
          </a:p>
        </p:txBody>
      </p:sp>
      <p:sp>
        <p:nvSpPr>
          <p:cNvPr id="474" name="Google Shape;474;p31"/>
          <p:cNvSpPr txBox="1"/>
          <p:nvPr/>
        </p:nvSpPr>
        <p:spPr>
          <a:xfrm>
            <a:off x="771525" y="1988790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studio-public 라우트 설정에 신규 경로 추가 (예: 헬스체크)</a:t>
            </a:r>
            <a:endParaRPr/>
          </a:p>
        </p:txBody>
      </p:sp>
      <p:sp>
        <p:nvSpPr>
          <p:cNvPr id="475" name="Google Shape;475;p31"/>
          <p:cNvSpPr txBox="1"/>
          <p:nvPr/>
        </p:nvSpPr>
        <p:spPr>
          <a:xfrm>
            <a:off x="6391275" y="1560165"/>
            <a:ext cx="5029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CORS 설정 변경</a:t>
            </a:r>
            <a:endParaRPr/>
          </a:p>
        </p:txBody>
      </p:sp>
      <p:sp>
        <p:nvSpPr>
          <p:cNvPr id="476" name="Google Shape;476;p31"/>
          <p:cNvSpPr txBox="1"/>
          <p:nvPr/>
        </p:nvSpPr>
        <p:spPr>
          <a:xfrm>
            <a:off x="6391275" y="1988790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allowedOrigins 목록에 새로운 접속 도메인 추가</a:t>
            </a:r>
            <a:endParaRPr/>
          </a:p>
        </p:txBody>
      </p:sp>
      <p:sp>
        <p:nvSpPr>
          <p:cNvPr id="477" name="Google Shape;477;p31"/>
          <p:cNvSpPr txBox="1"/>
          <p:nvPr/>
        </p:nvSpPr>
        <p:spPr>
          <a:xfrm>
            <a:off x="771525" y="3025080"/>
            <a:ext cx="5029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IP 제한(Whitelist)</a:t>
            </a:r>
            <a:endParaRPr/>
          </a:p>
        </p:txBody>
      </p:sp>
      <p:sp>
        <p:nvSpPr>
          <p:cNvPr id="478" name="Google Shape;478;p31"/>
          <p:cNvSpPr txBox="1"/>
          <p:nvPr/>
        </p:nvSpPr>
        <p:spPr>
          <a:xfrm>
            <a:off x="771525" y="3453705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IpRestriction 필터 내 허용 IP 대역 명시</a:t>
            </a:r>
            <a:endParaRPr/>
          </a:p>
        </p:txBody>
      </p:sp>
      <p:sp>
        <p:nvSpPr>
          <p:cNvPr id="479" name="Google Shape;479;p31"/>
          <p:cNvSpPr txBox="1"/>
          <p:nvPr/>
        </p:nvSpPr>
        <p:spPr>
          <a:xfrm>
            <a:off x="6391275" y="3025080"/>
            <a:ext cx="5029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신규 서비스 연동</a:t>
            </a:r>
            <a:endParaRPr/>
          </a:p>
        </p:txBody>
      </p:sp>
      <p:sp>
        <p:nvSpPr>
          <p:cNvPr id="480" name="Google Shape;480;p31"/>
          <p:cNvSpPr txBox="1"/>
          <p:nvPr/>
        </p:nvSpPr>
        <p:spPr>
          <a:xfrm>
            <a:off x="6391275" y="3453705"/>
            <a:ext cx="5029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application.yml 내 routes 섹션에 URI 및 Predicates 정의</a:t>
            </a:r>
            <a:endParaRPr/>
          </a:p>
        </p:txBody>
      </p:sp>
      <p:sp>
        <p:nvSpPr>
          <p:cNvPr id="481" name="Google Shape;481;p31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Gateway 설정 수정 가이드</a:t>
            </a:r>
            <a:endParaRPr/>
          </a:p>
        </p:txBody>
      </p:sp>
      <p:sp>
        <p:nvSpPr>
          <p:cNvPr id="482" name="Google Shape;482;p31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2"/>
          <p:cNvSpPr txBox="1"/>
          <p:nvPr/>
        </p:nvSpPr>
        <p:spPr>
          <a:xfrm>
            <a:off x="1417675" y="2019988"/>
            <a:ext cx="16923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04</a:t>
            </a:r>
            <a:endParaRPr/>
          </a:p>
        </p:txBody>
      </p:sp>
      <p:sp>
        <p:nvSpPr>
          <p:cNvPr id="489" name="Google Shape;489;p32"/>
          <p:cNvSpPr/>
          <p:nvPr/>
        </p:nvSpPr>
        <p:spPr>
          <a:xfrm>
            <a:off x="1772094" y="323249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2"/>
          <p:cNvSpPr txBox="1"/>
          <p:nvPr/>
        </p:nvSpPr>
        <p:spPr>
          <a:xfrm>
            <a:off x="571500" y="396522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로그 확인, 주요 장애 유형별 대응 가이드</a:t>
            </a:r>
            <a:endParaRPr/>
          </a:p>
        </p:txBody>
      </p:sp>
      <p:sp>
        <p:nvSpPr>
          <p:cNvPr id="491" name="Google Shape;491;p32"/>
          <p:cNvSpPr txBox="1"/>
          <p:nvPr/>
        </p:nvSpPr>
        <p:spPr>
          <a:xfrm>
            <a:off x="295275" y="2298352"/>
            <a:ext cx="1160145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문제 발생 시 대처 방법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60140"/>
            <a:ext cx="5429250" cy="2127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360140"/>
            <a:ext cx="5429250" cy="212779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3"/>
          <p:cNvSpPr/>
          <p:nvPr/>
        </p:nvSpPr>
        <p:spPr>
          <a:xfrm>
            <a:off x="571500" y="3678435"/>
            <a:ext cx="11049000" cy="581025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3"/>
          <p:cNvSpPr txBox="1"/>
          <p:nvPr/>
        </p:nvSpPr>
        <p:spPr>
          <a:xfrm>
            <a:off x="762000" y="3868935"/>
            <a:ext cx="10668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로그 정책:</a:t>
            </a:r>
            <a:r>
              <a:rPr lang="en-US" sz="1200" b="0" i="0" u="none" strike="noStrike" cap="none">
                <a:solidFill>
                  <a:srgbClr val="F1F5F9"/>
                </a:solidFill>
                <a:latin typeface="Noto Sans KR"/>
                <a:ea typeface="Noto Sans KR"/>
                <a:cs typeface="Noto Sans KR"/>
                <a:sym typeface="Noto Sans KR"/>
              </a:rPr>
              <a:t> 파일당 100MB 롤링, 30일 보존, 전체 로그 합계 최대 50GB 제한</a:t>
            </a:r>
            <a:endParaRPr/>
          </a:p>
        </p:txBody>
      </p:sp>
      <p:sp>
        <p:nvSpPr>
          <p:cNvPr id="501" name="Google Shape;501;p33"/>
          <p:cNvSpPr/>
          <p:nvPr/>
        </p:nvSpPr>
        <p:spPr>
          <a:xfrm>
            <a:off x="571500" y="3678435"/>
            <a:ext cx="47625" cy="5810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3"/>
          <p:cNvSpPr txBox="1"/>
          <p:nvPr/>
        </p:nvSpPr>
        <p:spPr>
          <a:xfrm>
            <a:off x="800100" y="1560165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Gateway Logs</a:t>
            </a:r>
            <a:endParaRPr/>
          </a:p>
        </p:txBody>
      </p:sp>
      <p:sp>
        <p:nvSpPr>
          <p:cNvPr id="503" name="Google Shape;503;p33"/>
          <p:cNvSpPr txBox="1"/>
          <p:nvPr/>
        </p:nvSpPr>
        <p:spPr>
          <a:xfrm>
            <a:off x="800100" y="195069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gateway.log: 시스템 에러</a:t>
            </a:r>
            <a:endParaRPr/>
          </a:p>
        </p:txBody>
      </p:sp>
      <p:sp>
        <p:nvSpPr>
          <p:cNvPr id="504" name="Google Shape;504;p33"/>
          <p:cNvSpPr txBox="1"/>
          <p:nvPr/>
        </p:nvSpPr>
        <p:spPr>
          <a:xfrm>
            <a:off x="800100" y="239643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completion.log: 채팅 상세 기록</a:t>
            </a:r>
            <a:endParaRPr/>
          </a:p>
        </p:txBody>
      </p:sp>
      <p:sp>
        <p:nvSpPr>
          <p:cNvPr id="505" name="Google Shape;505;p33"/>
          <p:cNvSpPr txBox="1"/>
          <p:nvPr/>
        </p:nvSpPr>
        <p:spPr>
          <a:xfrm>
            <a:off x="800100" y="284217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access.log: HTTP 접근 통계</a:t>
            </a:r>
            <a:endParaRPr/>
          </a:p>
        </p:txBody>
      </p:sp>
      <p:sp>
        <p:nvSpPr>
          <p:cNvPr id="506" name="Google Shape;506;p33"/>
          <p:cNvSpPr txBox="1"/>
          <p:nvPr/>
        </p:nvSpPr>
        <p:spPr>
          <a:xfrm>
            <a:off x="6419850" y="1560165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Backend Logs</a:t>
            </a:r>
            <a:endParaRPr/>
          </a:p>
        </p:txBody>
      </p:sp>
      <p:sp>
        <p:nvSpPr>
          <p:cNvPr id="507" name="Google Shape;507;p33"/>
          <p:cNvSpPr txBox="1"/>
          <p:nvPr/>
        </p:nvSpPr>
        <p:spPr>
          <a:xfrm>
            <a:off x="6419850" y="195069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system.log: 비즈니스 로직 에러</a:t>
            </a:r>
            <a:endParaRPr/>
          </a:p>
        </p:txBody>
      </p:sp>
      <p:sp>
        <p:nvSpPr>
          <p:cNvPr id="508" name="Google Shape;508;p33"/>
          <p:cNvSpPr txBox="1"/>
          <p:nvPr/>
        </p:nvSpPr>
        <p:spPr>
          <a:xfrm>
            <a:off x="6419850" y="239643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docker logs [id]: 컨테이너 에러</a:t>
            </a:r>
            <a:endParaRPr/>
          </a:p>
        </p:txBody>
      </p:sp>
      <p:sp>
        <p:nvSpPr>
          <p:cNvPr id="509" name="Google Shape;509;p33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로그 파일 위치 및 확인 방법</a:t>
            </a:r>
            <a:endParaRPr/>
          </a:p>
        </p:txBody>
      </p:sp>
      <p:sp>
        <p:nvSpPr>
          <p:cNvPr id="510" name="Google Shape;510;p33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4"/>
          <p:cNvSpPr txBox="1"/>
          <p:nvPr/>
        </p:nvSpPr>
        <p:spPr>
          <a:xfrm>
            <a:off x="1285875" y="1569703"/>
            <a:ext cx="10334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Gateway 및 주요 서비스 컨테이너의 'Exited' 발생 여부 주기적 확인</a:t>
            </a:r>
            <a:endParaRPr sz="1900"/>
          </a:p>
        </p:txBody>
      </p:sp>
      <p:sp>
        <p:nvSpPr>
          <p:cNvPr id="517" name="Google Shape;517;p34"/>
          <p:cNvSpPr txBox="1"/>
          <p:nvPr/>
        </p:nvSpPr>
        <p:spPr>
          <a:xfrm>
            <a:off x="1285875" y="2123057"/>
            <a:ext cx="10334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logs/ 디렉토리의 디스크 점유율 및 잔여 용량 체크</a:t>
            </a:r>
            <a:endParaRPr sz="1900"/>
          </a:p>
        </p:txBody>
      </p:sp>
      <p:sp>
        <p:nvSpPr>
          <p:cNvPr id="518" name="Google Shape;518;p34"/>
          <p:cNvSpPr txBox="1"/>
          <p:nvPr/>
        </p:nvSpPr>
        <p:spPr>
          <a:xfrm>
            <a:off x="1285875" y="2676410"/>
            <a:ext cx="10334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PostgreSQL DB 연결 풀 및 세션 상태 확인</a:t>
            </a:r>
            <a:endParaRPr sz="1900"/>
          </a:p>
        </p:txBody>
      </p:sp>
      <p:sp>
        <p:nvSpPr>
          <p:cNvPr id="519" name="Google Shape;519;p34"/>
          <p:cNvSpPr txBox="1"/>
          <p:nvPr/>
        </p:nvSpPr>
        <p:spPr>
          <a:xfrm>
            <a:off x="1285875" y="3229763"/>
            <a:ext cx="10334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nvidia-smi를 통한 GPU 사용량 및 온도 모니터링</a:t>
            </a:r>
            <a:endParaRPr sz="1900"/>
          </a:p>
        </p:txBody>
      </p:sp>
      <p:sp>
        <p:nvSpPr>
          <p:cNvPr id="520" name="Google Shape;520;p34"/>
          <p:cNvSpPr txBox="1"/>
          <p:nvPr/>
        </p:nvSpPr>
        <p:spPr>
          <a:xfrm>
            <a:off x="1285875" y="3783118"/>
            <a:ext cx="10334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access.log 내 4xx/5xx 에러 응답 비율 급증 여부 감시</a:t>
            </a:r>
            <a:endParaRPr sz="1900"/>
          </a:p>
        </p:txBody>
      </p:sp>
      <p:sp>
        <p:nvSpPr>
          <p:cNvPr id="521" name="Google Shape;521;p34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운영 모니터링 체크리스트</a:t>
            </a:r>
            <a:endParaRPr/>
          </a:p>
        </p:txBody>
      </p:sp>
      <p:sp>
        <p:nvSpPr>
          <p:cNvPr id="522" name="Google Shape;522;p34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3" name="Google Shape;52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1569703"/>
            <a:ext cx="133498" cy="26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123057"/>
            <a:ext cx="133498" cy="26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676410"/>
            <a:ext cx="133498" cy="26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229763"/>
            <a:ext cx="133498" cy="265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783118"/>
            <a:ext cx="133498" cy="26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60140"/>
            <a:ext cx="3524250" cy="220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1360140"/>
            <a:ext cx="3524250" cy="220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1360140"/>
            <a:ext cx="3524250" cy="220399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5"/>
          <p:cNvSpPr txBox="1"/>
          <p:nvPr/>
        </p:nvSpPr>
        <p:spPr>
          <a:xfrm>
            <a:off x="866775" y="1655415"/>
            <a:ext cx="308038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401 / 403 오류</a:t>
            </a:r>
            <a:endParaRPr/>
          </a:p>
        </p:txBody>
      </p:sp>
      <p:sp>
        <p:nvSpPr>
          <p:cNvPr id="537" name="Google Shape;537;p35"/>
          <p:cNvSpPr txBox="1"/>
          <p:nvPr/>
        </p:nvSpPr>
        <p:spPr>
          <a:xfrm>
            <a:off x="866775" y="2274540"/>
            <a:ext cx="2933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토큰 만료 혹은 권한 누락. 재로그인을 시도하거나 관리자 페이지에서 권한 설정을 확인하십시오.</a:t>
            </a:r>
            <a:endParaRPr/>
          </a:p>
        </p:txBody>
      </p:sp>
      <p:sp>
        <p:nvSpPr>
          <p:cNvPr id="538" name="Google Shape;538;p35"/>
          <p:cNvSpPr txBox="1"/>
          <p:nvPr/>
        </p:nvSpPr>
        <p:spPr>
          <a:xfrm>
            <a:off x="4629150" y="1655415"/>
            <a:ext cx="308038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502 / 504 오류</a:t>
            </a:r>
            <a:endParaRPr/>
          </a:p>
        </p:txBody>
      </p:sp>
      <p:sp>
        <p:nvSpPr>
          <p:cNvPr id="539" name="Google Shape;539;p35"/>
          <p:cNvSpPr txBox="1"/>
          <p:nvPr/>
        </p:nvSpPr>
        <p:spPr>
          <a:xfrm>
            <a:off x="4629150" y="2274540"/>
            <a:ext cx="2933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백엔드 서비스가 다운되었거나 타임아웃 발생. 대상 컨테이너 상태와 내부망 통신 가능 여부를 점검하십시오.</a:t>
            </a:r>
            <a:endParaRPr/>
          </a:p>
        </p:txBody>
      </p:sp>
      <p:sp>
        <p:nvSpPr>
          <p:cNvPr id="540" name="Google Shape;540;p35"/>
          <p:cNvSpPr txBox="1"/>
          <p:nvPr/>
        </p:nvSpPr>
        <p:spPr>
          <a:xfrm>
            <a:off x="8391525" y="1655415"/>
            <a:ext cx="308038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응답 끊김/느림</a:t>
            </a:r>
            <a:endParaRPr/>
          </a:p>
        </p:txBody>
      </p:sp>
      <p:sp>
        <p:nvSpPr>
          <p:cNvPr id="541" name="Google Shape;541;p35"/>
          <p:cNvSpPr txBox="1"/>
          <p:nvPr/>
        </p:nvSpPr>
        <p:spPr>
          <a:xfrm>
            <a:off x="8391525" y="2274540"/>
            <a:ext cx="2933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GPU 자원 고갈 혹은 네트워크 대역폭 부족. 모델 로드 상태와 GPU 사용 프로세스를 점검하십시오.</a:t>
            </a:r>
            <a:endParaRPr/>
          </a:p>
        </p:txBody>
      </p:sp>
      <p:sp>
        <p:nvSpPr>
          <p:cNvPr id="542" name="Google Shape;542;p35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주요 장애 유형 및 대응 방법</a:t>
            </a:r>
            <a:endParaRPr/>
          </a:p>
        </p:txBody>
      </p:sp>
      <p:sp>
        <p:nvSpPr>
          <p:cNvPr id="543" name="Google Shape;543;p35"/>
          <p:cNvSpPr/>
          <p:nvPr/>
        </p:nvSpPr>
        <p:spPr>
          <a:xfrm>
            <a:off x="571500" y="571500"/>
            <a:ext cx="57150" cy="5028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36"/>
          <p:cNvSpPr txBox="1"/>
          <p:nvPr/>
        </p:nvSpPr>
        <p:spPr>
          <a:xfrm>
            <a:off x="295275" y="1742182"/>
            <a:ext cx="1160145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550" name="Google Shape;550;p36"/>
          <p:cNvSpPr txBox="1"/>
          <p:nvPr/>
        </p:nvSpPr>
        <p:spPr>
          <a:xfrm>
            <a:off x="571500" y="342810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교육 내용과 관련하여 궁금한 사항을 자유롭게 질문해 주시기 바랍니다.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1228</Words>
  <Application>Microsoft Office PowerPoint</Application>
  <PresentationFormat>사용자 지정</PresentationFormat>
  <Paragraphs>276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굴림</vt:lpstr>
      <vt:lpstr>Arial</vt:lpstr>
      <vt:lpstr>Calibri</vt:lpstr>
      <vt:lpstr>Urbanist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예현정</dc:creator>
  <cp:lastModifiedBy>예현정</cp:lastModifiedBy>
  <cp:revision>8</cp:revision>
  <dcterms:modified xsi:type="dcterms:W3CDTF">2026-04-17T03:42:08Z</dcterms:modified>
</cp:coreProperties>
</file>