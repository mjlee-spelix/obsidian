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75" r:id="rId2"/>
    <p:sldId id="257" r:id="rId3"/>
    <p:sldId id="296" r:id="rId4"/>
    <p:sldId id="297" r:id="rId5"/>
    <p:sldId id="303" r:id="rId6"/>
    <p:sldId id="318" r:id="rId7"/>
    <p:sldId id="317" r:id="rId8"/>
    <p:sldId id="298" r:id="rId9"/>
    <p:sldId id="300" r:id="rId10"/>
    <p:sldId id="301" r:id="rId11"/>
    <p:sldId id="302" r:id="rId12"/>
    <p:sldId id="304" r:id="rId13"/>
    <p:sldId id="308" r:id="rId14"/>
    <p:sldId id="309" r:id="rId15"/>
    <p:sldId id="310" r:id="rId16"/>
    <p:sldId id="311" r:id="rId17"/>
    <p:sldId id="312" r:id="rId18"/>
    <p:sldId id="316" r:id="rId19"/>
    <p:sldId id="314" r:id="rId20"/>
    <p:sldId id="315" r:id="rId21"/>
    <p:sldId id="307" r:id="rId22"/>
    <p:sldId id="313" r:id="rId2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30" autoAdjust="0"/>
    <p:restoredTop sz="94692" autoAdjust="0"/>
  </p:normalViewPr>
  <p:slideViewPr>
    <p:cSldViewPr>
      <p:cViewPr varScale="1">
        <p:scale>
          <a:sx n="109" d="100"/>
          <a:sy n="109" d="100"/>
        </p:scale>
        <p:origin x="-203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846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382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29688-BA56-4159-A616-B7D3977899EA}" type="datetimeFigureOut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46A127-61C8-46AB-BA37-F5F85D3D89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35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194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1999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83568" y="38862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F11AC-94F5-45F5-960E-69F12C9DEAD9}" type="datetime1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44791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163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31219" y="6356350"/>
            <a:ext cx="289560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457200" y="167544"/>
            <a:ext cx="8229600" cy="562074"/>
          </a:xfrm>
        </p:spPr>
        <p:txBody>
          <a:bodyPr/>
          <a:lstStyle/>
          <a:p>
            <a:r>
              <a:rPr lang="ko-KR" altLang="en-US" dirty="0" smtClean="0"/>
              <a:t>■마스터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B34-88E0-4F2E-9583-42A631969619}" type="datetime1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>
            <a:lvl1pPr algn="r">
              <a:defRPr/>
            </a:lvl1pPr>
          </a:lstStyle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36712"/>
            <a:ext cx="9141615" cy="0"/>
          </a:xfrm>
          <a:prstGeom prst="line">
            <a:avLst/>
          </a:prstGeom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8525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7B671-8456-4F8D-9DE0-E856C0651ACB}" type="datetime1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3541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CB80-8620-4D5A-8B9C-2FB219362195}" type="datetime1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9" name="그림 8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377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24745"/>
            <a:ext cx="4040188" cy="72008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844824"/>
            <a:ext cx="4040188" cy="4281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124745"/>
            <a:ext cx="4041775" cy="72008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844824"/>
            <a:ext cx="4041775" cy="4281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E541-7C44-4096-8862-BBAA958840A4}" type="datetime1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1" name="그림 10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889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4464-BC5B-4793-8D5D-24CE3FC8969B}" type="datetime1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7" name="그림 6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059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3E657-A0E2-4BA1-AD61-C077A946A5E9}" type="datetime1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그림 5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9392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F3246-186C-426E-99A8-6B0B360320DF}" type="datetime1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9" name="그림 8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7929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706EC-CF83-46BA-8CF1-C77819322750}" type="datetime1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9" name="그림 8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8289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D676E-BF0F-4B0C-8944-E87A69B42399}" type="datetime1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3334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AC7A-16A4-4F9C-8A3B-7FC79E46E018}" type="datetime1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400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1999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96752"/>
            <a:ext cx="8229600" cy="4929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84B8D-79E1-45C0-BACF-A1839C4007B0}" type="datetime1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44791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69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5698" y="2140364"/>
            <a:ext cx="7772400" cy="1470025"/>
          </a:xfrm>
        </p:spPr>
        <p:txBody>
          <a:bodyPr/>
          <a:lstStyle/>
          <a:p>
            <a:r>
              <a:rPr lang="en-US" altLang="ko-KR" dirty="0" smtClean="0"/>
              <a:t>Konan Search – </a:t>
            </a:r>
            <a:r>
              <a:rPr lang="ko-KR" altLang="en-US" dirty="0" smtClean="0"/>
              <a:t>검색엔진 심화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58292" y="3886200"/>
            <a:ext cx="6400800" cy="1752600"/>
          </a:xfrm>
        </p:spPr>
        <p:txBody>
          <a:bodyPr>
            <a:normAutofit/>
          </a:bodyPr>
          <a:lstStyle/>
          <a:p>
            <a:r>
              <a:rPr lang="en-US" altLang="ko-KR" sz="1800" dirty="0" smtClean="0"/>
              <a:t>KS</a:t>
            </a:r>
            <a:r>
              <a:rPr lang="ko-KR" altLang="en-US" sz="1800" dirty="0" smtClean="0"/>
              <a:t>그룹 엔진개발팀 전주현</a:t>
            </a:r>
            <a:endParaRPr lang="en-US" altLang="ko-KR" sz="1800" dirty="0" smtClean="0"/>
          </a:p>
          <a:p>
            <a:r>
              <a:rPr lang="ko-KR" altLang="en-US" sz="1800" dirty="0"/>
              <a:t>２０</a:t>
            </a:r>
            <a:r>
              <a:rPr lang="en-US" altLang="ko-KR" sz="1800" dirty="0" smtClean="0">
                <a:latin typeface="+mn-ea"/>
              </a:rPr>
              <a:t>2 6</a:t>
            </a:r>
            <a:r>
              <a:rPr lang="ko-KR" altLang="en-US" sz="1800" dirty="0" smtClean="0">
                <a:latin typeface="+mn-ea"/>
              </a:rPr>
              <a:t>．</a:t>
            </a:r>
            <a:r>
              <a:rPr lang="en-US" altLang="ko-KR" sz="1800" dirty="0" smtClean="0">
                <a:latin typeface="+mn-ea"/>
              </a:rPr>
              <a:t>04</a:t>
            </a:r>
            <a:endParaRPr lang="ko-KR" altLang="en-US" sz="1800" dirty="0">
              <a:latin typeface="+mn-ea"/>
            </a:endParaRPr>
          </a:p>
        </p:txBody>
      </p:sp>
      <p:cxnSp>
        <p:nvCxnSpPr>
          <p:cNvPr id="26" name="직선 연결선 25"/>
          <p:cNvCxnSpPr>
            <a:cxnSpLocks/>
          </p:cNvCxnSpPr>
          <p:nvPr/>
        </p:nvCxnSpPr>
        <p:spPr>
          <a:xfrm>
            <a:off x="693507" y="2520514"/>
            <a:ext cx="0" cy="720080"/>
          </a:xfrm>
          <a:prstGeom prst="line">
            <a:avLst/>
          </a:prstGeom>
          <a:ln w="381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BI_Konan Search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4516" y="1857364"/>
            <a:ext cx="1590666" cy="34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13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■ </a:t>
            </a:r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b="1" dirty="0" smtClean="0"/>
              <a:t>검색 </a:t>
            </a:r>
            <a:r>
              <a:rPr lang="en-US" altLang="ko-KR" b="1" dirty="0"/>
              <a:t>Q</a:t>
            </a:r>
            <a:r>
              <a:rPr lang="en-US" altLang="ko-KR" b="1" dirty="0" smtClean="0"/>
              <a:t>uery </a:t>
            </a:r>
            <a:r>
              <a:rPr lang="ko-KR" altLang="en-US" b="1" dirty="0" smtClean="0"/>
              <a:t>최적화</a:t>
            </a: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ko-KR" b="1" dirty="0" smtClean="0"/>
              <a:t>Cache</a:t>
            </a:r>
          </a:p>
          <a:p>
            <a:pPr marL="457200" indent="-457200">
              <a:buFont typeface="+mj-lt"/>
              <a:buAutoNum type="arabicPeriod"/>
            </a:pPr>
            <a:endParaRPr lang="en-US" altLang="ko-KR" b="1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b="1" dirty="0" smtClean="0"/>
              <a:t>검색</a:t>
            </a:r>
            <a:r>
              <a:rPr lang="en-US" altLang="ko-KR" b="1" dirty="0" smtClean="0"/>
              <a:t> log debug</a:t>
            </a:r>
            <a:r>
              <a:rPr lang="ko-KR" altLang="en-US" b="1" dirty="0" smtClean="0"/>
              <a:t>하기</a:t>
            </a: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endParaRPr lang="en-US" altLang="ko-KR" b="1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b="1" dirty="0" smtClean="0"/>
              <a:t>검색엔진 최적화 설정</a:t>
            </a: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endParaRPr lang="en-US" altLang="ko-KR" b="1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014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검색 </a:t>
            </a:r>
            <a:r>
              <a:rPr lang="en-US" altLang="ko-KR" dirty="0" smtClean="0"/>
              <a:t>Query </a:t>
            </a:r>
            <a:r>
              <a:rPr lang="ko-KR" altLang="en-US" dirty="0" smtClean="0"/>
              <a:t>최적화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9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■ 색인과 검색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 smtClean="0">
                <a:latin typeface="+mn-ea"/>
              </a:rPr>
              <a:t>검색엔진이 </a:t>
            </a:r>
            <a:r>
              <a:rPr lang="ko-KR" altLang="en-US" dirty="0">
                <a:latin typeface="+mn-ea"/>
              </a:rPr>
              <a:t>미리 생성해 둔 </a:t>
            </a:r>
            <a:endParaRPr lang="en-US" altLang="ko-KR" dirty="0" smtClean="0">
              <a:latin typeface="+mn-ea"/>
            </a:endParaRPr>
          </a:p>
          <a:p>
            <a:pPr marL="0" indent="0">
              <a:buNone/>
            </a:pPr>
            <a:r>
              <a:rPr lang="ko-KR" altLang="en-US" b="1" dirty="0" smtClean="0">
                <a:latin typeface="+mn-ea"/>
              </a:rPr>
              <a:t>색인 </a:t>
            </a:r>
            <a:r>
              <a:rPr lang="ko-KR" altLang="en-US" b="1" dirty="0">
                <a:latin typeface="+mn-ea"/>
              </a:rPr>
              <a:t>정보를 최대한 활용할 수 있는 형태로 쿼리를 </a:t>
            </a:r>
            <a:r>
              <a:rPr lang="ko-KR" altLang="en-US" b="1" dirty="0" smtClean="0">
                <a:latin typeface="+mn-ea"/>
              </a:rPr>
              <a:t>작성</a:t>
            </a:r>
            <a:endParaRPr lang="en-US" altLang="ko-KR" dirty="0" smtClean="0">
              <a:latin typeface="+mn-ea"/>
            </a:endParaRPr>
          </a:p>
          <a:p>
            <a:endParaRPr lang="en-US" altLang="ko-KR" dirty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9190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원문 문서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2257392"/>
            <a:ext cx="1737360" cy="6400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0000"/>
                <a:lumOff val="1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</a:t>
            </a: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smtClean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  <a:p>
            <a:pPr marL="0" indent="0" algn="ctr">
              <a:buNone/>
            </a:pPr>
            <a:endParaRPr lang="en-US" sz="1100" b="1" dirty="0">
              <a:solidFill>
                <a:srgbClr val="1E2A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altLang="ko-K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검색엔진</a:t>
            </a:r>
            <a:r>
              <a:rPr lang="en-US" altLang="ko-K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</a:t>
            </a:r>
            <a:r>
              <a:rPr lang="en-US" altLang="ko-K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3072364"/>
            <a:ext cx="1737360" cy="6926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0000"/>
                <a:lumOff val="1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 err="1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</a:t>
            </a: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smtClean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  <a:p>
            <a:pPr algn="ctr"/>
            <a:endParaRPr lang="en-US" altLang="ko-KR" sz="1100" b="1" dirty="0">
              <a:solidFill>
                <a:srgbClr val="1E2A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altLang="ko-KR" sz="11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색인</a:t>
            </a:r>
            <a:r>
              <a:rPr lang="en-US" altLang="ko-KR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구조와</a:t>
            </a:r>
            <a:r>
              <a:rPr lang="en-US" altLang="ko-K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</a:t>
            </a:r>
            <a:r>
              <a:rPr lang="en-US" altLang="ko-K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</a:t>
            </a:r>
            <a:endParaRPr lang="en-US" sz="1100" b="1" dirty="0">
              <a:solidFill>
                <a:srgbClr val="1E2A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74320" y="3939888"/>
            <a:ext cx="1737360" cy="6434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0000"/>
                <a:lumOff val="1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 err="1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</a:t>
            </a: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</a:p>
          <a:p>
            <a:pPr algn="ctr"/>
            <a:endParaRPr lang="en-US" sz="1100" b="1" dirty="0">
              <a:solidFill>
                <a:srgbClr val="1E2A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altLang="ko-K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형태소</a:t>
            </a:r>
            <a:r>
              <a:rPr lang="en-US" altLang="ko-K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r>
              <a:rPr lang="en-US" altLang="ko-K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</a:t>
            </a:r>
            <a:r>
              <a:rPr lang="en-US" altLang="ko-K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색인</a:t>
            </a:r>
            <a:endParaRPr lang="en-US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315968" y="1945191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역색인 테이블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315968" y="2246943"/>
            <a:ext cx="1371600" cy="329184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315968" y="224694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색인키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724144" y="2246943"/>
            <a:ext cx="2962656" cy="329184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24144" y="2246943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출현 문서 목록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315968" y="2594415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315968" y="2594415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검색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724144" y="2594415"/>
            <a:ext cx="2962656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724144" y="2594415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문서1,  문서2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315968" y="2923599"/>
            <a:ext cx="1371600" cy="32918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315968" y="2923599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색인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724144" y="2923599"/>
            <a:ext cx="2962656" cy="32918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724144" y="2923599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문서2,  문서3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15968" y="3252783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315968" y="325278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활용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724144" y="3252783"/>
            <a:ext cx="2962656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724144" y="3252783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문서1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315968" y="3581967"/>
            <a:ext cx="1371600" cy="32918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315968" y="3581967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형태소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724144" y="3581967"/>
            <a:ext cx="2962656" cy="32918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724144" y="3581967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문서3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315968" y="3911151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315968" y="3911151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성능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5724144" y="3911151"/>
            <a:ext cx="2962656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724144" y="3911151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문서2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274320" y="4817712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74320" y="49091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쿼리 수행 시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274320" y="5210904"/>
            <a:ext cx="1920240" cy="594360"/>
          </a:xfrm>
          <a:prstGeom prst="rect">
            <a:avLst/>
          </a:prstGeom>
          <a:solidFill>
            <a:srgbClr val="FAEEDA"/>
          </a:solidFill>
          <a:ln w="9525">
            <a:solidFill>
              <a:srgbClr val="BA751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74320" y="52383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쿼리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274320" y="5494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124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900" dirty="0" err="1">
                <a:solidFill>
                  <a:srgbClr val="4124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색인</a:t>
            </a:r>
            <a:r>
              <a:rPr lang="en-US" sz="900" dirty="0">
                <a:solidFill>
                  <a:srgbClr val="4124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 err="1" smtClean="0">
                <a:solidFill>
                  <a:srgbClr val="4124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검색</a:t>
            </a:r>
            <a:r>
              <a:rPr lang="en-US" sz="900" dirty="0" smtClean="0">
                <a:solidFill>
                  <a:srgbClr val="4124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 </a:t>
            </a:r>
            <a:r>
              <a:rPr lang="en-US" sz="900" dirty="0" err="1" smtClean="0">
                <a:solidFill>
                  <a:srgbClr val="4124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allword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2212848" y="5238336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2423160" y="5210904"/>
            <a:ext cx="1920240" cy="594360"/>
          </a:xfrm>
          <a:prstGeom prst="rect">
            <a:avLst/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423160" y="52383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색인키 추출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2423160" y="5494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2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"색인", "검색"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4361688" y="5238336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4572000" y="5210904"/>
            <a:ext cx="1920240" cy="594360"/>
          </a:xfrm>
          <a:prstGeom prst="rect">
            <a:avLst/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572000" y="52383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역색인 탐색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4572000" y="5494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434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키의 문서 조회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6510528" y="5238336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6720840" y="5210904"/>
            <a:ext cx="1920240" cy="594360"/>
          </a:xfrm>
          <a:prstGeom prst="rect">
            <a:avLst/>
          </a:prstGeom>
          <a:solidFill>
            <a:srgbClr val="F1EFE8"/>
          </a:solidFill>
          <a:ln w="9525">
            <a:solidFill>
              <a:srgbClr val="88878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720840" y="52383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반환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6720840" y="5494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문서2 (교집합)</a:t>
            </a:r>
            <a:endParaRPr lang="en-US" sz="900" dirty="0"/>
          </a:p>
        </p:txBody>
      </p:sp>
      <p:sp>
        <p:nvSpPr>
          <p:cNvPr id="71" name="타원 70"/>
          <p:cNvSpPr/>
          <p:nvPr/>
        </p:nvSpPr>
        <p:spPr>
          <a:xfrm>
            <a:off x="2339752" y="2594818"/>
            <a:ext cx="1700784" cy="164592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 dirty="0" err="1">
                <a:solidFill>
                  <a:srgbClr val="3C3489"/>
                </a:solidFill>
                <a:latin typeface="+mn-ea"/>
                <a:cs typeface="Calibri" pitchFamily="34" charset="-120"/>
              </a:rPr>
              <a:t>색인키</a:t>
            </a:r>
            <a:r>
              <a:rPr lang="en-US" altLang="ko-KR" sz="1100" b="1" dirty="0">
                <a:solidFill>
                  <a:srgbClr val="3C3489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ko-KR" sz="1100" b="1" dirty="0" err="1">
                <a:solidFill>
                  <a:srgbClr val="3C3489"/>
                </a:solidFill>
                <a:latin typeface="+mn-ea"/>
                <a:cs typeface="Calibri" pitchFamily="34" charset="-120"/>
              </a:rPr>
              <a:t>추출</a:t>
            </a:r>
            <a:r>
              <a:rPr lang="en-US" altLang="ko-KR" sz="1100" b="1" dirty="0">
                <a:solidFill>
                  <a:srgbClr val="3C3489"/>
                </a:solidFill>
                <a:latin typeface="+mn-ea"/>
                <a:cs typeface="Calibri" pitchFamily="34" charset="-120"/>
              </a:rPr>
              <a:t/>
            </a:r>
            <a:br>
              <a:rPr lang="en-US" altLang="ko-KR" sz="1100" b="1" dirty="0">
                <a:solidFill>
                  <a:srgbClr val="3C3489"/>
                </a:solidFill>
                <a:latin typeface="+mn-ea"/>
                <a:cs typeface="Calibri" pitchFamily="34" charset="-120"/>
              </a:rPr>
            </a:br>
            <a:r>
              <a:rPr lang="en-US" altLang="ko-KR" sz="1100" b="1" dirty="0">
                <a:solidFill>
                  <a:srgbClr val="3C3489"/>
                </a:solidFill>
                <a:latin typeface="+mn-ea"/>
                <a:cs typeface="Calibri" pitchFamily="34" charset="-120"/>
              </a:rPr>
              <a:t/>
            </a:r>
            <a:br>
              <a:rPr lang="en-US" altLang="ko-KR" sz="1100" b="1" dirty="0">
                <a:solidFill>
                  <a:srgbClr val="3C3489"/>
                </a:solidFill>
                <a:latin typeface="+mn-ea"/>
                <a:cs typeface="Calibri" pitchFamily="34" charset="-120"/>
              </a:rPr>
            </a:br>
            <a:r>
              <a:rPr lang="en-US" altLang="ko-KR" sz="1100" dirty="0" err="1">
                <a:solidFill>
                  <a:srgbClr val="534AB7"/>
                </a:solidFill>
                <a:latin typeface="+mn-ea"/>
                <a:cs typeface="Calibri" pitchFamily="34" charset="-120"/>
              </a:rPr>
              <a:t>형태소</a:t>
            </a:r>
            <a:r>
              <a:rPr lang="en-US" altLang="ko-KR" sz="1100" dirty="0">
                <a:solidFill>
                  <a:srgbClr val="534AB7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534AB7"/>
                </a:solidFill>
                <a:latin typeface="+mn-ea"/>
                <a:cs typeface="Calibri" pitchFamily="34" charset="-120"/>
              </a:rPr>
              <a:t>분석</a:t>
            </a:r>
            <a:endParaRPr lang="en-US" altLang="ko-KR" sz="1100" dirty="0">
              <a:latin typeface="+mn-ea"/>
            </a:endParaRPr>
          </a:p>
          <a:p>
            <a:pPr algn="ctr"/>
            <a:r>
              <a:rPr lang="en-US" altLang="ko-KR" sz="1100" dirty="0">
                <a:solidFill>
                  <a:srgbClr val="534AB7"/>
                </a:solidFill>
                <a:latin typeface="+mn-ea"/>
                <a:cs typeface="Calibri" pitchFamily="34" charset="-120"/>
              </a:rPr>
              <a:t>String </a:t>
            </a:r>
            <a:r>
              <a:rPr lang="ko-KR" altLang="en-US" sz="1100" dirty="0" smtClean="0">
                <a:solidFill>
                  <a:srgbClr val="534AB7"/>
                </a:solidFill>
                <a:latin typeface="+mn-ea"/>
                <a:cs typeface="Calibri" pitchFamily="34" charset="-120"/>
              </a:rPr>
              <a:t>분리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73" name="직선 화살표 연결선 72"/>
          <p:cNvCxnSpPr>
            <a:stCxn id="7" idx="3"/>
            <a:endCxn id="71" idx="1"/>
          </p:cNvCxnSpPr>
          <p:nvPr/>
        </p:nvCxnSpPr>
        <p:spPr>
          <a:xfrm>
            <a:off x="2011680" y="2577432"/>
            <a:ext cx="577146" cy="2584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>
            <a:stCxn id="10" idx="3"/>
            <a:endCxn id="71" idx="2"/>
          </p:cNvCxnSpPr>
          <p:nvPr/>
        </p:nvCxnSpPr>
        <p:spPr>
          <a:xfrm flipV="1">
            <a:off x="2011680" y="3417778"/>
            <a:ext cx="328072" cy="9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/>
          <p:cNvCxnSpPr>
            <a:stCxn id="13" idx="3"/>
            <a:endCxn id="71" idx="3"/>
          </p:cNvCxnSpPr>
          <p:nvPr/>
        </p:nvCxnSpPr>
        <p:spPr>
          <a:xfrm flipV="1">
            <a:off x="2011680" y="3999699"/>
            <a:ext cx="577146" cy="2619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>
            <a:stCxn id="71" idx="6"/>
            <a:endCxn id="41" idx="1"/>
          </p:cNvCxnSpPr>
          <p:nvPr/>
        </p:nvCxnSpPr>
        <p:spPr>
          <a:xfrm flipV="1">
            <a:off x="4040536" y="3417375"/>
            <a:ext cx="275432" cy="4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125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■ </a:t>
            </a:r>
            <a:r>
              <a:rPr lang="ko-KR" altLang="en-US" dirty="0" err="1"/>
              <a:t>부분일치</a:t>
            </a:r>
            <a:r>
              <a:rPr lang="ko-KR" altLang="en-US" dirty="0"/>
              <a:t> 검색  </a:t>
            </a:r>
            <a:r>
              <a:rPr lang="en-US" altLang="ko-KR" dirty="0"/>
              <a:t>—  LIKE vs N-gram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 smtClean="0">
                <a:latin typeface="+mn-ea"/>
              </a:rPr>
              <a:t>LIKE </a:t>
            </a:r>
            <a:r>
              <a:rPr lang="ko-KR" altLang="en-US" b="1" dirty="0" smtClean="0">
                <a:latin typeface="+mn-ea"/>
              </a:rPr>
              <a:t>검색</a:t>
            </a:r>
            <a:endParaRPr lang="en-US" altLang="ko-KR" b="1" dirty="0" smtClean="0">
              <a:latin typeface="+mn-ea"/>
            </a:endParaRPr>
          </a:p>
          <a:p>
            <a:r>
              <a:rPr lang="ko-KR" altLang="en-US" sz="1600" b="1" dirty="0" smtClean="0">
                <a:latin typeface="+mn-ea"/>
              </a:rPr>
              <a:t>미리 </a:t>
            </a:r>
            <a:r>
              <a:rPr lang="ko-KR" altLang="en-US" sz="1600" b="1" dirty="0" err="1" smtClean="0">
                <a:latin typeface="+mn-ea"/>
              </a:rPr>
              <a:t>색인해둔</a:t>
            </a:r>
            <a:r>
              <a:rPr lang="ko-KR" altLang="en-US" sz="1600" b="1" dirty="0" smtClean="0">
                <a:latin typeface="+mn-ea"/>
              </a:rPr>
              <a:t> 색인정보를 활용할 수 없음</a:t>
            </a:r>
            <a:r>
              <a:rPr lang="en-US" altLang="ko-KR" sz="1600" b="1" dirty="0" smtClean="0">
                <a:latin typeface="+mn-ea"/>
              </a:rPr>
              <a:t>.</a:t>
            </a:r>
          </a:p>
          <a:p>
            <a:r>
              <a:rPr lang="ko-KR" altLang="en-US" sz="1600" b="1" dirty="0" smtClean="0">
                <a:latin typeface="+mn-ea"/>
              </a:rPr>
              <a:t>따라서</a:t>
            </a:r>
            <a:r>
              <a:rPr lang="en-US" altLang="ko-KR" sz="1600" b="1" dirty="0" smtClean="0">
                <a:latin typeface="+mn-ea"/>
              </a:rPr>
              <a:t>, </a:t>
            </a:r>
            <a:r>
              <a:rPr lang="ko-KR" altLang="en-US" sz="1600" b="1" dirty="0" smtClean="0">
                <a:latin typeface="+mn-ea"/>
              </a:rPr>
              <a:t>모든 </a:t>
            </a:r>
            <a:r>
              <a:rPr lang="ko-KR" altLang="en-US" sz="1600" b="1" dirty="0" err="1" smtClean="0">
                <a:latin typeface="+mn-ea"/>
              </a:rPr>
              <a:t>색인키를</a:t>
            </a:r>
            <a:r>
              <a:rPr lang="ko-KR" altLang="en-US" sz="1600" b="1" dirty="0" smtClean="0">
                <a:latin typeface="+mn-ea"/>
              </a:rPr>
              <a:t> </a:t>
            </a:r>
            <a:r>
              <a:rPr lang="ko-KR" altLang="en-US" sz="1600" b="1" dirty="0" err="1" smtClean="0">
                <a:latin typeface="+mn-ea"/>
              </a:rPr>
              <a:t>탐색해야함</a:t>
            </a:r>
            <a:r>
              <a:rPr lang="en-US" altLang="ko-KR" sz="1600" b="1" dirty="0" smtClean="0">
                <a:latin typeface="+mn-ea"/>
              </a:rPr>
              <a:t>.</a:t>
            </a:r>
            <a:endParaRPr lang="en-US" altLang="ko-KR" sz="1600" b="1" dirty="0">
              <a:latin typeface="+mn-ea"/>
            </a:endParaRPr>
          </a:p>
          <a:p>
            <a:r>
              <a:rPr lang="en-US" altLang="ko-KR" sz="1600" dirty="0" smtClean="0">
                <a:latin typeface="+mn-ea"/>
              </a:rPr>
              <a:t>LIKE </a:t>
            </a:r>
            <a:r>
              <a:rPr lang="ko-KR" altLang="en-US" sz="1600" dirty="0" smtClean="0">
                <a:latin typeface="+mn-ea"/>
              </a:rPr>
              <a:t>검색을 꼭</a:t>
            </a:r>
            <a:r>
              <a:rPr lang="en-US" altLang="ko-KR" sz="1600" dirty="0" smtClean="0">
                <a:latin typeface="+mn-ea"/>
              </a:rPr>
              <a:t>!! </a:t>
            </a:r>
            <a:r>
              <a:rPr lang="ko-KR" altLang="en-US" sz="1600" dirty="0" smtClean="0">
                <a:latin typeface="+mn-ea"/>
              </a:rPr>
              <a:t>사용해야 한다면</a:t>
            </a:r>
            <a:endParaRPr lang="en-US" altLang="ko-KR" sz="1600" dirty="0" smtClean="0">
              <a:latin typeface="+mn-ea"/>
            </a:endParaRPr>
          </a:p>
          <a:p>
            <a:pPr lvl="1"/>
            <a:r>
              <a:rPr lang="ko-KR" altLang="en-US" dirty="0" err="1" smtClean="0">
                <a:latin typeface="+mn-ea"/>
              </a:rPr>
              <a:t>좌절단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LIKE “*</a:t>
            </a:r>
            <a:r>
              <a:rPr lang="ko-KR" altLang="en-US" dirty="0" smtClean="0">
                <a:latin typeface="+mn-ea"/>
              </a:rPr>
              <a:t>활용</a:t>
            </a:r>
            <a:r>
              <a:rPr lang="en-US" altLang="ko-KR" dirty="0" smtClean="0">
                <a:latin typeface="+mn-ea"/>
              </a:rPr>
              <a:t>” -&gt; </a:t>
            </a:r>
            <a:r>
              <a:rPr lang="ko-KR" altLang="en-US" dirty="0" smtClean="0">
                <a:latin typeface="+mn-ea"/>
              </a:rPr>
              <a:t>색인 정보 활용 불가</a:t>
            </a:r>
            <a:endParaRPr lang="en-US" altLang="ko-KR" dirty="0" smtClean="0">
              <a:latin typeface="+mn-ea"/>
            </a:endParaRPr>
          </a:p>
          <a:p>
            <a:pPr lvl="1"/>
            <a:r>
              <a:rPr lang="ko-KR" altLang="en-US" b="1" dirty="0" err="1" smtClean="0">
                <a:latin typeface="+mn-ea"/>
              </a:rPr>
              <a:t>우절단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LIKE “</a:t>
            </a:r>
            <a:r>
              <a:rPr lang="ko-KR" altLang="en-US" dirty="0" smtClean="0">
                <a:latin typeface="+mn-ea"/>
              </a:rPr>
              <a:t>활용</a:t>
            </a:r>
            <a:r>
              <a:rPr lang="en-US" altLang="ko-KR" dirty="0" smtClean="0">
                <a:latin typeface="+mn-ea"/>
              </a:rPr>
              <a:t>*” -&gt; </a:t>
            </a:r>
            <a:r>
              <a:rPr lang="ko-KR" altLang="en-US" dirty="0" smtClean="0">
                <a:latin typeface="+mn-ea"/>
              </a:rPr>
              <a:t>색인 정보 일부 활용 가능 </a:t>
            </a:r>
            <a:endParaRPr lang="en-US" altLang="ko-KR" dirty="0" smtClean="0">
              <a:latin typeface="+mn-ea"/>
            </a:endParaRPr>
          </a:p>
          <a:p>
            <a:pPr lvl="1"/>
            <a:endParaRPr lang="en-US" altLang="ko-KR" b="1" dirty="0">
              <a:latin typeface="+mn-ea"/>
            </a:endParaRPr>
          </a:p>
          <a:p>
            <a:pPr lvl="1"/>
            <a:endParaRPr lang="en-US" altLang="ko-KR" b="1" dirty="0" smtClean="0">
              <a:latin typeface="+mn-ea"/>
            </a:endParaRPr>
          </a:p>
          <a:p>
            <a:pPr marL="0" indent="0">
              <a:buNone/>
            </a:pPr>
            <a:r>
              <a:rPr lang="en-US" altLang="ko-KR" b="1" dirty="0" smtClean="0">
                <a:latin typeface="+mn-ea"/>
              </a:rPr>
              <a:t>N-gram </a:t>
            </a:r>
            <a:r>
              <a:rPr lang="ko-KR" altLang="en-US" b="1" dirty="0" smtClean="0">
                <a:latin typeface="+mn-ea"/>
              </a:rPr>
              <a:t>검색</a:t>
            </a:r>
            <a:endParaRPr lang="en-US" altLang="ko-KR" b="1" dirty="0">
              <a:latin typeface="+mn-ea"/>
            </a:endParaRPr>
          </a:p>
          <a:p>
            <a:pPr>
              <a:buSzPct val="100000"/>
            </a:pPr>
            <a:r>
              <a:rPr lang="en-US" altLang="ko-KR" dirty="0" smtClean="0">
                <a:solidFill>
                  <a:srgbClr val="1E2A38"/>
                </a:solidFill>
                <a:latin typeface="+mn-ea"/>
                <a:cs typeface="Calibri" pitchFamily="34" charset="-120"/>
              </a:rPr>
              <a:t>2~3</a:t>
            </a:r>
            <a:r>
              <a:rPr lang="en-US" altLang="ko-KR" dirty="0">
                <a:solidFill>
                  <a:srgbClr val="1E2A38"/>
                </a:solidFill>
                <a:latin typeface="+mn-ea"/>
                <a:cs typeface="Calibri" pitchFamily="34" charset="-120"/>
              </a:rPr>
              <a:t>글자 </a:t>
            </a:r>
            <a:r>
              <a:rPr lang="en-US" altLang="ko-KR" dirty="0" err="1">
                <a:solidFill>
                  <a:srgbClr val="1E2A38"/>
                </a:solidFill>
                <a:latin typeface="+mn-ea"/>
                <a:cs typeface="Calibri" pitchFamily="34" charset="-120"/>
              </a:rPr>
              <a:t>단위로</a:t>
            </a:r>
            <a:r>
              <a:rPr lang="en-US" altLang="ko-KR" dirty="0">
                <a:solidFill>
                  <a:srgbClr val="1E2A38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ko-KR" dirty="0" err="1">
                <a:solidFill>
                  <a:srgbClr val="1E2A38"/>
                </a:solidFill>
                <a:latin typeface="+mn-ea"/>
                <a:cs typeface="Calibri" pitchFamily="34" charset="-120"/>
              </a:rPr>
              <a:t>잘라</a:t>
            </a:r>
            <a:r>
              <a:rPr lang="en-US" altLang="ko-KR" dirty="0">
                <a:solidFill>
                  <a:srgbClr val="1E2A38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ko-KR" dirty="0" err="1">
                <a:solidFill>
                  <a:srgbClr val="1E2A38"/>
                </a:solidFill>
                <a:latin typeface="+mn-ea"/>
                <a:cs typeface="Calibri" pitchFamily="34" charset="-120"/>
              </a:rPr>
              <a:t>색인키를</a:t>
            </a:r>
            <a:r>
              <a:rPr lang="en-US" altLang="ko-KR" dirty="0">
                <a:solidFill>
                  <a:srgbClr val="1E2A38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ko-KR" dirty="0" err="1">
                <a:solidFill>
                  <a:srgbClr val="1E2A38"/>
                </a:solidFill>
                <a:latin typeface="+mn-ea"/>
                <a:cs typeface="Calibri" pitchFamily="34" charset="-120"/>
              </a:rPr>
              <a:t>미리</a:t>
            </a:r>
            <a:r>
              <a:rPr lang="en-US" altLang="ko-KR" dirty="0">
                <a:solidFill>
                  <a:srgbClr val="1E2A38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ko-KR" dirty="0" err="1">
                <a:solidFill>
                  <a:srgbClr val="1E2A38"/>
                </a:solidFill>
                <a:latin typeface="+mn-ea"/>
                <a:cs typeface="Calibri" pitchFamily="34" charset="-120"/>
              </a:rPr>
              <a:t>생성</a:t>
            </a:r>
            <a:endParaRPr lang="en-US" altLang="ko-KR" dirty="0">
              <a:latin typeface="+mn-ea"/>
            </a:endParaRPr>
          </a:p>
          <a:p>
            <a:pPr>
              <a:buSzPct val="100000"/>
            </a:pPr>
            <a:r>
              <a:rPr lang="en-US" altLang="ko-KR" dirty="0" err="1">
                <a:solidFill>
                  <a:srgbClr val="1E2A38"/>
                </a:solidFill>
                <a:latin typeface="+mn-ea"/>
                <a:cs typeface="Calibri" pitchFamily="34" charset="-120"/>
              </a:rPr>
              <a:t>색인</a:t>
            </a:r>
            <a:r>
              <a:rPr lang="en-US" altLang="ko-KR" dirty="0">
                <a:solidFill>
                  <a:srgbClr val="1E2A38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ko-KR" dirty="0" err="1">
                <a:solidFill>
                  <a:srgbClr val="1E2A38"/>
                </a:solidFill>
                <a:latin typeface="+mn-ea"/>
                <a:cs typeface="Calibri" pitchFamily="34" charset="-120"/>
              </a:rPr>
              <a:t>정보를</a:t>
            </a:r>
            <a:r>
              <a:rPr lang="en-US" altLang="ko-KR" dirty="0">
                <a:solidFill>
                  <a:srgbClr val="1E2A38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ko-KR" dirty="0" err="1">
                <a:solidFill>
                  <a:srgbClr val="1E2A38"/>
                </a:solidFill>
                <a:latin typeface="+mn-ea"/>
                <a:cs typeface="Calibri" pitchFamily="34" charset="-120"/>
              </a:rPr>
              <a:t>활용</a:t>
            </a:r>
            <a:r>
              <a:rPr lang="en-US" altLang="ko-KR" dirty="0">
                <a:solidFill>
                  <a:srgbClr val="1E2A38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ko-KR" dirty="0" err="1">
                <a:solidFill>
                  <a:srgbClr val="1E2A38"/>
                </a:solidFill>
                <a:latin typeface="+mn-ea"/>
                <a:cs typeface="Calibri" pitchFamily="34" charset="-120"/>
              </a:rPr>
              <a:t>가능</a:t>
            </a:r>
            <a:r>
              <a:rPr lang="en-US" altLang="ko-KR" dirty="0">
                <a:solidFill>
                  <a:srgbClr val="1E2A38"/>
                </a:solidFill>
                <a:latin typeface="+mn-ea"/>
                <a:cs typeface="Calibri" pitchFamily="34" charset="-120"/>
              </a:rPr>
              <a:t>  →  </a:t>
            </a:r>
            <a:r>
              <a:rPr lang="en-US" altLang="ko-KR" dirty="0" err="1">
                <a:solidFill>
                  <a:srgbClr val="1E2A38"/>
                </a:solidFill>
                <a:latin typeface="+mn-ea"/>
                <a:cs typeface="Calibri" pitchFamily="34" charset="-120"/>
              </a:rPr>
              <a:t>매우</a:t>
            </a:r>
            <a:r>
              <a:rPr lang="en-US" altLang="ko-KR" dirty="0">
                <a:solidFill>
                  <a:srgbClr val="1E2A38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ko-KR" dirty="0" err="1">
                <a:solidFill>
                  <a:srgbClr val="1E2A38"/>
                </a:solidFill>
                <a:latin typeface="+mn-ea"/>
                <a:cs typeface="Calibri" pitchFamily="34" charset="-120"/>
              </a:rPr>
              <a:t>빠름</a:t>
            </a:r>
            <a:endParaRPr lang="en-US" altLang="ko-KR" dirty="0">
              <a:latin typeface="+mn-ea"/>
            </a:endParaRPr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32" t="5517" r="9655" b="4533"/>
          <a:stretch/>
        </p:blipFill>
        <p:spPr bwMode="auto">
          <a:xfrm>
            <a:off x="5364088" y="2239276"/>
            <a:ext cx="354171" cy="337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5" t="5692" r="3820"/>
          <a:stretch/>
        </p:blipFill>
        <p:spPr bwMode="auto">
          <a:xfrm>
            <a:off x="5796136" y="2505554"/>
            <a:ext cx="336400" cy="347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539552" y="2990096"/>
            <a:ext cx="675052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100" dirty="0" smtClean="0">
                <a:latin typeface="+mj-ea"/>
                <a:ea typeface="+mj-ea"/>
              </a:rPr>
              <a:t>select * from tab where body LIKE “</a:t>
            </a:r>
            <a:r>
              <a:rPr lang="ko-KR" altLang="en-US" sz="1100" dirty="0" smtClean="0">
                <a:latin typeface="+mj-ea"/>
                <a:ea typeface="+mj-ea"/>
              </a:rPr>
              <a:t>활용</a:t>
            </a:r>
            <a:r>
              <a:rPr lang="en-US" altLang="ko-KR" sz="1100" dirty="0" smtClean="0">
                <a:latin typeface="+mj-ea"/>
                <a:ea typeface="+mj-ea"/>
              </a:rPr>
              <a:t>*”;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39552" y="4643157"/>
            <a:ext cx="675052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100" dirty="0" smtClean="0">
                <a:latin typeface="+mj-ea"/>
                <a:ea typeface="+mj-ea"/>
              </a:rPr>
              <a:t>select * from tab where </a:t>
            </a:r>
            <a:r>
              <a:rPr lang="en-US" altLang="ko-KR" sz="1100" dirty="0" err="1" smtClean="0">
                <a:latin typeface="+mj-ea"/>
                <a:ea typeface="+mj-ea"/>
              </a:rPr>
              <a:t>body_ngram</a:t>
            </a:r>
            <a:r>
              <a:rPr lang="en-US" altLang="ko-KR" sz="1100" dirty="0" smtClean="0">
                <a:latin typeface="+mj-ea"/>
                <a:ea typeface="+mj-ea"/>
              </a:rPr>
              <a:t> = “</a:t>
            </a:r>
            <a:r>
              <a:rPr lang="ko-KR" altLang="en-US" sz="1100" dirty="0" smtClean="0">
                <a:latin typeface="+mj-ea"/>
                <a:ea typeface="+mj-ea"/>
              </a:rPr>
              <a:t>활용</a:t>
            </a:r>
            <a:r>
              <a:rPr lang="en-US" altLang="ko-KR" sz="1100" dirty="0" smtClean="0">
                <a:latin typeface="+mj-ea"/>
                <a:ea typeface="+mj-ea"/>
              </a:rPr>
              <a:t>” </a:t>
            </a:r>
            <a:r>
              <a:rPr lang="en-US" altLang="ko-KR" sz="1100" dirty="0" err="1" smtClean="0">
                <a:latin typeface="+mj-ea"/>
                <a:ea typeface="+mj-ea"/>
              </a:rPr>
              <a:t>allorderadjacent</a:t>
            </a:r>
            <a:r>
              <a:rPr lang="en-US" altLang="ko-KR" sz="1100" dirty="0" smtClean="0">
                <a:latin typeface="+mj-ea"/>
                <a:ea typeface="+mj-ea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193532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■ </a:t>
            </a:r>
            <a:r>
              <a:rPr lang="ko-KR" altLang="en-US" dirty="0" err="1"/>
              <a:t>부분일치</a:t>
            </a:r>
            <a:r>
              <a:rPr lang="ko-KR" altLang="en-US" dirty="0"/>
              <a:t> 검색  </a:t>
            </a:r>
            <a:r>
              <a:rPr lang="en-US" altLang="ko-KR" dirty="0"/>
              <a:t>—  </a:t>
            </a:r>
            <a:r>
              <a:rPr lang="en-US" altLang="ko-KR" dirty="0" err="1" smtClean="0"/>
              <a:t>alladjacent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allorderadjacent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 err="1">
                <a:latin typeface="+mn-ea"/>
              </a:rPr>
              <a:t>alladjacent</a:t>
            </a:r>
            <a:endParaRPr lang="en-US" altLang="ko-KR" b="1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모든 키워드가 </a:t>
            </a:r>
            <a:r>
              <a:rPr lang="en-US" altLang="ko-KR" dirty="0">
                <a:latin typeface="+mn-ea"/>
              </a:rPr>
              <a:t>“</a:t>
            </a:r>
            <a:r>
              <a:rPr lang="ko-KR" altLang="en-US" dirty="0" err="1">
                <a:latin typeface="+mn-ea"/>
              </a:rPr>
              <a:t>순서상관없이</a:t>
            </a:r>
            <a:r>
              <a:rPr lang="en-US" altLang="ko-KR" dirty="0">
                <a:latin typeface="+mn-ea"/>
              </a:rPr>
              <a:t>” “</a:t>
            </a:r>
            <a:r>
              <a:rPr lang="ko-KR" altLang="en-US" dirty="0">
                <a:latin typeface="+mn-ea"/>
              </a:rPr>
              <a:t>인접하여</a:t>
            </a:r>
            <a:r>
              <a:rPr lang="en-US" altLang="ko-KR" dirty="0">
                <a:latin typeface="+mn-ea"/>
              </a:rPr>
              <a:t>”</a:t>
            </a:r>
            <a:r>
              <a:rPr lang="ko-KR" altLang="en-US" dirty="0">
                <a:latin typeface="+mn-ea"/>
              </a:rPr>
              <a:t>출현하는 문서 탐색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near </a:t>
            </a:r>
            <a:r>
              <a:rPr lang="ko-KR" altLang="en-US" dirty="0">
                <a:latin typeface="+mn-ea"/>
              </a:rPr>
              <a:t>연산자와 결합하여 키워드간 거리를 설정할 수 있다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0" indent="0">
              <a:buNone/>
            </a:pPr>
            <a:endParaRPr lang="en-US" altLang="ko-KR" b="1" dirty="0" smtClean="0">
              <a:latin typeface="+mn-ea"/>
            </a:endParaRPr>
          </a:p>
          <a:p>
            <a:pPr marL="0" indent="0">
              <a:buNone/>
            </a:pPr>
            <a:endParaRPr lang="en-US" altLang="ko-KR" b="1" dirty="0">
              <a:latin typeface="+mn-ea"/>
            </a:endParaRPr>
          </a:p>
          <a:p>
            <a:pPr marL="0" indent="0">
              <a:buNone/>
            </a:pPr>
            <a:endParaRPr lang="en-US" altLang="ko-KR" b="1" dirty="0" smtClean="0">
              <a:latin typeface="+mn-ea"/>
            </a:endParaRPr>
          </a:p>
          <a:p>
            <a:pPr marL="0" indent="0">
              <a:buNone/>
            </a:pPr>
            <a:r>
              <a:rPr lang="en-US" altLang="ko-KR" b="1" dirty="0" err="1" smtClean="0">
                <a:latin typeface="+mn-ea"/>
              </a:rPr>
              <a:t>allorderadjacent</a:t>
            </a:r>
            <a:endParaRPr lang="en-US" altLang="ko-KR" b="1" dirty="0" smtClean="0">
              <a:latin typeface="+mn-ea"/>
            </a:endParaRPr>
          </a:p>
          <a:p>
            <a:r>
              <a:rPr lang="ko-KR" altLang="en-US" dirty="0" smtClean="0">
                <a:latin typeface="+mn-ea"/>
              </a:rPr>
              <a:t>모든 키워드가 </a:t>
            </a:r>
            <a:r>
              <a:rPr lang="en-US" altLang="ko-KR" dirty="0" smtClean="0">
                <a:latin typeface="+mn-ea"/>
              </a:rPr>
              <a:t>“</a:t>
            </a:r>
            <a:r>
              <a:rPr lang="ko-KR" altLang="en-US" dirty="0" smtClean="0">
                <a:latin typeface="+mn-ea"/>
              </a:rPr>
              <a:t>순서대로</a:t>
            </a:r>
            <a:r>
              <a:rPr lang="en-US" altLang="ko-KR" dirty="0" smtClean="0">
                <a:latin typeface="+mn-ea"/>
              </a:rPr>
              <a:t>” “</a:t>
            </a:r>
            <a:r>
              <a:rPr lang="ko-KR" altLang="en-US" dirty="0" smtClean="0">
                <a:latin typeface="+mn-ea"/>
              </a:rPr>
              <a:t>인접하여</a:t>
            </a:r>
            <a:r>
              <a:rPr lang="en-US" altLang="ko-KR" dirty="0" smtClean="0">
                <a:latin typeface="+mn-ea"/>
              </a:rPr>
              <a:t>” </a:t>
            </a:r>
            <a:r>
              <a:rPr lang="ko-KR" altLang="en-US" dirty="0" smtClean="0">
                <a:latin typeface="+mn-ea"/>
              </a:rPr>
              <a:t>출현하는 문서 탐색</a:t>
            </a:r>
            <a:endParaRPr lang="en-US" altLang="ko-KR" dirty="0" smtClean="0">
              <a:latin typeface="+mn-ea"/>
            </a:endParaRPr>
          </a:p>
          <a:p>
            <a:r>
              <a:rPr lang="en-US" altLang="ko-KR" dirty="0" smtClean="0">
                <a:latin typeface="+mn-ea"/>
              </a:rPr>
              <a:t>near </a:t>
            </a:r>
            <a:r>
              <a:rPr lang="ko-KR" altLang="en-US" dirty="0" smtClean="0">
                <a:latin typeface="+mn-ea"/>
              </a:rPr>
              <a:t>연산자와 결합하여 키워드간 거리를 설정할 수 있다</a:t>
            </a:r>
            <a:r>
              <a:rPr lang="en-US" altLang="ko-KR" dirty="0" smtClean="0">
                <a:latin typeface="+mn-ea"/>
              </a:rPr>
              <a:t>.</a:t>
            </a:r>
          </a:p>
          <a:p>
            <a:endParaRPr lang="en-US" altLang="ko-KR" dirty="0">
              <a:latin typeface="+mn-ea"/>
            </a:endParaRPr>
          </a:p>
          <a:p>
            <a:endParaRPr lang="en-US" altLang="ko-KR" dirty="0" smtClean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pPr marL="0" indent="0">
              <a:buNone/>
            </a:pPr>
            <a:r>
              <a:rPr lang="ko-KR" altLang="en-US" dirty="0" smtClean="0">
                <a:latin typeface="+mn-ea"/>
              </a:rPr>
              <a:t>두 연산자 모두</a:t>
            </a:r>
            <a:r>
              <a:rPr lang="en-US" altLang="ko-KR" dirty="0" smtClean="0">
                <a:latin typeface="+mn-ea"/>
              </a:rPr>
              <a:t>, n-gram </a:t>
            </a:r>
            <a:r>
              <a:rPr lang="ko-KR" altLang="en-US" dirty="0" smtClean="0">
                <a:latin typeface="+mn-ea"/>
              </a:rPr>
              <a:t>필드 뿐 아니라 </a:t>
            </a:r>
            <a:r>
              <a:rPr lang="en-US" altLang="ko-KR" dirty="0" smtClean="0">
                <a:latin typeface="+mn-ea"/>
              </a:rPr>
              <a:t>TEXT </a:t>
            </a:r>
            <a:r>
              <a:rPr lang="ko-KR" altLang="en-US" dirty="0" smtClean="0">
                <a:latin typeface="+mn-ea"/>
              </a:rPr>
              <a:t>필드에도 사용이 가능하다</a:t>
            </a:r>
            <a:r>
              <a:rPr lang="en-US" altLang="ko-KR" smtClean="0">
                <a:latin typeface="+mn-ea"/>
              </a:rPr>
              <a:t>.</a:t>
            </a:r>
            <a:endParaRPr lang="en-US" altLang="ko-KR" dirty="0" smtClean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endParaRPr lang="en-US" altLang="ko-KR" dirty="0" smtClean="0">
              <a:latin typeface="+mn-ea"/>
            </a:endParaRPr>
          </a:p>
          <a:p>
            <a:endParaRPr lang="en-US" altLang="ko-KR" dirty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48260" y="4114895"/>
            <a:ext cx="763284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100" dirty="0" smtClean="0">
                <a:latin typeface="+mj-ea"/>
                <a:ea typeface="+mj-ea"/>
              </a:rPr>
              <a:t>select * from tab where </a:t>
            </a:r>
            <a:r>
              <a:rPr lang="en-US" altLang="ko-KR" sz="1100" dirty="0" err="1" smtClean="0">
                <a:latin typeface="+mj-ea"/>
                <a:ea typeface="+mj-ea"/>
              </a:rPr>
              <a:t>body_ngram</a:t>
            </a:r>
            <a:r>
              <a:rPr lang="en-US" altLang="ko-KR" sz="1100" dirty="0" smtClean="0">
                <a:latin typeface="+mj-ea"/>
                <a:ea typeface="+mj-ea"/>
              </a:rPr>
              <a:t> = “</a:t>
            </a:r>
            <a:r>
              <a:rPr lang="ko-KR" altLang="en-US" sz="1100" dirty="0" smtClean="0">
                <a:latin typeface="+mj-ea"/>
                <a:ea typeface="+mj-ea"/>
              </a:rPr>
              <a:t>활용</a:t>
            </a:r>
            <a:r>
              <a:rPr lang="en-US" altLang="ko-KR" sz="1100" dirty="0" smtClean="0">
                <a:latin typeface="+mj-ea"/>
                <a:ea typeface="+mj-ea"/>
              </a:rPr>
              <a:t>” </a:t>
            </a:r>
            <a:r>
              <a:rPr lang="en-US" altLang="ko-KR" sz="1100" dirty="0" err="1" smtClean="0">
                <a:latin typeface="+mj-ea"/>
                <a:ea typeface="+mj-ea"/>
              </a:rPr>
              <a:t>allorderadjacent</a:t>
            </a:r>
            <a:r>
              <a:rPr lang="en-US" altLang="ko-KR" sz="1100" dirty="0" smtClean="0">
                <a:latin typeface="+mj-ea"/>
                <a:ea typeface="+mj-ea"/>
              </a:rPr>
              <a:t>; // </a:t>
            </a:r>
            <a:r>
              <a:rPr lang="ko-KR" altLang="en-US" sz="1100" dirty="0" smtClean="0">
                <a:latin typeface="+mj-ea"/>
                <a:ea typeface="+mj-ea"/>
              </a:rPr>
              <a:t>모든 키워드가 인접하여 순차 출현</a:t>
            </a:r>
            <a:endParaRPr lang="en-US" altLang="ko-KR" sz="1100" dirty="0" smtClean="0">
              <a:latin typeface="+mj-ea"/>
              <a:ea typeface="+mj-ea"/>
            </a:endParaRPr>
          </a:p>
          <a:p>
            <a:r>
              <a:rPr lang="en-US" altLang="ko-KR" sz="1100" dirty="0">
                <a:latin typeface="+mj-ea"/>
              </a:rPr>
              <a:t>select * from tab where </a:t>
            </a:r>
            <a:r>
              <a:rPr lang="en-US" altLang="ko-KR" sz="1100" dirty="0" err="1">
                <a:latin typeface="+mj-ea"/>
              </a:rPr>
              <a:t>body_ngram</a:t>
            </a:r>
            <a:r>
              <a:rPr lang="en-US" altLang="ko-KR" sz="1100" dirty="0">
                <a:latin typeface="+mj-ea"/>
              </a:rPr>
              <a:t> = “</a:t>
            </a:r>
            <a:r>
              <a:rPr lang="ko-KR" altLang="en-US" sz="1100" dirty="0">
                <a:latin typeface="+mj-ea"/>
              </a:rPr>
              <a:t>활용</a:t>
            </a:r>
            <a:r>
              <a:rPr lang="en-US" altLang="ko-KR" sz="1100" dirty="0">
                <a:latin typeface="+mj-ea"/>
              </a:rPr>
              <a:t>” </a:t>
            </a:r>
            <a:r>
              <a:rPr lang="en-US" altLang="ko-KR" sz="1100" dirty="0" err="1" smtClean="0">
                <a:latin typeface="+mj-ea"/>
              </a:rPr>
              <a:t>allorderadjacent</a:t>
            </a:r>
            <a:r>
              <a:rPr lang="en-US" altLang="ko-KR" sz="1100" dirty="0" smtClean="0">
                <a:latin typeface="+mj-ea"/>
              </a:rPr>
              <a:t> near 5 ; //5</a:t>
            </a:r>
            <a:r>
              <a:rPr lang="ko-KR" altLang="en-US" sz="1100" dirty="0" smtClean="0">
                <a:latin typeface="+mj-ea"/>
              </a:rPr>
              <a:t>키워드 내에 모든 키워드가 순차 출현</a:t>
            </a:r>
            <a:r>
              <a:rPr lang="en-US" altLang="ko-KR" sz="1100" dirty="0" smtClean="0">
                <a:latin typeface="+mj-ea"/>
              </a:rPr>
              <a:t> </a:t>
            </a:r>
            <a:endParaRPr lang="en-US" altLang="ko-KR" sz="1100" dirty="0">
              <a:latin typeface="+mj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39552" y="2276872"/>
            <a:ext cx="763284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100" dirty="0" smtClean="0">
                <a:latin typeface="+mj-ea"/>
                <a:ea typeface="+mj-ea"/>
              </a:rPr>
              <a:t>select * from tab where </a:t>
            </a:r>
            <a:r>
              <a:rPr lang="en-US" altLang="ko-KR" sz="1100" dirty="0" err="1" smtClean="0">
                <a:latin typeface="+mj-ea"/>
                <a:ea typeface="+mj-ea"/>
              </a:rPr>
              <a:t>body_ngram</a:t>
            </a:r>
            <a:r>
              <a:rPr lang="en-US" altLang="ko-KR" sz="1100" dirty="0" smtClean="0">
                <a:latin typeface="+mj-ea"/>
                <a:ea typeface="+mj-ea"/>
              </a:rPr>
              <a:t> = “</a:t>
            </a:r>
            <a:r>
              <a:rPr lang="ko-KR" altLang="en-US" sz="1100" dirty="0" smtClean="0">
                <a:latin typeface="+mj-ea"/>
                <a:ea typeface="+mj-ea"/>
              </a:rPr>
              <a:t>활용</a:t>
            </a:r>
            <a:r>
              <a:rPr lang="en-US" altLang="ko-KR" sz="1100" dirty="0" smtClean="0">
                <a:latin typeface="+mj-ea"/>
                <a:ea typeface="+mj-ea"/>
              </a:rPr>
              <a:t>” </a:t>
            </a:r>
            <a:r>
              <a:rPr lang="en-US" altLang="ko-KR" sz="1100" dirty="0" err="1" smtClean="0">
                <a:latin typeface="+mj-ea"/>
                <a:ea typeface="+mj-ea"/>
              </a:rPr>
              <a:t>alladjacent</a:t>
            </a:r>
            <a:r>
              <a:rPr lang="en-US" altLang="ko-KR" sz="1100" dirty="0" smtClean="0">
                <a:latin typeface="+mj-ea"/>
                <a:ea typeface="+mj-ea"/>
              </a:rPr>
              <a:t>; // </a:t>
            </a:r>
            <a:r>
              <a:rPr lang="ko-KR" altLang="en-US" sz="1100" dirty="0" smtClean="0">
                <a:latin typeface="+mj-ea"/>
                <a:ea typeface="+mj-ea"/>
              </a:rPr>
              <a:t>모든 키워드가 인접하여 출현</a:t>
            </a:r>
            <a:endParaRPr lang="en-US" altLang="ko-KR" sz="1100" dirty="0" smtClean="0">
              <a:latin typeface="+mj-ea"/>
              <a:ea typeface="+mj-ea"/>
            </a:endParaRPr>
          </a:p>
          <a:p>
            <a:r>
              <a:rPr lang="en-US" altLang="ko-KR" sz="1100" dirty="0">
                <a:latin typeface="+mj-ea"/>
              </a:rPr>
              <a:t>select * from tab where </a:t>
            </a:r>
            <a:r>
              <a:rPr lang="en-US" altLang="ko-KR" sz="1100" dirty="0" err="1">
                <a:latin typeface="+mj-ea"/>
              </a:rPr>
              <a:t>body_ngram</a:t>
            </a:r>
            <a:r>
              <a:rPr lang="en-US" altLang="ko-KR" sz="1100" dirty="0">
                <a:latin typeface="+mj-ea"/>
              </a:rPr>
              <a:t> = “</a:t>
            </a:r>
            <a:r>
              <a:rPr lang="ko-KR" altLang="en-US" sz="1100" dirty="0">
                <a:latin typeface="+mj-ea"/>
              </a:rPr>
              <a:t>활용</a:t>
            </a:r>
            <a:r>
              <a:rPr lang="en-US" altLang="ko-KR" sz="1100" dirty="0">
                <a:latin typeface="+mj-ea"/>
              </a:rPr>
              <a:t>” </a:t>
            </a:r>
            <a:r>
              <a:rPr lang="en-US" altLang="ko-KR" sz="1100" dirty="0" err="1" smtClean="0">
                <a:latin typeface="+mj-ea"/>
              </a:rPr>
              <a:t>alladjacent</a:t>
            </a:r>
            <a:r>
              <a:rPr lang="en-US" altLang="ko-KR" sz="1100" dirty="0" smtClean="0">
                <a:latin typeface="+mj-ea"/>
              </a:rPr>
              <a:t> near 5 ; //5</a:t>
            </a:r>
            <a:r>
              <a:rPr lang="ko-KR" altLang="en-US" sz="1100" dirty="0" smtClean="0">
                <a:latin typeface="+mj-ea"/>
              </a:rPr>
              <a:t>키워드 내에 모든 키워드가 출현</a:t>
            </a:r>
            <a:r>
              <a:rPr lang="en-US" altLang="ko-KR" sz="1100" dirty="0" smtClean="0">
                <a:latin typeface="+mj-ea"/>
              </a:rPr>
              <a:t> </a:t>
            </a:r>
            <a:endParaRPr lang="en-US" altLang="ko-KR" sz="11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61806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 smtClean="0">
                <a:latin typeface="+mn-ea"/>
              </a:rPr>
              <a:t>line </a:t>
            </a:r>
            <a:r>
              <a:rPr lang="ko-KR" altLang="en-US" dirty="0">
                <a:latin typeface="+mn-ea"/>
              </a:rPr>
              <a:t>속성이 지정된 필드는 </a:t>
            </a:r>
            <a:r>
              <a:rPr lang="ko-KR" altLang="en-US" b="1" dirty="0" err="1">
                <a:latin typeface="+mn-ea"/>
              </a:rPr>
              <a:t>색인키를</a:t>
            </a:r>
            <a:r>
              <a:rPr lang="ko-KR" altLang="en-US" b="1" dirty="0">
                <a:latin typeface="+mn-ea"/>
              </a:rPr>
              <a:t> 라인 단위로 분리</a:t>
            </a:r>
            <a:r>
              <a:rPr lang="ko-KR" altLang="en-US" dirty="0">
                <a:latin typeface="+mn-ea"/>
              </a:rPr>
              <a:t>하여</a:t>
            </a:r>
            <a:r>
              <a:rPr lang="en-US" altLang="ko-KR" dirty="0">
                <a:latin typeface="+mn-ea"/>
              </a:rPr>
              <a:t>, </a:t>
            </a:r>
            <a:endParaRPr lang="en-US" altLang="ko-KR" dirty="0" smtClean="0">
              <a:latin typeface="+mn-ea"/>
            </a:endParaRPr>
          </a:p>
          <a:p>
            <a:pPr marL="0" indent="0">
              <a:buNone/>
            </a:pPr>
            <a:r>
              <a:rPr lang="ko-KR" altLang="en-US" b="1" u="sng" dirty="0" smtClean="0">
                <a:latin typeface="+mn-ea"/>
              </a:rPr>
              <a:t>각 </a:t>
            </a:r>
            <a:r>
              <a:rPr lang="ko-KR" altLang="en-US" b="1" u="sng" dirty="0">
                <a:latin typeface="+mn-ea"/>
              </a:rPr>
              <a:t>라인을 독립된 한 문서처럼 취급</a:t>
            </a:r>
            <a:r>
              <a:rPr lang="ko-KR" altLang="en-US" dirty="0">
                <a:latin typeface="+mn-ea"/>
              </a:rPr>
              <a:t>한다</a:t>
            </a:r>
            <a:r>
              <a:rPr lang="en-US" altLang="ko-KR" dirty="0" smtClean="0">
                <a:latin typeface="+mn-ea"/>
              </a:rPr>
              <a:t>.</a:t>
            </a:r>
          </a:p>
          <a:p>
            <a:pPr marL="0" indent="0">
              <a:buNone/>
            </a:pPr>
            <a:r>
              <a:rPr lang="ko-KR" altLang="en-US" dirty="0" smtClean="0">
                <a:latin typeface="+mn-ea"/>
              </a:rPr>
              <a:t>즉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b="1" dirty="0" smtClean="0">
                <a:latin typeface="+mn-ea"/>
              </a:rPr>
              <a:t>더 인접한 키워드 검색</a:t>
            </a:r>
            <a:r>
              <a:rPr lang="ko-KR" altLang="en-US" dirty="0" smtClean="0">
                <a:latin typeface="+mn-ea"/>
              </a:rPr>
              <a:t>을 할 수 있다</a:t>
            </a:r>
            <a:r>
              <a:rPr lang="en-US" altLang="ko-KR" dirty="0" smtClean="0">
                <a:latin typeface="+mn-ea"/>
              </a:rPr>
              <a:t>.</a:t>
            </a:r>
          </a:p>
          <a:p>
            <a:pPr marL="0" indent="0">
              <a:buNone/>
            </a:pPr>
            <a:endParaRPr lang="en-US" altLang="ko-KR" dirty="0" smtClean="0">
              <a:latin typeface="+mn-ea"/>
            </a:endParaRPr>
          </a:p>
          <a:p>
            <a:pPr marL="0" indent="0">
              <a:buNone/>
            </a:pPr>
            <a:endParaRPr lang="en-US" altLang="ko-KR" dirty="0" smtClean="0">
              <a:latin typeface="+mn-ea"/>
            </a:endParaRPr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  <a:p>
            <a:pPr marL="0" indent="0">
              <a:buNone/>
            </a:pPr>
            <a:endParaRPr lang="en-US" altLang="ko-KR" dirty="0" smtClean="0">
              <a:latin typeface="+mn-ea"/>
            </a:endParaRPr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  <a:p>
            <a:pPr marL="0" indent="0">
              <a:buNone/>
            </a:pPr>
            <a:endParaRPr lang="en-US" altLang="ko-KR" dirty="0" smtClean="0">
              <a:latin typeface="+mn-ea"/>
            </a:endParaRPr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  <a:p>
            <a:pPr marL="0" indent="0">
              <a:buNone/>
            </a:pPr>
            <a:endParaRPr lang="en-US" altLang="ko-KR" dirty="0" smtClean="0">
              <a:latin typeface="+mn-ea"/>
            </a:endParaRPr>
          </a:p>
          <a:p>
            <a:pPr marL="0" indent="0">
              <a:buNone/>
            </a:pPr>
            <a:r>
              <a:rPr lang="en-US" altLang="ko-KR" b="1" dirty="0" smtClean="0">
                <a:latin typeface="+mn-ea"/>
              </a:rPr>
              <a:t>STRING LIST LONG LINE</a:t>
            </a:r>
          </a:p>
          <a:p>
            <a:r>
              <a:rPr lang="en-US" altLang="ko-KR" dirty="0" smtClean="0">
                <a:latin typeface="+mn-ea"/>
              </a:rPr>
              <a:t>TEXT LINE</a:t>
            </a:r>
            <a:r>
              <a:rPr lang="ko-KR" altLang="en-US" dirty="0" smtClean="0">
                <a:latin typeface="+mn-ea"/>
              </a:rPr>
              <a:t>과 동일하지만</a:t>
            </a:r>
            <a:r>
              <a:rPr lang="en-US" altLang="ko-KR" dirty="0" smtClean="0">
                <a:latin typeface="+mn-ea"/>
              </a:rPr>
              <a:t>, </a:t>
            </a:r>
            <a:br>
              <a:rPr lang="en-US" altLang="ko-KR" dirty="0" smtClean="0">
                <a:latin typeface="+mn-ea"/>
              </a:rPr>
            </a:br>
            <a:r>
              <a:rPr lang="ko-KR" altLang="en-US" dirty="0" smtClean="0">
                <a:latin typeface="+mn-ea"/>
              </a:rPr>
              <a:t>키워드 추출을 형태소 분석이 아닌 </a:t>
            </a:r>
            <a:r>
              <a:rPr lang="en-US" altLang="ko-KR" dirty="0" smtClean="0">
                <a:latin typeface="+mn-ea"/>
              </a:rPr>
              <a:t>space</a:t>
            </a:r>
            <a:r>
              <a:rPr lang="ko-KR" altLang="en-US" dirty="0" smtClean="0">
                <a:latin typeface="+mn-ea"/>
              </a:rPr>
              <a:t>등 </a:t>
            </a:r>
            <a:r>
              <a:rPr lang="ko-KR" altLang="en-US" dirty="0" err="1" smtClean="0">
                <a:latin typeface="+mn-ea"/>
              </a:rPr>
              <a:t>구분자로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 err="1" smtClean="0">
                <a:latin typeface="+mn-ea"/>
              </a:rPr>
              <a:t>색인키를</a:t>
            </a:r>
            <a:r>
              <a:rPr lang="ko-KR" altLang="en-US" dirty="0" smtClean="0">
                <a:latin typeface="+mn-ea"/>
              </a:rPr>
              <a:t> 추출</a:t>
            </a:r>
            <a:endParaRPr lang="en-US" altLang="ko-KR" dirty="0" smtClean="0">
              <a:latin typeface="+mn-ea"/>
            </a:endParaRPr>
          </a:p>
          <a:p>
            <a:r>
              <a:rPr lang="ko-KR" altLang="en-US" dirty="0" err="1" smtClean="0">
                <a:latin typeface="+mn-ea"/>
              </a:rPr>
              <a:t>사용예</a:t>
            </a:r>
            <a:r>
              <a:rPr lang="en-US" altLang="ko-KR" dirty="0" smtClean="0">
                <a:latin typeface="+mn-ea"/>
              </a:rPr>
              <a:t>: ($1 </a:t>
            </a:r>
            <a:r>
              <a:rPr lang="en-US" altLang="ko-KR" dirty="0" err="1" smtClean="0">
                <a:latin typeface="+mn-ea"/>
              </a:rPr>
              <a:t>fd</a:t>
            </a:r>
            <a:r>
              <a:rPr lang="en-US" altLang="ko-KR" dirty="0" smtClean="0">
                <a:latin typeface="+mn-ea"/>
              </a:rPr>
              <a:t> includes 1+{</a:t>
            </a:r>
            <a:r>
              <a:rPr lang="ko-KR" altLang="en-US" dirty="0" smtClean="0">
                <a:latin typeface="+mn-ea"/>
              </a:rPr>
              <a:t>꽃 하늘</a:t>
            </a:r>
            <a:r>
              <a:rPr lang="en-US" altLang="ko-KR" dirty="0" smtClean="0">
                <a:latin typeface="+mn-ea"/>
              </a:rPr>
              <a:t>}) order by $1 </a:t>
            </a:r>
            <a:r>
              <a:rPr lang="en-US" altLang="ko-KR" dirty="0" err="1" smtClean="0">
                <a:latin typeface="+mn-ea"/>
              </a:rPr>
              <a:t>desc</a:t>
            </a:r>
            <a:endParaRPr lang="en-US" altLang="ko-KR" dirty="0" smtClean="0">
              <a:latin typeface="+mn-ea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5868144" y="2814628"/>
            <a:ext cx="487938" cy="28803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3240770" y="3102660"/>
            <a:ext cx="487938" cy="28803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3240770" y="2814628"/>
            <a:ext cx="288032" cy="28803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7172997" y="2814628"/>
            <a:ext cx="288032" cy="28803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■ </a:t>
            </a:r>
            <a:r>
              <a:rPr lang="en-US" altLang="ko-KR" dirty="0" smtClean="0"/>
              <a:t>LINE </a:t>
            </a:r>
            <a:r>
              <a:rPr lang="ko-KR" altLang="en-US" dirty="0" smtClean="0"/>
              <a:t>필드 </a:t>
            </a:r>
            <a:r>
              <a:rPr lang="en-US" altLang="ko-KR" dirty="0" smtClean="0"/>
              <a:t>– TEXT LINE / STRING LIST LONG LINE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611560" y="2204864"/>
            <a:ext cx="763284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r>
              <a:rPr lang="ko-KR" altLang="en-US" sz="1400" dirty="0" err="1">
                <a:latin typeface="+mn-ea"/>
              </a:rPr>
              <a:t>사용예</a:t>
            </a:r>
            <a:r>
              <a:rPr lang="en-US" altLang="ko-KR" sz="1400" dirty="0">
                <a:latin typeface="+mn-ea"/>
              </a:rPr>
              <a:t> : </a:t>
            </a:r>
            <a:r>
              <a:rPr lang="en-US" altLang="ko-KR" sz="1400" dirty="0" err="1">
                <a:latin typeface="+mn-ea"/>
              </a:rPr>
              <a:t>fd</a:t>
            </a:r>
            <a:r>
              <a:rPr lang="en-US" altLang="ko-KR" sz="1400" dirty="0">
                <a:latin typeface="+mn-ea"/>
              </a:rPr>
              <a:t> = </a:t>
            </a:r>
            <a:r>
              <a:rPr lang="en-US" altLang="ko-KR" sz="1400" b="1" dirty="0">
                <a:latin typeface="+mn-ea"/>
              </a:rPr>
              <a:t>“</a:t>
            </a:r>
            <a:r>
              <a:rPr lang="ko-KR" altLang="en-US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ea"/>
              </a:rPr>
              <a:t>꽃 하늘</a:t>
            </a:r>
            <a:r>
              <a:rPr lang="en-US" altLang="ko-KR" sz="1400" b="1" dirty="0">
                <a:latin typeface="+mn-ea"/>
              </a:rPr>
              <a:t>” </a:t>
            </a:r>
            <a:r>
              <a:rPr lang="en-US" altLang="ko-KR" sz="1400" b="1" dirty="0" err="1">
                <a:latin typeface="+mn-ea"/>
              </a:rPr>
              <a:t>allword</a:t>
            </a:r>
            <a:r>
              <a:rPr lang="en-US" altLang="ko-KR" sz="1400" b="1" dirty="0">
                <a:latin typeface="+mn-ea"/>
              </a:rPr>
              <a:t> order by $</a:t>
            </a:r>
            <a:r>
              <a:rPr lang="en-US" altLang="ko-KR" sz="1400" b="1" dirty="0" smtClean="0">
                <a:latin typeface="+mn-ea"/>
              </a:rPr>
              <a:t>relevance</a:t>
            </a:r>
            <a:r>
              <a:rPr lang="en-US" altLang="ko-KR" sz="1400" dirty="0" smtClean="0">
                <a:latin typeface="+mj-ea"/>
              </a:rPr>
              <a:t> </a:t>
            </a:r>
            <a:endParaRPr lang="en-US" altLang="ko-KR" sz="1400" dirty="0">
              <a:latin typeface="+mj-ea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645994"/>
              </p:ext>
            </p:extLst>
          </p:nvPr>
        </p:nvGraphicFramePr>
        <p:xfrm>
          <a:off x="395536" y="2780928"/>
          <a:ext cx="8424936" cy="1589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/>
                <a:gridCol w="2664296"/>
                <a:gridCol w="3528392"/>
              </a:tblGrid>
              <a:tr h="72008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예쁜 꽃이 피었습니다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파란 하늘이 보입니다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파란 하늘에 예쁜 꽃이 보입니다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40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smtClean="0">
                          <a:latin typeface="+mn-ea"/>
                          <a:ea typeface="+mn-ea"/>
                        </a:rPr>
                        <a:t>TEXT </a:t>
                      </a:r>
                      <a:r>
                        <a:rPr lang="en-US" altLang="ko-KR" b="1" dirty="0" err="1" smtClean="0">
                          <a:latin typeface="+mn-ea"/>
                          <a:ea typeface="+mn-ea"/>
                        </a:rPr>
                        <a:t>allword</a:t>
                      </a:r>
                      <a:r>
                        <a:rPr lang="en-US" altLang="ko-KR" b="1" dirty="0" smtClean="0">
                          <a:latin typeface="+mn-ea"/>
                          <a:ea typeface="+mn-ea"/>
                        </a:rPr>
                        <a:t> 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ea"/>
                          <a:ea typeface="+mn-ea"/>
                        </a:rPr>
                        <a:t>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ea"/>
                          <a:ea typeface="+mn-ea"/>
                        </a:rPr>
                        <a:t>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0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smtClean="0">
                          <a:latin typeface="+mn-ea"/>
                          <a:ea typeface="+mn-ea"/>
                        </a:rPr>
                        <a:t>TEXT LINE </a:t>
                      </a:r>
                      <a:r>
                        <a:rPr lang="en-US" altLang="ko-KR" b="1" dirty="0" err="1" smtClean="0">
                          <a:latin typeface="+mn-ea"/>
                          <a:ea typeface="+mn-ea"/>
                        </a:rPr>
                        <a:t>allword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ea"/>
                          <a:ea typeface="+mn-ea"/>
                        </a:rPr>
                        <a:t>X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n-ea"/>
                          <a:ea typeface="+mn-ea"/>
                        </a:rPr>
                        <a:t>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9411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내용 개체 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 err="1">
                <a:latin typeface="+mn-ea"/>
              </a:rPr>
              <a:t>검색</a:t>
            </a:r>
            <a:r>
              <a:rPr lang="en-US" altLang="ko-KR" b="1" dirty="0">
                <a:latin typeface="+mn-ea"/>
              </a:rPr>
              <a:t> </a:t>
            </a:r>
            <a:r>
              <a:rPr lang="en-US" altLang="ko-KR" b="1" dirty="0" err="1">
                <a:latin typeface="+mn-ea"/>
              </a:rPr>
              <a:t>쿼리</a:t>
            </a:r>
            <a:r>
              <a:rPr lang="en-US" altLang="ko-KR" b="1" dirty="0">
                <a:latin typeface="+mn-ea"/>
              </a:rPr>
              <a:t> </a:t>
            </a:r>
            <a:r>
              <a:rPr lang="en-US" altLang="ko-KR" b="1" dirty="0" err="1">
                <a:latin typeface="+mn-ea"/>
              </a:rPr>
              <a:t>구성</a:t>
            </a:r>
            <a:r>
              <a:rPr lang="en-US" altLang="ko-KR" b="1" dirty="0">
                <a:latin typeface="+mn-ea"/>
              </a:rPr>
              <a:t> 시, </a:t>
            </a:r>
            <a:r>
              <a:rPr lang="en-US" altLang="ko-KR" b="1" dirty="0" err="1">
                <a:latin typeface="+mn-ea"/>
              </a:rPr>
              <a:t>탐색</a:t>
            </a:r>
            <a:r>
              <a:rPr lang="en-US" altLang="ko-KR" b="1" dirty="0">
                <a:latin typeface="+mn-ea"/>
              </a:rPr>
              <a:t> </a:t>
            </a:r>
            <a:r>
              <a:rPr lang="en-US" altLang="ko-KR" b="1" dirty="0" err="1">
                <a:latin typeface="+mn-ea"/>
              </a:rPr>
              <a:t>범위가</a:t>
            </a:r>
            <a:r>
              <a:rPr lang="en-US" altLang="ko-KR" b="1" dirty="0">
                <a:latin typeface="+mn-ea"/>
              </a:rPr>
              <a:t> </a:t>
            </a:r>
            <a:r>
              <a:rPr lang="en-US" altLang="ko-KR" b="1" dirty="0" err="1">
                <a:latin typeface="+mn-ea"/>
              </a:rPr>
              <a:t>좁은</a:t>
            </a:r>
            <a:r>
              <a:rPr lang="en-US" altLang="ko-KR" b="1" dirty="0">
                <a:latin typeface="+mn-ea"/>
              </a:rPr>
              <a:t> </a:t>
            </a:r>
            <a:r>
              <a:rPr lang="en-US" altLang="ko-KR" b="1" dirty="0" err="1">
                <a:latin typeface="+mn-ea"/>
              </a:rPr>
              <a:t>조건을</a:t>
            </a:r>
            <a:r>
              <a:rPr lang="en-US" altLang="ko-KR" b="1" dirty="0">
                <a:latin typeface="+mn-ea"/>
              </a:rPr>
              <a:t> </a:t>
            </a:r>
            <a:r>
              <a:rPr lang="en-US" altLang="ko-KR" b="1" dirty="0" err="1">
                <a:latin typeface="+mn-ea"/>
              </a:rPr>
              <a:t>선순위로</a:t>
            </a:r>
            <a:r>
              <a:rPr lang="en-US" altLang="ko-KR" b="1" dirty="0">
                <a:latin typeface="+mn-ea"/>
              </a:rPr>
              <a:t> </a:t>
            </a:r>
            <a:r>
              <a:rPr lang="en-US" altLang="ko-KR" b="1" dirty="0" err="1">
                <a:latin typeface="+mn-ea"/>
              </a:rPr>
              <a:t>수행하도록</a:t>
            </a:r>
            <a:r>
              <a:rPr lang="en-US" altLang="ko-KR" b="1" dirty="0">
                <a:latin typeface="+mn-ea"/>
              </a:rPr>
              <a:t> </a:t>
            </a:r>
            <a:r>
              <a:rPr lang="en-US" altLang="ko-KR" b="1" dirty="0" err="1">
                <a:latin typeface="+mn-ea"/>
              </a:rPr>
              <a:t>한다</a:t>
            </a:r>
            <a:r>
              <a:rPr lang="en-US" altLang="ko-KR" b="1" dirty="0">
                <a:latin typeface="+mn-ea"/>
              </a:rPr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■ 검색 </a:t>
            </a:r>
            <a:r>
              <a:rPr lang="en-US" altLang="ko-KR" dirty="0"/>
              <a:t>Query </a:t>
            </a:r>
            <a:r>
              <a:rPr lang="ko-KR" altLang="en-US" dirty="0"/>
              <a:t>최적화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009730"/>
              </p:ext>
            </p:extLst>
          </p:nvPr>
        </p:nvGraphicFramePr>
        <p:xfrm>
          <a:off x="1115616" y="1700808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쿼리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결과 건수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</a:rPr>
                        <a:t>(body=“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</a:rPr>
                        <a:t>날씨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</a:rPr>
                        <a:t>” </a:t>
                      </a:r>
                      <a:r>
                        <a:rPr lang="en-US" altLang="ko-KR" sz="1800" b="0" dirty="0" err="1" smtClean="0">
                          <a:solidFill>
                            <a:schemeClr val="tx1"/>
                          </a:solidFill>
                          <a:latin typeface="+mn-ea"/>
                        </a:rPr>
                        <a:t>allword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100,000</a:t>
                      </a: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건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</a:rPr>
                        <a:t>(date=20250101)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건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sp>
        <p:nvSpPr>
          <p:cNvPr id="19" name="타원 18"/>
          <p:cNvSpPr/>
          <p:nvPr/>
        </p:nvSpPr>
        <p:spPr>
          <a:xfrm>
            <a:off x="2501082" y="3609744"/>
            <a:ext cx="2358950" cy="217749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100,000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건</a:t>
            </a:r>
            <a:endParaRPr lang="ko-KR" altLang="en-US" dirty="0"/>
          </a:p>
        </p:txBody>
      </p:sp>
      <p:sp>
        <p:nvSpPr>
          <p:cNvPr id="20" name="타원 19"/>
          <p:cNvSpPr/>
          <p:nvPr/>
        </p:nvSpPr>
        <p:spPr>
          <a:xfrm>
            <a:off x="4562752" y="4122426"/>
            <a:ext cx="1449408" cy="1449408"/>
          </a:xfrm>
          <a:prstGeom prst="ellipse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100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건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6" name="직선 연결선 25"/>
          <p:cNvCxnSpPr/>
          <p:nvPr/>
        </p:nvCxnSpPr>
        <p:spPr>
          <a:xfrm flipV="1">
            <a:off x="4684561" y="4923140"/>
            <a:ext cx="0" cy="864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131531" y="579597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검색 결과</a:t>
            </a:r>
            <a:endParaRPr lang="ko-KR" altLang="en-US" dirty="0"/>
          </a:p>
        </p:txBody>
      </p:sp>
      <p:sp>
        <p:nvSpPr>
          <p:cNvPr id="38" name="타원 37"/>
          <p:cNvSpPr/>
          <p:nvPr/>
        </p:nvSpPr>
        <p:spPr>
          <a:xfrm>
            <a:off x="2411760" y="3555610"/>
            <a:ext cx="2520280" cy="23042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251520" y="3193231"/>
            <a:ext cx="3812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+mn-ea"/>
              </a:rPr>
              <a:t>(body=“</a:t>
            </a:r>
            <a:r>
              <a:rPr lang="ko-KR" altLang="en-US" sz="1400" dirty="0">
                <a:latin typeface="+mn-ea"/>
              </a:rPr>
              <a:t>날씨</a:t>
            </a:r>
            <a:r>
              <a:rPr lang="en-US" altLang="ko-KR" sz="1400" dirty="0">
                <a:latin typeface="+mn-ea"/>
              </a:rPr>
              <a:t>” </a:t>
            </a:r>
            <a:r>
              <a:rPr lang="en-US" altLang="ko-KR" sz="1400" dirty="0" err="1">
                <a:latin typeface="+mn-ea"/>
              </a:rPr>
              <a:t>allword</a:t>
            </a:r>
            <a:r>
              <a:rPr lang="en-US" altLang="ko-KR" sz="1400" dirty="0" smtClean="0">
                <a:latin typeface="+mn-ea"/>
              </a:rPr>
              <a:t>)</a:t>
            </a:r>
            <a:r>
              <a:rPr lang="ko-KR" altLang="en-US" sz="1400" dirty="0" smtClean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and (date=20250101)</a:t>
            </a:r>
            <a:endParaRPr lang="ko-KR" altLang="en-US" sz="1400" dirty="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076056" y="3230102"/>
            <a:ext cx="3812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+mn-ea"/>
              </a:rPr>
              <a:t>(date=20250101) and (body=“</a:t>
            </a:r>
            <a:r>
              <a:rPr lang="ko-KR" altLang="en-US" sz="1400" dirty="0" smtClean="0">
                <a:latin typeface="+mn-ea"/>
              </a:rPr>
              <a:t>날씨</a:t>
            </a:r>
            <a:r>
              <a:rPr lang="en-US" altLang="ko-KR" sz="1400" dirty="0" smtClean="0">
                <a:latin typeface="+mn-ea"/>
              </a:rPr>
              <a:t>” </a:t>
            </a:r>
            <a:r>
              <a:rPr lang="en-US" altLang="ko-KR" sz="1400" dirty="0" err="1" smtClean="0">
                <a:latin typeface="+mn-ea"/>
              </a:rPr>
              <a:t>allword</a:t>
            </a:r>
            <a:r>
              <a:rPr lang="en-US" altLang="ko-KR" sz="1400" dirty="0" smtClean="0">
                <a:latin typeface="+mn-ea"/>
              </a:rPr>
              <a:t>)</a:t>
            </a:r>
            <a:endParaRPr lang="ko-KR" altLang="en-US" sz="1400" dirty="0">
              <a:latin typeface="+mn-ea"/>
            </a:endParaRPr>
          </a:p>
        </p:txBody>
      </p:sp>
      <p:cxnSp>
        <p:nvCxnSpPr>
          <p:cNvPr id="49" name="꺾인 연결선 48"/>
          <p:cNvCxnSpPr>
            <a:stCxn id="38" idx="2"/>
            <a:endCxn id="44" idx="2"/>
          </p:cNvCxnSpPr>
          <p:nvPr/>
        </p:nvCxnSpPr>
        <p:spPr>
          <a:xfrm rot="10800000">
            <a:off x="2157780" y="3501008"/>
            <a:ext cx="253980" cy="120673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51"/>
          <p:cNvCxnSpPr>
            <a:stCxn id="55" idx="6"/>
            <a:endCxn id="45" idx="2"/>
          </p:cNvCxnSpPr>
          <p:nvPr/>
        </p:nvCxnSpPr>
        <p:spPr>
          <a:xfrm flipV="1">
            <a:off x="6079425" y="3537879"/>
            <a:ext cx="902891" cy="1310413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타원 54"/>
          <p:cNvSpPr/>
          <p:nvPr/>
        </p:nvSpPr>
        <p:spPr>
          <a:xfrm>
            <a:off x="4488551" y="4061463"/>
            <a:ext cx="1590874" cy="1573658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531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Cache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8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■ </a:t>
            </a:r>
            <a:r>
              <a:rPr lang="en-US" altLang="ko-KR" dirty="0" smtClean="0"/>
              <a:t>Expression Cache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600" dirty="0" smtClean="0">
                <a:latin typeface="+mn-ea"/>
              </a:rPr>
              <a:t>자주 사용되는 검색 </a:t>
            </a:r>
            <a:r>
              <a:rPr lang="ko-KR" altLang="en-US" sz="1600" dirty="0" err="1" smtClean="0">
                <a:latin typeface="+mn-ea"/>
              </a:rPr>
              <a:t>조건문에</a:t>
            </a:r>
            <a:r>
              <a:rPr lang="ko-KR" altLang="en-US" sz="1600" dirty="0" smtClean="0">
                <a:latin typeface="+mn-ea"/>
              </a:rPr>
              <a:t> 대한 검색 결과를 </a:t>
            </a:r>
            <a:r>
              <a:rPr lang="ko-KR" altLang="en-US" sz="1600" dirty="0" err="1" smtClean="0">
                <a:latin typeface="+mn-ea"/>
              </a:rPr>
              <a:t>캐싱한다</a:t>
            </a:r>
            <a:r>
              <a:rPr lang="en-US" altLang="ko-KR" sz="1600" dirty="0" smtClean="0">
                <a:latin typeface="+mn-ea"/>
              </a:rPr>
              <a:t>.</a:t>
            </a:r>
          </a:p>
          <a:p>
            <a:pPr marL="0" indent="0">
              <a:buNone/>
            </a:pPr>
            <a:endParaRPr lang="en-US" altLang="ko-KR" sz="16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 smtClean="0">
                <a:latin typeface="+mn-ea"/>
              </a:rPr>
              <a:t>Expression Cache </a:t>
            </a:r>
            <a:r>
              <a:rPr lang="ko-KR" altLang="en-US" sz="1600" dirty="0" smtClean="0">
                <a:latin typeface="+mn-ea"/>
              </a:rPr>
              <a:t>사용방법</a:t>
            </a:r>
            <a:endParaRPr lang="en-US" altLang="ko-KR" sz="1600" dirty="0" smtClean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 smtClean="0">
                <a:latin typeface="+mn-ea"/>
              </a:rPr>
              <a:t>Cache</a:t>
            </a:r>
            <a:r>
              <a:rPr lang="ko-KR" altLang="en-US" sz="1600" dirty="0" smtClean="0">
                <a:latin typeface="+mn-ea"/>
              </a:rPr>
              <a:t>를 적용하고자 하는 구문에 </a:t>
            </a:r>
            <a:r>
              <a:rPr lang="en-US" altLang="ko-KR" sz="1600" b="1" dirty="0" smtClean="0">
                <a:latin typeface="+mn-ea"/>
              </a:rPr>
              <a:t>$cache</a:t>
            </a:r>
            <a:r>
              <a:rPr lang="ko-KR" altLang="en-US" sz="1600" dirty="0" smtClean="0">
                <a:latin typeface="+mn-ea"/>
              </a:rPr>
              <a:t>절로 감싼다</a:t>
            </a:r>
            <a:r>
              <a:rPr lang="en-US" altLang="ko-KR" sz="1600" dirty="0" smtClean="0">
                <a:latin typeface="+mn-ea"/>
              </a:rPr>
              <a:t>.</a:t>
            </a:r>
          </a:p>
          <a:p>
            <a:pPr marL="0" indent="0">
              <a:buNone/>
            </a:pPr>
            <a:endParaRPr lang="en-US" altLang="ko-KR" sz="1600" dirty="0" smtClean="0">
              <a:latin typeface="+mn-ea"/>
            </a:endParaRPr>
          </a:p>
          <a:p>
            <a:pPr marL="0" indent="0">
              <a:buNone/>
            </a:pPr>
            <a:endParaRPr lang="en-US" altLang="ko-KR" sz="16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 smtClean="0">
                <a:latin typeface="+mn-ea"/>
              </a:rPr>
              <a:t>Expression cache</a:t>
            </a:r>
            <a:r>
              <a:rPr lang="ko-KR" altLang="en-US" sz="1600" dirty="0" smtClean="0">
                <a:latin typeface="+mn-ea"/>
              </a:rPr>
              <a:t>는 </a:t>
            </a:r>
            <a:r>
              <a:rPr lang="en-US" altLang="ko-KR" sz="1600" dirty="0" smtClean="0">
                <a:latin typeface="+mn-ea"/>
              </a:rPr>
              <a:t>working memory</a:t>
            </a:r>
            <a:r>
              <a:rPr lang="ko-KR" altLang="en-US" sz="1600" dirty="0" smtClean="0">
                <a:latin typeface="+mn-ea"/>
              </a:rPr>
              <a:t>의 일부에 저장되며</a:t>
            </a:r>
            <a:r>
              <a:rPr lang="en-US" altLang="ko-KR" sz="1600" dirty="0" smtClean="0">
                <a:latin typeface="+mn-ea"/>
              </a:rPr>
              <a:t>, </a:t>
            </a:r>
          </a:p>
          <a:p>
            <a:pPr marL="0" indent="0">
              <a:buNone/>
            </a:pPr>
            <a:r>
              <a:rPr lang="ko-KR" altLang="en-US" sz="1600" dirty="0" smtClean="0">
                <a:latin typeface="+mn-ea"/>
              </a:rPr>
              <a:t>일정 시간이 지나면 휘발된다</a:t>
            </a:r>
            <a:r>
              <a:rPr lang="en-US" altLang="ko-KR" sz="1600" dirty="0" smtClean="0">
                <a:latin typeface="+mn-ea"/>
              </a:rPr>
              <a:t>.</a:t>
            </a:r>
          </a:p>
          <a:p>
            <a:pPr marL="0" indent="0">
              <a:buNone/>
            </a:pPr>
            <a:r>
              <a:rPr lang="ko-KR" altLang="en-US" sz="1600" dirty="0" smtClean="0">
                <a:latin typeface="+mn-ea"/>
              </a:rPr>
              <a:t>어떤 쿼리들이 현재 </a:t>
            </a:r>
            <a:r>
              <a:rPr lang="ko-KR" altLang="en-US" sz="1600" dirty="0" err="1" smtClean="0">
                <a:latin typeface="+mn-ea"/>
              </a:rPr>
              <a:t>캐싱되어있는지</a:t>
            </a:r>
            <a:r>
              <a:rPr lang="en-US" altLang="ko-KR" sz="1600" dirty="0" smtClean="0">
                <a:latin typeface="+mn-ea"/>
              </a:rPr>
              <a:t>, </a:t>
            </a:r>
            <a:r>
              <a:rPr lang="ko-KR" altLang="en-US" sz="1600" dirty="0" smtClean="0">
                <a:latin typeface="+mn-ea"/>
              </a:rPr>
              <a:t>어느 정도 메모리를 사용 중인 확인하려면 아래와 같은 명령어로 확인할 수 있다</a:t>
            </a:r>
            <a:r>
              <a:rPr lang="en-US" altLang="ko-KR" sz="1600" dirty="0" smtClean="0">
                <a:latin typeface="+mn-ea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19376" y="4077072"/>
            <a:ext cx="7941056" cy="22322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r>
              <a:rPr lang="en-US" altLang="ko-KR" sz="1050" dirty="0" err="1">
                <a:latin typeface="+mn-ea"/>
              </a:rPr>
              <a:t>kql</a:t>
            </a:r>
            <a:r>
              <a:rPr lang="en-US" altLang="ko-KR" sz="1050" dirty="0">
                <a:latin typeface="+mn-ea"/>
              </a:rPr>
              <a:t>/temp&gt;&gt; monitor expression cache for </a:t>
            </a:r>
            <a:r>
              <a:rPr lang="en-US" altLang="ko-KR" sz="1050" dirty="0" smtClean="0">
                <a:latin typeface="+mn-ea"/>
              </a:rPr>
              <a:t>tab;</a:t>
            </a:r>
            <a:endParaRPr lang="en-US" altLang="ko-KR" sz="1050" dirty="0">
              <a:latin typeface="+mn-ea"/>
            </a:endParaRPr>
          </a:p>
          <a:p>
            <a:r>
              <a:rPr lang="en-US" altLang="ko-KR" sz="1050" dirty="0">
                <a:latin typeface="+mn-ea"/>
              </a:rPr>
              <a:t>    TYPE LAST_READ (ELAPSED) SIZE        COUNT EXPRESSION</a:t>
            </a:r>
          </a:p>
          <a:p>
            <a:r>
              <a:rPr lang="en-US" altLang="ko-KR" sz="1050" dirty="0">
                <a:latin typeface="+mn-ea"/>
              </a:rPr>
              <a:t>   0: b    0 (   0)      0 B      0 B           0 [date between 20250101 and 20251231]</a:t>
            </a:r>
          </a:p>
          <a:p>
            <a:r>
              <a:rPr lang="en-US" altLang="ko-KR" sz="1050" dirty="0">
                <a:latin typeface="+mn-ea"/>
              </a:rPr>
              <a:t>Total 1 entry.</a:t>
            </a:r>
          </a:p>
          <a:p>
            <a:endParaRPr lang="en-US" altLang="ko-KR" sz="1050" dirty="0">
              <a:latin typeface="+mn-ea"/>
            </a:endParaRPr>
          </a:p>
          <a:p>
            <a:r>
              <a:rPr lang="en-US" altLang="ko-KR" sz="1050" dirty="0">
                <a:latin typeface="+mn-ea"/>
              </a:rPr>
              <a:t>========= EXPRESSION CACHE SUMMARY [temp/</a:t>
            </a:r>
            <a:r>
              <a:rPr lang="en-US" altLang="ko-KR" sz="1050" dirty="0" err="1">
                <a:latin typeface="+mn-ea"/>
              </a:rPr>
              <a:t>ddd</a:t>
            </a:r>
            <a:r>
              <a:rPr lang="en-US" altLang="ko-KR" sz="1050" dirty="0">
                <a:latin typeface="+mn-ea"/>
              </a:rPr>
              <a:t>] ========</a:t>
            </a:r>
          </a:p>
          <a:p>
            <a:r>
              <a:rPr lang="en-US" altLang="ko-KR" sz="1050" dirty="0">
                <a:latin typeface="+mn-ea"/>
              </a:rPr>
              <a:t>Clock         = 0</a:t>
            </a:r>
          </a:p>
          <a:p>
            <a:r>
              <a:rPr lang="en-US" altLang="ko-KR" sz="1050" dirty="0">
                <a:latin typeface="+mn-ea"/>
              </a:rPr>
              <a:t>Hit Ratio     = 0 hit / 0 read = 0.000 %</a:t>
            </a:r>
          </a:p>
          <a:p>
            <a:r>
              <a:rPr lang="en-US" altLang="ko-KR" sz="1050" dirty="0">
                <a:latin typeface="+mn-ea"/>
              </a:rPr>
              <a:t>Miss Ratio    = 1 miss / 0 read = 0.000 %</a:t>
            </a:r>
          </a:p>
          <a:p>
            <a:r>
              <a:rPr lang="en-US" altLang="ko-KR" sz="1050" dirty="0">
                <a:latin typeface="+mn-ea"/>
              </a:rPr>
              <a:t>Read / LRU    = 0 / 0 = 0.0000 read/</a:t>
            </a:r>
            <a:r>
              <a:rPr lang="en-US" altLang="ko-KR" sz="1050" dirty="0" err="1">
                <a:latin typeface="+mn-ea"/>
              </a:rPr>
              <a:t>lru</a:t>
            </a:r>
            <a:endParaRPr lang="en-US" altLang="ko-KR" sz="1050" dirty="0">
              <a:latin typeface="+mn-ea"/>
            </a:endParaRPr>
          </a:p>
          <a:p>
            <a:r>
              <a:rPr lang="en-US" altLang="ko-KR" sz="1050" dirty="0">
                <a:latin typeface="+mn-ea"/>
              </a:rPr>
              <a:t>Read / </a:t>
            </a:r>
            <a:r>
              <a:rPr lang="en-US" altLang="ko-KR" sz="1050" dirty="0" err="1">
                <a:latin typeface="+mn-ea"/>
              </a:rPr>
              <a:t>Inval</a:t>
            </a:r>
            <a:r>
              <a:rPr lang="en-US" altLang="ko-KR" sz="1050" dirty="0">
                <a:latin typeface="+mn-ea"/>
              </a:rPr>
              <a:t>. = 0 / 0 = 0.0000 read/invalidation</a:t>
            </a:r>
          </a:p>
          <a:p>
            <a:r>
              <a:rPr lang="en-US" altLang="ko-KR" sz="1050" dirty="0">
                <a:latin typeface="+mn-ea"/>
              </a:rPr>
              <a:t>Memory Used   = 96000 + 0 + 0 (73728*0/116508) = 93.8 KB</a:t>
            </a:r>
          </a:p>
          <a:p>
            <a:r>
              <a:rPr lang="en-US" altLang="ko-KR" sz="1050" dirty="0" smtClean="0">
                <a:latin typeface="+mn-ea"/>
              </a:rPr>
              <a:t>OK</a:t>
            </a:r>
            <a:endParaRPr lang="en-US" altLang="ko-KR" sz="1050" dirty="0"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39552" y="2276872"/>
            <a:ext cx="7941056" cy="3600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r>
              <a:rPr lang="en-US" altLang="ko-KR" sz="1050" dirty="0">
                <a:latin typeface="+mn-ea"/>
              </a:rPr>
              <a:t>s</a:t>
            </a:r>
            <a:r>
              <a:rPr lang="en-US" altLang="ko-KR" sz="1050" dirty="0" smtClean="0">
                <a:latin typeface="+mn-ea"/>
              </a:rPr>
              <a:t>elect * from tab where ($cache date between 20250101 and 20251231) and body=“</a:t>
            </a:r>
            <a:r>
              <a:rPr lang="ko-KR" altLang="en-US" sz="1050" dirty="0" smtClean="0">
                <a:latin typeface="+mn-ea"/>
              </a:rPr>
              <a:t>검색 쿼리 작성 방법</a:t>
            </a:r>
            <a:r>
              <a:rPr lang="en-US" altLang="ko-KR" sz="1050" dirty="0" smtClean="0">
                <a:latin typeface="+mn-ea"/>
              </a:rPr>
              <a:t>” </a:t>
            </a:r>
            <a:r>
              <a:rPr lang="en-US" altLang="ko-KR" sz="1050" dirty="0" err="1" smtClean="0">
                <a:latin typeface="+mn-ea"/>
              </a:rPr>
              <a:t>allword</a:t>
            </a:r>
            <a:r>
              <a:rPr lang="en-US" altLang="ko-KR" sz="1050" dirty="0" smtClean="0">
                <a:latin typeface="+mn-ea"/>
              </a:rPr>
              <a:t>;</a:t>
            </a:r>
            <a:endParaRPr lang="en-US" altLang="ko-KR" sz="105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64622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■ </a:t>
            </a:r>
            <a:r>
              <a:rPr lang="en-US" altLang="ko-KR" dirty="0" smtClean="0"/>
              <a:t>forward index cache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12460" y="1052736"/>
            <a:ext cx="8229600" cy="5073427"/>
          </a:xfrm>
        </p:spPr>
        <p:txBody>
          <a:bodyPr>
            <a:normAutofit/>
          </a:bodyPr>
          <a:lstStyle/>
          <a:p>
            <a:endParaRPr lang="en-US" altLang="ko-KR" sz="1400" b="1" dirty="0" smtClean="0">
              <a:latin typeface="+mn-ea"/>
            </a:endParaRPr>
          </a:p>
          <a:p>
            <a:endParaRPr lang="en-US" altLang="ko-KR" sz="1400" b="1" dirty="0">
              <a:latin typeface="+mn-ea"/>
            </a:endParaRPr>
          </a:p>
          <a:p>
            <a:r>
              <a:rPr lang="en-US" altLang="ko-KR" sz="1400" b="1" dirty="0" smtClean="0">
                <a:latin typeface="+mn-ea"/>
              </a:rPr>
              <a:t>group by </a:t>
            </a:r>
            <a:r>
              <a:rPr lang="ko-KR" altLang="en-US" sz="1400" dirty="0" smtClean="0">
                <a:latin typeface="+mn-ea"/>
              </a:rPr>
              <a:t>가 자주 수행되는 필드에 대해 </a:t>
            </a:r>
            <a:r>
              <a:rPr lang="en-US" altLang="ko-KR" sz="1400" dirty="0" smtClean="0">
                <a:latin typeface="+mn-ea"/>
              </a:rPr>
              <a:t>key </a:t>
            </a:r>
            <a:r>
              <a:rPr lang="en-US" altLang="ko-KR" sz="1400" dirty="0" err="1" smtClean="0">
                <a:latin typeface="+mn-ea"/>
              </a:rPr>
              <a:t>df</a:t>
            </a:r>
            <a:r>
              <a:rPr lang="ko-KR" altLang="en-US" sz="1400" dirty="0" smtClean="0">
                <a:latin typeface="+mn-ea"/>
              </a:rPr>
              <a:t>를 </a:t>
            </a:r>
            <a:r>
              <a:rPr lang="ko-KR" altLang="en-US" sz="1400" dirty="0" err="1" smtClean="0">
                <a:latin typeface="+mn-ea"/>
              </a:rPr>
              <a:t>캐싱하여</a:t>
            </a:r>
            <a:r>
              <a:rPr lang="ko-KR" altLang="en-US" sz="1400" dirty="0" smtClean="0">
                <a:latin typeface="+mn-ea"/>
              </a:rPr>
              <a:t> 성능을 개선한다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r>
              <a:rPr lang="ko-KR" altLang="en-US" sz="1400" dirty="0" err="1" smtClean="0">
                <a:latin typeface="+mn-ea"/>
              </a:rPr>
              <a:t>파라미터로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smtClean="0">
                <a:latin typeface="+mn-ea"/>
              </a:rPr>
              <a:t>주어진 메모리 제한 내에서 캐시정보가 운용된다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r>
              <a:rPr lang="ko-KR" altLang="en-US" sz="1400" dirty="0" smtClean="0">
                <a:latin typeface="+mn-ea"/>
              </a:rPr>
              <a:t>최초에 해당 필드에 대한 </a:t>
            </a:r>
            <a:r>
              <a:rPr lang="en-US" altLang="ko-KR" sz="1400" dirty="0" smtClean="0">
                <a:latin typeface="+mn-ea"/>
              </a:rPr>
              <a:t>group by </a:t>
            </a:r>
            <a:r>
              <a:rPr lang="ko-KR" altLang="en-US" sz="1400" dirty="0" smtClean="0">
                <a:latin typeface="+mn-ea"/>
              </a:rPr>
              <a:t>가 수행될 때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읽어드린 </a:t>
            </a:r>
            <a:r>
              <a:rPr lang="en-US" altLang="ko-KR" sz="1400" dirty="0" smtClean="0">
                <a:latin typeface="+mn-ea"/>
              </a:rPr>
              <a:t>key </a:t>
            </a:r>
            <a:r>
              <a:rPr lang="en-US" altLang="ko-KR" sz="1400" dirty="0" err="1" smtClean="0">
                <a:latin typeface="+mn-ea"/>
              </a:rPr>
              <a:t>df</a:t>
            </a:r>
            <a:r>
              <a:rPr lang="ko-KR" altLang="en-US" sz="1400" dirty="0" smtClean="0">
                <a:latin typeface="+mn-ea"/>
              </a:rPr>
              <a:t>정보를 </a:t>
            </a:r>
            <a:r>
              <a:rPr lang="ko-KR" altLang="en-US" sz="1400" dirty="0" err="1" smtClean="0">
                <a:latin typeface="+mn-ea"/>
              </a:rPr>
              <a:t>캐싱한다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pPr lvl="1"/>
            <a:r>
              <a:rPr lang="ko-KR" altLang="en-US" sz="1400" dirty="0" smtClean="0">
                <a:latin typeface="+mn-ea"/>
              </a:rPr>
              <a:t>즉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최초 </a:t>
            </a:r>
            <a:r>
              <a:rPr lang="ko-KR" altLang="en-US" sz="1400" dirty="0" err="1" smtClean="0">
                <a:latin typeface="+mn-ea"/>
              </a:rPr>
              <a:t>수행시에</a:t>
            </a:r>
            <a:r>
              <a:rPr lang="ko-KR" altLang="en-US" sz="1400" dirty="0" smtClean="0">
                <a:latin typeface="+mn-ea"/>
              </a:rPr>
              <a:t> 검색 쿼리 처리 시간이 약간 증가한다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pPr lvl="1"/>
            <a:r>
              <a:rPr lang="ko-KR" altLang="en-US" sz="1400" dirty="0" smtClean="0">
                <a:latin typeface="+mn-ea"/>
              </a:rPr>
              <a:t>하지만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err="1" smtClean="0">
                <a:latin typeface="+mn-ea"/>
              </a:rPr>
              <a:t>캐싱</a:t>
            </a:r>
            <a:r>
              <a:rPr lang="ko-KR" altLang="en-US" sz="1400" dirty="0" smtClean="0">
                <a:latin typeface="+mn-ea"/>
              </a:rPr>
              <a:t> 후에는 동일 필드 </a:t>
            </a:r>
            <a:r>
              <a:rPr lang="en-US" altLang="ko-KR" sz="1400" dirty="0" smtClean="0">
                <a:latin typeface="+mn-ea"/>
              </a:rPr>
              <a:t>group by </a:t>
            </a:r>
            <a:r>
              <a:rPr lang="ko-KR" altLang="en-US" sz="1400" dirty="0" smtClean="0">
                <a:latin typeface="+mn-ea"/>
              </a:rPr>
              <a:t>에 대해 처리 시간이 감소한다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pPr lvl="1"/>
            <a:endParaRPr lang="en-US" altLang="ko-KR" sz="1400" dirty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캐시 </a:t>
            </a:r>
            <a:r>
              <a:rPr lang="ko-KR" altLang="en-US" sz="1400" dirty="0" err="1" smtClean="0">
                <a:latin typeface="+mn-ea"/>
              </a:rPr>
              <a:t>미적용</a:t>
            </a:r>
            <a:endParaRPr lang="en-US" altLang="ko-KR" sz="1400" dirty="0" smtClean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556732" y="1196752"/>
            <a:ext cx="7941056" cy="3600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r>
              <a:rPr lang="en-US" altLang="ko-KR" sz="1050" dirty="0"/>
              <a:t>start forward index cache for &lt;</a:t>
            </a:r>
            <a:r>
              <a:rPr lang="en-US" altLang="ko-KR" sz="1050" dirty="0" err="1"/>
              <a:t>table_name_exp</a:t>
            </a:r>
            <a:r>
              <a:rPr lang="en-US" altLang="ko-KR" sz="1050" dirty="0"/>
              <a:t>&gt;.&lt;</a:t>
            </a:r>
            <a:r>
              <a:rPr lang="en-US" altLang="ko-KR" sz="1050" dirty="0" err="1"/>
              <a:t>field_name</a:t>
            </a:r>
            <a:r>
              <a:rPr lang="en-US" altLang="ko-KR" sz="1050" dirty="0"/>
              <a:t>&gt; size=&lt;n&gt;[</a:t>
            </a:r>
            <a:r>
              <a:rPr lang="en-US" altLang="ko-KR" sz="1050" dirty="0" err="1"/>
              <a:t>mb|gb</a:t>
            </a:r>
            <a:r>
              <a:rPr lang="en-US" altLang="ko-KR" sz="1050" dirty="0"/>
              <a:t>]</a:t>
            </a:r>
            <a:endParaRPr lang="en-US" altLang="ko-KR" sz="105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7544" y="3429000"/>
            <a:ext cx="2664296" cy="1800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r>
              <a:rPr lang="en-US" altLang="ko-KR" sz="900" dirty="0" err="1">
                <a:latin typeface="+mn-ea"/>
              </a:rPr>
              <a:t>kql</a:t>
            </a:r>
            <a:r>
              <a:rPr lang="en-US" altLang="ko-KR" sz="900" dirty="0">
                <a:latin typeface="+mn-ea"/>
              </a:rPr>
              <a:t>/post&gt; select </a:t>
            </a:r>
            <a:r>
              <a:rPr lang="en-US" altLang="ko-KR" sz="900" dirty="0" err="1">
                <a:latin typeface="+mn-ea"/>
              </a:rPr>
              <a:t>created_ymd</a:t>
            </a:r>
            <a:r>
              <a:rPr lang="en-US" altLang="ko-KR" sz="900" dirty="0">
                <a:latin typeface="+mn-ea"/>
              </a:rPr>
              <a:t> from post where message='sun' group by </a:t>
            </a:r>
            <a:r>
              <a:rPr lang="en-US" altLang="ko-KR" sz="900" dirty="0" err="1">
                <a:latin typeface="+mn-ea"/>
              </a:rPr>
              <a:t>created_ymd</a:t>
            </a:r>
            <a:r>
              <a:rPr lang="en-US" altLang="ko-KR" sz="900" dirty="0">
                <a:latin typeface="+mn-ea"/>
              </a:rPr>
              <a:t> </a:t>
            </a:r>
            <a:r>
              <a:rPr lang="en-US" altLang="ko-KR" sz="900" dirty="0" err="1">
                <a:latin typeface="+mn-ea"/>
              </a:rPr>
              <a:t>pagelength</a:t>
            </a:r>
            <a:r>
              <a:rPr lang="en-US" altLang="ko-KR" sz="900" dirty="0">
                <a:latin typeface="+mn-ea"/>
              </a:rPr>
              <a:t>=5 format=csv;</a:t>
            </a:r>
          </a:p>
          <a:p>
            <a:r>
              <a:rPr lang="en-US" altLang="ko-KR" sz="900" dirty="0" err="1">
                <a:latin typeface="+mn-ea"/>
              </a:rPr>
              <a:t>LoadKeyDF</a:t>
            </a:r>
            <a:r>
              <a:rPr lang="en-US" altLang="ko-KR" sz="900" dirty="0">
                <a:latin typeface="+mn-ea"/>
              </a:rPr>
              <a:t>(): 12.749 sec</a:t>
            </a:r>
          </a:p>
          <a:p>
            <a:r>
              <a:rPr lang="en-US" altLang="ko-KR" sz="900" dirty="0">
                <a:latin typeface="+mn-ea"/>
              </a:rPr>
              <a:t>20180101</a:t>
            </a:r>
          </a:p>
          <a:p>
            <a:r>
              <a:rPr lang="en-US" altLang="ko-KR" sz="900" dirty="0">
                <a:latin typeface="+mn-ea"/>
              </a:rPr>
              <a:t>20180131</a:t>
            </a:r>
          </a:p>
          <a:p>
            <a:r>
              <a:rPr lang="en-US" altLang="ko-KR" sz="900" dirty="0">
                <a:latin typeface="+mn-ea"/>
              </a:rPr>
              <a:t>20180102</a:t>
            </a:r>
          </a:p>
          <a:p>
            <a:r>
              <a:rPr lang="en-US" altLang="ko-KR" sz="900" dirty="0">
                <a:latin typeface="+mn-ea"/>
              </a:rPr>
              <a:t>20180129</a:t>
            </a:r>
          </a:p>
          <a:p>
            <a:r>
              <a:rPr lang="en-US" altLang="ko-KR" sz="900" dirty="0">
                <a:latin typeface="+mn-ea"/>
              </a:rPr>
              <a:t>20180103</a:t>
            </a:r>
          </a:p>
          <a:p>
            <a:r>
              <a:rPr lang="en-US" altLang="ko-KR" sz="900" dirty="0">
                <a:latin typeface="+mn-ea"/>
              </a:rPr>
              <a:t>5 of 31 records displayed. Continue(Y/n)?</a:t>
            </a:r>
          </a:p>
          <a:p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12.838 sec</a:t>
            </a:r>
          </a:p>
          <a:p>
            <a:r>
              <a:rPr lang="en-US" altLang="ko-KR" sz="900" dirty="0">
                <a:latin typeface="+mn-ea"/>
              </a:rPr>
              <a:t>OK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3275856" y="3429000"/>
            <a:ext cx="2808312" cy="24482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r>
              <a:rPr lang="en-US" altLang="ko-KR" sz="900" dirty="0" err="1">
                <a:latin typeface="+mn-ea"/>
              </a:rPr>
              <a:t>kql</a:t>
            </a:r>
            <a:r>
              <a:rPr lang="en-US" altLang="ko-KR" sz="900" dirty="0">
                <a:latin typeface="+mn-ea"/>
              </a:rPr>
              <a:t>/post&gt; start forward index cache for </a:t>
            </a:r>
            <a:r>
              <a:rPr lang="en-US" altLang="ko-KR" sz="900" dirty="0" err="1">
                <a:latin typeface="+mn-ea"/>
              </a:rPr>
              <a:t>post.created_ymd</a:t>
            </a:r>
            <a:r>
              <a:rPr lang="en-US" altLang="ko-KR" sz="900" dirty="0">
                <a:latin typeface="+mn-ea"/>
              </a:rPr>
              <a:t> size=1gb;</a:t>
            </a:r>
          </a:p>
          <a:p>
            <a:r>
              <a:rPr lang="en-US" altLang="ko-KR" sz="900" dirty="0">
                <a:latin typeface="+mn-ea"/>
              </a:rPr>
              <a:t>0.003 sec</a:t>
            </a:r>
          </a:p>
          <a:p>
            <a:r>
              <a:rPr lang="en-US" altLang="ko-KR" sz="900" dirty="0">
                <a:latin typeface="+mn-ea"/>
              </a:rPr>
              <a:t>OK</a:t>
            </a:r>
          </a:p>
          <a:p>
            <a:endParaRPr lang="en-US" altLang="ko-KR" sz="900" dirty="0">
              <a:latin typeface="+mn-ea"/>
            </a:endParaRPr>
          </a:p>
          <a:p>
            <a:r>
              <a:rPr lang="en-US" altLang="ko-KR" sz="900" dirty="0" err="1">
                <a:latin typeface="+mn-ea"/>
              </a:rPr>
              <a:t>kql</a:t>
            </a:r>
            <a:r>
              <a:rPr lang="en-US" altLang="ko-KR" sz="900" dirty="0">
                <a:latin typeface="+mn-ea"/>
              </a:rPr>
              <a:t>/post&gt; select </a:t>
            </a:r>
            <a:r>
              <a:rPr lang="en-US" altLang="ko-KR" sz="900" dirty="0" err="1">
                <a:latin typeface="+mn-ea"/>
              </a:rPr>
              <a:t>created_ymd</a:t>
            </a:r>
            <a:r>
              <a:rPr lang="en-US" altLang="ko-KR" sz="900" dirty="0">
                <a:latin typeface="+mn-ea"/>
              </a:rPr>
              <a:t> from post where message='sun' group by </a:t>
            </a:r>
            <a:r>
              <a:rPr lang="en-US" altLang="ko-KR" sz="900" dirty="0" err="1">
                <a:latin typeface="+mn-ea"/>
              </a:rPr>
              <a:t>created_ymd</a:t>
            </a:r>
            <a:r>
              <a:rPr lang="en-US" altLang="ko-KR" sz="900" dirty="0">
                <a:latin typeface="+mn-ea"/>
              </a:rPr>
              <a:t> </a:t>
            </a:r>
            <a:r>
              <a:rPr lang="en-US" altLang="ko-KR" sz="900" dirty="0" err="1">
                <a:latin typeface="+mn-ea"/>
              </a:rPr>
              <a:t>pagelength</a:t>
            </a:r>
            <a:r>
              <a:rPr lang="en-US" altLang="ko-KR" sz="900" dirty="0">
                <a:latin typeface="+mn-ea"/>
              </a:rPr>
              <a:t>=5 format=csv;</a:t>
            </a:r>
          </a:p>
          <a:p>
            <a:r>
              <a:rPr lang="en-US" altLang="ko-KR" sz="900" dirty="0" err="1">
                <a:latin typeface="+mn-ea"/>
              </a:rPr>
              <a:t>LoadKeyDF</a:t>
            </a:r>
            <a:r>
              <a:rPr lang="en-US" altLang="ko-KR" sz="900" dirty="0">
                <a:latin typeface="+mn-ea"/>
              </a:rPr>
              <a:t>(): 13.372 sec</a:t>
            </a:r>
          </a:p>
          <a:p>
            <a:r>
              <a:rPr lang="en-US" altLang="ko-KR" sz="900" dirty="0">
                <a:latin typeface="+mn-ea"/>
              </a:rPr>
              <a:t>20180101</a:t>
            </a:r>
          </a:p>
          <a:p>
            <a:r>
              <a:rPr lang="en-US" altLang="ko-KR" sz="900" dirty="0">
                <a:latin typeface="+mn-ea"/>
              </a:rPr>
              <a:t>20180131</a:t>
            </a:r>
          </a:p>
          <a:p>
            <a:r>
              <a:rPr lang="en-US" altLang="ko-KR" sz="900" dirty="0">
                <a:latin typeface="+mn-ea"/>
              </a:rPr>
              <a:t>20180102</a:t>
            </a:r>
          </a:p>
          <a:p>
            <a:r>
              <a:rPr lang="en-US" altLang="ko-KR" sz="900" dirty="0">
                <a:latin typeface="+mn-ea"/>
              </a:rPr>
              <a:t>20180129</a:t>
            </a:r>
          </a:p>
          <a:p>
            <a:r>
              <a:rPr lang="en-US" altLang="ko-KR" sz="900" dirty="0">
                <a:latin typeface="+mn-ea"/>
              </a:rPr>
              <a:t>20180103</a:t>
            </a:r>
          </a:p>
          <a:p>
            <a:r>
              <a:rPr lang="en-US" altLang="ko-KR" sz="900" dirty="0">
                <a:latin typeface="+mn-ea"/>
              </a:rPr>
              <a:t>5 of 31 records displayed. Continue(Y/n)?</a:t>
            </a:r>
          </a:p>
          <a:p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13.461 sec</a:t>
            </a:r>
          </a:p>
          <a:p>
            <a:r>
              <a:rPr lang="en-US" altLang="ko-KR" sz="900" dirty="0">
                <a:latin typeface="+mn-ea"/>
              </a:rPr>
              <a:t>OK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228184" y="3429000"/>
            <a:ext cx="2736304" cy="1800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r>
              <a:rPr lang="en-US" altLang="ko-KR" sz="900" dirty="0" err="1">
                <a:latin typeface="+mn-ea"/>
              </a:rPr>
              <a:t>kql</a:t>
            </a:r>
            <a:r>
              <a:rPr lang="en-US" altLang="ko-KR" sz="900" dirty="0">
                <a:latin typeface="+mn-ea"/>
              </a:rPr>
              <a:t>/post&gt; select </a:t>
            </a:r>
            <a:r>
              <a:rPr lang="en-US" altLang="ko-KR" sz="900" dirty="0" err="1">
                <a:latin typeface="+mn-ea"/>
              </a:rPr>
              <a:t>created_ymd</a:t>
            </a:r>
            <a:r>
              <a:rPr lang="en-US" altLang="ko-KR" sz="900" dirty="0">
                <a:latin typeface="+mn-ea"/>
              </a:rPr>
              <a:t> from post where message='sun' group by </a:t>
            </a:r>
            <a:r>
              <a:rPr lang="en-US" altLang="ko-KR" sz="900" dirty="0" err="1">
                <a:latin typeface="+mn-ea"/>
              </a:rPr>
              <a:t>created_ymd</a:t>
            </a:r>
            <a:r>
              <a:rPr lang="en-US" altLang="ko-KR" sz="900" dirty="0">
                <a:latin typeface="+mn-ea"/>
              </a:rPr>
              <a:t> </a:t>
            </a:r>
            <a:r>
              <a:rPr lang="en-US" altLang="ko-KR" sz="900" dirty="0" err="1">
                <a:latin typeface="+mn-ea"/>
              </a:rPr>
              <a:t>pagelength</a:t>
            </a:r>
            <a:r>
              <a:rPr lang="en-US" altLang="ko-KR" sz="900" dirty="0">
                <a:latin typeface="+mn-ea"/>
              </a:rPr>
              <a:t>=5 format=csv;</a:t>
            </a:r>
          </a:p>
          <a:p>
            <a:r>
              <a:rPr lang="en-US" altLang="ko-KR" sz="900" dirty="0" err="1">
                <a:latin typeface="+mn-ea"/>
              </a:rPr>
              <a:t>LoadKeyDF</a:t>
            </a:r>
            <a:r>
              <a:rPr lang="en-US" altLang="ko-KR" sz="900" dirty="0">
                <a:latin typeface="+mn-ea"/>
              </a:rPr>
              <a:t>(): 0.086 sec</a:t>
            </a:r>
          </a:p>
          <a:p>
            <a:r>
              <a:rPr lang="en-US" altLang="ko-KR" sz="900" dirty="0">
                <a:latin typeface="+mn-ea"/>
              </a:rPr>
              <a:t>20180101</a:t>
            </a:r>
          </a:p>
          <a:p>
            <a:r>
              <a:rPr lang="en-US" altLang="ko-KR" sz="900" dirty="0">
                <a:latin typeface="+mn-ea"/>
              </a:rPr>
              <a:t>20180131</a:t>
            </a:r>
          </a:p>
          <a:p>
            <a:r>
              <a:rPr lang="en-US" altLang="ko-KR" sz="900" dirty="0">
                <a:latin typeface="+mn-ea"/>
              </a:rPr>
              <a:t>20180102</a:t>
            </a:r>
          </a:p>
          <a:p>
            <a:r>
              <a:rPr lang="en-US" altLang="ko-KR" sz="900" dirty="0">
                <a:latin typeface="+mn-ea"/>
              </a:rPr>
              <a:t>20180129</a:t>
            </a:r>
          </a:p>
          <a:p>
            <a:r>
              <a:rPr lang="en-US" altLang="ko-KR" sz="900" dirty="0">
                <a:latin typeface="+mn-ea"/>
              </a:rPr>
              <a:t>20180103</a:t>
            </a:r>
          </a:p>
          <a:p>
            <a:r>
              <a:rPr lang="en-US" altLang="ko-KR" sz="900" dirty="0">
                <a:latin typeface="+mn-ea"/>
              </a:rPr>
              <a:t>5 of 31 records displayed. Continue(Y/n)?</a:t>
            </a:r>
          </a:p>
          <a:p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0.169 sec</a:t>
            </a:r>
          </a:p>
          <a:p>
            <a:r>
              <a:rPr lang="en-US" altLang="ko-KR" sz="900" dirty="0">
                <a:latin typeface="+mn-ea"/>
              </a:rP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6176" y="3059668"/>
            <a:ext cx="1495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+mn-ea"/>
              </a:rPr>
              <a:t>캐싱</a:t>
            </a:r>
            <a:r>
              <a:rPr lang="ko-KR" altLang="en-US" sz="1400" dirty="0">
                <a:latin typeface="+mn-ea"/>
              </a:rPr>
              <a:t> 후 </a:t>
            </a:r>
            <a:r>
              <a:rPr lang="ko-KR" altLang="en-US" sz="1400" dirty="0" smtClean="0">
                <a:latin typeface="+mn-ea"/>
              </a:rPr>
              <a:t>수행</a:t>
            </a:r>
            <a:endParaRPr lang="ko-KR" alt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3275856" y="3069982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캐시 적용 후 최초 </a:t>
            </a:r>
            <a:r>
              <a:rPr lang="ko-KR" altLang="en-US" sz="1400" dirty="0" smtClean="0">
                <a:latin typeface="+mn-ea"/>
              </a:rPr>
              <a:t>수행</a:t>
            </a:r>
            <a:endParaRPr lang="en-US" altLang="ko-KR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95702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Log </a:t>
            </a:r>
            <a:r>
              <a:rPr lang="ko-KR" altLang="en-US" dirty="0" smtClean="0"/>
              <a:t>읽기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0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■ </a:t>
            </a:r>
            <a:r>
              <a:rPr lang="ko-KR" altLang="en-US" dirty="0" smtClean="0"/>
              <a:t>색인 로그 </a:t>
            </a:r>
            <a:r>
              <a:rPr lang="en-US" altLang="ko-KR" dirty="0" smtClean="0"/>
              <a:t>– kql.log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12460" y="1052736"/>
            <a:ext cx="8229600" cy="5073427"/>
          </a:xfrm>
        </p:spPr>
        <p:txBody>
          <a:bodyPr>
            <a:normAutofit/>
          </a:bodyPr>
          <a:lstStyle/>
          <a:p>
            <a:r>
              <a:rPr lang="ko-KR" altLang="en-US" sz="1600" dirty="0" smtClean="0">
                <a:latin typeface="+mn-ea"/>
              </a:rPr>
              <a:t>색인 수행</a:t>
            </a:r>
            <a:endParaRPr lang="en-US" altLang="ko-KR" sz="1600" dirty="0">
              <a:latin typeface="+mn-ea"/>
            </a:endParaRPr>
          </a:p>
          <a:p>
            <a:endParaRPr lang="en-US" altLang="ko-KR" sz="1600" dirty="0" smtClean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519376" y="1397536"/>
            <a:ext cx="7941056" cy="50405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r>
              <a:rPr lang="en-US" altLang="ko-KR" sz="900" dirty="0">
                <a:latin typeface="+mn-ea"/>
              </a:rPr>
              <a:t>[2026-04-12 00:14:01,997] S0/0  temp Read Exclusive requested [RS(0) RX(0) WS(0) WX(0)].</a:t>
            </a:r>
          </a:p>
          <a:p>
            <a:r>
              <a:rPr lang="en-US" altLang="ko-KR" sz="900" dirty="0">
                <a:latin typeface="+mn-ea"/>
              </a:rPr>
              <a:t>[2026-04-12 00:14:01,997] S0/0  temp Read Exclusive requested [RS(0) RX(0) WS(0) WX(0)].</a:t>
            </a:r>
          </a:p>
          <a:p>
            <a:r>
              <a:rPr lang="en-US" altLang="ko-KR" sz="900" dirty="0">
                <a:latin typeface="+mn-ea"/>
              </a:rPr>
              <a:t>[2026-04-12 00:14:01,997] S0/0  temp Write Shared requested [RS(0) RX(0) WS(0) WX(0)].</a:t>
            </a:r>
          </a:p>
          <a:p>
            <a:r>
              <a:rPr lang="en-US" altLang="ko-KR" sz="900" dirty="0">
                <a:latin typeface="+mn-ea"/>
              </a:rPr>
              <a:t>[2026-04-12 00:14:01,997] S0/0  temp TR12 started [used=(1.329) max=(1.25599) op=Q:IMPORT_FILES].</a:t>
            </a:r>
          </a:p>
          <a:p>
            <a:r>
              <a:rPr lang="en-US" altLang="ko-KR" sz="900" dirty="0">
                <a:latin typeface="+mn-ea"/>
              </a:rPr>
              <a:t>[2026-04-12 00:14:01,997] S0/0  importing files /temp/</a:t>
            </a:r>
            <a:r>
              <a:rPr lang="en-US" altLang="ko-KR" sz="900" dirty="0" err="1">
                <a:latin typeface="+mn-ea"/>
              </a:rPr>
              <a:t>v_zeus_search</a:t>
            </a:r>
            <a:r>
              <a:rPr lang="en-US" altLang="ko-KR" sz="900" dirty="0">
                <a:latin typeface="+mn-ea"/>
              </a:rPr>
              <a:t> ..</a:t>
            </a:r>
          </a:p>
          <a:p>
            <a:r>
              <a:rPr lang="en-US" altLang="ko-KR" sz="900" dirty="0">
                <a:latin typeface="+mn-ea"/>
              </a:rPr>
              <a:t>[2026-04-12 00:14:01,997] S0/0  parallel 4/32 (32 cores)</a:t>
            </a:r>
          </a:p>
          <a:p>
            <a:r>
              <a:rPr lang="en-US" altLang="ko-KR" sz="900" dirty="0">
                <a:latin typeface="+mn-ea"/>
              </a:rPr>
              <a:t>[2026-04-12 00:14:01,997] S0/0  ===== START OF IMPORT (INSERT_OR_SKIP THREADING=multi) ======</a:t>
            </a:r>
          </a:p>
          <a:p>
            <a:r>
              <a:rPr lang="en-US" altLang="ko-KR" sz="900" dirty="0">
                <a:latin typeface="+mn-ea"/>
              </a:rPr>
              <a:t>[2026-04-12 00:14:02,401] A3/0             0 [0:00:00]   6.3 MB</a:t>
            </a:r>
          </a:p>
          <a:p>
            <a:r>
              <a:rPr lang="en-US" altLang="ko-KR" sz="900" dirty="0">
                <a:latin typeface="+mn-ea"/>
              </a:rPr>
              <a:t>[2026-04-12 00:14:02,800] S0/0  Total 33891 (0) [0:00:00]  30.0 MB</a:t>
            </a:r>
          </a:p>
          <a:p>
            <a:r>
              <a:rPr lang="en-US" altLang="ko-KR" sz="900" dirty="0">
                <a:latin typeface="+mn-ea"/>
              </a:rPr>
              <a:t>[2026-04-12 00:14:02,800] S0/0  ===== END OF IMPORT (INSERT_OR_SKIP THREADING=multi) ========</a:t>
            </a:r>
          </a:p>
          <a:p>
            <a:r>
              <a:rPr lang="en-US" altLang="ko-KR" sz="900" dirty="0">
                <a:latin typeface="+mn-ea"/>
              </a:rPr>
              <a:t>[2026-04-12 00:14:02,800] S0/0  Document Collection = ../</a:t>
            </a:r>
            <a:r>
              <a:rPr lang="en-US" altLang="ko-KR" sz="900" dirty="0" err="1">
                <a:latin typeface="+mn-ea"/>
              </a:rPr>
              <a:t>cxfile</a:t>
            </a:r>
            <a:r>
              <a:rPr lang="en-US" altLang="ko-KR" sz="900" dirty="0">
                <a:latin typeface="+mn-ea"/>
              </a:rPr>
              <a:t>/</a:t>
            </a:r>
            <a:r>
              <a:rPr lang="en-US" altLang="ko-KR" sz="900" dirty="0" err="1">
                <a:latin typeface="+mn-ea"/>
              </a:rPr>
              <a:t>v_zeus_search</a:t>
            </a:r>
            <a:r>
              <a:rPr lang="en-US" altLang="ko-KR" sz="900" dirty="0">
                <a:latin typeface="+mn-ea"/>
              </a:rPr>
              <a:t>/bulk</a:t>
            </a:r>
          </a:p>
          <a:p>
            <a:r>
              <a:rPr lang="en-US" altLang="ko-KR" sz="900" dirty="0">
                <a:latin typeface="+mn-ea"/>
              </a:rPr>
              <a:t>[2026-04-12 00:14:02,800] S0/0  Total 4 files (45.5 MB) stored.</a:t>
            </a:r>
          </a:p>
          <a:p>
            <a:r>
              <a:rPr lang="en-US" altLang="ko-KR" sz="900" dirty="0">
                <a:latin typeface="+mn-ea"/>
              </a:rPr>
              <a:t>[2026-04-12 00:14:02,800] S0/0  Disk Space Used = 30.0 MB (2 Segments)</a:t>
            </a:r>
          </a:p>
          <a:p>
            <a:r>
              <a:rPr lang="en-US" altLang="ko-KR" sz="900" dirty="0">
                <a:latin typeface="+mn-ea"/>
              </a:rPr>
              <a:t>[2026-04-12 00:14:02,802] S0/0  building indexes to /temp/</a:t>
            </a:r>
            <a:r>
              <a:rPr lang="en-US" altLang="ko-KR" sz="900" dirty="0" err="1">
                <a:latin typeface="+mn-ea"/>
              </a:rPr>
              <a:t>v_zeus_search</a:t>
            </a:r>
            <a:r>
              <a:rPr lang="en-US" altLang="ko-KR" sz="900" dirty="0">
                <a:latin typeface="+mn-ea"/>
              </a:rPr>
              <a:t> ..</a:t>
            </a:r>
          </a:p>
          <a:p>
            <a:r>
              <a:rPr lang="en-US" altLang="ko-KR" sz="900" dirty="0">
                <a:latin typeface="+mn-ea"/>
              </a:rPr>
              <a:t>[2026-04-12 00:14:02,802] S0/0  </a:t>
            </a:r>
            <a:r>
              <a:rPr lang="en-US" altLang="ko-KR" sz="900" dirty="0" err="1">
                <a:latin typeface="+mn-ea"/>
              </a:rPr>
              <a:t>indexing_cache_size</a:t>
            </a:r>
            <a:r>
              <a:rPr lang="en-US" altLang="ko-KR" sz="900" dirty="0">
                <a:latin typeface="+mn-ea"/>
              </a:rPr>
              <a:t> = 8.0 GB</a:t>
            </a:r>
          </a:p>
          <a:p>
            <a:r>
              <a:rPr lang="en-US" altLang="ko-KR" sz="900" dirty="0">
                <a:latin typeface="+mn-ea"/>
              </a:rPr>
              <a:t>[2026-04-12 00:14:02,802] S0/0  parallel 32/32 (32 cores)</a:t>
            </a:r>
          </a:p>
          <a:p>
            <a:r>
              <a:rPr lang="en-US" altLang="ko-KR" sz="900" dirty="0">
                <a:latin typeface="+mn-ea"/>
              </a:rPr>
              <a:t>[2026-04-12 00:14:02,802] S0/0  ========= START OF INDEXING (APPEND) =========</a:t>
            </a:r>
          </a:p>
          <a:p>
            <a:r>
              <a:rPr lang="en-US" altLang="ko-KR" sz="900" dirty="0">
                <a:latin typeface="+mn-ea"/>
              </a:rPr>
              <a:t>[2026-04-12 00:14:06,006] S0/0  Started field  1 (</a:t>
            </a:r>
            <a:r>
              <a:rPr lang="en-US" altLang="ko-KR" sz="900" dirty="0" err="1">
                <a:latin typeface="+mn-ea"/>
              </a:rPr>
              <a:t>issue_id</a:t>
            </a:r>
            <a:r>
              <a:rPr lang="en-US" altLang="ko-KR" sz="900" dirty="0">
                <a:latin typeface="+mn-ea"/>
              </a:rPr>
              <a:t>) indexing</a:t>
            </a:r>
          </a:p>
          <a:p>
            <a:r>
              <a:rPr lang="en-US" altLang="ko-KR" sz="900" dirty="0">
                <a:latin typeface="+mn-ea"/>
              </a:rPr>
              <a:t>[2026-04-12 00:14:06,662] A0/0        0/33891 0:00:00 [0:00:03]  32.0 MB  0 %</a:t>
            </a:r>
          </a:p>
          <a:p>
            <a:r>
              <a:rPr lang="en-US" altLang="ko-KR" sz="900" dirty="0">
                <a:latin typeface="+mn-ea"/>
              </a:rPr>
              <a:t>[2026-04-12 00:14:06,846] A0/0    33890/33891 0:00:00 [0:00:04]  32.2 MB  0 %</a:t>
            </a:r>
          </a:p>
          <a:p>
            <a:r>
              <a:rPr lang="en-US" altLang="ko-KR" sz="900" dirty="0">
                <a:latin typeface="+mn-ea"/>
              </a:rPr>
              <a:t>[2026-04-12 00:14:06,903] S0/0    33891 33891 0:00:00 [0:00:04]  33.3 MB</a:t>
            </a:r>
          </a:p>
          <a:p>
            <a:r>
              <a:rPr lang="en-US" altLang="ko-KR" sz="900" dirty="0">
                <a:latin typeface="+mn-ea"/>
              </a:rPr>
              <a:t>[2026-04-12 00:14:07,119] S0/0  Started field  2 (</a:t>
            </a:r>
            <a:r>
              <a:rPr lang="en-US" altLang="ko-KR" sz="900" dirty="0" err="1">
                <a:latin typeface="+mn-ea"/>
              </a:rPr>
              <a:t>project_id</a:t>
            </a:r>
            <a:r>
              <a:rPr lang="en-US" altLang="ko-KR" sz="900" dirty="0">
                <a:latin typeface="+mn-ea"/>
              </a:rPr>
              <a:t>) indexing</a:t>
            </a:r>
          </a:p>
          <a:p>
            <a:r>
              <a:rPr lang="en-US" altLang="ko-KR" sz="900" dirty="0">
                <a:latin typeface="+mn-ea"/>
              </a:rPr>
              <a:t>[2026-04-12 00:14:09,138] A0/0        0/33891 0:00:02 [0:00:06]  33.3 MB  0 %</a:t>
            </a:r>
          </a:p>
          <a:p>
            <a:r>
              <a:rPr lang="en-US" altLang="ko-KR" sz="900" dirty="0">
                <a:latin typeface="+mn-ea"/>
              </a:rPr>
              <a:t>[2026-04-12 00:14:09,163] A0/0    33890/33891 0:00:02 [0:00:06]  33.3 MB  1 %</a:t>
            </a:r>
          </a:p>
          <a:p>
            <a:r>
              <a:rPr lang="en-US" altLang="ko-KR" sz="900" dirty="0">
                <a:latin typeface="+mn-ea"/>
              </a:rPr>
              <a:t>[2026-04-12 00:14:09,458] S0/0       49 33891 0:00:02 [0:00:06]  34.3 </a:t>
            </a:r>
            <a:r>
              <a:rPr lang="en-US" altLang="ko-KR" sz="900" dirty="0" smtClean="0">
                <a:latin typeface="+mn-ea"/>
              </a:rPr>
              <a:t>MB</a:t>
            </a:r>
          </a:p>
          <a:p>
            <a:r>
              <a:rPr lang="en-US" altLang="ko-KR" sz="900" dirty="0" smtClean="0">
                <a:latin typeface="+mn-ea"/>
              </a:rPr>
              <a:t>…</a:t>
            </a:r>
          </a:p>
          <a:p>
            <a:r>
              <a:rPr lang="en-US" altLang="ko-KR" sz="900" dirty="0">
                <a:latin typeface="+mn-ea"/>
              </a:rPr>
              <a:t>[2026-04-12 00:14:50,707] S0/0  Started field 18 (</a:t>
            </a:r>
            <a:r>
              <a:rPr lang="en-US" altLang="ko-KR" sz="900" dirty="0" err="1">
                <a:latin typeface="+mn-ea"/>
              </a:rPr>
              <a:t>file_id_list</a:t>
            </a:r>
            <a:r>
              <a:rPr lang="en-US" altLang="ko-KR" sz="900" dirty="0">
                <a:latin typeface="+mn-ea"/>
              </a:rPr>
              <a:t>) indexing</a:t>
            </a:r>
          </a:p>
          <a:p>
            <a:r>
              <a:rPr lang="en-US" altLang="ko-KR" sz="900" dirty="0">
                <a:latin typeface="+mn-ea"/>
              </a:rPr>
              <a:t>[2026-04-12 00:14:52,616] A0/0        0/33891 0:00:01 [0:00:49] 120.0 MB 99 %</a:t>
            </a:r>
          </a:p>
          <a:p>
            <a:r>
              <a:rPr lang="en-US" altLang="ko-KR" sz="900" dirty="0">
                <a:latin typeface="+mn-ea"/>
              </a:rPr>
              <a:t>[2026-04-12 00:14:52,655] A0/0    33890/33891 0:00:01 [0:00:49] 120.0 MB 99 %</a:t>
            </a:r>
          </a:p>
          <a:p>
            <a:r>
              <a:rPr lang="en-US" altLang="ko-KR" sz="900" dirty="0">
                <a:latin typeface="+mn-ea"/>
              </a:rPr>
              <a:t>[2026-04-12 00:14:52,948] S0/0     8254 33891 0:00:02 [0:00:50] 121.3 MB</a:t>
            </a:r>
          </a:p>
          <a:p>
            <a:r>
              <a:rPr lang="en-US" altLang="ko-KR" sz="900" dirty="0">
                <a:latin typeface="+mn-ea"/>
              </a:rPr>
              <a:t>[2026-04-12 00:14:53,047] S0/0     8254 33891 0:00:02 [0:00:50] 125.3 MB</a:t>
            </a:r>
          </a:p>
          <a:p>
            <a:r>
              <a:rPr lang="en-US" altLang="ko-KR" sz="900" dirty="0">
                <a:latin typeface="+mn-ea"/>
              </a:rPr>
              <a:t>[2026-04-12 00:14:53,352] S0/0  ========= END OF INDEXING (APPEND) ===========</a:t>
            </a:r>
          </a:p>
          <a:p>
            <a:r>
              <a:rPr lang="en-US" altLang="ko-KR" sz="900" dirty="0">
                <a:latin typeface="+mn-ea"/>
              </a:rPr>
              <a:t>[2026-04-12 00:14:53,352] S0/0  Disk Space Used = 125.34 MB (2 Segments)</a:t>
            </a:r>
          </a:p>
          <a:p>
            <a:r>
              <a:rPr lang="en-US" altLang="ko-KR" sz="900" dirty="0">
                <a:latin typeface="+mn-ea"/>
              </a:rPr>
              <a:t>[2026-04-12 00:14:53,371] S0/0  7868 pages updated (230 logged + 7638 extra = 7868)</a:t>
            </a:r>
          </a:p>
          <a:p>
            <a:r>
              <a:rPr lang="en-US" altLang="ko-KR" sz="900" dirty="0">
                <a:latin typeface="+mn-ea"/>
              </a:rPr>
              <a:t>[2026-04-12 00:14:53,371] S0/0  temp TR12 ended [13 1.329 1.7967 1.25599 118 1.8 MB].</a:t>
            </a:r>
          </a:p>
          <a:p>
            <a:r>
              <a:rPr lang="en-US" altLang="ko-KR" sz="900" dirty="0">
                <a:latin typeface="+mn-ea"/>
              </a:rPr>
              <a:t>[2026-04-12 00:14:53,371] S0/0  [IMPORT DATA - END: </a:t>
            </a:r>
            <a:r>
              <a:rPr lang="en-US" altLang="ko-KR" sz="900" dirty="0" err="1">
                <a:latin typeface="+mn-ea"/>
              </a:rPr>
              <a:t>v_zeus_search</a:t>
            </a:r>
            <a:r>
              <a:rPr lang="en-US" altLang="ko-KR" sz="900" dirty="0" smtClean="0">
                <a:latin typeface="+mn-ea"/>
              </a:rPr>
              <a:t>]</a:t>
            </a:r>
          </a:p>
        </p:txBody>
      </p:sp>
      <p:sp>
        <p:nvSpPr>
          <p:cNvPr id="6" name="오른쪽 중괄호 5"/>
          <p:cNvSpPr/>
          <p:nvPr/>
        </p:nvSpPr>
        <p:spPr>
          <a:xfrm>
            <a:off x="6372200" y="2261632"/>
            <a:ext cx="432048" cy="576064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오른쪽 중괄호 7"/>
          <p:cNvSpPr/>
          <p:nvPr/>
        </p:nvSpPr>
        <p:spPr>
          <a:xfrm>
            <a:off x="6369124" y="3629784"/>
            <a:ext cx="432048" cy="2232248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876256" y="2366154"/>
            <a:ext cx="1149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Data store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05501" y="4561242"/>
            <a:ext cx="697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Index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841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■ </a:t>
            </a:r>
            <a:r>
              <a:rPr lang="ko-KR" altLang="en-US" dirty="0" smtClean="0"/>
              <a:t>색인 로그 </a:t>
            </a:r>
            <a:r>
              <a:rPr lang="en-US" altLang="ko-KR" dirty="0" smtClean="0"/>
              <a:t>– kql.log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12460" y="1052736"/>
            <a:ext cx="8229600" cy="5073427"/>
          </a:xfrm>
        </p:spPr>
        <p:txBody>
          <a:bodyPr>
            <a:normAutofit/>
          </a:bodyPr>
          <a:lstStyle/>
          <a:p>
            <a:r>
              <a:rPr lang="ko-KR" altLang="en-US" sz="1600" dirty="0" smtClean="0">
                <a:latin typeface="+mn-ea"/>
              </a:rPr>
              <a:t>스케줄 실행 오류</a:t>
            </a:r>
            <a:endParaRPr lang="en-US" altLang="ko-KR" sz="1600" dirty="0" smtClean="0">
              <a:latin typeface="+mn-ea"/>
            </a:endParaRPr>
          </a:p>
          <a:p>
            <a:endParaRPr lang="en-US" altLang="ko-KR" sz="1600" dirty="0">
              <a:latin typeface="+mn-ea"/>
            </a:endParaRPr>
          </a:p>
          <a:p>
            <a:endParaRPr lang="en-US" altLang="ko-KR" sz="1600" dirty="0" smtClean="0">
              <a:latin typeface="+mn-ea"/>
            </a:endParaRPr>
          </a:p>
          <a:p>
            <a:endParaRPr lang="en-US" altLang="ko-KR" sz="1600" dirty="0">
              <a:latin typeface="+mn-ea"/>
            </a:endParaRPr>
          </a:p>
          <a:p>
            <a:endParaRPr lang="en-US" altLang="ko-KR" sz="1600" dirty="0" smtClean="0">
              <a:latin typeface="+mn-ea"/>
            </a:endParaRPr>
          </a:p>
          <a:p>
            <a:r>
              <a:rPr lang="en-US" altLang="ko-KR" sz="1600" dirty="0" smtClean="0">
                <a:latin typeface="+mn-ea"/>
              </a:rPr>
              <a:t>RAG </a:t>
            </a:r>
            <a:r>
              <a:rPr lang="ko-KR" altLang="en-US" sz="1600" dirty="0" smtClean="0">
                <a:latin typeface="+mn-ea"/>
              </a:rPr>
              <a:t>색인</a:t>
            </a:r>
            <a:endParaRPr lang="en-US" altLang="ko-KR" sz="1600" dirty="0" smtClean="0">
              <a:latin typeface="+mn-ea"/>
            </a:endParaRPr>
          </a:p>
          <a:p>
            <a:r>
              <a:rPr lang="ko-KR" altLang="en-US" sz="1600" dirty="0" smtClean="0">
                <a:latin typeface="+mn-ea"/>
              </a:rPr>
              <a:t> </a:t>
            </a:r>
            <a:endParaRPr lang="en-US" altLang="ko-KR" sz="1600" dirty="0" smtClean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519376" y="1397536"/>
            <a:ext cx="7941056" cy="8073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r>
              <a:rPr lang="en-US" altLang="ko-KR" sz="900" dirty="0">
                <a:latin typeface="+mn-ea"/>
              </a:rPr>
              <a:t>[2026-04-12 13:23:12,469] S0/0  START / Schedule 1 [</a:t>
            </a:r>
            <a:r>
              <a:rPr lang="en-US" altLang="ko-KR" sz="900" dirty="0" err="1">
                <a:latin typeface="+mn-ea"/>
              </a:rPr>
              <a:t>bulk_schd</a:t>
            </a:r>
            <a:r>
              <a:rPr lang="en-US" altLang="ko-KR" sz="900" dirty="0">
                <a:latin typeface="+mn-ea"/>
              </a:rPr>
              <a:t>, "run </a:t>
            </a:r>
            <a:r>
              <a:rPr lang="en-US" altLang="ko-KR" sz="900" dirty="0" err="1">
                <a:latin typeface="+mn-ea"/>
              </a:rPr>
              <a:t>ttest.kql</a:t>
            </a:r>
            <a:r>
              <a:rPr lang="en-US" altLang="ko-KR" sz="900" dirty="0">
                <a:latin typeface="+mn-ea"/>
              </a:rPr>
              <a:t>"]</a:t>
            </a:r>
          </a:p>
          <a:p>
            <a:r>
              <a:rPr lang="en-US" altLang="ko-KR" sz="900" dirty="0">
                <a:latin typeface="+mn-ea"/>
              </a:rPr>
              <a:t>[2026-04-12 13:23:12,470] S0/0  FAILED / Schedule 1 [</a:t>
            </a:r>
            <a:r>
              <a:rPr lang="en-US" altLang="ko-KR" sz="900" dirty="0" err="1">
                <a:latin typeface="+mn-ea"/>
              </a:rPr>
              <a:t>bulk_schd</a:t>
            </a:r>
            <a:r>
              <a:rPr lang="en-US" altLang="ko-KR" sz="900" dirty="0">
                <a:latin typeface="+mn-ea"/>
              </a:rPr>
              <a:t>, "run </a:t>
            </a:r>
            <a:r>
              <a:rPr lang="en-US" altLang="ko-KR" sz="900" dirty="0" err="1">
                <a:latin typeface="+mn-ea"/>
              </a:rPr>
              <a:t>ttest.kql</a:t>
            </a:r>
            <a:r>
              <a:rPr lang="en-US" altLang="ko-KR" sz="900" dirty="0">
                <a:latin typeface="+mn-ea"/>
              </a:rPr>
              <a:t>"] 20260412:132312-20260412:132312 (0:00) [(1:16) unexpected end of input.]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513264" y="2924944"/>
            <a:ext cx="7941056" cy="23762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r>
              <a:rPr lang="en-US" altLang="ko-KR" sz="900" dirty="0">
                <a:latin typeface="+mn-ea"/>
              </a:rPr>
              <a:t>[2026-04-12 01:17:01,670] P10/0 [build chunk] reading </a:t>
            </a:r>
            <a:r>
              <a:rPr lang="en-US" altLang="ko-KR" sz="900" dirty="0" err="1">
                <a:latin typeface="+mn-ea"/>
              </a:rPr>
              <a:t>fgf</a:t>
            </a:r>
            <a:r>
              <a:rPr lang="en-US" altLang="ko-KR" sz="900" dirty="0">
                <a:latin typeface="+mn-ea"/>
              </a:rPr>
              <a:t> file list...</a:t>
            </a:r>
          </a:p>
          <a:p>
            <a:r>
              <a:rPr lang="en-US" altLang="ko-KR" sz="900" dirty="0">
                <a:latin typeface="+mn-ea"/>
              </a:rPr>
              <a:t>[2026-04-12 01:17:01,670] P10/0 done. (number of files: 8)</a:t>
            </a:r>
          </a:p>
          <a:p>
            <a:r>
              <a:rPr lang="en-US" altLang="ko-KR" sz="900" dirty="0">
                <a:latin typeface="+mn-ea"/>
              </a:rPr>
              <a:t>[2026-04-12 01:17:01,670] P10/0 start chunking </a:t>
            </a:r>
            <a:r>
              <a:rPr lang="en-US" altLang="ko-KR" sz="900" dirty="0" err="1">
                <a:latin typeface="+mn-ea"/>
              </a:rPr>
              <a:t>parllel</a:t>
            </a:r>
            <a:r>
              <a:rPr lang="en-US" altLang="ko-KR" sz="900" dirty="0">
                <a:latin typeface="+mn-ea"/>
              </a:rPr>
              <a:t>(8)...</a:t>
            </a:r>
          </a:p>
          <a:p>
            <a:r>
              <a:rPr lang="en-US" altLang="ko-KR" sz="900" dirty="0">
                <a:latin typeface="+mn-ea"/>
              </a:rPr>
              <a:t>[2026-04-12 01:17:08,936] P10/0 done. (elapsed 7.3 sec)</a:t>
            </a:r>
          </a:p>
          <a:p>
            <a:r>
              <a:rPr lang="en-US" altLang="ko-KR" sz="900" dirty="0">
                <a:latin typeface="+mn-ea"/>
              </a:rPr>
              <a:t>[2026-04-12 01:17:08,968] P10/0 </a:t>
            </a:r>
            <a:r>
              <a:rPr lang="en-US" altLang="ko-KR" sz="900" dirty="0" err="1">
                <a:latin typeface="+mn-ea"/>
              </a:rPr>
              <a:t>ragx_zeus</a:t>
            </a:r>
            <a:r>
              <a:rPr lang="en-US" altLang="ko-KR" sz="900" dirty="0">
                <a:latin typeface="+mn-ea"/>
              </a:rPr>
              <a:t> Read Exclusive requested [RS(0) RX(0) WS(0) WX(0)].</a:t>
            </a:r>
          </a:p>
          <a:p>
            <a:r>
              <a:rPr lang="en-US" altLang="ko-KR" sz="900" dirty="0">
                <a:latin typeface="+mn-ea"/>
              </a:rPr>
              <a:t>[2026-04-12 01:17:08,968] P10/0 </a:t>
            </a:r>
            <a:r>
              <a:rPr lang="en-US" altLang="ko-KR" sz="900" dirty="0" err="1">
                <a:latin typeface="+mn-ea"/>
              </a:rPr>
              <a:t>ragx_zeus</a:t>
            </a:r>
            <a:r>
              <a:rPr lang="en-US" altLang="ko-KR" sz="900" dirty="0">
                <a:latin typeface="+mn-ea"/>
              </a:rPr>
              <a:t> Write Shared requested [RS(0) RX(0) WS(0) WX(0)].</a:t>
            </a:r>
          </a:p>
          <a:p>
            <a:r>
              <a:rPr lang="en-US" altLang="ko-KR" sz="900" dirty="0">
                <a:latin typeface="+mn-ea"/>
              </a:rPr>
              <a:t>[2026-04-12 01:17:08,968] P10/0 </a:t>
            </a:r>
            <a:r>
              <a:rPr lang="en-US" altLang="ko-KR" sz="900" dirty="0" err="1">
                <a:latin typeface="+mn-ea"/>
              </a:rPr>
              <a:t>ragx_zeus</a:t>
            </a:r>
            <a:r>
              <a:rPr lang="en-US" altLang="ko-KR" sz="900" dirty="0">
                <a:latin typeface="+mn-ea"/>
              </a:rPr>
              <a:t> TR3 started [used=(1.601) max=(1.25599) op=Q:IMPORT_FILES].</a:t>
            </a:r>
          </a:p>
          <a:p>
            <a:r>
              <a:rPr lang="en-US" altLang="ko-KR" sz="900" dirty="0">
                <a:latin typeface="+mn-ea"/>
              </a:rPr>
              <a:t>[2026-04-12 01:17:08,968] P10/0 Warning: import process </a:t>
            </a:r>
            <a:r>
              <a:rPr lang="en-US" altLang="ko-KR" sz="900" dirty="0" err="1">
                <a:latin typeface="+mn-ea"/>
              </a:rPr>
              <a:t>underloaded</a:t>
            </a:r>
            <a:r>
              <a:rPr lang="en-US" altLang="ko-KR" sz="900" dirty="0">
                <a:latin typeface="+mn-ea"/>
              </a:rPr>
              <a:t> (8 tasks on 32 cores).</a:t>
            </a:r>
          </a:p>
          <a:p>
            <a:r>
              <a:rPr lang="en-US" altLang="ko-KR" sz="900" dirty="0">
                <a:latin typeface="+mn-ea"/>
              </a:rPr>
              <a:t>[2026-04-12 01:17:08,968] P10/0 importing files /</a:t>
            </a:r>
            <a:r>
              <a:rPr lang="en-US" altLang="ko-KR" sz="900" dirty="0" err="1">
                <a:latin typeface="+mn-ea"/>
              </a:rPr>
              <a:t>ragx_zeus</a:t>
            </a:r>
            <a:r>
              <a:rPr lang="en-US" altLang="ko-KR" sz="900" dirty="0">
                <a:latin typeface="+mn-ea"/>
              </a:rPr>
              <a:t>/</a:t>
            </a:r>
            <a:r>
              <a:rPr lang="en-US" altLang="ko-KR" sz="900" dirty="0" err="1">
                <a:latin typeface="+mn-ea"/>
              </a:rPr>
              <a:t>tabc</a:t>
            </a:r>
            <a:r>
              <a:rPr lang="en-US" altLang="ko-KR" sz="900" dirty="0">
                <a:latin typeface="+mn-ea"/>
              </a:rPr>
              <a:t> ..</a:t>
            </a:r>
          </a:p>
          <a:p>
            <a:r>
              <a:rPr lang="en-US" altLang="ko-KR" sz="900" dirty="0">
                <a:latin typeface="+mn-ea"/>
              </a:rPr>
              <a:t>[2026-04-12 01:17:08,968] P10/0 parallel 8/8 (32 cores)</a:t>
            </a:r>
          </a:p>
          <a:p>
            <a:r>
              <a:rPr lang="en-US" altLang="ko-KR" sz="900" dirty="0">
                <a:latin typeface="+mn-ea"/>
              </a:rPr>
              <a:t>[2026-04-12 01:17:08,968] P10/0 ===== START OF IMPORT (STORE THREADING=multi) ======</a:t>
            </a:r>
          </a:p>
          <a:p>
            <a:r>
              <a:rPr lang="en-US" altLang="ko-KR" sz="900" dirty="0">
                <a:latin typeface="+mn-ea"/>
              </a:rPr>
              <a:t>[2026-04-12 01:17:09,809] A6/0             0 [0:00:00]  10.2 MB</a:t>
            </a:r>
          </a:p>
          <a:p>
            <a:r>
              <a:rPr lang="en-US" altLang="ko-KR" sz="900" dirty="0">
                <a:latin typeface="+mn-ea"/>
              </a:rPr>
              <a:t>[2026-04-12 01:21:18,907] A1/0  ../users/</a:t>
            </a:r>
            <a:r>
              <a:rPr lang="en-US" altLang="ko-KR" sz="900" dirty="0" err="1">
                <a:latin typeface="+mn-ea"/>
              </a:rPr>
              <a:t>ragx_zeus</a:t>
            </a:r>
            <a:r>
              <a:rPr lang="en-US" altLang="ko-KR" sz="900" dirty="0">
                <a:latin typeface="+mn-ea"/>
              </a:rPr>
              <a:t>/volume/</a:t>
            </a:r>
            <a:r>
              <a:rPr lang="en-US" altLang="ko-KR" sz="900" dirty="0" err="1">
                <a:latin typeface="+mn-ea"/>
              </a:rPr>
              <a:t>ragx_zeus</a:t>
            </a:r>
            <a:r>
              <a:rPr lang="en-US" altLang="ko-KR" sz="900" dirty="0">
                <a:latin typeface="+mn-ea"/>
              </a:rPr>
              <a:t>/ts00002.vdf created.</a:t>
            </a:r>
          </a:p>
          <a:p>
            <a:r>
              <a:rPr lang="en-US" altLang="ko-KR" sz="900" dirty="0">
                <a:latin typeface="+mn-ea"/>
              </a:rPr>
              <a:t>[2026-04-12 01:21:47,847] P10/0        62921 [0:04:38] 431.0 MB</a:t>
            </a:r>
          </a:p>
          <a:p>
            <a:r>
              <a:rPr lang="en-US" altLang="ko-KR" sz="900" dirty="0">
                <a:latin typeface="+mn-ea"/>
              </a:rPr>
              <a:t>[2026-04-12 01:21:47,847] P10/0 ===== END OF IMPORT (STORE THREADING=multi) ========</a:t>
            </a:r>
          </a:p>
        </p:txBody>
      </p:sp>
      <p:sp>
        <p:nvSpPr>
          <p:cNvPr id="13" name="오른쪽 중괄호 12"/>
          <p:cNvSpPr/>
          <p:nvPr/>
        </p:nvSpPr>
        <p:spPr>
          <a:xfrm>
            <a:off x="6228184" y="3068960"/>
            <a:ext cx="432048" cy="401846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660232" y="310147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bg1"/>
                </a:solidFill>
              </a:rPr>
              <a:t>Chunking 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5" name="오른쪽 중괄호 14"/>
          <p:cNvSpPr/>
          <p:nvPr/>
        </p:nvSpPr>
        <p:spPr>
          <a:xfrm>
            <a:off x="6228184" y="3603218"/>
            <a:ext cx="432048" cy="1625982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660232" y="4113076"/>
            <a:ext cx="17139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solidFill>
                  <a:schemeClr val="bg1"/>
                </a:solidFill>
              </a:rPr>
              <a:t>이후 단계는 </a:t>
            </a:r>
            <a:endParaRPr lang="en-US" altLang="ko-KR" sz="1600" dirty="0" smtClean="0">
              <a:solidFill>
                <a:schemeClr val="bg1"/>
              </a:solidFill>
            </a:endParaRPr>
          </a:p>
          <a:p>
            <a:r>
              <a:rPr lang="ko-KR" altLang="en-US" sz="1600" dirty="0" smtClean="0">
                <a:solidFill>
                  <a:schemeClr val="bg1"/>
                </a:solidFill>
              </a:rPr>
              <a:t>일반 색인과 동일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997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■ </a:t>
            </a:r>
            <a:r>
              <a:rPr lang="ko-KR" altLang="en-US" dirty="0" smtClean="0"/>
              <a:t>검색 로그 </a:t>
            </a:r>
            <a:r>
              <a:rPr lang="en-US" altLang="ko-KR" dirty="0" smtClean="0"/>
              <a:t>– rpc.log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12460" y="1052736"/>
            <a:ext cx="8229600" cy="5073427"/>
          </a:xfrm>
        </p:spPr>
        <p:txBody>
          <a:bodyPr>
            <a:normAutofit/>
          </a:bodyPr>
          <a:lstStyle/>
          <a:p>
            <a:r>
              <a:rPr lang="ko-KR" altLang="en-US" sz="1600" dirty="0" smtClean="0">
                <a:latin typeface="+mn-ea"/>
              </a:rPr>
              <a:t>모든 </a:t>
            </a:r>
            <a:r>
              <a:rPr lang="en-US" altLang="ko-KR" sz="1600" dirty="0" smtClean="0">
                <a:latin typeface="+mn-ea"/>
              </a:rPr>
              <a:t>Rest API</a:t>
            </a:r>
            <a:r>
              <a:rPr lang="ko-KR" altLang="en-US" sz="1600" dirty="0" smtClean="0">
                <a:latin typeface="+mn-ea"/>
              </a:rPr>
              <a:t>요청에 대한 수행 기록</a:t>
            </a:r>
            <a:endParaRPr lang="en-US" altLang="ko-KR" sz="1600" dirty="0" smtClean="0">
              <a:latin typeface="+mn-ea"/>
            </a:endParaRPr>
          </a:p>
          <a:p>
            <a:endParaRPr lang="en-US" altLang="ko-KR" sz="1600" dirty="0" smtClean="0">
              <a:latin typeface="+mn-ea"/>
            </a:endParaRPr>
          </a:p>
          <a:p>
            <a:endParaRPr lang="en-US" altLang="ko-KR" sz="1600" dirty="0" smtClean="0">
              <a:latin typeface="+mn-ea"/>
            </a:endParaRPr>
          </a:p>
          <a:p>
            <a:pPr marL="0" indent="0">
              <a:buNone/>
            </a:pPr>
            <a:endParaRPr lang="en-US" altLang="ko-KR" sz="1600" dirty="0" smtClean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1784" y="1397536"/>
            <a:ext cx="9036496" cy="44797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r>
              <a:rPr lang="en-US" altLang="ko-KR" sz="900" dirty="0">
                <a:latin typeface="+mn-ea"/>
              </a:rPr>
              <a:t>[2026-04-12 02:00:17,240] F (</a:t>
            </a:r>
            <a:r>
              <a:rPr lang="en-US" altLang="ko-KR" sz="900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request:710</a:t>
            </a:r>
            <a:r>
              <a:rPr lang="en-US" altLang="ko-KR" sz="90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,</a:t>
            </a:r>
            <a:r>
              <a:rPr lang="en-US" altLang="ko-KR" sz="900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response:18</a:t>
            </a:r>
            <a:r>
              <a:rPr lang="en-US" altLang="ko-KR" sz="900" dirty="0">
                <a:latin typeface="+mn-ea"/>
              </a:rPr>
              <a:t>,client[172.24.0.7:53564]</a:t>
            </a:r>
            <a:r>
              <a:rPr lang="en-US" altLang="ko-KR" sz="900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,elapsed_time:2071ms</a:t>
            </a:r>
            <a:r>
              <a:rPr lang="en-US" altLang="ko-KR" sz="900" dirty="0">
                <a:latin typeface="+mn-ea"/>
              </a:rPr>
              <a:t>,status_code:500</a:t>
            </a:r>
            <a:r>
              <a:rPr lang="en-US" altLang="ko-KR" sz="900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,error_msg:"Permission denied."</a:t>
            </a:r>
            <a:r>
              <a:rPr lang="en-US" altLang="ko-KR" sz="900" dirty="0">
                <a:latin typeface="+mn-ea"/>
              </a:rPr>
              <a:t>) &gt;&gt;&gt;&gt;&gt;&gt;&gt;&gt;&gt;&gt;&gt;&gt;&gt;</a:t>
            </a:r>
          </a:p>
          <a:p>
            <a:r>
              <a:rPr lang="en-US" altLang="ko-KR" sz="900" dirty="0">
                <a:latin typeface="+mn-ea"/>
              </a:rPr>
              <a:t>GET /search5?select=chunk%2C%20cid%2C%20prev_cid%2C%20next_cid%2C%20title%2C%20pgno%2C%20uuid%2C%20url&amp;from=</a:t>
            </a:r>
            <a:r>
              <a:rPr lang="en-US" altLang="ko-KR" sz="900" dirty="0" err="1">
                <a:latin typeface="+mn-ea"/>
              </a:rPr>
              <a:t>ragx_iris.tabc&amp;where</a:t>
            </a:r>
            <a:r>
              <a:rPr lang="en-US" altLang="ko-KR" sz="900" dirty="0">
                <a:latin typeface="+mn-ea"/>
              </a:rPr>
              <a:t>=%28chunk%3D%27ENT-12%20%EB%AA%A8%EB%8D%B8%EC%97%90%EC%84%9C%20%EC%8B%9C%EC%8A%A4%ED%85%9C%20%ED%94%84%EB%A1%AC%ED%94%84%ED%8A%B8%EB%A5%BC%20%EC%98%81%EC%96%B4%EC%99%80%20%ED%95%9C%EA%B8%80%20%EC%A4%91%20%EC%96%B4%EB%8A%90%20%EC%96%B8%EC%96%B4%EB%A1%9C%20%EC%9E%91%EC%84%B1%ED%95%A0%20%EA%B2%BD%EC%9A%B0%20%EB%8B%B5%EB%B3%80%20%EA%B2%B0%EA%B3%BC%20%EB%B0%8F%20%EC%84%B1%EB%8A%A5%EC%9D%B4%20%EB%8D%94%20%EC%A2%8B%EC%9D%80%EA%B0%80%EC%9A%94%3F%27%20natural%29%20-%20%28%24relscore%20%3C%200.0%29%20order%20by%20%24RELEVANCE%20desc&amp;default-hilite=</a:t>
            </a:r>
            <a:r>
              <a:rPr lang="en-US" altLang="ko-KR" sz="900" dirty="0" err="1">
                <a:latin typeface="+mn-ea"/>
              </a:rPr>
              <a:t>off&amp;offset</a:t>
            </a:r>
            <a:r>
              <a:rPr lang="en-US" altLang="ko-KR" sz="900" dirty="0">
                <a:latin typeface="+mn-ea"/>
              </a:rPr>
              <a:t>=0&amp;limit=30&amp;pagelength=10000</a:t>
            </a:r>
          </a:p>
          <a:p>
            <a:r>
              <a:rPr lang="en-US" altLang="ko-KR" sz="900" dirty="0">
                <a:latin typeface="+mn-ea"/>
              </a:rPr>
              <a:t>&lt;&lt;&lt;&lt;&lt;&lt;&lt;&lt;&lt;&lt;&lt;&lt;&lt;</a:t>
            </a:r>
          </a:p>
          <a:p>
            <a:r>
              <a:rPr lang="en-US" altLang="ko-KR" sz="900" dirty="0">
                <a:latin typeface="+mn-ea"/>
              </a:rPr>
              <a:t>[2026-04-12 02:00:12,960] S (request:1772,response:117884,client[172.24.0.7:53552],elapsed_time:6842ms,status_code:200) &gt;&gt;&gt;&gt;&gt;&gt;&gt;&gt;&gt;&gt;&gt;&gt;&gt;</a:t>
            </a:r>
          </a:p>
          <a:p>
            <a:r>
              <a:rPr lang="en-US" altLang="ko-KR" sz="900" dirty="0">
                <a:latin typeface="+mn-ea"/>
              </a:rPr>
              <a:t>GET /</a:t>
            </a:r>
            <a:r>
              <a:rPr lang="en-US" altLang="ko-KR" sz="900" dirty="0" err="1">
                <a:latin typeface="+mn-ea"/>
              </a:rPr>
              <a:t>ksm</a:t>
            </a:r>
            <a:r>
              <a:rPr lang="en-US" altLang="ko-KR" sz="900" dirty="0">
                <a:latin typeface="+mn-ea"/>
              </a:rPr>
              <a:t>/rag/v5/</a:t>
            </a:r>
            <a:r>
              <a:rPr lang="en-US" altLang="ko-KR" sz="900" dirty="0" err="1">
                <a:latin typeface="+mn-ea"/>
              </a:rPr>
              <a:t>search?text</a:t>
            </a:r>
            <a:r>
              <a:rPr lang="en-US" altLang="ko-KR" sz="900" dirty="0">
                <a:latin typeface="+mn-ea"/>
              </a:rPr>
              <a:t>=ENT-12%20%EB%AA%A8%EB%8D%B8%EC%97%90%EC%84%9C%20%EC%8B%9C%EC%8A%A4%ED%85%9C%20%ED%94%84%EB%A1%AC%ED%94%84%ED%8A%B8%EB%A5%BC%20%EC%98%81%EC%96%B4%EC%99%80%20%ED%95%9C%EA%B8%80%20%EC%A4%91%20%EC%96%B4%EB%8A%90%20%EC%96%B8%EC%96%B4%EB%A1%9C%20%EC%9E%91%EC%84%B1%ED%95%A0%20%EA%B2%BD%EC%9A%B0%20%EB%8B%B5%EB%B3%80%20%EA%B2%B0%EA%B3%BC%20%EB%B0%8F%20%EC%84%B1%EB%8A%A5%EC%9D%B4%20%EB%8D%94%20%EC%A2%8B%EC%9D%80%EA%B0%80%EC%9A%94%3F&amp;topk=30&amp;rr=0&amp;threshold=1.0&amp;embedding=embedding-10&amp;llmyn=0&amp;vk=1&amp;relscore=0.0&amp;vols=ragx_iris%2Cragx_zeus%2Cragx_hera&amp;userid=&amp;</a:t>
            </a:r>
            <a:r>
              <a:rPr lang="en-US" altLang="ko-KR" sz="900" dirty="0" err="1">
                <a:latin typeface="+mn-ea"/>
              </a:rPr>
              <a:t>customfields</a:t>
            </a:r>
            <a:r>
              <a:rPr lang="en-US" altLang="ko-KR" sz="900" dirty="0">
                <a:latin typeface="+mn-ea"/>
              </a:rPr>
              <a:t>=</a:t>
            </a:r>
            <a:r>
              <a:rPr lang="en-US" altLang="ko-KR" sz="900" dirty="0" err="1">
                <a:latin typeface="+mn-ea"/>
              </a:rPr>
              <a:t>url</a:t>
            </a:r>
            <a:endParaRPr lang="en-US" altLang="ko-KR" sz="900" dirty="0">
              <a:latin typeface="+mn-ea"/>
            </a:endParaRPr>
          </a:p>
          <a:p>
            <a:r>
              <a:rPr lang="en-US" altLang="ko-KR" sz="900" dirty="0">
                <a:latin typeface="+mn-ea"/>
              </a:rPr>
              <a:t>import rag;</a:t>
            </a:r>
          </a:p>
          <a:p>
            <a:r>
              <a:rPr lang="en-US" altLang="ko-KR" sz="900" dirty="0">
                <a:latin typeface="+mn-ea"/>
              </a:rPr>
              <a:t>string </a:t>
            </a:r>
            <a:r>
              <a:rPr lang="en-US" altLang="ko-KR" sz="900" dirty="0" err="1">
                <a:latin typeface="+mn-ea"/>
              </a:rPr>
              <a:t>post_data</a:t>
            </a:r>
            <a:r>
              <a:rPr lang="en-US" altLang="ko-KR" sz="900" dirty="0">
                <a:latin typeface="+mn-ea"/>
              </a:rPr>
              <a:t> = '';</a:t>
            </a:r>
          </a:p>
          <a:p>
            <a:r>
              <a:rPr lang="en-US" altLang="ko-KR" sz="900" dirty="0">
                <a:latin typeface="+mn-ea"/>
              </a:rPr>
              <a:t>void main() {</a:t>
            </a:r>
          </a:p>
          <a:p>
            <a:r>
              <a:rPr lang="en-US" altLang="ko-KR" sz="900" dirty="0">
                <a:latin typeface="+mn-ea"/>
              </a:rPr>
              <a:t>  </a:t>
            </a:r>
            <a:r>
              <a:rPr lang="en-US" altLang="ko-KR" sz="900" dirty="0" err="1">
                <a:latin typeface="+mn-ea"/>
              </a:rPr>
              <a:t>printf</a:t>
            </a:r>
            <a:r>
              <a:rPr lang="en-US" altLang="ko-KR" sz="900" dirty="0">
                <a:latin typeface="+mn-ea"/>
              </a:rPr>
              <a:t>('%s', rest('GET','/</a:t>
            </a:r>
            <a:r>
              <a:rPr lang="en-US" altLang="ko-KR" sz="900" dirty="0" err="1">
                <a:latin typeface="+mn-ea"/>
              </a:rPr>
              <a:t>ksm</a:t>
            </a:r>
            <a:r>
              <a:rPr lang="en-US" altLang="ko-KR" sz="900" dirty="0">
                <a:latin typeface="+mn-ea"/>
              </a:rPr>
              <a:t>/rag/v5/search',{'URI':'/</a:t>
            </a:r>
            <a:r>
              <a:rPr lang="en-US" altLang="ko-KR" sz="900" dirty="0" err="1">
                <a:latin typeface="+mn-ea"/>
              </a:rPr>
              <a:t>ksm</a:t>
            </a:r>
            <a:r>
              <a:rPr lang="en-US" altLang="ko-KR" sz="900" dirty="0">
                <a:latin typeface="+mn-ea"/>
              </a:rPr>
              <a:t>/rag/v5/search','DAEMON_THREAD_ID':'w0','text':'ENT-12 </a:t>
            </a:r>
            <a:r>
              <a:rPr lang="ko-KR" altLang="en-US" sz="900" dirty="0">
                <a:latin typeface="+mn-ea"/>
              </a:rPr>
              <a:t>모델에서 시스템 프롬프트를 영어와 한글 중 어느 언어로 작성</a:t>
            </a:r>
            <a:r>
              <a:rPr lang="en-US" altLang="ko-KR" sz="900" dirty="0">
                <a:latin typeface="+mn-ea"/>
              </a:rPr>
              <a:t>&gt;</a:t>
            </a:r>
            <a:r>
              <a:rPr lang="ko-KR" altLang="en-US" sz="900" dirty="0">
                <a:latin typeface="+mn-ea"/>
              </a:rPr>
              <a:t>할 경우 답변 결과 및 성능이 더 좋은가요</a:t>
            </a:r>
            <a:r>
              <a:rPr lang="en-US" altLang="ko-KR" sz="900" dirty="0">
                <a:latin typeface="+mn-ea"/>
              </a:rPr>
              <a:t>?','topk':'30','rr':'0','threshold':'1.0','embedding':'embedding-10','llmyn':'0','vk':'1','relscore':'0.0','vols':'ragx_iris,ragx_zeus,ragx_hera','userid':'','customfields':'url','SERVER_IP':'172.24.0.2','SERVER_PORT':7577,'CLIENT_IP':'172.24.0.7','CLIENT_PORT':53552,'HOST':'kylin-search-network:7577','credential':'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*','</a:t>
            </a:r>
            <a:r>
              <a:rPr lang="en-US" altLang="ko-KR" sz="900" dirty="0" err="1">
                <a:latin typeface="+mn-ea"/>
              </a:rPr>
              <a:t>protocol':'HTTPS</a:t>
            </a:r>
            <a:r>
              <a:rPr lang="en-US" altLang="ko-KR" sz="900" dirty="0">
                <a:latin typeface="+mn-ea"/>
              </a:rPr>
              <a:t>'},</a:t>
            </a:r>
            <a:r>
              <a:rPr lang="en-US" altLang="ko-KR" sz="900" dirty="0" err="1">
                <a:latin typeface="+mn-ea"/>
              </a:rPr>
              <a:t>post_data</a:t>
            </a:r>
            <a:r>
              <a:rPr lang="en-US" altLang="ko-KR" sz="900" dirty="0">
                <a:latin typeface="+mn-ea"/>
              </a:rPr>
              <a:t>));</a:t>
            </a:r>
          </a:p>
          <a:p>
            <a:r>
              <a:rPr lang="en-US" altLang="ko-KR" sz="900" dirty="0">
                <a:latin typeface="+mn-ea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60" y="1439198"/>
            <a:ext cx="55996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요청 크기</a:t>
            </a:r>
            <a:r>
              <a:rPr lang="en-US" altLang="ko-KR" sz="105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, </a:t>
            </a:r>
            <a:r>
              <a:rPr lang="ko-KR" altLang="en-US" sz="105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응답 크기</a:t>
            </a:r>
            <a:r>
              <a:rPr lang="en-US" altLang="ko-KR" sz="105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,                         </a:t>
            </a:r>
            <a:r>
              <a:rPr lang="ko-KR" altLang="en-US" sz="105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소요 시간</a:t>
            </a:r>
            <a:r>
              <a:rPr lang="en-US" altLang="ko-KR" sz="105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(</a:t>
            </a:r>
            <a:r>
              <a:rPr lang="en-US" altLang="ko-KR" sz="1050" b="1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msec</a:t>
            </a:r>
            <a:r>
              <a:rPr lang="en-US" altLang="ko-KR" sz="105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),                    </a:t>
            </a:r>
            <a:r>
              <a:rPr lang="ko-KR" altLang="en-US" sz="105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오류 </a:t>
            </a:r>
            <a:r>
              <a:rPr lang="ko-KR" altLang="en-US" sz="1050" b="1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메세지</a:t>
            </a:r>
            <a:endParaRPr lang="ko-KR" altLang="en-US" sz="1050" b="1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0429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■ </a:t>
            </a:r>
            <a:r>
              <a:rPr lang="ko-KR" altLang="en-US" dirty="0" smtClean="0"/>
              <a:t>검색 로그 </a:t>
            </a:r>
            <a:r>
              <a:rPr lang="en-US" altLang="ko-KR" dirty="0" smtClean="0"/>
              <a:t>– sys.log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12460" y="1052736"/>
            <a:ext cx="8229600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600" b="1" dirty="0"/>
              <a:t>검색엔진의 운영 상태를 </a:t>
            </a:r>
            <a:r>
              <a:rPr lang="en-US" altLang="ko-KR" sz="1600" b="1" dirty="0"/>
              <a:t>1</a:t>
            </a:r>
            <a:r>
              <a:rPr lang="ko-KR" altLang="en-US" sz="1600" b="1" dirty="0"/>
              <a:t>초 단위로 </a:t>
            </a:r>
            <a:r>
              <a:rPr lang="ko-KR" altLang="en-US" sz="1600" b="1" dirty="0" smtClean="0"/>
              <a:t>기록</a:t>
            </a:r>
            <a:r>
              <a:rPr lang="en-US" altLang="ko-KR" sz="1600" dirty="0" smtClean="0"/>
              <a:t/>
            </a:r>
            <a:br>
              <a:rPr lang="en-US" altLang="ko-KR" sz="1600" dirty="0" smtClean="0"/>
            </a:br>
            <a:r>
              <a:rPr lang="en-US" altLang="ko-KR" sz="1600" dirty="0" err="1" smtClean="0"/>
              <a:t>recv</a:t>
            </a:r>
            <a:r>
              <a:rPr lang="en-US" altLang="ko-KR" sz="1600" dirty="0" smtClean="0"/>
              <a:t> </a:t>
            </a:r>
            <a:r>
              <a:rPr lang="en-US" altLang="ko-KR" sz="1600" dirty="0"/>
              <a:t>/ </a:t>
            </a:r>
            <a:r>
              <a:rPr lang="en-US" altLang="ko-KR" sz="1600" dirty="0" err="1"/>
              <a:t>acpt</a:t>
            </a:r>
            <a:r>
              <a:rPr lang="en-US" altLang="ko-KR" sz="1600" dirty="0"/>
              <a:t> / work / send </a:t>
            </a:r>
            <a:r>
              <a:rPr lang="ko-KR" altLang="en-US" sz="1600" dirty="0" err="1"/>
              <a:t>스레드와</a:t>
            </a:r>
            <a:r>
              <a:rPr lang="ko-KR" altLang="en-US" sz="1600" dirty="0"/>
              <a:t> 각 큐</a:t>
            </a:r>
            <a:r>
              <a:rPr lang="en-US" altLang="ko-KR" sz="1600" dirty="0"/>
              <a:t>(queue)</a:t>
            </a:r>
            <a:r>
              <a:rPr lang="ko-KR" altLang="en-US" sz="1600" dirty="0"/>
              <a:t>의 현황을 실시간으로 확인할 수 있다</a:t>
            </a:r>
            <a:r>
              <a:rPr lang="en-US" altLang="ko-KR" sz="1600" dirty="0" smtClean="0"/>
              <a:t>.</a:t>
            </a:r>
          </a:p>
          <a:p>
            <a:pPr marL="0" indent="0">
              <a:buNone/>
            </a:pPr>
            <a:endParaRPr lang="en-US" altLang="ko-KR" sz="1600" dirty="0" smtClean="0"/>
          </a:p>
          <a:p>
            <a:r>
              <a:rPr lang="ko-KR" altLang="en-US" sz="1600" b="1" dirty="0" smtClean="0"/>
              <a:t>주요 </a:t>
            </a:r>
            <a:r>
              <a:rPr lang="ko-KR" altLang="en-US" sz="1600" b="1" dirty="0"/>
              <a:t>확인 항목</a:t>
            </a:r>
            <a:endParaRPr lang="ko-KR" altLang="en-US" sz="1600" dirty="0"/>
          </a:p>
          <a:p>
            <a:pPr lvl="1"/>
            <a:r>
              <a:rPr lang="ko-KR" altLang="en-US" sz="1400" b="1" dirty="0" err="1"/>
              <a:t>스레드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&amp; </a:t>
            </a:r>
            <a:r>
              <a:rPr lang="ko-KR" altLang="en-US" sz="1400" b="1" dirty="0"/>
              <a:t>큐 현황</a:t>
            </a:r>
            <a:r>
              <a:rPr lang="ko-KR" altLang="en-US" sz="1400" dirty="0"/>
              <a:t> </a:t>
            </a:r>
            <a:r>
              <a:rPr lang="en-US" altLang="ko-KR" sz="1400" dirty="0"/>
              <a:t>— </a:t>
            </a:r>
            <a:r>
              <a:rPr lang="en-US" altLang="ko-KR" sz="1400" dirty="0" err="1"/>
              <a:t>recv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acpt</a:t>
            </a:r>
            <a:r>
              <a:rPr lang="en-US" altLang="ko-KR" sz="1400" dirty="0"/>
              <a:t>, work, send </a:t>
            </a:r>
            <a:r>
              <a:rPr lang="ko-KR" altLang="en-US" sz="1400" dirty="0"/>
              <a:t>각 </a:t>
            </a:r>
            <a:r>
              <a:rPr lang="ko-KR" altLang="en-US" sz="1400" dirty="0" err="1"/>
              <a:t>스레드의</a:t>
            </a:r>
            <a:r>
              <a:rPr lang="ko-KR" altLang="en-US" sz="1400" dirty="0"/>
              <a:t> 처리 상태와 대기 중인 요청 수를 통해 검색엔진 레벨의 부하 파악</a:t>
            </a:r>
          </a:p>
          <a:p>
            <a:pPr lvl="1"/>
            <a:r>
              <a:rPr lang="en-US" altLang="ko-KR" sz="1400" b="1" dirty="0"/>
              <a:t>Load Average</a:t>
            </a:r>
            <a:r>
              <a:rPr lang="ko-KR" altLang="en-US" sz="1400" dirty="0"/>
              <a:t> </a:t>
            </a:r>
            <a:r>
              <a:rPr lang="en-US" altLang="ko-KR" sz="1400" dirty="0"/>
              <a:t>— </a:t>
            </a:r>
            <a:r>
              <a:rPr lang="ko-KR" altLang="en-US" sz="1400" dirty="0"/>
              <a:t>검색엔진 프로세스의 </a:t>
            </a:r>
            <a:r>
              <a:rPr lang="en-US" altLang="ko-KR" sz="1400" dirty="0"/>
              <a:t>CPU </a:t>
            </a:r>
            <a:r>
              <a:rPr lang="ko-KR" altLang="en-US" sz="1400" dirty="0"/>
              <a:t>사용률</a:t>
            </a:r>
            <a:r>
              <a:rPr lang="en-US" altLang="ko-KR" sz="1400" dirty="0"/>
              <a:t>, </a:t>
            </a:r>
            <a:r>
              <a:rPr lang="ko-KR" altLang="en-US" sz="1400" dirty="0"/>
              <a:t>초당 쿼리 수</a:t>
            </a:r>
            <a:r>
              <a:rPr lang="en-US" altLang="ko-KR" sz="1400" dirty="0"/>
              <a:t>(</a:t>
            </a:r>
            <a:r>
              <a:rPr lang="en-US" altLang="ko-KR" sz="1400" dirty="0" err="1"/>
              <a:t>query_per_sec</a:t>
            </a:r>
            <a:r>
              <a:rPr lang="en-US" altLang="ko-KR" sz="1400" dirty="0"/>
              <a:t>), </a:t>
            </a:r>
            <a:r>
              <a:rPr lang="ko-KR" altLang="en-US" sz="1400" dirty="0"/>
              <a:t>평균 응답시간</a:t>
            </a:r>
            <a:r>
              <a:rPr lang="en-US" altLang="ko-KR" sz="1400" dirty="0"/>
              <a:t>(</a:t>
            </a:r>
            <a:r>
              <a:rPr lang="en-US" altLang="ko-KR" sz="1400" dirty="0" err="1"/>
              <a:t>avg_rsp_time</a:t>
            </a:r>
            <a:r>
              <a:rPr lang="en-US" altLang="ko-KR" sz="1400" dirty="0"/>
              <a:t>)</a:t>
            </a:r>
            <a:r>
              <a:rPr lang="ko-KR" altLang="en-US" sz="1400" dirty="0"/>
              <a:t>을 주기적으로 기록 </a:t>
            </a:r>
            <a:endParaRPr lang="en-US" altLang="ko-KR" sz="1400" dirty="0" smtClean="0"/>
          </a:p>
          <a:p>
            <a:pPr lvl="1"/>
            <a:endParaRPr lang="en-US" altLang="ko-KR" sz="1400" dirty="0" smtClean="0"/>
          </a:p>
          <a:p>
            <a:r>
              <a:rPr lang="ko-KR" altLang="en-US" sz="1600" b="1" dirty="0" smtClean="0"/>
              <a:t>운영 판단 포인트</a:t>
            </a:r>
            <a:endParaRPr lang="ko-KR" altLang="en-US" sz="1600" dirty="0" smtClean="0"/>
          </a:p>
          <a:p>
            <a:pPr lvl="1"/>
            <a:r>
              <a:rPr lang="ko-KR" altLang="en-US" sz="1400" dirty="0" smtClean="0"/>
              <a:t>검색 </a:t>
            </a:r>
            <a:r>
              <a:rPr lang="ko-KR" altLang="en-US" sz="1400" dirty="0"/>
              <a:t>응답이 지연되는 상황에서 </a:t>
            </a:r>
            <a:r>
              <a:rPr lang="en-US" altLang="ko-KR" sz="1400" dirty="0" err="1" smtClean="0"/>
              <a:t>Recv</a:t>
            </a:r>
            <a:r>
              <a:rPr lang="en-US" altLang="ko-KR" sz="1400" dirty="0" smtClean="0"/>
              <a:t> queue</a:t>
            </a:r>
            <a:r>
              <a:rPr lang="ko-KR" altLang="en-US" sz="1400" dirty="0"/>
              <a:t>에 요청이 쌓이고 있다면</a:t>
            </a:r>
            <a:r>
              <a:rPr lang="en-US" altLang="ko-KR" sz="1400" dirty="0"/>
              <a:t>, 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work </a:t>
            </a:r>
            <a:r>
              <a:rPr lang="ko-KR" altLang="en-US" sz="1400" dirty="0" err="1"/>
              <a:t>스레드</a:t>
            </a:r>
            <a:r>
              <a:rPr lang="ko-KR" altLang="en-US" sz="1400" dirty="0"/>
              <a:t> 수 증설을 검토해야 한다</a:t>
            </a:r>
            <a:r>
              <a:rPr lang="en-US" altLang="ko-KR" sz="1400" dirty="0"/>
              <a:t>. </a:t>
            </a:r>
            <a:r>
              <a:rPr lang="ko-KR" altLang="en-US" sz="1400" dirty="0"/>
              <a:t>큐 적체는 처리 용량 부족의 신호다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 smtClean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8717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■ </a:t>
            </a:r>
            <a:r>
              <a:rPr lang="ko-KR" altLang="en-US" dirty="0" smtClean="0"/>
              <a:t>검색 로그 </a:t>
            </a:r>
            <a:r>
              <a:rPr lang="en-US" altLang="ko-KR" dirty="0" smtClean="0"/>
              <a:t>– sys.log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488916" y="1052736"/>
            <a:ext cx="7941056" cy="20162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r>
              <a:rPr lang="en-US" altLang="ko-KR" sz="900" dirty="0">
                <a:latin typeface="+mn-ea"/>
              </a:rPr>
              <a:t>[2026-04-12 00:00:00,783] STATUS Q:A(0/400),R(0/400,0/200),S(0/400),w(0/2000) T:A(0/2),R(0/2),W(0/4),S(0/2),C(0/1),w(0/8) R(6) P(1146,2385)</a:t>
            </a:r>
          </a:p>
          <a:p>
            <a:r>
              <a:rPr lang="en-US" altLang="ko-KR" sz="900" dirty="0">
                <a:latin typeface="+mn-ea"/>
              </a:rPr>
              <a:t>[2026-04-12 00:00:01,784] STATUS Q:A(0/400),R(0/400,0/200),S(0/400),w(0/2000) T:A(0/2),R(0/2),W(0/4),S(0/2),C(0/1),w(0/8) R(0) P(0,0)</a:t>
            </a:r>
          </a:p>
          <a:p>
            <a:r>
              <a:rPr lang="en-US" altLang="ko-KR" sz="900" dirty="0">
                <a:latin typeface="+mn-ea"/>
              </a:rPr>
              <a:t>[2026-04-12 00:00:02,784] STATUS Q:A(0/400),R(0/400,0/200),S(0/400),w(0/2000) T:A(0/2),R(0/2),W(0/4),S(0/2),C(0/1),w(0/8) R(0) P(0,0)</a:t>
            </a:r>
          </a:p>
          <a:p>
            <a:r>
              <a:rPr lang="en-US" altLang="ko-KR" sz="900" dirty="0">
                <a:latin typeface="+mn-ea"/>
              </a:rPr>
              <a:t>[2026-04-12 00:00:03,785] STATUS Q:A(0/400),R(0/400,0/200),S(0/400),w(0/2000) T:A(0/2),R(0/2),W(0/4),S(0/2),C(0/1),w(0/8) R(0) P(0,0)</a:t>
            </a:r>
          </a:p>
          <a:p>
            <a:r>
              <a:rPr lang="en-US" altLang="ko-KR" sz="900" dirty="0">
                <a:latin typeface="+mn-ea"/>
              </a:rPr>
              <a:t>[2026-04-12 00:00:04,786] STATUS Q:A(0/400),R(0/400,0/200),S(0/400),w(0/2000) T:A(0/2),R(0/2),W(0/4),S(0/2),C(0/1),w(0/8) R(0) P(0,0)</a:t>
            </a:r>
          </a:p>
          <a:p>
            <a:r>
              <a:rPr lang="en-US" altLang="ko-KR" sz="900" dirty="0">
                <a:latin typeface="+mn-ea"/>
              </a:rPr>
              <a:t>[2026-04-12 00:00:05,786] STATUS Q:A(0/400),R(0/400,0/200),S(0/400),w(0/2000) T:A(0/2),R(0/2),W(0/4),S(0/2),C(0/1),w(0/8) R(0) P(0,0)</a:t>
            </a:r>
          </a:p>
          <a:p>
            <a:r>
              <a:rPr lang="en-US" altLang="ko-KR" sz="900" dirty="0">
                <a:latin typeface="+mn-ea"/>
              </a:rPr>
              <a:t>[2026-04-12 00:00:06,787] STATUS Q:A(0/400),R(0/400,0/200),S(0/400),w(0/2000) T:A(0/2),R(0/2),W(0/4),S(0/2),C(0/1),w(0/8) R(1) P(18,140)</a:t>
            </a:r>
          </a:p>
          <a:p>
            <a:r>
              <a:rPr lang="en-US" altLang="ko-KR" sz="900" dirty="0">
                <a:latin typeface="+mn-ea"/>
              </a:rPr>
              <a:t>[2026-04-12 00:00:07,787] STATUS Q:A(0/400),R(0/400,0/200),S(0/400),w(0/2000) T:A(0/2),R(0/2),W(0/4),S(0/2),C(0/1),w(0/8) R(0) P(0,0)</a:t>
            </a:r>
          </a:p>
          <a:p>
            <a:r>
              <a:rPr lang="en-US" altLang="ko-KR" sz="900" dirty="0">
                <a:latin typeface="+mn-ea"/>
              </a:rPr>
              <a:t>[2026-04-12 00:00:08,787] STATUS Q:A(0/400),R(0/400,0/200),S(0/400),w(0/2000) T:A(0/2),R(0/2),W(0/4),S(0/2),C(0/1),w(0/8) R(1) P(89,1604)</a:t>
            </a:r>
          </a:p>
          <a:p>
            <a:r>
              <a:rPr lang="en-US" altLang="ko-KR" sz="900" dirty="0">
                <a:latin typeface="+mn-ea"/>
              </a:rPr>
              <a:t>[2026-04-12 00:00:09,788] STATUS Q:A(0/400),R(0/400,0/200),S(0/400),w(0/2000) T:A(0/2),R(0/2),W(0/4),S(0/2),C(0/1),w(0/8) R(0) P(0,0)</a:t>
            </a:r>
          </a:p>
          <a:p>
            <a:r>
              <a:rPr lang="en-US" altLang="ko-KR" sz="900" dirty="0">
                <a:latin typeface="+mn-ea"/>
              </a:rPr>
              <a:t>[2026-04-12 00:00:09,788] Load average:0.7% (normal, query_per_sec:0.6000, avg_rsp_time:0.0457 sec)</a:t>
            </a:r>
          </a:p>
          <a:p>
            <a:r>
              <a:rPr lang="en-US" altLang="ko-KR" sz="900" dirty="0">
                <a:latin typeface="+mn-ea"/>
              </a:rPr>
              <a:t>[2026-04-12 00:00:10,789] STATUS Q:A(0/400),R(0/400,0/200),S(0/400),w(0/2000) T:A(0/2),R(0/2),W(0/4),S(0/2),C(0/1),w(0/8) R(0) P(0,0)</a:t>
            </a:r>
          </a:p>
          <a:p>
            <a:r>
              <a:rPr lang="en-US" altLang="ko-KR" sz="900" dirty="0">
                <a:latin typeface="+mn-ea"/>
              </a:rPr>
              <a:t>[2026-04-12 00:00:11,790] STATUS Q:A(0/400),R(0/400,0/200),S(0/400),w(0/2000) T:A(0/2),R(0/2),W(0/4),S(0/2),C(0/1),w(0/8) R(0) P(0,0)</a:t>
            </a:r>
          </a:p>
          <a:p>
            <a:r>
              <a:rPr lang="en-US" altLang="ko-KR" sz="900" dirty="0">
                <a:latin typeface="+mn-ea"/>
              </a:rPr>
              <a:t>[2026-04-12 00:00:12,790] STATUS Q:A(0/400),R(0/400,0/200),S(0/400),w(0/2000) T:A(0/2),R(0/2),W(0/4),S(0/2),C(0/1),w(0/8) R(0) P(0,0)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464718" y="1085602"/>
            <a:ext cx="2336006" cy="1779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840982" y="1090836"/>
            <a:ext cx="3096344" cy="1779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순서도: 종속 처리 8"/>
          <p:cNvSpPr/>
          <p:nvPr/>
        </p:nvSpPr>
        <p:spPr>
          <a:xfrm>
            <a:off x="2123728" y="3433001"/>
            <a:ext cx="1305816" cy="383664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+mn-ea"/>
              </a:rPr>
              <a:t>A</a:t>
            </a:r>
            <a:r>
              <a:rPr lang="en-US" altLang="ko-KR" sz="1200" dirty="0" smtClean="0">
                <a:latin typeface="+mn-ea"/>
              </a:rPr>
              <a:t>ccept Queue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1" name="순서도: 종속 처리 10"/>
          <p:cNvSpPr/>
          <p:nvPr/>
        </p:nvSpPr>
        <p:spPr>
          <a:xfrm>
            <a:off x="3995936" y="3443285"/>
            <a:ext cx="1306800" cy="385200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+mn-ea"/>
              </a:rPr>
              <a:t>R</a:t>
            </a:r>
            <a:r>
              <a:rPr lang="en-US" altLang="ko-KR" sz="1200" dirty="0" smtClean="0">
                <a:latin typeface="+mn-ea"/>
              </a:rPr>
              <a:t>eceive Queue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2" name="순서도: 종속 처리 11"/>
          <p:cNvSpPr/>
          <p:nvPr/>
        </p:nvSpPr>
        <p:spPr>
          <a:xfrm>
            <a:off x="5868144" y="3429000"/>
            <a:ext cx="1306800" cy="383664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+mn-ea"/>
              </a:rPr>
              <a:t>S</a:t>
            </a:r>
            <a:r>
              <a:rPr lang="en-US" altLang="ko-KR" sz="1200" dirty="0" smtClean="0">
                <a:latin typeface="+mn-ea"/>
              </a:rPr>
              <a:t>end Queue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295423" y="4183704"/>
            <a:ext cx="1032773" cy="68786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+mn-ea"/>
              </a:rPr>
              <a:t>A</a:t>
            </a:r>
            <a:r>
              <a:rPr lang="en-US" altLang="ko-KR" sz="12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rPr>
              <a:t>ccept</a:t>
            </a:r>
          </a:p>
          <a:p>
            <a:pPr algn="ctr"/>
            <a:r>
              <a:rPr lang="en-US" altLang="ko-KR" sz="12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rPr>
              <a:t>Thread</a:t>
            </a:r>
            <a:endParaRPr lang="ko-KR" altLang="en-US" sz="1200" dirty="0">
              <a:solidFill>
                <a:schemeClr val="tx1">
                  <a:lumMod val="90000"/>
                  <a:lumOff val="10000"/>
                </a:schemeClr>
              </a:solidFill>
              <a:latin typeface="+mn-ea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3171088" y="4183704"/>
            <a:ext cx="1032773" cy="68786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+mn-ea"/>
              </a:rPr>
              <a:t>R</a:t>
            </a:r>
            <a:r>
              <a:rPr lang="en-US" altLang="ko-KR" sz="12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rPr>
              <a:t>eceive</a:t>
            </a:r>
          </a:p>
          <a:p>
            <a:pPr algn="ctr"/>
            <a:r>
              <a:rPr lang="en-US" altLang="ko-KR" sz="12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rPr>
              <a:t>Thread</a:t>
            </a:r>
            <a:endParaRPr lang="ko-KR" altLang="en-US" sz="1200" dirty="0">
              <a:solidFill>
                <a:schemeClr val="tx1">
                  <a:lumMod val="90000"/>
                  <a:lumOff val="10000"/>
                </a:schemeClr>
              </a:solidFill>
              <a:latin typeface="+mn-ea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046753" y="4183704"/>
            <a:ext cx="1032773" cy="68786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+mn-ea"/>
              </a:rPr>
              <a:t>W</a:t>
            </a:r>
            <a:r>
              <a:rPr lang="en-US" altLang="ko-KR" sz="12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rPr>
              <a:t>ork</a:t>
            </a:r>
          </a:p>
          <a:p>
            <a:pPr algn="ctr"/>
            <a:r>
              <a:rPr lang="en-US" altLang="ko-KR" sz="12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rPr>
              <a:t>Thread</a:t>
            </a:r>
            <a:endParaRPr lang="ko-KR" altLang="en-US" sz="1200" dirty="0">
              <a:solidFill>
                <a:schemeClr val="tx1">
                  <a:lumMod val="90000"/>
                  <a:lumOff val="10000"/>
                </a:schemeClr>
              </a:solidFill>
              <a:latin typeface="+mn-ea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6922417" y="4183704"/>
            <a:ext cx="1032773" cy="68786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+mn-ea"/>
              </a:rPr>
              <a:t>S</a:t>
            </a:r>
            <a:r>
              <a:rPr lang="en-US" altLang="ko-KR" sz="12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rPr>
              <a:t>end</a:t>
            </a:r>
          </a:p>
          <a:p>
            <a:pPr algn="ctr"/>
            <a:r>
              <a:rPr lang="en-US" altLang="ko-KR" sz="12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rPr>
              <a:t>Thread</a:t>
            </a:r>
            <a:endParaRPr lang="ko-KR" altLang="en-US" sz="1200" dirty="0">
              <a:solidFill>
                <a:schemeClr val="tx1">
                  <a:lumMod val="90000"/>
                  <a:lumOff val="10000"/>
                </a:schemeClr>
              </a:solidFill>
              <a:latin typeface="+mn-ea"/>
            </a:endParaRPr>
          </a:p>
        </p:txBody>
      </p:sp>
      <p:sp>
        <p:nvSpPr>
          <p:cNvPr id="30" name="순서도: 종속 처리 29"/>
          <p:cNvSpPr/>
          <p:nvPr/>
        </p:nvSpPr>
        <p:spPr>
          <a:xfrm>
            <a:off x="3458719" y="5330517"/>
            <a:ext cx="1803042" cy="250133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latin typeface="+mn-ea"/>
              </a:rPr>
              <a:t>Pqquery</a:t>
            </a:r>
            <a:r>
              <a:rPr lang="en-US" altLang="ko-KR" sz="1200" dirty="0" smtClean="0">
                <a:latin typeface="+mn-ea"/>
              </a:rPr>
              <a:t> Queue</a:t>
            </a:r>
            <a:endParaRPr lang="ko-KR" altLang="en-US" sz="1200" dirty="0">
              <a:latin typeface="+mn-ea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5580112" y="5285576"/>
            <a:ext cx="1188132" cy="68786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rPr>
              <a:t>(</a:t>
            </a:r>
            <a:r>
              <a:rPr lang="en-US" altLang="ko-KR" sz="1200" b="1" dirty="0" smtClean="0">
                <a:solidFill>
                  <a:srgbClr val="FF0000"/>
                </a:solidFill>
                <a:latin typeface="+mn-ea"/>
              </a:rPr>
              <a:t>w</a:t>
            </a:r>
            <a:r>
              <a:rPr lang="en-US" altLang="ko-KR" sz="12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rPr>
              <a:t>)Parallel Query</a:t>
            </a:r>
          </a:p>
          <a:p>
            <a:pPr algn="ctr"/>
            <a:r>
              <a:rPr lang="en-US" altLang="ko-KR" sz="12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rPr>
              <a:t>Thread</a:t>
            </a:r>
            <a:endParaRPr lang="ko-KR" altLang="en-US" sz="1200" dirty="0">
              <a:solidFill>
                <a:schemeClr val="tx1">
                  <a:lumMod val="90000"/>
                  <a:lumOff val="10000"/>
                </a:schemeClr>
              </a:solidFill>
              <a:latin typeface="+mn-ea"/>
            </a:endParaRPr>
          </a:p>
        </p:txBody>
      </p:sp>
      <p:sp>
        <p:nvSpPr>
          <p:cNvPr id="36" name="순서도: 자기 디스크 35"/>
          <p:cNvSpPr/>
          <p:nvPr/>
        </p:nvSpPr>
        <p:spPr>
          <a:xfrm>
            <a:off x="7146502" y="5293443"/>
            <a:ext cx="737062" cy="688094"/>
          </a:xfrm>
          <a:prstGeom prst="flowChartMagneticDisk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latin typeface="+mn-ea"/>
              </a:rPr>
              <a:t>Volume</a:t>
            </a:r>
            <a:endParaRPr lang="ko-KR" altLang="en-US" sz="1200" dirty="0">
              <a:latin typeface="+mn-ea"/>
            </a:endParaRPr>
          </a:p>
        </p:txBody>
      </p:sp>
      <p:sp>
        <p:nvSpPr>
          <p:cNvPr id="37" name="아래로 구부러진 화살표 36"/>
          <p:cNvSpPr/>
          <p:nvPr/>
        </p:nvSpPr>
        <p:spPr>
          <a:xfrm rot="5400000">
            <a:off x="6694963" y="5484363"/>
            <a:ext cx="524820" cy="378258"/>
          </a:xfrm>
          <a:prstGeom prst="curved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9" name="직선 화살표 연결선 38"/>
          <p:cNvCxnSpPr/>
          <p:nvPr/>
        </p:nvCxnSpPr>
        <p:spPr>
          <a:xfrm flipV="1">
            <a:off x="2195736" y="3828485"/>
            <a:ext cx="0" cy="361732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3347864" y="3828485"/>
            <a:ext cx="0" cy="391647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/>
          <p:nvPr/>
        </p:nvCxnSpPr>
        <p:spPr>
          <a:xfrm flipV="1">
            <a:off x="4067944" y="3816666"/>
            <a:ext cx="0" cy="36703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/>
          <p:nvPr/>
        </p:nvCxnSpPr>
        <p:spPr>
          <a:xfrm>
            <a:off x="5220072" y="3828485"/>
            <a:ext cx="0" cy="392603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/>
          <p:nvPr/>
        </p:nvCxnSpPr>
        <p:spPr>
          <a:xfrm flipV="1">
            <a:off x="5940152" y="3799526"/>
            <a:ext cx="0" cy="38417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>
            <a:off x="7092280" y="3799526"/>
            <a:ext cx="0" cy="40287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>
            <a:off x="5148064" y="4908954"/>
            <a:ext cx="0" cy="421563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stCxn id="30" idx="3"/>
          </p:cNvCxnSpPr>
          <p:nvPr/>
        </p:nvCxnSpPr>
        <p:spPr>
          <a:xfrm flipV="1">
            <a:off x="5261761" y="5455583"/>
            <a:ext cx="318351" cy="1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/>
          <p:nvPr/>
        </p:nvCxnSpPr>
        <p:spPr>
          <a:xfrm flipV="1">
            <a:off x="5967948" y="4864013"/>
            <a:ext cx="0" cy="421563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76" y="4183704"/>
            <a:ext cx="647700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1" name="직선 화살표 연결선 60"/>
          <p:cNvCxnSpPr>
            <a:endCxn id="13" idx="1"/>
          </p:cNvCxnSpPr>
          <p:nvPr/>
        </p:nvCxnSpPr>
        <p:spPr>
          <a:xfrm>
            <a:off x="755576" y="4527637"/>
            <a:ext cx="539847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728" y="4183703"/>
            <a:ext cx="647700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6" name="직선 화살표 연결선 65"/>
          <p:cNvCxnSpPr/>
          <p:nvPr/>
        </p:nvCxnSpPr>
        <p:spPr>
          <a:xfrm>
            <a:off x="7955190" y="4527637"/>
            <a:ext cx="539847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919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</a:t>
            </a:r>
            <a:r>
              <a:rPr lang="ko-KR" altLang="en-US" smtClean="0"/>
              <a:t>검색엔진 최적화 설정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061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검색엔진 최적화 설정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19</a:t>
            </a:fld>
            <a:endParaRPr lang="ko-KR" altLang="en-US" dirty="0">
              <a:latin typeface="+mn-ea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ko-KR" sz="1600" b="1" dirty="0" smtClean="0">
                <a:latin typeface="+mn-ea"/>
              </a:rPr>
              <a:t>Memory </a:t>
            </a:r>
            <a:r>
              <a:rPr lang="ko-KR" altLang="en-US" sz="1600" b="1" dirty="0" smtClean="0">
                <a:latin typeface="+mn-ea"/>
              </a:rPr>
              <a:t>설정</a:t>
            </a:r>
            <a:endParaRPr lang="en-US" altLang="ko-KR" sz="1600" b="1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색인</a:t>
            </a:r>
            <a:r>
              <a:rPr lang="en-US" altLang="ko-KR" sz="1400" dirty="0" smtClean="0">
                <a:latin typeface="+mn-ea"/>
              </a:rPr>
              <a:t>/</a:t>
            </a:r>
            <a:r>
              <a:rPr lang="ko-KR" altLang="en-US" sz="1400" dirty="0" smtClean="0">
                <a:latin typeface="+mn-ea"/>
              </a:rPr>
              <a:t>검색 시 메모리를 충분히 활용하여 색인 속도를 보장할 수 있도록 설정합니다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r>
              <a:rPr lang="ko-KR" altLang="en-US" sz="1400" dirty="0" smtClean="0">
                <a:latin typeface="+mn-ea"/>
              </a:rPr>
              <a:t>서버사양을 참고하여 검색엔진이 사용할 수 있는 메모리크기를 설정해주세요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pPr>
              <a:buNone/>
            </a:pPr>
            <a:endParaRPr lang="en-US" altLang="ko-KR" sz="1400" dirty="0" smtClean="0">
              <a:latin typeface="+mn-ea"/>
            </a:endParaRPr>
          </a:p>
          <a:p>
            <a:pPr>
              <a:buNone/>
            </a:pPr>
            <a:endParaRPr lang="en-US" altLang="ko-KR" sz="1400" dirty="0" smtClean="0">
              <a:latin typeface="+mn-ea"/>
            </a:endParaRPr>
          </a:p>
          <a:p>
            <a:pPr>
              <a:buNone/>
            </a:pPr>
            <a:endParaRPr lang="en-US" altLang="ko-KR" sz="1400" dirty="0" smtClean="0">
              <a:latin typeface="+mn-ea"/>
            </a:endParaRPr>
          </a:p>
          <a:p>
            <a:pPr>
              <a:buNone/>
            </a:pPr>
            <a:endParaRPr lang="en-US" altLang="ko-KR" sz="1400" dirty="0" smtClean="0">
              <a:latin typeface="+mn-ea"/>
            </a:endParaRPr>
          </a:p>
          <a:p>
            <a:pPr>
              <a:buNone/>
            </a:pPr>
            <a:endParaRPr lang="en-US" altLang="ko-KR" sz="1400" dirty="0" smtClean="0">
              <a:latin typeface="+mn-ea"/>
            </a:endParaRPr>
          </a:p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병렬 처리 설정</a:t>
            </a:r>
            <a:endParaRPr lang="en-US" altLang="ko-KR" sz="1600" b="1" dirty="0" smtClean="0">
              <a:latin typeface="+mn-ea"/>
            </a:endParaRPr>
          </a:p>
          <a:p>
            <a:pPr>
              <a:buFontTx/>
              <a:buChar char="-"/>
            </a:pPr>
            <a:r>
              <a:rPr lang="ko-KR" altLang="en-US" sz="1400" dirty="0" smtClean="0">
                <a:latin typeface="+mn-ea"/>
              </a:rPr>
              <a:t>색인 시 </a:t>
            </a:r>
            <a:r>
              <a:rPr lang="en-US" altLang="ko-KR" sz="1400" dirty="0" err="1" smtClean="0">
                <a:latin typeface="+mn-ea"/>
              </a:rPr>
              <a:t>cpu</a:t>
            </a:r>
            <a:r>
              <a:rPr lang="ko-KR" altLang="en-US" sz="1400" dirty="0" smtClean="0">
                <a:latin typeface="+mn-ea"/>
              </a:rPr>
              <a:t>를 최대한 활용하여 병렬 처리할 수 있도록 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pPr>
              <a:buFontTx/>
              <a:buChar char="-"/>
            </a:pPr>
            <a:r>
              <a:rPr lang="ko-KR" altLang="en-US" sz="1400" dirty="0" smtClean="0">
                <a:latin typeface="+mn-ea"/>
              </a:rPr>
              <a:t>검색엔진이 사용할 수 있는 </a:t>
            </a:r>
            <a:r>
              <a:rPr lang="en-US" altLang="ko-KR" sz="1400" dirty="0" smtClean="0">
                <a:latin typeface="+mn-ea"/>
              </a:rPr>
              <a:t>core</a:t>
            </a:r>
            <a:r>
              <a:rPr lang="ko-KR" altLang="en-US" sz="1400" dirty="0" smtClean="0">
                <a:latin typeface="+mn-ea"/>
              </a:rPr>
              <a:t>를 확인하여 설정</a:t>
            </a:r>
            <a:endParaRPr lang="en-US" altLang="ko-KR" sz="1400" dirty="0" smtClean="0">
              <a:latin typeface="+mn-ea"/>
            </a:endParaRPr>
          </a:p>
          <a:p>
            <a:endParaRPr lang="ko-KR" altLang="en-US" sz="1400" dirty="0"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00034" y="2071678"/>
            <a:ext cx="7072362" cy="7143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400" dirty="0" err="1" smtClean="0">
                <a:latin typeface="+mj-ea"/>
                <a:ea typeface="+mj-ea"/>
              </a:rPr>
              <a:t>kql.rc</a:t>
            </a:r>
            <a:r>
              <a:rPr lang="en-US" altLang="ko-KR" sz="1400" dirty="0" smtClean="0">
                <a:latin typeface="+mj-ea"/>
                <a:ea typeface="+mj-ea"/>
              </a:rPr>
              <a:t>::MAX_BUFFER_CACHE_SIZE      = 1 GB</a:t>
            </a:r>
          </a:p>
          <a:p>
            <a:pPr>
              <a:buNone/>
            </a:pPr>
            <a:r>
              <a:rPr lang="en-US" altLang="ko-KR" sz="1400" dirty="0" err="1" smtClean="0">
                <a:latin typeface="+mj-ea"/>
                <a:ea typeface="+mj-ea"/>
              </a:rPr>
              <a:t>kql.rc</a:t>
            </a:r>
            <a:r>
              <a:rPr lang="en-US" altLang="ko-KR" sz="1400" dirty="0" smtClean="0">
                <a:latin typeface="+mj-ea"/>
                <a:ea typeface="+mj-ea"/>
              </a:rPr>
              <a:t>::MAX_WORKING_MEMORY_SIZE    = 1 GB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71472" y="4143380"/>
            <a:ext cx="7072362" cy="7143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400" dirty="0" err="1" smtClean="0"/>
              <a:t>kql.rc</a:t>
            </a:r>
            <a:r>
              <a:rPr lang="en-US" altLang="ko-KR" sz="1400" dirty="0" smtClean="0"/>
              <a:t>::NO_OF_PARALLEL_TASK = 8</a:t>
            </a:r>
          </a:p>
        </p:txBody>
      </p:sp>
    </p:spTree>
    <p:extLst>
      <p:ext uri="{BB962C8B-B14F-4D97-AF65-F5344CB8AC3E}">
        <p14:creationId xmlns:p14="http://schemas.microsoft.com/office/powerpoint/2010/main" val="315990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검색엔진 최적화 설정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20</a:t>
            </a:fld>
            <a:endParaRPr lang="ko-KR" altLang="en-US" dirty="0">
              <a:latin typeface="+mn-ea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병렬 처리 설정</a:t>
            </a:r>
            <a:endParaRPr lang="en-US" altLang="ko-KR" sz="1600" b="1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검색 시 </a:t>
            </a:r>
            <a:r>
              <a:rPr lang="en-US" altLang="ko-KR" sz="1400" dirty="0" err="1" smtClean="0">
                <a:latin typeface="+mn-ea"/>
              </a:rPr>
              <a:t>cpu</a:t>
            </a:r>
            <a:r>
              <a:rPr lang="ko-KR" altLang="en-US" sz="1400" dirty="0" smtClean="0">
                <a:latin typeface="+mn-ea"/>
              </a:rPr>
              <a:t>를 최대한 활용하여 병렬처리 할 수 있도록 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r>
              <a:rPr lang="ko-KR" altLang="en-US" sz="1400" dirty="0" smtClean="0">
                <a:latin typeface="+mn-ea"/>
              </a:rPr>
              <a:t>검색엔진이 사용할 수 있는 </a:t>
            </a:r>
            <a:r>
              <a:rPr lang="en-US" altLang="ko-KR" sz="1400" dirty="0" smtClean="0">
                <a:latin typeface="+mn-ea"/>
              </a:rPr>
              <a:t>core</a:t>
            </a:r>
            <a:r>
              <a:rPr lang="ko-KR" altLang="en-US" sz="1400" dirty="0" smtClean="0">
                <a:latin typeface="+mn-ea"/>
              </a:rPr>
              <a:t>를 확인하여 설정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err="1" smtClean="0">
                <a:latin typeface="+mn-ea"/>
              </a:rPr>
              <a:t>max_pqry_thread_count</a:t>
            </a:r>
            <a:r>
              <a:rPr lang="ko-KR" altLang="en-US" sz="1400" dirty="0" smtClean="0">
                <a:latin typeface="+mn-ea"/>
              </a:rPr>
              <a:t>설정</a:t>
            </a:r>
            <a:endParaRPr lang="en-US" altLang="ko-KR" sz="1400" dirty="0" smtClean="0">
              <a:latin typeface="+mn-ea"/>
            </a:endParaRPr>
          </a:p>
          <a:p>
            <a:pPr lvl="1">
              <a:buFontTx/>
              <a:buChar char="-"/>
            </a:pPr>
            <a:r>
              <a:rPr lang="en-US" altLang="ko-KR" sz="1400" b="1" dirty="0" err="1" smtClean="0">
                <a:latin typeface="+mn-ea"/>
              </a:rPr>
              <a:t>max_pqry_thread_count</a:t>
            </a:r>
            <a:r>
              <a:rPr lang="ko-KR" altLang="en-US" sz="1400" dirty="0" smtClean="0">
                <a:latin typeface="+mn-ea"/>
              </a:rPr>
              <a:t>는 브로커 볼륨 사용 시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포함된 </a:t>
            </a:r>
            <a:r>
              <a:rPr lang="ko-KR" altLang="en-US" sz="1400" b="1" dirty="0" err="1" smtClean="0">
                <a:latin typeface="+mn-ea"/>
              </a:rPr>
              <a:t>실볼륨</a:t>
            </a:r>
            <a:r>
              <a:rPr lang="ko-KR" altLang="en-US" sz="1400" b="1" dirty="0" smtClean="0">
                <a:latin typeface="+mn-ea"/>
              </a:rPr>
              <a:t> 검색을 병렬로 수행하는 </a:t>
            </a:r>
            <a:r>
              <a:rPr lang="ko-KR" altLang="en-US" sz="1400" b="1" dirty="0" err="1" smtClean="0">
                <a:latin typeface="+mn-ea"/>
              </a:rPr>
              <a:t>스레드</a:t>
            </a:r>
            <a:r>
              <a:rPr lang="ko-KR" altLang="en-US" sz="1400" b="1" dirty="0" smtClean="0">
                <a:latin typeface="+mn-ea"/>
              </a:rPr>
              <a:t> 수</a:t>
            </a:r>
            <a:r>
              <a:rPr lang="ko-KR" altLang="en-US" sz="1400" dirty="0" smtClean="0">
                <a:latin typeface="+mn-ea"/>
              </a:rPr>
              <a:t>를 지정하는 </a:t>
            </a:r>
            <a:r>
              <a:rPr lang="ko-KR" altLang="en-US" sz="1400" dirty="0" err="1" smtClean="0">
                <a:latin typeface="+mn-ea"/>
              </a:rPr>
              <a:t>파라미터임</a:t>
            </a:r>
            <a:endParaRPr lang="en-US" altLang="ko-KR" sz="1400" dirty="0" smtClean="0">
              <a:latin typeface="+mn-ea"/>
            </a:endParaRPr>
          </a:p>
          <a:p>
            <a:pPr lvl="1">
              <a:buFontTx/>
              <a:buChar char="-"/>
            </a:pPr>
            <a:r>
              <a:rPr lang="ko-KR" altLang="en-US" sz="1400" dirty="0" smtClean="0">
                <a:latin typeface="+mn-ea"/>
              </a:rPr>
              <a:t>실제 동시 처리량은 </a:t>
            </a:r>
            <a:r>
              <a:rPr lang="en-US" altLang="ko-KR" sz="1400" b="1" dirty="0" err="1" smtClean="0">
                <a:latin typeface="+mn-ea"/>
              </a:rPr>
              <a:t>work_thread</a:t>
            </a:r>
            <a:r>
              <a:rPr lang="en-US" altLang="ko-KR" sz="1400" b="1" dirty="0" smtClean="0">
                <a:latin typeface="+mn-ea"/>
              </a:rPr>
              <a:t> × (</a:t>
            </a:r>
            <a:r>
              <a:rPr lang="ko-KR" altLang="en-US" sz="1400" b="1" dirty="0" smtClean="0">
                <a:latin typeface="+mn-ea"/>
              </a:rPr>
              <a:t>브로커 볼륨에 포함된 </a:t>
            </a:r>
            <a:r>
              <a:rPr lang="ko-KR" altLang="en-US" sz="1400" b="1" dirty="0" err="1" smtClean="0">
                <a:latin typeface="+mn-ea"/>
              </a:rPr>
              <a:t>실볼륨</a:t>
            </a:r>
            <a:r>
              <a:rPr lang="ko-KR" altLang="en-US" sz="1400" b="1" dirty="0" smtClean="0">
                <a:latin typeface="+mn-ea"/>
              </a:rPr>
              <a:t> 개수</a:t>
            </a:r>
            <a:r>
              <a:rPr lang="en-US" altLang="ko-KR" sz="1400" b="1" dirty="0" smtClean="0">
                <a:latin typeface="+mn-ea"/>
              </a:rPr>
              <a:t>)</a:t>
            </a:r>
            <a:r>
              <a:rPr lang="ko-KR" altLang="en-US" sz="1400" dirty="0" smtClean="0">
                <a:latin typeface="+mn-ea"/>
              </a:rPr>
              <a:t>로 결정됨</a:t>
            </a:r>
            <a:endParaRPr lang="en-US" altLang="ko-KR" sz="1400" dirty="0" smtClean="0">
              <a:latin typeface="+mn-ea"/>
            </a:endParaRPr>
          </a:p>
          <a:p>
            <a:pPr lvl="1">
              <a:buFontTx/>
              <a:buChar char="-"/>
            </a:pPr>
            <a:r>
              <a:rPr lang="en-US" altLang="ko-KR" sz="1400" dirty="0" smtClean="0">
                <a:latin typeface="+mn-ea"/>
              </a:rPr>
              <a:t>RAG Search API </a:t>
            </a:r>
            <a:r>
              <a:rPr lang="ko-KR" altLang="en-US" sz="1400" dirty="0" smtClean="0">
                <a:latin typeface="+mn-ea"/>
              </a:rPr>
              <a:t>호출 시 </a:t>
            </a:r>
            <a:r>
              <a:rPr lang="en-US" altLang="ko-KR" sz="1400" dirty="0" err="1" smtClean="0">
                <a:latin typeface="+mn-ea"/>
              </a:rPr>
              <a:t>vols</a:t>
            </a:r>
            <a:r>
              <a:rPr lang="ko-KR" altLang="en-US" sz="1400" dirty="0" smtClean="0">
                <a:latin typeface="+mn-ea"/>
              </a:rPr>
              <a:t>에 설정한 </a:t>
            </a:r>
            <a:r>
              <a:rPr lang="ko-KR" altLang="en-US" sz="1400" b="1" dirty="0" smtClean="0">
                <a:latin typeface="+mn-ea"/>
              </a:rPr>
              <a:t>볼륨 목록 기준으로 실볼륨 개수</a:t>
            </a:r>
            <a:r>
              <a:rPr lang="ko-KR" altLang="en-US" sz="1400" dirty="0" smtClean="0">
                <a:latin typeface="+mn-ea"/>
              </a:rPr>
              <a:t>가 정해지므로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검색 범위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smtClean="0">
                <a:latin typeface="+mn-ea"/>
              </a:rPr>
              <a:t>볼륨 수</a:t>
            </a:r>
            <a:r>
              <a:rPr lang="en-US" altLang="ko-KR" sz="1400" dirty="0" smtClean="0">
                <a:latin typeface="+mn-ea"/>
              </a:rPr>
              <a:t>)</a:t>
            </a:r>
            <a:r>
              <a:rPr lang="ko-KR" altLang="en-US" sz="1400" dirty="0" smtClean="0">
                <a:latin typeface="+mn-ea"/>
              </a:rPr>
              <a:t>에 맞춰 값을 튜닝하면 됨</a:t>
            </a:r>
          </a:p>
          <a:p>
            <a:pPr lvl="1">
              <a:buFontTx/>
              <a:buChar char="-"/>
            </a:pPr>
            <a:endParaRPr lang="en-US" altLang="ko-KR" sz="1400" dirty="0" smtClean="0">
              <a:latin typeface="+mn-ea"/>
            </a:endParaRPr>
          </a:p>
          <a:p>
            <a:pPr>
              <a:buNone/>
            </a:pPr>
            <a:endParaRPr lang="en-US" altLang="ko-KR" sz="1400" dirty="0" smtClean="0">
              <a:latin typeface="+mn-ea"/>
            </a:endParaRPr>
          </a:p>
          <a:p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39552" y="3645024"/>
            <a:ext cx="7072362" cy="7143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400" dirty="0" err="1" smtClean="0"/>
              <a:t>ksearchd.rc</a:t>
            </a:r>
            <a:r>
              <a:rPr lang="en-US" altLang="ko-KR" sz="1400" dirty="0" smtClean="0"/>
              <a:t>:: </a:t>
            </a:r>
            <a:r>
              <a:rPr lang="en-US" altLang="ko-KR" sz="1400" dirty="0" err="1" smtClean="0"/>
              <a:t>max_work_thread_count</a:t>
            </a:r>
            <a:r>
              <a:rPr lang="en-US" altLang="ko-KR" sz="1400" dirty="0" smtClean="0"/>
              <a:t> = 8</a:t>
            </a:r>
          </a:p>
          <a:p>
            <a:r>
              <a:rPr lang="en-US" altLang="ko-KR" sz="1400" dirty="0" err="1" smtClean="0"/>
              <a:t>ksearchd.rc</a:t>
            </a:r>
            <a:r>
              <a:rPr lang="en-US" altLang="ko-KR" sz="1400" dirty="0" smtClean="0"/>
              <a:t>:: </a:t>
            </a:r>
            <a:r>
              <a:rPr lang="en-US" altLang="ko-KR" sz="1400" dirty="0" err="1" smtClean="0"/>
              <a:t>max_pqry_thread_count</a:t>
            </a:r>
            <a:r>
              <a:rPr lang="en-US" altLang="ko-KR" sz="1400" dirty="0" smtClean="0"/>
              <a:t> = 16</a:t>
            </a:r>
          </a:p>
        </p:txBody>
      </p:sp>
    </p:spTree>
    <p:extLst>
      <p:ext uri="{BB962C8B-B14F-4D97-AF65-F5344CB8AC3E}">
        <p14:creationId xmlns:p14="http://schemas.microsoft.com/office/powerpoint/2010/main" val="379738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>
            <a:cxnSpLocks/>
          </p:cNvCxnSpPr>
          <p:nvPr/>
        </p:nvCxnSpPr>
        <p:spPr>
          <a:xfrm>
            <a:off x="691488" y="2515546"/>
            <a:ext cx="0" cy="720080"/>
          </a:xfrm>
          <a:prstGeom prst="line">
            <a:avLst/>
          </a:prstGeom>
          <a:ln w="381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5698" y="2140364"/>
            <a:ext cx="7772400" cy="1470025"/>
          </a:xfrm>
        </p:spPr>
        <p:txBody>
          <a:bodyPr/>
          <a:lstStyle/>
          <a:p>
            <a:r>
              <a:rPr lang="en-US" altLang="ko-KR" dirty="0" smtClean="0"/>
              <a:t>Q&amp;A</a:t>
            </a:r>
            <a:endParaRPr lang="ko-KR" altLang="en-US" dirty="0"/>
          </a:p>
        </p:txBody>
      </p:sp>
      <p:pic>
        <p:nvPicPr>
          <p:cNvPr id="6" name="그림 5" descr="BI_Konan Search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4516" y="1857364"/>
            <a:ext cx="1590666" cy="34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32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>
            <a:cxnSpLocks/>
          </p:cNvCxnSpPr>
          <p:nvPr/>
        </p:nvCxnSpPr>
        <p:spPr>
          <a:xfrm>
            <a:off x="691488" y="2515546"/>
            <a:ext cx="0" cy="720080"/>
          </a:xfrm>
          <a:prstGeom prst="line">
            <a:avLst/>
          </a:prstGeom>
          <a:ln w="381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5698" y="2140364"/>
            <a:ext cx="7772400" cy="1470025"/>
          </a:xfrm>
        </p:spPr>
        <p:txBody>
          <a:bodyPr/>
          <a:lstStyle/>
          <a:p>
            <a:r>
              <a:rPr lang="en-US" altLang="ko-KR" dirty="0" smtClean="0"/>
              <a:t>Thank You.</a:t>
            </a:r>
            <a:endParaRPr lang="ko-KR" altLang="en-US" dirty="0"/>
          </a:p>
        </p:txBody>
      </p:sp>
      <p:pic>
        <p:nvPicPr>
          <p:cNvPr id="6" name="그림 5" descr="BI_Konan Search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4516" y="1857364"/>
            <a:ext cx="1590666" cy="34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587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사용자 지정 3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005390"/>
      </a:accent1>
      <a:accent2>
        <a:srgbClr val="D2533C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흐름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45324</TotalTime>
  <Words>2473</Words>
  <Application>Microsoft Office PowerPoint</Application>
  <PresentationFormat>화면 슬라이드 쇼(4:3)</PresentationFormat>
  <Paragraphs>368</Paragraphs>
  <Slides>22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3" baseType="lpstr">
      <vt:lpstr>Office 테마</vt:lpstr>
      <vt:lpstr>Konan Search – 검색엔진 심화</vt:lpstr>
      <vt:lpstr>■ 목차</vt:lpstr>
      <vt:lpstr>1. 검색 Query 최적화</vt:lpstr>
      <vt:lpstr>■ 색인과 검색</vt:lpstr>
      <vt:lpstr>■ 부분일치 검색  —  LIKE vs N-gram</vt:lpstr>
      <vt:lpstr>■ 부분일치 검색  —  alladjacent, allorderadjacent</vt:lpstr>
      <vt:lpstr>■ LINE 필드 – TEXT LINE / STRING LIST LONG LINE</vt:lpstr>
      <vt:lpstr>■ 검색 Query 최적화</vt:lpstr>
      <vt:lpstr>2. Cache</vt:lpstr>
      <vt:lpstr>■ Expression Cache</vt:lpstr>
      <vt:lpstr>■ forward index cache</vt:lpstr>
      <vt:lpstr>3. Log 읽기</vt:lpstr>
      <vt:lpstr>■ 색인 로그 – kql.log</vt:lpstr>
      <vt:lpstr>■ 색인 로그 – kql.log</vt:lpstr>
      <vt:lpstr>■ 검색 로그 – rpc.log</vt:lpstr>
      <vt:lpstr>■ 검색 로그 – sys.log</vt:lpstr>
      <vt:lpstr>■ 검색 로그 – sys.log</vt:lpstr>
      <vt:lpstr>3. 검색엔진 최적화 설정</vt:lpstr>
      <vt:lpstr>■ 검색엔진 최적화 설정</vt:lpstr>
      <vt:lpstr>■ 검색엔진 최적화 설정</vt:lpstr>
      <vt:lpstr>Q&amp;A</vt:lpstr>
      <vt:lpstr>Thank You.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전주현</dc:creator>
  <cp:lastModifiedBy>전주현</cp:lastModifiedBy>
  <cp:revision>1589</cp:revision>
  <dcterms:created xsi:type="dcterms:W3CDTF">2023-05-09T04:33:32Z</dcterms:created>
  <dcterms:modified xsi:type="dcterms:W3CDTF">2026-04-16T06:16:40Z</dcterms:modified>
</cp:coreProperties>
</file>