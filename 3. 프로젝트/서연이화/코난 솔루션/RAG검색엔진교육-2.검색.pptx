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75" r:id="rId2"/>
    <p:sldId id="257" r:id="rId3"/>
    <p:sldId id="296" r:id="rId4"/>
    <p:sldId id="303" r:id="rId5"/>
    <p:sldId id="352" r:id="rId6"/>
    <p:sldId id="344" r:id="rId7"/>
    <p:sldId id="299" r:id="rId8"/>
    <p:sldId id="302" r:id="rId9"/>
    <p:sldId id="324" r:id="rId10"/>
    <p:sldId id="336" r:id="rId11"/>
    <p:sldId id="337" r:id="rId12"/>
    <p:sldId id="338" r:id="rId13"/>
    <p:sldId id="304" r:id="rId14"/>
    <p:sldId id="311" r:id="rId15"/>
    <p:sldId id="325" r:id="rId16"/>
    <p:sldId id="335" r:id="rId17"/>
    <p:sldId id="305" r:id="rId18"/>
    <p:sldId id="357" r:id="rId19"/>
    <p:sldId id="329" r:id="rId20"/>
    <p:sldId id="343" r:id="rId21"/>
    <p:sldId id="328" r:id="rId22"/>
    <p:sldId id="323" r:id="rId23"/>
    <p:sldId id="340" r:id="rId24"/>
    <p:sldId id="314" r:id="rId25"/>
    <p:sldId id="330" r:id="rId26"/>
    <p:sldId id="354" r:id="rId27"/>
    <p:sldId id="353" r:id="rId28"/>
    <p:sldId id="331" r:id="rId29"/>
    <p:sldId id="345" r:id="rId30"/>
    <p:sldId id="332" r:id="rId31"/>
    <p:sldId id="334" r:id="rId32"/>
    <p:sldId id="339" r:id="rId33"/>
    <p:sldId id="356" r:id="rId34"/>
    <p:sldId id="355" r:id="rId35"/>
    <p:sldId id="278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94692" autoAdjust="0"/>
  </p:normalViewPr>
  <p:slideViewPr>
    <p:cSldViewPr>
      <p:cViewPr varScale="1">
        <p:scale>
          <a:sx n="109" d="100"/>
          <a:sy n="109" d="100"/>
        </p:scale>
        <p:origin x="-203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4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29688-BA56-4159-A616-B7D3977899EA}" type="datetimeFigureOut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6A127-61C8-46AB-BA37-F5F85D3D89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35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194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3568" y="38862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11AC-94F5-45F5-960E-69F12C9DEAD9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6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31219" y="6356350"/>
            <a:ext cx="28956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 dirty="0" smtClean="0"/>
              <a:t>■마스터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B34-88E0-4F2E-9583-42A631969619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>
            <a:lvl1pPr algn="r">
              <a:defRPr/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980728"/>
            <a:ext cx="9141615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52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B671-8456-4F8D-9DE0-E856C0651ACB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54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CB80-8620-4D5A-8B9C-2FB219362195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37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E541-7C44-4096-8862-BBAA958840A4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88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4464-BC5B-4793-8D5D-24CE3FC8969B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5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E657-A0E2-4BA1-AD61-C077A946A5E9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39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3246-186C-426E-99A8-6B0B360320DF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92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706EC-CF83-46BA-8CF1-C77819322750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28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D676E-BF0F-4B0C-8944-E87A69B42399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33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C7A-16A4-4F9C-8A3B-7FC79E46E018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40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84B8D-79E1-45C0-BACF-A1839C4007B0}" type="datetime1">
              <a:rPr lang="ko-KR" altLang="en-US" smtClean="0"/>
              <a:pPr/>
              <a:t>2026-02-04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konan-iris.atlassian.net/wiki/spaces/test0006/pages/567541849/TS-2025-008.+RA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RAG </a:t>
            </a:r>
            <a:r>
              <a:rPr lang="ko-KR" altLang="en-US" dirty="0" smtClean="0"/>
              <a:t>교육 </a:t>
            </a:r>
            <a:r>
              <a:rPr lang="en-US" altLang="ko-KR" smtClean="0"/>
              <a:t>– 2</a:t>
            </a:r>
            <a:r>
              <a:rPr lang="ko-KR" altLang="en-US" smtClean="0"/>
              <a:t>부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58292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ko-KR" sz="1800" dirty="0" smtClean="0"/>
              <a:t>KS</a:t>
            </a:r>
            <a:r>
              <a:rPr lang="ko-KR" altLang="en-US" sz="1800" dirty="0" smtClean="0"/>
              <a:t>그룹 엔진개발팀 전주현</a:t>
            </a:r>
            <a:endParaRPr lang="en-US" altLang="ko-KR" sz="1800" dirty="0" smtClean="0"/>
          </a:p>
          <a:p>
            <a:r>
              <a:rPr lang="ko-KR" altLang="en-US" sz="1800" dirty="0"/>
              <a:t>２０</a:t>
            </a:r>
            <a:r>
              <a:rPr lang="en-US" altLang="ko-KR" sz="1800" dirty="0" smtClean="0">
                <a:latin typeface="+mn-ea"/>
              </a:rPr>
              <a:t>2 6</a:t>
            </a:r>
            <a:r>
              <a:rPr lang="ko-KR" altLang="en-US" sz="1800" dirty="0" smtClean="0">
                <a:latin typeface="+mn-ea"/>
              </a:rPr>
              <a:t>．</a:t>
            </a:r>
            <a:r>
              <a:rPr lang="en-US" altLang="ko-KR" sz="1800" dirty="0" smtClean="0">
                <a:latin typeface="+mn-ea"/>
              </a:rPr>
              <a:t>01</a:t>
            </a:r>
            <a:endParaRPr lang="ko-KR" altLang="en-US" sz="1800" dirty="0">
              <a:latin typeface="+mn-ea"/>
            </a:endParaRPr>
          </a:p>
        </p:txBody>
      </p:sp>
      <p:cxnSp>
        <p:nvCxnSpPr>
          <p:cNvPr id="26" name="직선 연결선 25"/>
          <p:cNvCxnSpPr>
            <a:cxnSpLocks/>
          </p:cNvCxnSpPr>
          <p:nvPr/>
        </p:nvCxnSpPr>
        <p:spPr>
          <a:xfrm>
            <a:off x="693507" y="2520514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3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개요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Search API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Keyword </a:t>
            </a:r>
            <a:r>
              <a:rPr lang="ko-KR" altLang="en-US" b="1" dirty="0" smtClean="0"/>
              <a:t>검색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Vector </a:t>
            </a:r>
            <a:r>
              <a:rPr lang="ko-KR" altLang="en-US" b="1" dirty="0" smtClean="0"/>
              <a:t>검색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기타 주요 </a:t>
            </a:r>
            <a:r>
              <a:rPr lang="en-US" altLang="ko-KR" b="1" dirty="0" smtClean="0"/>
              <a:t>Parameter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향후 계획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FAQ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b="1" dirty="0" smtClean="0"/>
              <a:t>실습</a:t>
            </a: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Q&amp;A</a:t>
            </a:r>
            <a:r>
              <a:rPr lang="en-US" altLang="ko-KR" b="1" dirty="0"/>
              <a:t/>
            </a:r>
            <a:br>
              <a:rPr lang="en-US" altLang="ko-KR" b="1" dirty="0"/>
            </a:br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1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9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ko-KR" altLang="en-US" b="1" dirty="0" smtClean="0">
                <a:latin typeface="+mn-ea"/>
              </a:rPr>
              <a:t>왜 </a:t>
            </a:r>
            <a:r>
              <a:rPr lang="en-US" altLang="ko-KR" b="1" u="sng" dirty="0" smtClean="0">
                <a:solidFill>
                  <a:srgbClr val="FF0000"/>
                </a:solidFill>
                <a:latin typeface="+mn-ea"/>
              </a:rPr>
              <a:t>RAG</a:t>
            </a:r>
            <a:r>
              <a:rPr lang="ko-KR" altLang="en-US" b="1" dirty="0" smtClean="0">
                <a:latin typeface="+mn-ea"/>
              </a:rPr>
              <a:t>인가</a:t>
            </a:r>
            <a:r>
              <a:rPr lang="en-US" altLang="ko-KR" b="1" dirty="0" smtClean="0">
                <a:latin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LLM</a:t>
            </a:r>
            <a:r>
              <a:rPr lang="ko-KR" altLang="en-US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만으로 생기는 대표 문제</a:t>
            </a:r>
            <a:endParaRPr lang="en-US" altLang="ko-KR" sz="1600" b="1" dirty="0" smtClean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endParaRPr lang="en-US" altLang="ko-KR" sz="1600" b="1" dirty="0" smtClean="0">
              <a:latin typeface="+mn-ea"/>
            </a:endParaRPr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사내·도메인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문서·규정·프로세스는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모를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수밖에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왜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답했는지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약함</a:t>
            </a:r>
            <a:endParaRPr lang="en-US" sz="1400" dirty="0" smtClean="0"/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en-US" sz="16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RAG(</a:t>
            </a:r>
            <a:r>
              <a:rPr lang="en-US" sz="1600" b="1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검색+생성</a:t>
            </a:r>
            <a:r>
              <a:rPr lang="en-US" sz="1600" b="1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buNone/>
            </a:pP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바탕으로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r>
              <a:rPr lang="en-US" sz="1400" dirty="0" smtClean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 smtClean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· </a:t>
            </a: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· </a:t>
            </a: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설명가능성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· </a:t>
            </a:r>
            <a:r>
              <a:rPr lang="en-US" sz="1400" b="1" dirty="0" err="1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r>
              <a:rPr lang="en-US" sz="1400" b="1" dirty="0" smtClean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4</a:t>
            </a:fld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RAG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5</a:t>
            </a:fld>
            <a:endParaRPr lang="ko-KR" altLang="en-US" dirty="0">
              <a:latin typeface="+mn-ea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251520" y="2494178"/>
            <a:ext cx="1214446" cy="5000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latin typeface="+mn-ea"/>
              </a:rPr>
              <a:t>질의문</a:t>
            </a:r>
            <a:r>
              <a:rPr lang="ko-KR" altLang="en-US" sz="1200" dirty="0" smtClean="0">
                <a:latin typeface="+mn-ea"/>
              </a:rPr>
              <a:t> 정제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7410" name="AutoShape 2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AutoShape 4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3810131" y="2494178"/>
            <a:ext cx="1214446" cy="5000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>
                <a:latin typeface="+mn-ea"/>
              </a:rPr>
              <a:t>Reranking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5558597" y="2494178"/>
            <a:ext cx="1214446" cy="50006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+mn-ea"/>
              </a:rPr>
              <a:t>Selector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7268591" y="2422740"/>
            <a:ext cx="1428760" cy="64294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latin typeface="+mn-ea"/>
              </a:rPr>
              <a:t>답변 생성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</a:rPr>
              <a:t>G</a:t>
            </a:r>
            <a:r>
              <a:rPr lang="en-US" altLang="ko-KR" sz="1200" dirty="0" smtClean="0">
                <a:latin typeface="+mn-ea"/>
              </a:rPr>
              <a:t>enerator)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61" name="직선 화살표 연결선 60"/>
          <p:cNvCxnSpPr>
            <a:endCxn id="22" idx="0"/>
          </p:cNvCxnSpPr>
          <p:nvPr/>
        </p:nvCxnSpPr>
        <p:spPr>
          <a:xfrm rot="5400000">
            <a:off x="501553" y="2136988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22" idx="3"/>
            <a:endCxn id="98" idx="1"/>
          </p:cNvCxnSpPr>
          <p:nvPr/>
        </p:nvCxnSpPr>
        <p:spPr>
          <a:xfrm>
            <a:off x="1465966" y="2744211"/>
            <a:ext cx="324422" cy="103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98" idx="3"/>
            <a:endCxn id="47" idx="1"/>
          </p:cNvCxnSpPr>
          <p:nvPr/>
        </p:nvCxnSpPr>
        <p:spPr>
          <a:xfrm flipV="1">
            <a:off x="3433462" y="2744211"/>
            <a:ext cx="376669" cy="103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47" idx="3"/>
            <a:endCxn id="48" idx="1"/>
          </p:cNvCxnSpPr>
          <p:nvPr/>
        </p:nvCxnSpPr>
        <p:spPr>
          <a:xfrm>
            <a:off x="5024577" y="2744211"/>
            <a:ext cx="534020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218243" y="3181221"/>
            <a:ext cx="1890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프롬프트</a:t>
            </a:r>
            <a:r>
              <a:rPr lang="en-US" altLang="ko-KR" sz="1200" dirty="0" smtClean="0">
                <a:latin typeface="+mn-ea"/>
              </a:rPr>
              <a:t>+</a:t>
            </a:r>
            <a:r>
              <a:rPr lang="ko-KR" altLang="en-US" sz="1200" dirty="0" smtClean="0">
                <a:latin typeface="+mn-ea"/>
              </a:rPr>
              <a:t>검색데이터로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 smtClean="0">
                <a:latin typeface="+mn-ea"/>
              </a:rPr>
              <a:t>답변 요약</a:t>
            </a:r>
            <a:r>
              <a:rPr lang="en-US" altLang="ko-KR" sz="1200" dirty="0" smtClean="0">
                <a:latin typeface="+mn-ea"/>
              </a:rPr>
              <a:t>/</a:t>
            </a:r>
            <a:r>
              <a:rPr lang="ko-KR" altLang="en-US" sz="1200" dirty="0" smtClean="0">
                <a:latin typeface="+mn-ea"/>
              </a:rPr>
              <a:t>생성</a:t>
            </a:r>
            <a:endParaRPr lang="en-US" altLang="ko-KR" sz="1200" dirty="0" smtClean="0">
              <a:latin typeface="+mn-ea"/>
            </a:endParaRPr>
          </a:p>
        </p:txBody>
      </p:sp>
      <p:cxnSp>
        <p:nvCxnSpPr>
          <p:cNvPr id="83" name="직선 화살표 연결선 82"/>
          <p:cNvCxnSpPr>
            <a:stCxn id="48" idx="3"/>
            <a:endCxn id="49" idx="1"/>
          </p:cNvCxnSpPr>
          <p:nvPr/>
        </p:nvCxnSpPr>
        <p:spPr>
          <a:xfrm>
            <a:off x="6773043" y="2744211"/>
            <a:ext cx="495548" cy="0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1982352" y="1994112"/>
            <a:ext cx="1285884" cy="1500198"/>
            <a:chOff x="2643174" y="2857496"/>
            <a:chExt cx="1500198" cy="1500198"/>
          </a:xfrm>
        </p:grpSpPr>
        <p:sp>
          <p:nvSpPr>
            <p:cNvPr id="64" name="모서리가 둥근 직사각형 63"/>
            <p:cNvSpPr/>
            <p:nvPr/>
          </p:nvSpPr>
          <p:spPr>
            <a:xfrm>
              <a:off x="2643174" y="3857628"/>
              <a:ext cx="1500198" cy="500066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BM25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2643174" y="3357562"/>
              <a:ext cx="1500198" cy="500066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Vector</a:t>
              </a:r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2643174" y="2857496"/>
              <a:ext cx="1500198" cy="500066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Keyword</a:t>
              </a:r>
            </a:p>
          </p:txBody>
        </p:sp>
      </p:grpSp>
      <p:sp>
        <p:nvSpPr>
          <p:cNvPr id="98" name="모서리가 둥근 직사각형 97"/>
          <p:cNvSpPr/>
          <p:nvPr/>
        </p:nvSpPr>
        <p:spPr>
          <a:xfrm>
            <a:off x="1790388" y="1816549"/>
            <a:ext cx="1643074" cy="185738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993576" y="1449018"/>
            <a:ext cx="1116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ko-KR" dirty="0" smtClean="0">
                <a:latin typeface="+mn-ea"/>
              </a:rPr>
              <a:t>etriever</a:t>
            </a:r>
            <a:endParaRPr lang="ko-KR" altLang="en-US" dirty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36096" y="3181221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답변에 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 smtClean="0">
                <a:latin typeface="+mn-ea"/>
              </a:rPr>
              <a:t>적합한 </a:t>
            </a:r>
            <a:r>
              <a:rPr lang="en-US" altLang="ko-KR" sz="1200" dirty="0" smtClean="0">
                <a:latin typeface="+mn-ea"/>
              </a:rPr>
              <a:t>chunk</a:t>
            </a:r>
            <a:r>
              <a:rPr lang="ko-KR" altLang="en-US" sz="1200" dirty="0" smtClean="0">
                <a:latin typeface="+mn-ea"/>
              </a:rPr>
              <a:t>인지 판별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07904" y="3181221"/>
            <a:ext cx="1729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검색 결과를 취합하여 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200" dirty="0" smtClean="0">
                <a:latin typeface="+mn-ea"/>
              </a:rPr>
              <a:t>재정렬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7340029" y="1351170"/>
            <a:ext cx="1285884" cy="500066"/>
          </a:xfrm>
          <a:prstGeom prst="roundRect">
            <a:avLst/>
          </a:prstGeom>
          <a:solidFill>
            <a:schemeClr val="accent5">
              <a:alpha val="34000"/>
            </a:schemeClr>
          </a:solidFill>
          <a:ln>
            <a:solidFill>
              <a:schemeClr val="accent5">
                <a:shade val="50000"/>
                <a:alpha val="41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latin typeface="+mn-ea"/>
              </a:rPr>
              <a:t>Hyde</a:t>
            </a:r>
          </a:p>
        </p:txBody>
      </p:sp>
      <p:cxnSp>
        <p:nvCxnSpPr>
          <p:cNvPr id="35" name="직선 화살표 연결선 34"/>
          <p:cNvCxnSpPr>
            <a:stCxn id="33" idx="2"/>
            <a:endCxn id="49" idx="0"/>
          </p:cNvCxnSpPr>
          <p:nvPr/>
        </p:nvCxnSpPr>
        <p:spPr>
          <a:xfrm rot="5400000">
            <a:off x="7697219" y="2136988"/>
            <a:ext cx="571504" cy="1588"/>
          </a:xfrm>
          <a:prstGeom prst="straightConnector1">
            <a:avLst/>
          </a:prstGeom>
          <a:ln w="22225">
            <a:solidFill>
              <a:srgbClr val="002060">
                <a:alpha val="50000"/>
              </a:srgb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>
            <a:stCxn id="48" idx="0"/>
            <a:endCxn id="33" idx="1"/>
          </p:cNvCxnSpPr>
          <p:nvPr/>
        </p:nvCxnSpPr>
        <p:spPr>
          <a:xfrm rot="5400000" flipH="1" flipV="1">
            <a:off x="6306437" y="1460587"/>
            <a:ext cx="892975" cy="1174209"/>
          </a:xfrm>
          <a:prstGeom prst="bentConnector2">
            <a:avLst/>
          </a:prstGeom>
          <a:ln w="22225">
            <a:solidFill>
              <a:srgbClr val="002060">
                <a:alpha val="50000"/>
              </a:srgb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1921962" y="4641050"/>
            <a:ext cx="1252989" cy="1380238"/>
            <a:chOff x="1990542" y="4545124"/>
            <a:chExt cx="1380732" cy="1567016"/>
          </a:xfrm>
        </p:grpSpPr>
        <p:grpSp>
          <p:nvGrpSpPr>
            <p:cNvPr id="5" name="그룹 4"/>
            <p:cNvGrpSpPr/>
            <p:nvPr/>
          </p:nvGrpSpPr>
          <p:grpSpPr>
            <a:xfrm>
              <a:off x="1990542" y="4545124"/>
              <a:ext cx="1380732" cy="457004"/>
              <a:chOff x="1967132" y="4545124"/>
              <a:chExt cx="1240908" cy="457004"/>
            </a:xfrm>
          </p:grpSpPr>
          <p:sp>
            <p:nvSpPr>
              <p:cNvPr id="34" name="모서리가 둥근 직사각형 33"/>
              <p:cNvSpPr/>
              <p:nvPr/>
            </p:nvSpPr>
            <p:spPr>
              <a:xfrm>
                <a:off x="2055912" y="4642088"/>
                <a:ext cx="1152128" cy="36004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2" name="모서리가 둥근 직사각형 31"/>
              <p:cNvSpPr/>
              <p:nvPr/>
            </p:nvSpPr>
            <p:spPr>
              <a:xfrm>
                <a:off x="2010192" y="4596368"/>
                <a:ext cx="1152128" cy="36004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" name="모서리가 둥근 직사각형 2"/>
              <p:cNvSpPr/>
              <p:nvPr/>
            </p:nvSpPr>
            <p:spPr>
              <a:xfrm>
                <a:off x="1967132" y="4545124"/>
                <a:ext cx="1152128" cy="36004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k</a:t>
                </a:r>
                <a:r>
                  <a:rPr lang="en-US" altLang="ko-KR" sz="1000" dirty="0" smtClean="0">
                    <a:solidFill>
                      <a:schemeClr val="tx1"/>
                    </a:solidFill>
                    <a:latin typeface="+mn-ea"/>
                  </a:rPr>
                  <a:t>eyword chunks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1990542" y="5100130"/>
              <a:ext cx="1380732" cy="457004"/>
              <a:chOff x="1967132" y="4545124"/>
              <a:chExt cx="1240908" cy="457004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37" name="모서리가 둥근 직사각형 36"/>
              <p:cNvSpPr/>
              <p:nvPr/>
            </p:nvSpPr>
            <p:spPr>
              <a:xfrm>
                <a:off x="2055912" y="464208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8" name="모서리가 둥근 직사각형 37"/>
              <p:cNvSpPr/>
              <p:nvPr/>
            </p:nvSpPr>
            <p:spPr>
              <a:xfrm>
                <a:off x="2010192" y="459636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9" name="모서리가 둥근 직사각형 38"/>
              <p:cNvSpPr/>
              <p:nvPr/>
            </p:nvSpPr>
            <p:spPr>
              <a:xfrm>
                <a:off x="1967132" y="4545124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rIns="36000"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v</a:t>
                </a:r>
                <a:r>
                  <a:rPr lang="en-US" altLang="ko-KR" sz="1000" dirty="0" smtClean="0">
                    <a:solidFill>
                      <a:schemeClr val="tx1"/>
                    </a:solidFill>
                    <a:latin typeface="+mn-ea"/>
                  </a:rPr>
                  <a:t>ector chunks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40" name="그룹 39"/>
            <p:cNvGrpSpPr/>
            <p:nvPr/>
          </p:nvGrpSpPr>
          <p:grpSpPr>
            <a:xfrm>
              <a:off x="1990542" y="5655136"/>
              <a:ext cx="1380732" cy="457004"/>
              <a:chOff x="1967132" y="4545124"/>
              <a:chExt cx="1240908" cy="457004"/>
            </a:xfrm>
            <a:solidFill>
              <a:schemeClr val="bg2">
                <a:lumMod val="90000"/>
                <a:alpha val="50000"/>
              </a:schemeClr>
            </a:solidFill>
          </p:grpSpPr>
          <p:sp>
            <p:nvSpPr>
              <p:cNvPr id="41" name="모서리가 둥근 직사각형 40"/>
              <p:cNvSpPr/>
              <p:nvPr/>
            </p:nvSpPr>
            <p:spPr>
              <a:xfrm>
                <a:off x="2055912" y="464208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2" name="모서리가 둥근 직사각형 41"/>
              <p:cNvSpPr/>
              <p:nvPr/>
            </p:nvSpPr>
            <p:spPr>
              <a:xfrm>
                <a:off x="2010192" y="4596368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3" name="모서리가 둥근 직사각형 42"/>
              <p:cNvSpPr/>
              <p:nvPr/>
            </p:nvSpPr>
            <p:spPr>
              <a:xfrm>
                <a:off x="1967132" y="4545124"/>
                <a:ext cx="1152128" cy="36004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>
                    <a:solidFill>
                      <a:schemeClr val="tx1"/>
                    </a:solidFill>
                    <a:latin typeface="+mn-ea"/>
                  </a:rPr>
                  <a:t>BM25 chunks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cxnSp>
        <p:nvCxnSpPr>
          <p:cNvPr id="8" name="꺾인 연결선 7"/>
          <p:cNvCxnSpPr>
            <a:stCxn id="34" idx="3"/>
          </p:cNvCxnSpPr>
          <p:nvPr/>
        </p:nvCxnSpPr>
        <p:spPr>
          <a:xfrm>
            <a:off x="3174951" y="4885020"/>
            <a:ext cx="748977" cy="48885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37" idx="3"/>
          </p:cNvCxnSpPr>
          <p:nvPr/>
        </p:nvCxnSpPr>
        <p:spPr>
          <a:xfrm flipV="1">
            <a:off x="3174951" y="5373872"/>
            <a:ext cx="74897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3952698" y="4870451"/>
            <a:ext cx="998857" cy="964541"/>
            <a:chOff x="4316675" y="4596368"/>
            <a:chExt cx="1281948" cy="1095066"/>
          </a:xfrm>
        </p:grpSpPr>
        <p:sp>
          <p:nvSpPr>
            <p:cNvPr id="54" name="모서리가 둥근 직사각형 53"/>
            <p:cNvSpPr/>
            <p:nvPr/>
          </p:nvSpPr>
          <p:spPr>
            <a:xfrm>
              <a:off x="4316675" y="4596368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rank1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4316675" y="4779377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rank2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316675" y="4962386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rank3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4316675" y="5145395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rank4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4316675" y="532840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rank5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4316675" y="551141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…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63" name="꺾인 연결선 62"/>
          <p:cNvCxnSpPr>
            <a:stCxn id="41" idx="3"/>
          </p:cNvCxnSpPr>
          <p:nvPr/>
        </p:nvCxnSpPr>
        <p:spPr>
          <a:xfrm flipV="1">
            <a:off x="3174951" y="5373873"/>
            <a:ext cx="748977" cy="48885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/>
          <p:cNvGrpSpPr/>
          <p:nvPr/>
        </p:nvGrpSpPr>
        <p:grpSpPr>
          <a:xfrm>
            <a:off x="5653272" y="4870451"/>
            <a:ext cx="998857" cy="964541"/>
            <a:chOff x="4316675" y="4596368"/>
            <a:chExt cx="1281948" cy="1095066"/>
          </a:xfrm>
        </p:grpSpPr>
        <p:sp>
          <p:nvSpPr>
            <p:cNvPr id="67" name="모서리가 둥근 직사각형 66"/>
            <p:cNvSpPr/>
            <p:nvPr/>
          </p:nvSpPr>
          <p:spPr>
            <a:xfrm>
              <a:off x="4316675" y="4596368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rank1 chunk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4316675" y="4779377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rank2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4316675" y="4962386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rank3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2" name="모서리가 둥근 직사각형 71"/>
            <p:cNvSpPr/>
            <p:nvPr/>
          </p:nvSpPr>
          <p:spPr>
            <a:xfrm>
              <a:off x="4316675" y="5145395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rank4 chunk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4316675" y="532840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+mn-ea"/>
                </a:rPr>
                <a:t>rank5 chunk</a:t>
              </a:r>
              <a:endParaRPr lang="ko-KR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모서리가 둥근 직사각형 74"/>
            <p:cNvSpPr/>
            <p:nvPr/>
          </p:nvSpPr>
          <p:spPr>
            <a:xfrm>
              <a:off x="4316675" y="5511414"/>
              <a:ext cx="1281948" cy="180020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…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</p:grpSp>
      <p:sp>
        <p:nvSpPr>
          <p:cNvPr id="76" name="모서리가 둥근 직사각형 75"/>
          <p:cNvSpPr/>
          <p:nvPr/>
        </p:nvSpPr>
        <p:spPr>
          <a:xfrm>
            <a:off x="7268591" y="4593606"/>
            <a:ext cx="1657624" cy="149969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 smtClean="0">
                <a:latin typeface="+mn-ea"/>
              </a:rPr>
              <a:t>Prompt:</a:t>
            </a:r>
          </a:p>
          <a:p>
            <a:r>
              <a:rPr lang="ko-KR" altLang="en-US" sz="1000" dirty="0" smtClean="0">
                <a:latin typeface="+mn-ea"/>
              </a:rPr>
              <a:t>아래 참고문서를 참조하여 질문에 대한 답변을 생성하세요</a:t>
            </a:r>
            <a:r>
              <a:rPr lang="en-US" altLang="ko-KR" sz="1000" dirty="0" smtClean="0">
                <a:latin typeface="+mn-ea"/>
              </a:rPr>
              <a:t>.</a:t>
            </a:r>
            <a:br>
              <a:rPr lang="en-US" altLang="ko-KR" sz="1000" dirty="0" smtClean="0">
                <a:latin typeface="+mn-ea"/>
              </a:rPr>
            </a:br>
            <a:r>
              <a:rPr lang="en-US" altLang="ko-KR" sz="1000" dirty="0" smtClean="0">
                <a:latin typeface="+mn-ea"/>
              </a:rPr>
              <a:t>&lt;</a:t>
            </a:r>
            <a:r>
              <a:rPr lang="ko-KR" altLang="en-US" sz="1000" dirty="0" smtClean="0">
                <a:latin typeface="+mn-ea"/>
              </a:rPr>
              <a:t>참조문서</a:t>
            </a:r>
            <a:r>
              <a:rPr lang="en-US" altLang="ko-KR" sz="1000" dirty="0" smtClean="0">
                <a:latin typeface="+mn-ea"/>
              </a:rPr>
              <a:t>&gt;</a:t>
            </a:r>
          </a:p>
          <a:p>
            <a:r>
              <a:rPr lang="en-US" altLang="ko-KR" sz="1000" dirty="0">
                <a:latin typeface="+mn-ea"/>
              </a:rPr>
              <a:t>c</a:t>
            </a:r>
            <a:r>
              <a:rPr lang="en-US" altLang="ko-KR" sz="1000" dirty="0" smtClean="0">
                <a:latin typeface="+mn-ea"/>
              </a:rPr>
              <a:t>hunk2 …..</a:t>
            </a:r>
          </a:p>
          <a:p>
            <a:r>
              <a:rPr lang="en-US" altLang="ko-KR" sz="1000" dirty="0" smtClean="0">
                <a:latin typeface="+mn-ea"/>
              </a:rPr>
              <a:t>chunk3 …..</a:t>
            </a:r>
          </a:p>
          <a:p>
            <a:r>
              <a:rPr lang="en-US" altLang="ko-KR" sz="1000" dirty="0" smtClean="0">
                <a:latin typeface="+mn-ea"/>
              </a:rPr>
              <a:t>chunk5 …..</a:t>
            </a:r>
          </a:p>
          <a:p>
            <a:r>
              <a:rPr lang="en-US" altLang="ko-KR" sz="1000" dirty="0" smtClean="0">
                <a:latin typeface="+mn-ea"/>
              </a:rPr>
              <a:t>&lt;</a:t>
            </a:r>
            <a:r>
              <a:rPr lang="ko-KR" altLang="en-US" sz="1000" dirty="0" smtClean="0">
                <a:latin typeface="+mn-ea"/>
              </a:rPr>
              <a:t>질문</a:t>
            </a:r>
            <a:r>
              <a:rPr lang="en-US" altLang="ko-KR" sz="1000" dirty="0" smtClean="0">
                <a:latin typeface="+mn-ea"/>
              </a:rPr>
              <a:t>&gt; </a:t>
            </a:r>
            <a:r>
              <a:rPr lang="ko-KR" altLang="en-US" sz="1000" dirty="0" smtClean="0">
                <a:latin typeface="+mn-ea"/>
              </a:rPr>
              <a:t>해법이 뭐야</a:t>
            </a:r>
            <a:r>
              <a:rPr lang="en-US" altLang="ko-KR" sz="1000" dirty="0" smtClean="0">
                <a:latin typeface="+mn-ea"/>
              </a:rPr>
              <a:t>?</a:t>
            </a:r>
            <a:endParaRPr lang="ko-KR" altLang="en-US" sz="1000" dirty="0">
              <a:latin typeface="+mn-ea"/>
            </a:endParaRPr>
          </a:p>
        </p:txBody>
      </p:sp>
      <p:cxnSp>
        <p:nvCxnSpPr>
          <p:cNvPr id="77" name="직선 화살표 연결선 76"/>
          <p:cNvCxnSpPr/>
          <p:nvPr/>
        </p:nvCxnSpPr>
        <p:spPr>
          <a:xfrm flipV="1">
            <a:off x="5024577" y="5373872"/>
            <a:ext cx="53402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V="1">
            <a:off x="6752924" y="5348744"/>
            <a:ext cx="474047" cy="52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2610848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 flipH="1">
            <a:off x="4501966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/>
          <p:nvPr/>
        </p:nvCxnSpPr>
        <p:spPr>
          <a:xfrm flipH="1">
            <a:off x="6141506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 flipH="1">
            <a:off x="7983765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 flipH="1">
            <a:off x="819883" y="3675113"/>
            <a:ext cx="1077" cy="7631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모서리가 둥근 직사각형 94"/>
          <p:cNvSpPr/>
          <p:nvPr/>
        </p:nvSpPr>
        <p:spPr>
          <a:xfrm>
            <a:off x="225250" y="5020796"/>
            <a:ext cx="1125928" cy="53398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000" dirty="0" smtClean="0">
                <a:latin typeface="+mn-ea"/>
              </a:rPr>
              <a:t>해법이 뭐야</a:t>
            </a:r>
            <a:r>
              <a:rPr lang="en-US" altLang="ko-KR" sz="1000" dirty="0" smtClean="0">
                <a:latin typeface="+mn-ea"/>
              </a:rPr>
              <a:t>?</a:t>
            </a:r>
            <a:endParaRPr lang="ko-KR" altLang="en-US" sz="1000" dirty="0">
              <a:latin typeface="+mn-ea"/>
            </a:endParaRPr>
          </a:p>
        </p:txBody>
      </p:sp>
      <p:cxnSp>
        <p:nvCxnSpPr>
          <p:cNvPr id="97" name="직선 화살표 연결선 96"/>
          <p:cNvCxnSpPr>
            <a:stCxn id="95" idx="3"/>
            <a:endCxn id="39" idx="1"/>
          </p:cNvCxnSpPr>
          <p:nvPr/>
        </p:nvCxnSpPr>
        <p:spPr>
          <a:xfrm>
            <a:off x="1351178" y="5287791"/>
            <a:ext cx="570784" cy="6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95" idx="3"/>
            <a:endCxn id="3" idx="1"/>
          </p:cNvCxnSpPr>
          <p:nvPr/>
        </p:nvCxnSpPr>
        <p:spPr>
          <a:xfrm flipV="1">
            <a:off x="1351178" y="4799613"/>
            <a:ext cx="570784" cy="48817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95" idx="3"/>
            <a:endCxn id="43" idx="1"/>
          </p:cNvCxnSpPr>
          <p:nvPr/>
        </p:nvCxnSpPr>
        <p:spPr>
          <a:xfrm>
            <a:off x="1351178" y="5287791"/>
            <a:ext cx="570784" cy="48952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0388" y="3780062"/>
            <a:ext cx="1714512" cy="369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그림 26" descr="BI_Konan LLM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26971" y="3780179"/>
            <a:ext cx="1699244" cy="368784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7"/>
          <a:stretch/>
        </p:blipFill>
        <p:spPr bwMode="auto">
          <a:xfrm>
            <a:off x="395536" y="1124744"/>
            <a:ext cx="987722" cy="70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660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RAG vs NL2SQL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6</a:t>
            </a:fld>
            <a:endParaRPr lang="ko-KR" altLang="en-US" dirty="0">
              <a:latin typeface="+mn-ea"/>
            </a:endParaRPr>
          </a:p>
        </p:txBody>
      </p:sp>
      <p:sp>
        <p:nvSpPr>
          <p:cNvPr id="17410" name="AutoShape 2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AutoShape 4" descr="&lt;svg xmlns=&quot;http://www.w3.org/2000/svg&quot; height=&quot;48px&quot; viewBox=&quot;0 -960 960 960&quot; width=&quot;48px&quot; fill=&quot;#1f1f1f&quot;&gt;&lt;path d=&quot;M799.82-530q-12.82 0-21.32-8.68-8.5-8.67-8.5-21.5 0-12.82 8.68-21.32 8.67-8.5 21.5-8.5 12.82 0 21.32 8.68 8.5 8.67 8.5 21.5 0 12.82-8.68 21.32-8.67 8.5-21.5 8.5ZM770-650v-180h60v180h-60ZM360-481q-66 0-108-42t-42-108q0-66 42-108t108-42q66 0 108 42t42 108q0 66-42 108t-108 42ZM40-160v-94q0-35 17.5-63.5T108-360q75-33 133.34-46.5t118.5-13.5Q420-420 478-406.5T611-360q33 15 51 43t18 63v94H40Zm60-60h520v-34q0-16-9-30.5T587-306q-71-33-120-43.5T360-360q-58 0-107.5 10.5T132-306q-15 7-23.5 21.5T100-254v34Zm260-321q39 0 64.5-25.5T450-631q0-39-25.5-64.5T360-721q-39 0-64.5 25.5T270-631q0 39 25.5 64.5T360-541Zm0-90Zm0 411Z&quot;/&gt;&lt;/svg&gt;"/>
          <p:cNvSpPr>
            <a:spLocks noChangeAspect="1" noChangeArrowheads="1"/>
          </p:cNvSpPr>
          <p:nvPr/>
        </p:nvSpPr>
        <p:spPr bwMode="auto">
          <a:xfrm>
            <a:off x="168275" y="-319088"/>
            <a:ext cx="666750" cy="66675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47972"/>
              </p:ext>
            </p:extLst>
          </p:nvPr>
        </p:nvGraphicFramePr>
        <p:xfrm>
          <a:off x="539553" y="1268760"/>
          <a:ext cx="8280919" cy="4536504"/>
        </p:xfrm>
        <a:graphic>
          <a:graphicData uri="http://schemas.openxmlformats.org/drawingml/2006/table">
            <a:tbl>
              <a:tblPr/>
              <a:tblGrid>
                <a:gridCol w="1152127"/>
                <a:gridCol w="3528392"/>
                <a:gridCol w="3600400"/>
              </a:tblGrid>
              <a:tr h="288032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+mn-ea"/>
                          <a:ea typeface="+mn-ea"/>
                        </a:rPr>
                        <a:t>RAG (Retrieval-Augmented Generation)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+mn-ea"/>
                          <a:ea typeface="+mn-ea"/>
                        </a:rPr>
                        <a:t>NL2SQL (Natural Language to SQL)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31499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문서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지식베이스에서 관련 정보를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검색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(Retrieval)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후 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LLM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이 답변을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생성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(Generation)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자연어 질문을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SQL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로 변환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해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에서 조회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하고 결과를 반환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1499"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데이터 소스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비정형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반정형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 문서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매뉴얼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PDF,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위키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로그 등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+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벡터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DB/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검색엔진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정형 데이터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컬럼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관계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) + RDB/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데이터웨어하우스</a:t>
                      </a:r>
                      <a:endParaRPr lang="ko-KR" altLang="en-US" sz="900" b="1" dirty="0">
                        <a:latin typeface="+mn-ea"/>
                        <a:ea typeface="+mn-ea"/>
                      </a:endParaRP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845"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처리 흐름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질의 → 관련 문서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청크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검색 →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컨텍스트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주입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→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답변 생성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질의 → 스키마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메타정보 기반 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SQL 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생성 → 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DB 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실행 → 결과 반환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또는 요약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4121"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출력 형태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자연어 답변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근거 문서 인용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출처 포함 가능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SQL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쿼리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실행 결과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표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집계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또는 결과 요약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845"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강점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문서 기반 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Q&amp;A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에 강함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최신 문서 반영 쉬움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출처 제공 가능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정확한 수치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집계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필터링에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 강함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DB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의 정합성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권한 체계 활용 가능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1499"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한계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리스크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검색 품질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청킹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임베딩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인덱싱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에 따라 답변 품질이 크게 좌우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환각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가능성 관리 필요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잘못된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SQL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생성 위험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스키마 이해 필요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),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권한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보안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데이터 노출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통제 필수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1499">
                <a:tc>
                  <a:txBody>
                    <a:bodyPr/>
                    <a:lstStyle/>
                    <a:p>
                      <a:r>
                        <a:rPr lang="ko-KR" altLang="en-US" sz="900">
                          <a:latin typeface="+mn-ea"/>
                          <a:ea typeface="+mn-ea"/>
                        </a:rPr>
                        <a:t>적합한 사용 사례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정책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매뉴얼 질의응답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endParaRPr lang="en-US" altLang="ko-KR" sz="900" b="1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상담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헬프데스크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기술문서 검색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사내 지식검색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매출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지표 조회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리포팅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 err="1">
                          <a:latin typeface="+mn-ea"/>
                          <a:ea typeface="+mn-ea"/>
                        </a:rPr>
                        <a:t>대시보드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 질의</a:t>
                      </a:r>
                      <a:r>
                        <a:rPr lang="en-US" altLang="ko-KR" sz="9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운영 </a:t>
                      </a:r>
                      <a:r>
                        <a:rPr lang="ko-KR" altLang="en-US" sz="900" b="1" dirty="0"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분석</a:t>
                      </a:r>
                      <a:endParaRPr lang="en-US" altLang="ko-KR" sz="900" b="1" dirty="0">
                        <a:latin typeface="+mn-ea"/>
                        <a:ea typeface="+mn-ea"/>
                      </a:endParaRP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1499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필요한 구성요소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청킹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임베딩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색인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벡터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DB/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검색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재랭킹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프롬프트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출처 처리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스키마 정보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컬럼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조인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), SQL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생성 모델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규칙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Executor,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쿼리 검증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가드레일</a:t>
                      </a: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9166"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구별 방법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일부 관련 정보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검색된 </a:t>
                      </a:r>
                      <a:r>
                        <a:rPr lang="ko-KR" altLang="en-US" sz="900" b="1" dirty="0" err="1" smtClean="0">
                          <a:latin typeface="+mn-ea"/>
                          <a:ea typeface="+mn-ea"/>
                        </a:rPr>
                        <a:t>컨텍스트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기반 생성</a:t>
                      </a:r>
                      <a:endParaRPr lang="ko-KR" altLang="en-US" sz="900" b="1" dirty="0">
                        <a:latin typeface="+mn-ea"/>
                        <a:ea typeface="+mn-ea"/>
                      </a:endParaRP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의 원천 데이터에서 조회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집계로 정답 산출</a:t>
                      </a:r>
                      <a:endParaRPr lang="ko-KR" altLang="en-US" sz="900" b="1" dirty="0">
                        <a:latin typeface="+mn-ea"/>
                        <a:ea typeface="+mn-ea"/>
                      </a:endParaRPr>
                    </a:p>
                  </a:txBody>
                  <a:tcPr marL="45222" marR="45222" marT="22611" marB="2261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791580" y="5929535"/>
            <a:ext cx="76328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+mn-ea"/>
              </a:rPr>
              <a:t>RAG</a:t>
            </a:r>
            <a:r>
              <a:rPr lang="ko-KR" altLang="en-US" sz="1400" dirty="0">
                <a:latin typeface="+mn-ea"/>
              </a:rPr>
              <a:t>와 </a:t>
            </a:r>
            <a:r>
              <a:rPr lang="en-US" altLang="ko-KR" sz="1400" dirty="0">
                <a:latin typeface="+mn-ea"/>
              </a:rPr>
              <a:t>NL2SQL</a:t>
            </a:r>
            <a:r>
              <a:rPr lang="ko-KR" altLang="en-US" sz="1400" dirty="0">
                <a:latin typeface="+mn-ea"/>
              </a:rPr>
              <a:t>은 </a:t>
            </a:r>
            <a:r>
              <a:rPr lang="ko-KR" altLang="en-US" sz="1400" b="1" u="sng" dirty="0">
                <a:latin typeface="+mn-ea"/>
              </a:rPr>
              <a:t>목적과 데이터 소스가 다르므로</a:t>
            </a:r>
            <a:r>
              <a:rPr lang="en-US" altLang="ko-KR" sz="1400" b="1" u="sng" dirty="0">
                <a:latin typeface="+mn-ea"/>
              </a:rPr>
              <a:t>, </a:t>
            </a:r>
            <a:r>
              <a:rPr lang="ko-KR" altLang="en-US" sz="1400" b="1" u="sng" dirty="0">
                <a:latin typeface="+mn-ea"/>
              </a:rPr>
              <a:t>요구사항에 맞게 구분해서 적용</a:t>
            </a:r>
            <a:r>
              <a:rPr lang="ko-KR" altLang="en-US" sz="1400" dirty="0">
                <a:latin typeface="+mn-ea"/>
              </a:rPr>
              <a:t>해야 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003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Search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Search API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/search5</a:t>
            </a:r>
          </a:p>
          <a:p>
            <a:r>
              <a:rPr lang="en-US" altLang="ko-KR" sz="1400" dirty="0" smtClean="0">
                <a:latin typeface="+mn-ea"/>
              </a:rPr>
              <a:t>BM25</a:t>
            </a:r>
            <a:r>
              <a:rPr lang="ko-KR" altLang="en-US" sz="1400" dirty="0" smtClean="0">
                <a:latin typeface="+mn-ea"/>
              </a:rPr>
              <a:t>검색에서 사용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검색엔진 기본 제공 </a:t>
            </a:r>
            <a:r>
              <a:rPr lang="en-US" altLang="ko-KR" sz="1400" dirty="0" smtClean="0">
                <a:latin typeface="+mn-ea"/>
              </a:rPr>
              <a:t>search </a:t>
            </a:r>
            <a:r>
              <a:rPr lang="en-US" altLang="ko-KR" sz="1400" dirty="0" err="1" smtClean="0">
                <a:latin typeface="+mn-ea"/>
              </a:rPr>
              <a:t>api</a:t>
            </a:r>
            <a:r>
              <a:rPr lang="en-US" altLang="ko-KR" sz="1400" dirty="0" smtClean="0">
                <a:latin typeface="+mn-ea"/>
              </a:rPr>
              <a:t>. </a:t>
            </a:r>
          </a:p>
          <a:p>
            <a:r>
              <a:rPr lang="en-US" altLang="ko-KR" sz="1400" dirty="0" smtClean="0">
                <a:latin typeface="+mn-ea"/>
              </a:rPr>
              <a:t>RAG</a:t>
            </a:r>
            <a:r>
              <a:rPr lang="ko-KR" altLang="en-US" sz="1400" dirty="0" smtClean="0">
                <a:latin typeface="+mn-ea"/>
              </a:rPr>
              <a:t>에서는 아래와 같은 쿼리 실행 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en-US" altLang="ko-KR" sz="1400" dirty="0" err="1" smtClean="0">
                <a:latin typeface="+mn-ea"/>
              </a:rPr>
              <a:t>url</a:t>
            </a:r>
            <a:r>
              <a:rPr lang="en-US" altLang="ko-KR" sz="1400" dirty="0" smtClean="0">
                <a:latin typeface="+mn-ea"/>
              </a:rPr>
              <a:t> encoding </a:t>
            </a:r>
            <a:r>
              <a:rPr lang="ko-KR" altLang="en-US" sz="1400" dirty="0" smtClean="0">
                <a:latin typeface="+mn-ea"/>
              </a:rPr>
              <a:t>필수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예시에서는 편의상 생략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en-US" altLang="ko-KR" sz="1400" b="1" dirty="0" smtClean="0">
                <a:latin typeface="+mn-ea"/>
              </a:rPr>
              <a:t>/</a:t>
            </a:r>
            <a:r>
              <a:rPr lang="en-US" altLang="ko-KR" sz="1400" b="1" dirty="0" err="1" smtClean="0">
                <a:latin typeface="+mn-ea"/>
              </a:rPr>
              <a:t>ksm</a:t>
            </a:r>
            <a:r>
              <a:rPr lang="en-US" altLang="ko-KR" sz="1400" b="1" dirty="0" smtClean="0">
                <a:latin typeface="+mn-ea"/>
              </a:rPr>
              <a:t>/rag/v5/search</a:t>
            </a:r>
          </a:p>
          <a:p>
            <a:r>
              <a:rPr lang="en-US" altLang="ko-KR" sz="1400" dirty="0" smtClean="0">
                <a:latin typeface="+mn-ea"/>
              </a:rPr>
              <a:t>Keyword/Vector</a:t>
            </a:r>
            <a:r>
              <a:rPr lang="ko-KR" altLang="en-US" sz="1400" dirty="0" smtClean="0">
                <a:latin typeface="+mn-ea"/>
              </a:rPr>
              <a:t>검색에서 사용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RAG</a:t>
            </a:r>
            <a:r>
              <a:rPr lang="ko-KR" altLang="en-US" sz="1400" dirty="0" smtClean="0">
                <a:latin typeface="+mn-ea"/>
              </a:rPr>
              <a:t>에 특화된 검색을 수행하는 </a:t>
            </a:r>
            <a:r>
              <a:rPr lang="en-US" altLang="ko-KR" sz="1400" dirty="0" smtClean="0">
                <a:latin typeface="+mn-ea"/>
              </a:rPr>
              <a:t>API</a:t>
            </a:r>
          </a:p>
          <a:p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단위로 색인된 볼륨을 검색하여 결과 반환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지원 </a:t>
            </a:r>
            <a:r>
              <a:rPr lang="en-US" altLang="ko-KR" sz="1400" dirty="0" smtClean="0">
                <a:latin typeface="+mn-ea"/>
              </a:rPr>
              <a:t>method: GET, POST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8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71472" y="2356290"/>
            <a:ext cx="7929618" cy="9286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50" dirty="0" smtClean="0">
                <a:latin typeface="+mj-ea"/>
                <a:ea typeface="+mj-ea"/>
              </a:rPr>
              <a:t>GET /search5?select=chunk, cid, </a:t>
            </a:r>
            <a:r>
              <a:rPr lang="en-US" altLang="ko-KR" sz="1050" dirty="0" err="1" smtClean="0">
                <a:latin typeface="+mj-ea"/>
                <a:ea typeface="+mj-ea"/>
              </a:rPr>
              <a:t>prev_cid</a:t>
            </a:r>
            <a:r>
              <a:rPr lang="en-US" altLang="ko-KR" sz="1050" dirty="0" smtClean="0">
                <a:latin typeface="+mj-ea"/>
                <a:ea typeface="+mj-ea"/>
              </a:rPr>
              <a:t>, </a:t>
            </a:r>
            <a:r>
              <a:rPr lang="en-US" altLang="ko-KR" sz="1050" dirty="0" err="1" smtClean="0">
                <a:latin typeface="+mj-ea"/>
                <a:ea typeface="+mj-ea"/>
              </a:rPr>
              <a:t>next_cid</a:t>
            </a:r>
            <a:r>
              <a:rPr lang="en-US" altLang="ko-KR" sz="1050" dirty="0" smtClean="0">
                <a:latin typeface="+mj-ea"/>
                <a:ea typeface="+mj-ea"/>
              </a:rPr>
              <a:t>, title, </a:t>
            </a:r>
            <a:r>
              <a:rPr lang="en-US" altLang="ko-KR" sz="1050" dirty="0" err="1" smtClean="0">
                <a:latin typeface="+mj-ea"/>
                <a:ea typeface="+mj-ea"/>
              </a:rPr>
              <a:t>pgno</a:t>
            </a:r>
            <a:r>
              <a:rPr lang="en-US" altLang="ko-KR" sz="1050" dirty="0" smtClean="0">
                <a:latin typeface="+mj-ea"/>
                <a:ea typeface="+mj-ea"/>
              </a:rPr>
              <a:t>, </a:t>
            </a:r>
            <a:r>
              <a:rPr lang="en-US" altLang="ko-KR" sz="1050" dirty="0" err="1" smtClean="0">
                <a:latin typeface="+mj-ea"/>
                <a:ea typeface="+mj-ea"/>
              </a:rPr>
              <a:t>uuid</a:t>
            </a:r>
            <a:r>
              <a:rPr lang="en-US" altLang="ko-KR" sz="1050" dirty="0" smtClean="0">
                <a:latin typeface="+mj-ea"/>
                <a:ea typeface="+mj-ea"/>
              </a:rPr>
              <a:t>, </a:t>
            </a:r>
            <a:r>
              <a:rPr lang="en-US" altLang="ko-KR" sz="1050" dirty="0" err="1" smtClean="0">
                <a:latin typeface="+mj-ea"/>
                <a:ea typeface="+mj-ea"/>
              </a:rPr>
              <a:t>url,createdAt,updated,reporter&amp;from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en-US" altLang="ko-KR" sz="1050" dirty="0" err="1" smtClean="0">
                <a:latin typeface="+mj-ea"/>
                <a:ea typeface="+mj-ea"/>
              </a:rPr>
              <a:t>ragx_zeus.tabc&amp;where</a:t>
            </a:r>
            <a:r>
              <a:rPr lang="en-US" altLang="ko-KR" sz="1050" dirty="0" smtClean="0">
                <a:latin typeface="+mj-ea"/>
                <a:ea typeface="+mj-ea"/>
              </a:rPr>
              <a:t>=(chunk=‘</a:t>
            </a:r>
            <a:r>
              <a:rPr lang="ko-KR" altLang="en-US" sz="1050" dirty="0" smtClean="0">
                <a:latin typeface="+mj-ea"/>
                <a:ea typeface="+mj-ea"/>
              </a:rPr>
              <a:t>검색엔진에서 오류가 나는데 어떤 로그를 </a:t>
            </a:r>
            <a:r>
              <a:rPr lang="ko-KR" altLang="en-US" sz="1050" dirty="0" err="1" smtClean="0">
                <a:latin typeface="+mj-ea"/>
                <a:ea typeface="+mj-ea"/>
              </a:rPr>
              <a:t>확인해야하나요</a:t>
            </a:r>
            <a:r>
              <a:rPr lang="en-US" altLang="ko-KR" sz="1050" dirty="0" smtClean="0">
                <a:latin typeface="+mj-ea"/>
                <a:ea typeface="+mj-ea"/>
              </a:rPr>
              <a:t>' natural) - ($</a:t>
            </a:r>
            <a:r>
              <a:rPr lang="en-US" altLang="ko-KR" sz="1050" dirty="0" err="1" smtClean="0">
                <a:latin typeface="+mj-ea"/>
                <a:ea typeface="+mj-ea"/>
              </a:rPr>
              <a:t>relscore</a:t>
            </a:r>
            <a:r>
              <a:rPr lang="en-US" altLang="ko-KR" sz="1050" dirty="0" smtClean="0">
                <a:latin typeface="+mj-ea"/>
                <a:ea typeface="+mj-ea"/>
              </a:rPr>
              <a:t> &lt; 0.0) order by $RELEVANCE </a:t>
            </a:r>
            <a:r>
              <a:rPr lang="en-US" altLang="ko-KR" sz="1050" dirty="0" err="1" smtClean="0">
                <a:latin typeface="+mj-ea"/>
                <a:ea typeface="+mj-ea"/>
              </a:rPr>
              <a:t>desc&amp;default-hilite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en-US" altLang="ko-KR" sz="1050" dirty="0" err="1" smtClean="0">
                <a:latin typeface="+mj-ea"/>
                <a:ea typeface="+mj-ea"/>
              </a:rPr>
              <a:t>off&amp;offset</a:t>
            </a:r>
            <a:r>
              <a:rPr lang="en-US" altLang="ko-KR" sz="1050" dirty="0" smtClean="0">
                <a:latin typeface="+mj-ea"/>
                <a:ea typeface="+mj-ea"/>
              </a:rPr>
              <a:t>=0&amp;limit=30&amp;pagelength=10000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71472" y="5164602"/>
            <a:ext cx="7929618" cy="9286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50" dirty="0" smtClean="0">
                <a:latin typeface="+mj-ea"/>
                <a:ea typeface="+mj-ea"/>
              </a:rPr>
              <a:t>GET /</a:t>
            </a:r>
            <a:r>
              <a:rPr lang="en-US" altLang="ko-KR" sz="1050" dirty="0" err="1" smtClean="0">
                <a:latin typeface="+mj-ea"/>
                <a:ea typeface="+mj-ea"/>
              </a:rPr>
              <a:t>ksm</a:t>
            </a:r>
            <a:r>
              <a:rPr lang="en-US" altLang="ko-KR" sz="1050" dirty="0" smtClean="0">
                <a:latin typeface="+mj-ea"/>
                <a:ea typeface="+mj-ea"/>
              </a:rPr>
              <a:t>/rag/v5/</a:t>
            </a:r>
            <a:r>
              <a:rPr lang="en-US" altLang="ko-KR" sz="1050" dirty="0" err="1" smtClean="0">
                <a:latin typeface="+mj-ea"/>
                <a:ea typeface="+mj-ea"/>
              </a:rPr>
              <a:t>search?text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ko-KR" altLang="en-US" sz="1050" dirty="0" smtClean="0">
                <a:latin typeface="+mj-ea"/>
              </a:rPr>
              <a:t> 검색엔진에서 오류가 나는데 어떤 로그를 </a:t>
            </a:r>
            <a:r>
              <a:rPr lang="ko-KR" altLang="en-US" sz="1050" dirty="0" err="1" smtClean="0">
                <a:latin typeface="+mj-ea"/>
              </a:rPr>
              <a:t>확인해야하나요</a:t>
            </a:r>
            <a:r>
              <a:rPr lang="ko-KR" altLang="en-US" sz="1050" dirty="0" smtClean="0">
                <a:latin typeface="+mj-ea"/>
              </a:rPr>
              <a:t> </a:t>
            </a:r>
            <a:r>
              <a:rPr lang="en-US" altLang="ko-KR" sz="1050" dirty="0" smtClean="0">
                <a:latin typeface="+mj-ea"/>
                <a:ea typeface="+mj-ea"/>
              </a:rPr>
              <a:t>&amp;</a:t>
            </a:r>
            <a:r>
              <a:rPr lang="en-US" altLang="ko-KR" sz="1050" dirty="0" err="1" smtClean="0">
                <a:latin typeface="+mj-ea"/>
                <a:ea typeface="+mj-ea"/>
              </a:rPr>
              <a:t>topk</a:t>
            </a:r>
            <a:r>
              <a:rPr lang="en-US" altLang="ko-KR" sz="1050" dirty="0" smtClean="0">
                <a:latin typeface="+mj-ea"/>
                <a:ea typeface="+mj-ea"/>
              </a:rPr>
              <a:t>=30&amp;rr=0&amp;threshold=0.5&amp;embedding=embedding-10&amp;llmyn=0&amp;vk=2&amp;relscore=0.0&amp;ro=</a:t>
            </a:r>
            <a:r>
              <a:rPr lang="en-US" altLang="ko-KR" sz="1050" dirty="0" err="1" smtClean="0">
                <a:latin typeface="+mj-ea"/>
                <a:ea typeface="+mj-ea"/>
              </a:rPr>
              <a:t>kwd&amp;vols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en-US" altLang="ko-KR" sz="1050" dirty="0" err="1" smtClean="0">
                <a:latin typeface="+mj-ea"/>
                <a:ea typeface="+mj-ea"/>
              </a:rPr>
              <a:t>ragx_zeus&amp;userid</a:t>
            </a:r>
            <a:r>
              <a:rPr lang="en-US" altLang="ko-KR" sz="1050" dirty="0" smtClean="0">
                <a:latin typeface="+mj-ea"/>
                <a:ea typeface="+mj-ea"/>
              </a:rPr>
              <a:t>=&amp;</a:t>
            </a:r>
            <a:r>
              <a:rPr lang="en-US" altLang="ko-KR" sz="1050" dirty="0" err="1" smtClean="0">
                <a:latin typeface="+mj-ea"/>
                <a:ea typeface="+mj-ea"/>
              </a:rPr>
              <a:t>customfields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en-US" altLang="ko-KR" sz="1050" dirty="0" err="1" smtClean="0">
                <a:latin typeface="+mj-ea"/>
                <a:ea typeface="+mj-ea"/>
              </a:rPr>
              <a:t>url,createdAt,updated,reporter</a:t>
            </a:r>
            <a:endParaRPr lang="en-US" altLang="ko-KR" sz="1050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en-US" altLang="ko-KR" dirty="0" err="1" smtClean="0">
                <a:latin typeface="+mn-ea"/>
                <a:ea typeface="+mn-ea"/>
              </a:rPr>
              <a:t>ksm</a:t>
            </a:r>
            <a:r>
              <a:rPr lang="en-US" altLang="ko-KR" dirty="0" smtClean="0">
                <a:latin typeface="+mn-ea"/>
                <a:ea typeface="+mn-ea"/>
              </a:rPr>
              <a:t>/rag/v5/search </a:t>
            </a:r>
            <a:r>
              <a:rPr lang="en-US" altLang="ko-KR" dirty="0" err="1" smtClean="0">
                <a:latin typeface="+mn-ea"/>
                <a:ea typeface="+mn-ea"/>
              </a:rPr>
              <a:t>api</a:t>
            </a:r>
            <a:r>
              <a:rPr lang="en-US" altLang="ko-KR" dirty="0" smtClean="0">
                <a:latin typeface="+mn-ea"/>
                <a:ea typeface="+mn-ea"/>
              </a:rPr>
              <a:t> Parameter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400" dirty="0" smtClean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9</a:t>
            </a:fld>
            <a:endParaRPr lang="ko-KR" altLang="en-US" dirty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686192"/>
              </p:ext>
            </p:extLst>
          </p:nvPr>
        </p:nvGraphicFramePr>
        <p:xfrm>
          <a:off x="106746" y="1128098"/>
          <a:ext cx="8929750" cy="5093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960934"/>
                <a:gridCol w="1656184"/>
                <a:gridCol w="3312368"/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입력인자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타입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설명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예시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필수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선택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text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사용자 질의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"</a:t>
                      </a:r>
                      <a:r>
                        <a:rPr lang="ko-KR" altLang="en-US" sz="900" dirty="0"/>
                        <a:t>주민등록 초본 받을 때 필요한 서류는</a:t>
                      </a:r>
                      <a:r>
                        <a:rPr lang="en-US" altLang="ko-KR" sz="900" dirty="0"/>
                        <a:t>?"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필수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vols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검색할 볼륨 목록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"laws2,qamois" (</a:t>
                      </a:r>
                      <a:r>
                        <a:rPr lang="ko-KR" altLang="en-US" sz="900"/>
                        <a:t>콤마</a:t>
                      </a:r>
                      <a:r>
                        <a:rPr lang="en-US" altLang="ko-KR" sz="900"/>
                        <a:t>(,)</a:t>
                      </a:r>
                      <a:r>
                        <a:rPr lang="ko-KR" altLang="en-US" sz="900"/>
                        <a:t>로 구분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userid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/>
                        <a:t>''</a:t>
                      </a:r>
                      <a:r>
                        <a:rPr lang="ko-KR" altLang="en-US" sz="900" dirty="0"/>
                        <a:t>이면 필수</a:t>
                      </a:r>
                      <a:r>
                        <a:rPr lang="en-US" altLang="ko-KR" sz="900" dirty="0"/>
                        <a:t>. </a:t>
                      </a:r>
                      <a:r>
                        <a:rPr lang="en-US" altLang="ko-KR" sz="900" dirty="0" err="1"/>
                        <a:t>vols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 err="1"/>
                        <a:t>userid</a:t>
                      </a:r>
                      <a:r>
                        <a:rPr lang="ko-KR" altLang="en-US" sz="900" dirty="0"/>
                        <a:t>에 우선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userid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사용자 </a:t>
                      </a:r>
                      <a:r>
                        <a:rPr lang="en-US" sz="900" dirty="0"/>
                        <a:t>ID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"demo5@konantech.com"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vols</a:t>
                      </a:r>
                      <a:r>
                        <a:rPr lang="ko-KR" altLang="en-US" sz="900" dirty="0"/>
                        <a:t>가 ‘</a:t>
                      </a:r>
                      <a:r>
                        <a:rPr lang="en-US" altLang="ko-KR" sz="900" dirty="0"/>
                        <a:t>'</a:t>
                      </a:r>
                      <a:r>
                        <a:rPr lang="ko-KR" altLang="en-US" sz="900" dirty="0"/>
                        <a:t>이면 필수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en-US" altLang="ko-KR" sz="900" dirty="0" err="1"/>
                        <a:t>vols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/>
                        <a:t>'’</a:t>
                      </a:r>
                      <a:r>
                        <a:rPr lang="ko-KR" altLang="en-US" sz="900" dirty="0"/>
                        <a:t>일 때 검색할 볼륨을 </a:t>
                      </a:r>
                      <a:r>
                        <a:rPr lang="en-US" altLang="ko-KR" sz="900" dirty="0"/>
                        <a:t>ID</a:t>
                      </a:r>
                      <a:r>
                        <a:rPr lang="ko-KR" altLang="en-US" sz="900" dirty="0"/>
                        <a:t>기반으로 결정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여러 </a:t>
                      </a:r>
                      <a:r>
                        <a:rPr lang="en-US" altLang="ko-KR" sz="900" dirty="0"/>
                        <a:t>ID</a:t>
                      </a:r>
                      <a:r>
                        <a:rPr lang="ko-KR" altLang="en-US" sz="900" dirty="0"/>
                        <a:t>를 넣을 때는 콤마</a:t>
                      </a:r>
                      <a:r>
                        <a:rPr lang="en-US" altLang="ko-KR" sz="900" dirty="0"/>
                        <a:t>(,)</a:t>
                      </a:r>
                      <a:r>
                        <a:rPr lang="ko-KR" altLang="en-US" sz="900" dirty="0"/>
                        <a:t>로 구분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customfields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/>
                        <a:t>커스텀</a:t>
                      </a:r>
                      <a:r>
                        <a:rPr lang="ko-KR" altLang="en-US" sz="900" dirty="0"/>
                        <a:t> 필드 목록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"</a:t>
                      </a:r>
                      <a:r>
                        <a:rPr lang="en-US" sz="900" dirty="0" err="1"/>
                        <a:t>depname,class,no</a:t>
                      </a:r>
                      <a:r>
                        <a:rPr lang="en-US" sz="900" dirty="0"/>
                        <a:t>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("")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topk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chunk</a:t>
                      </a:r>
                      <a:r>
                        <a:rPr lang="ko-KR" altLang="en-US" sz="900" dirty="0"/>
                        <a:t>를 몇 개 가져올지 지정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:3)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threshold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float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벡터 검색 시 거리 차가 </a:t>
                      </a:r>
                      <a:endParaRPr lang="en-US" altLang="ko-KR" sz="900" dirty="0" smtClean="0"/>
                    </a:p>
                    <a:p>
                      <a:r>
                        <a:rPr lang="en-US" altLang="ko-KR" sz="900" dirty="0" smtClean="0"/>
                        <a:t>threshold </a:t>
                      </a:r>
                      <a:r>
                        <a:rPr lang="ko-KR" altLang="en-US" sz="900" dirty="0"/>
                        <a:t>이상인 것은 버림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0.2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 0.135) \\ - </a:t>
                      </a:r>
                      <a:r>
                        <a:rPr lang="ko-KR" altLang="en-US" sz="900" dirty="0"/>
                        <a:t>숫자가 크면 덜 유사해도 </a:t>
                      </a:r>
                      <a:r>
                        <a:rPr lang="ko-KR" altLang="en-US" sz="900" dirty="0" err="1"/>
                        <a:t>결과나옴</a:t>
                      </a:r>
                      <a:endParaRPr lang="ko-KR" alt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embedding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벡터 </a:t>
                      </a:r>
                      <a:r>
                        <a:rPr lang="ko-KR" altLang="en-US" sz="900" dirty="0" err="1"/>
                        <a:t>임베딩</a:t>
                      </a:r>
                      <a:r>
                        <a:rPr lang="ko-KR" altLang="en-US" sz="900" dirty="0"/>
                        <a:t> 이름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“embedding-10”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 “embedding-10”. </a:t>
                      </a:r>
                      <a:r>
                        <a:rPr lang="ko-KR" altLang="en-US" sz="900" dirty="0"/>
                        <a:t>파일 색인 시 사용한 </a:t>
                      </a:r>
                      <a:r>
                        <a:rPr lang="ko-KR" altLang="en-US" sz="900" dirty="0" err="1"/>
                        <a:t>임베딩</a:t>
                      </a:r>
                      <a:r>
                        <a:rPr lang="ko-KR" altLang="en-US" sz="900" dirty="0"/>
                        <a:t> 값과 맞춰줘야 합니다</a:t>
                      </a:r>
                      <a:r>
                        <a:rPr lang="en-US" altLang="ko-KR" sz="900" dirty="0"/>
                        <a:t>.)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method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키워드 검색 시 사용할 </a:t>
                      </a:r>
                      <a:r>
                        <a:rPr lang="ko-KR" altLang="en-US" sz="900" dirty="0" err="1"/>
                        <a:t>메서드</a:t>
                      </a:r>
                      <a:endParaRPr lang="ko-KR" alt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(0,1,2</a:t>
                      </a:r>
                      <a:r>
                        <a:rPr lang="ko-KR" altLang="en-US" sz="900" dirty="0"/>
                        <a:t>가능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:0) \\ - </a:t>
                      </a:r>
                      <a:r>
                        <a:rPr lang="ko-KR" altLang="en-US" sz="900" dirty="0"/>
                        <a:t>숫자가 클수록 엄격한 </a:t>
                      </a:r>
                      <a:r>
                        <a:rPr lang="ko-KR" altLang="en-US" sz="900" dirty="0" err="1"/>
                        <a:t>검색메서드</a:t>
                      </a:r>
                      <a:r>
                        <a:rPr lang="ko-KR" altLang="en-US" sz="900" dirty="0"/>
                        <a:t> 사용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vk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int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키워드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벡터 검색 방식 중 선택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(0,1,2 </a:t>
                      </a:r>
                      <a:r>
                        <a:rPr lang="ko-KR" altLang="en-US" sz="900" dirty="0"/>
                        <a:t>가능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 0)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- 0: </a:t>
                      </a:r>
                      <a:r>
                        <a:rPr lang="ko-KR" altLang="en-US" sz="900" dirty="0"/>
                        <a:t>키워드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벡터 모두 이용 검색 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HyDE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사용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- 1: </a:t>
                      </a:r>
                      <a:r>
                        <a:rPr lang="ko-KR" altLang="en-US" sz="900" dirty="0"/>
                        <a:t>벡터 검색만 이용</a:t>
                      </a:r>
                      <a:r>
                        <a:rPr lang="en-US" altLang="ko-KR" sz="900" dirty="0"/>
                        <a:t>. (</a:t>
                      </a:r>
                      <a:r>
                        <a:rPr lang="en-US" altLang="ko-KR" sz="900" dirty="0" err="1"/>
                        <a:t>HyDE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사용하지 않음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- 2: </a:t>
                      </a:r>
                      <a:r>
                        <a:rPr lang="ko-KR" altLang="en-US" sz="900" dirty="0"/>
                        <a:t>키워드 검색만 이용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synfile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사용자 동의어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표제어 방식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사전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""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:""(</a:t>
                      </a:r>
                      <a:r>
                        <a:rPr lang="ko-KR" altLang="en-US" sz="900" dirty="0" err="1"/>
                        <a:t>미적용</a:t>
                      </a:r>
                      <a:r>
                        <a:rPr lang="en-US" altLang="ko-KR" sz="900" dirty="0"/>
                        <a:t>))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relscore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float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적합도 “</a:t>
                      </a:r>
                      <a:r>
                        <a:rPr lang="ko-KR" altLang="en-US" sz="900" dirty="0" err="1"/>
                        <a:t>상대값</a:t>
                      </a:r>
                      <a:r>
                        <a:rPr lang="ko-KR" altLang="en-US" sz="900" dirty="0"/>
                        <a:t>”에 의한 </a:t>
                      </a:r>
                      <a:r>
                        <a:rPr lang="ko-KR" altLang="en-US" sz="900" dirty="0" err="1"/>
                        <a:t>필터링</a:t>
                      </a:r>
                      <a:endParaRPr lang="ko-KR" alt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0.5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:0.0. [0.0~1.0] </a:t>
                      </a:r>
                      <a:r>
                        <a:rPr lang="ko-KR" altLang="en-US" sz="900" dirty="0"/>
                        <a:t>사이 선택 가능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적합도 </a:t>
                      </a:r>
                      <a:r>
                        <a:rPr lang="en-US" altLang="ko-KR" sz="900" dirty="0"/>
                        <a:t>min-max </a:t>
                      </a:r>
                      <a:r>
                        <a:rPr lang="ko-KR" altLang="en-US" sz="900" dirty="0"/>
                        <a:t>스케일링 값에 따라 </a:t>
                      </a:r>
                      <a:r>
                        <a:rPr lang="en-US" altLang="ko-KR" sz="900" dirty="0" err="1"/>
                        <a:t>relscore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이하인 결과 버림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userfilter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사용자권한 필터링 조건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/>
                        <a:t>createdAt</a:t>
                      </a:r>
                      <a:r>
                        <a:rPr lang="en-US" sz="900" baseline="0" dirty="0" smtClean="0"/>
                        <a:t> between 20250101 000000and 20261231235959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br>
                        <a:rPr lang="ko-KR" altLang="en-US" sz="900" dirty="0"/>
                      </a:br>
                      <a:r>
                        <a:rPr lang="en-US" altLang="ko-KR" sz="900" dirty="0"/>
                        <a:t>※ </a:t>
                      </a:r>
                      <a:r>
                        <a:rPr lang="ko-KR" altLang="en-US" sz="900" dirty="0"/>
                        <a:t>인자는 </a:t>
                      </a:r>
                      <a:r>
                        <a:rPr lang="en-US" altLang="ko-KR" sz="900" dirty="0"/>
                        <a:t>URL</a:t>
                      </a:r>
                      <a:r>
                        <a:rPr lang="ko-KR" altLang="en-US" sz="900" dirty="0" err="1"/>
                        <a:t>인코딩</a:t>
                      </a:r>
                      <a:r>
                        <a:rPr lang="ko-KR" altLang="en-US" sz="900" dirty="0"/>
                        <a:t> 후 전달해야 함</a:t>
                      </a:r>
                      <a:r>
                        <a:rPr lang="en-US" altLang="ko-KR" sz="900" dirty="0"/>
                        <a:t>.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en-US" altLang="ko-KR" dirty="0" err="1" smtClean="0"/>
              <a:t>KEyword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Keyword </a:t>
            </a:r>
            <a:r>
              <a:rPr lang="ko-KR" altLang="en-US" dirty="0" smtClean="0">
                <a:latin typeface="+mn-ea"/>
                <a:ea typeface="+mn-ea"/>
              </a:rPr>
              <a:t>검색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Keyword </a:t>
            </a:r>
            <a:r>
              <a:rPr lang="ko-KR" altLang="en-US" sz="1600" b="1" dirty="0" smtClean="0">
                <a:latin typeface="+mn-ea"/>
              </a:rPr>
              <a:t>검색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설정한 볼륨의 </a:t>
            </a:r>
            <a:r>
              <a:rPr lang="en-US" altLang="ko-KR" sz="1400" b="1" dirty="0" err="1" smtClean="0">
                <a:latin typeface="+mn-ea"/>
              </a:rPr>
              <a:t>tabc</a:t>
            </a:r>
            <a:r>
              <a:rPr lang="ko-KR" altLang="en-US" sz="1400" dirty="0" smtClean="0">
                <a:latin typeface="+mn-ea"/>
              </a:rPr>
              <a:t>테이블을 대상으로 검색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title/chunk/lines</a:t>
            </a:r>
            <a:r>
              <a:rPr lang="ko-KR" altLang="en-US" sz="1400" dirty="0" smtClean="0">
                <a:latin typeface="+mn-ea"/>
              </a:rPr>
              <a:t>필드를 대상으로 검색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en-US" altLang="ko-KR" sz="1400" b="1" dirty="0">
                <a:latin typeface="+mn-ea"/>
              </a:rPr>
              <a:t>lines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필드는 </a:t>
            </a:r>
            <a:r>
              <a:rPr lang="en-US" altLang="ko-KR" sz="1400" dirty="0">
                <a:latin typeface="+mn-ea"/>
              </a:rPr>
              <a:t>chunk</a:t>
            </a:r>
            <a:r>
              <a:rPr lang="ko-KR" altLang="en-US" sz="1400" dirty="0">
                <a:latin typeface="+mn-ea"/>
              </a:rPr>
              <a:t>를 </a:t>
            </a:r>
            <a:r>
              <a:rPr lang="ko-KR" altLang="en-US" sz="1400" b="1" dirty="0">
                <a:latin typeface="+mn-ea"/>
              </a:rPr>
              <a:t>라인 단위로 분리해 </a:t>
            </a:r>
            <a:r>
              <a:rPr lang="ko-KR" altLang="en-US" sz="1400" b="1" dirty="0" err="1">
                <a:latin typeface="+mn-ea"/>
              </a:rPr>
              <a:t>색인</a:t>
            </a:r>
            <a:r>
              <a:rPr lang="ko-KR" altLang="en-US" sz="1400" dirty="0" err="1">
                <a:latin typeface="+mn-ea"/>
              </a:rPr>
              <a:t>한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필드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입력된 질의문의 키워드가 </a:t>
            </a:r>
            <a:r>
              <a:rPr lang="ko-KR" altLang="en-US" sz="1400" b="1" dirty="0">
                <a:latin typeface="+mn-ea"/>
              </a:rPr>
              <a:t>동일 라인 내에서 출현 빈도가 높을수록</a:t>
            </a:r>
            <a:r>
              <a:rPr lang="ko-KR" altLang="en-US" sz="1400" dirty="0">
                <a:latin typeface="+mn-ea"/>
              </a:rPr>
              <a:t> 더 높은 가중치를 부여하기 위해 </a:t>
            </a:r>
            <a:r>
              <a:rPr lang="ko-KR" altLang="en-US" sz="1400" dirty="0" smtClean="0">
                <a:latin typeface="+mn-ea"/>
              </a:rPr>
              <a:t>사용한다</a:t>
            </a:r>
            <a:r>
              <a:rPr lang="en-US" altLang="ko-KR" sz="1400" dirty="0" smtClean="0">
                <a:latin typeface="+mn-ea"/>
              </a:rPr>
              <a:t>.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400" dirty="0" err="1" smtClean="0">
                <a:latin typeface="+mn-ea"/>
              </a:rPr>
              <a:t>질의문에서</a:t>
            </a:r>
            <a:r>
              <a:rPr lang="ko-KR" altLang="en-US" sz="1400" dirty="0" smtClean="0">
                <a:latin typeface="+mn-ea"/>
              </a:rPr>
              <a:t>  키워드를 추출한 뒤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해당 키워드가 포함된 문서를 대상으로 검색한다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정렬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키워드 </a:t>
            </a:r>
            <a:r>
              <a:rPr lang="ko-KR" altLang="en-US" sz="1400" dirty="0" err="1">
                <a:latin typeface="+mn-ea"/>
              </a:rPr>
              <a:t>매칭</a:t>
            </a:r>
            <a:r>
              <a:rPr lang="ko-KR" altLang="en-US" sz="1400" dirty="0">
                <a:latin typeface="+mn-ea"/>
              </a:rPr>
              <a:t> 필드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키워드 인접도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매칭</a:t>
            </a:r>
            <a:r>
              <a:rPr lang="ko-KR" altLang="en-US" sz="1400" dirty="0">
                <a:latin typeface="+mn-ea"/>
              </a:rPr>
              <a:t> 개수 등을 기반으로 </a:t>
            </a:r>
            <a:r>
              <a:rPr lang="en-US" altLang="ko-KR" sz="1400" b="1" dirty="0">
                <a:latin typeface="+mn-ea"/>
              </a:rPr>
              <a:t>relevance score</a:t>
            </a:r>
            <a:r>
              <a:rPr lang="ko-KR" altLang="en-US" sz="1400" dirty="0">
                <a:latin typeface="+mn-ea"/>
              </a:rPr>
              <a:t>를 계산해 랭킹 정렬</a:t>
            </a:r>
            <a:endParaRPr lang="ko-KR" altLang="en-US" sz="1400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Boosting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특정 신호에 </a:t>
            </a:r>
            <a:r>
              <a:rPr lang="ko-KR" altLang="en-US" sz="1400" b="1" dirty="0">
                <a:latin typeface="+mn-ea"/>
              </a:rPr>
              <a:t>가중치</a:t>
            </a:r>
            <a:r>
              <a:rPr lang="ko-KR" altLang="en-US" sz="1400" dirty="0">
                <a:latin typeface="+mn-ea"/>
              </a:rPr>
              <a:t>를 부여해 최종 점수에 더 크게 </a:t>
            </a:r>
            <a:r>
              <a:rPr lang="ko-KR" altLang="en-US" sz="1400" dirty="0" smtClean="0">
                <a:latin typeface="+mn-ea"/>
              </a:rPr>
              <a:t>반영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en-US" altLang="ko-KR" sz="1400" dirty="0" smtClean="0">
                <a:latin typeface="+mn-ea"/>
              </a:rPr>
              <a:t>Title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match</a:t>
            </a:r>
            <a:r>
              <a:rPr lang="ko-KR" altLang="en-US" sz="1400" dirty="0" smtClean="0">
                <a:latin typeface="+mn-ea"/>
              </a:rPr>
              <a:t>된 </a:t>
            </a:r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가중치 </a:t>
            </a:r>
            <a:r>
              <a:rPr lang="en-US" altLang="ko-KR" sz="1400" dirty="0" smtClean="0">
                <a:latin typeface="+mn-ea"/>
              </a:rPr>
              <a:t>50%</a:t>
            </a:r>
          </a:p>
          <a:p>
            <a:pPr lvl="1"/>
            <a:r>
              <a:rPr lang="ko-KR" altLang="en-US" sz="1400" dirty="0" smtClean="0">
                <a:latin typeface="+mn-ea"/>
              </a:rPr>
              <a:t>키워드가 </a:t>
            </a:r>
            <a:r>
              <a:rPr lang="ko-KR" altLang="en-US" sz="1400" dirty="0" err="1" smtClean="0">
                <a:latin typeface="+mn-ea"/>
              </a:rPr>
              <a:t>한라인에</a:t>
            </a:r>
            <a:r>
              <a:rPr lang="ko-KR" altLang="en-US" sz="1400" dirty="0" smtClean="0">
                <a:latin typeface="+mn-ea"/>
              </a:rPr>
              <a:t> 인접한 </a:t>
            </a:r>
            <a:r>
              <a:rPr lang="en-US" altLang="ko-KR" sz="1400" dirty="0" smtClean="0">
                <a:latin typeface="+mn-ea"/>
              </a:rPr>
              <a:t>chunk: </a:t>
            </a:r>
            <a:r>
              <a:rPr lang="ko-KR" altLang="en-US" sz="1400" dirty="0" smtClean="0">
                <a:latin typeface="+mn-ea"/>
              </a:rPr>
              <a:t>가중치 </a:t>
            </a:r>
            <a:r>
              <a:rPr lang="en-US" altLang="ko-KR" sz="1400" dirty="0" smtClean="0">
                <a:latin typeface="+mn-ea"/>
              </a:rPr>
              <a:t>25%</a:t>
            </a:r>
          </a:p>
          <a:p>
            <a:pPr lvl="1"/>
            <a:r>
              <a:rPr lang="ko-KR" altLang="en-US" sz="1400" dirty="0" smtClean="0">
                <a:latin typeface="+mn-ea"/>
              </a:rPr>
              <a:t>최신성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가중치 </a:t>
            </a:r>
            <a:r>
              <a:rPr lang="en-US" altLang="ko-KR" sz="1400" dirty="0" smtClean="0">
                <a:latin typeface="+mn-ea"/>
              </a:rPr>
              <a:t>5%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11</a:t>
            </a:fld>
            <a:endParaRPr lang="ko-KR" altLang="en-US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99592" y="5013176"/>
            <a:ext cx="7072362" cy="11430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$1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50,                          // title match boost</a:t>
            </a:r>
          </a:p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$match(lines)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25,            // </a:t>
            </a:r>
            <a:r>
              <a:rPr lang="ko-KR" altLang="en-US" sz="1400" dirty="0" smtClean="0">
                <a:latin typeface="+mj-ea"/>
                <a:ea typeface="+mj-ea"/>
              </a:rPr>
              <a:t>키워드 인접도 </a:t>
            </a:r>
            <a:r>
              <a:rPr lang="en-US" altLang="ko-KR" sz="1400" dirty="0" smtClean="0">
                <a:latin typeface="+mj-ea"/>
                <a:ea typeface="+mj-ea"/>
              </a:rPr>
              <a:t>boost</a:t>
            </a:r>
          </a:p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$relevance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15                // </a:t>
            </a:r>
            <a:r>
              <a:rPr lang="ko-KR" altLang="en-US" sz="1400" dirty="0" smtClean="0">
                <a:latin typeface="+mj-ea"/>
                <a:ea typeface="+mj-ea"/>
              </a:rPr>
              <a:t>기본 적합도 정렬</a:t>
            </a:r>
            <a:endParaRPr lang="en-US" altLang="ko-KR" sz="1400" dirty="0" smtClean="0"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400" dirty="0" err="1" smtClean="0">
                <a:latin typeface="+mj-ea"/>
                <a:ea typeface="+mj-ea"/>
              </a:rPr>
              <a:t>createdAt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5                   // </a:t>
            </a:r>
            <a:r>
              <a:rPr lang="ko-KR" altLang="en-US" sz="1400" dirty="0" smtClean="0">
                <a:latin typeface="+mj-ea"/>
                <a:ea typeface="+mj-ea"/>
              </a:rPr>
              <a:t>최신성 </a:t>
            </a:r>
            <a:r>
              <a:rPr lang="en-US" altLang="ko-KR" sz="1400" dirty="0" smtClean="0">
                <a:latin typeface="+mj-ea"/>
                <a:ea typeface="+mj-ea"/>
              </a:rPr>
              <a:t>boost 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Keyword </a:t>
            </a:r>
            <a:r>
              <a:rPr lang="ko-KR" altLang="en-US" dirty="0" smtClean="0">
                <a:latin typeface="+mn-ea"/>
                <a:ea typeface="+mn-ea"/>
              </a:rPr>
              <a:t>검색 튜닝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12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method</a:t>
            </a:r>
          </a:p>
          <a:p>
            <a:r>
              <a:rPr lang="ko-KR" altLang="en-US" sz="1400" dirty="0" smtClean="0">
                <a:latin typeface="+mn-ea"/>
              </a:rPr>
              <a:t>검색 엄격도 설정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0~3</a:t>
            </a:r>
            <a:r>
              <a:rPr lang="ko-KR" altLang="en-US" sz="1400" dirty="0" err="1" smtClean="0">
                <a:latin typeface="+mn-ea"/>
              </a:rPr>
              <a:t>까지설정</a:t>
            </a:r>
            <a:r>
              <a:rPr lang="ko-KR" altLang="en-US" sz="1400" dirty="0" smtClean="0">
                <a:latin typeface="+mn-ea"/>
              </a:rPr>
              <a:t> 가능하며 숫자가 높을 수록 더 엄격한 검색을 수행한다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en-US" altLang="ko-KR" sz="1400" b="1" dirty="0" err="1">
                <a:latin typeface="+mn-ea"/>
              </a:rPr>
              <a:t>relscore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dirty="0"/>
              <a:t>Keyword </a:t>
            </a:r>
            <a:r>
              <a:rPr lang="ko-KR" altLang="en-US" sz="1400" dirty="0"/>
              <a:t>검색 결과의 </a:t>
            </a:r>
            <a:r>
              <a:rPr lang="en-US" altLang="ko-KR" sz="1400" b="1" dirty="0"/>
              <a:t>relevance </a:t>
            </a:r>
            <a:r>
              <a:rPr lang="ko-KR" altLang="en-US" sz="1400" b="1" dirty="0"/>
              <a:t>점수</a:t>
            </a:r>
            <a:r>
              <a:rPr lang="ko-KR" altLang="en-US" sz="1400" dirty="0"/>
              <a:t>를 최소값</a:t>
            </a:r>
            <a:r>
              <a:rPr lang="en-US" altLang="ko-KR" sz="1400" dirty="0"/>
              <a:t>/</a:t>
            </a:r>
            <a:r>
              <a:rPr lang="ko-KR" altLang="en-US" sz="1400" dirty="0"/>
              <a:t>최대값 기준으로 </a:t>
            </a:r>
            <a:r>
              <a:rPr lang="en-US" altLang="ko-KR" sz="1400" b="1" dirty="0"/>
              <a:t>0~1 </a:t>
            </a:r>
            <a:r>
              <a:rPr lang="ko-KR" altLang="en-US" sz="1400" b="1" dirty="0"/>
              <a:t>범위로 정규화</a:t>
            </a:r>
            <a:r>
              <a:rPr lang="ko-KR" altLang="en-US" sz="1400" dirty="0"/>
              <a:t>함</a:t>
            </a:r>
          </a:p>
          <a:p>
            <a:r>
              <a:rPr lang="ko-KR" altLang="en-US" sz="1400" dirty="0"/>
              <a:t>정규화된 점수가 </a:t>
            </a:r>
            <a:r>
              <a:rPr lang="en-US" altLang="ko-KR" sz="1400" b="1" dirty="0" err="1"/>
              <a:t>relscore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미만</a:t>
            </a:r>
            <a:r>
              <a:rPr lang="ko-KR" altLang="en-US" sz="1400" dirty="0"/>
              <a:t>인 결과는 </a:t>
            </a:r>
            <a:r>
              <a:rPr lang="ko-KR" altLang="en-US" sz="1400" b="1" dirty="0"/>
              <a:t>검색 결과에서 </a:t>
            </a:r>
            <a:r>
              <a:rPr lang="ko-KR" altLang="en-US" sz="1400" b="1" dirty="0" smtClean="0"/>
              <a:t>제외</a:t>
            </a:r>
            <a:r>
              <a:rPr lang="ko-KR" altLang="en-US" sz="1400" dirty="0" smtClean="0"/>
              <a:t>함</a:t>
            </a:r>
            <a:endParaRPr lang="en-US" altLang="ko-KR" sz="1400" dirty="0" smtClean="0"/>
          </a:p>
          <a:p>
            <a:endParaRPr lang="ko-KR" altLang="en-US" sz="1400" dirty="0"/>
          </a:p>
          <a:p>
            <a:endParaRPr lang="en-US" altLang="ko-KR" sz="1400" dirty="0" smtClean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74294"/>
              </p:ext>
            </p:extLst>
          </p:nvPr>
        </p:nvGraphicFramePr>
        <p:xfrm>
          <a:off x="539552" y="2132856"/>
          <a:ext cx="8143931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3569086"/>
                <a:gridCol w="378275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method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query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}‘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lines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chunk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natural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title/lines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개 키워드 이상 매치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lines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chunk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과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에는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lines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전체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chunk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전체 키워드 매치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lines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lines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전체 키워드 매치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Vector </a:t>
            </a:r>
            <a:r>
              <a:rPr lang="ko-KR" altLang="en-US" dirty="0" smtClean="0"/>
              <a:t>검색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Vector </a:t>
            </a:r>
            <a:r>
              <a:rPr lang="ko-KR" altLang="en-US" dirty="0" smtClean="0">
                <a:latin typeface="+mn-ea"/>
                <a:ea typeface="+mn-ea"/>
              </a:rPr>
              <a:t>검색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 Vector </a:t>
            </a:r>
            <a:r>
              <a:rPr lang="ko-KR" altLang="en-US" sz="1600" b="1" dirty="0" smtClean="0">
                <a:latin typeface="+mn-ea"/>
              </a:rPr>
              <a:t>검색 이란</a:t>
            </a:r>
            <a:r>
              <a:rPr lang="en-US" altLang="ko-KR" sz="1600" b="1" dirty="0" smtClean="0">
                <a:latin typeface="+mn-ea"/>
              </a:rPr>
              <a:t>?</a:t>
            </a:r>
            <a:endParaRPr lang="ko-KR" altLang="en-US" b="1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embedding-10</a:t>
            </a:r>
            <a:r>
              <a:rPr lang="ko-KR" altLang="en-US" sz="1400" dirty="0" smtClean="0">
                <a:latin typeface="+mn-ea"/>
              </a:rPr>
              <a:t>모델로 </a:t>
            </a:r>
            <a:r>
              <a:rPr lang="en-US" altLang="ko-KR" sz="1400" dirty="0" smtClean="0">
                <a:latin typeface="+mn-ea"/>
              </a:rPr>
              <a:t>embedding</a:t>
            </a:r>
            <a:r>
              <a:rPr lang="ko-KR" altLang="en-US" sz="1400" dirty="0" smtClean="0">
                <a:latin typeface="+mn-ea"/>
              </a:rPr>
              <a:t>한 </a:t>
            </a:r>
            <a:r>
              <a:rPr lang="en-US" altLang="ko-KR" sz="1400" dirty="0" smtClean="0">
                <a:latin typeface="+mn-ea"/>
              </a:rPr>
              <a:t>1024</a:t>
            </a:r>
            <a:r>
              <a:rPr lang="ko-KR" altLang="en-US" sz="1400" dirty="0" smtClean="0">
                <a:latin typeface="+mn-ea"/>
              </a:rPr>
              <a:t>차원 의 </a:t>
            </a:r>
            <a:r>
              <a:rPr lang="en-US" altLang="ko-KR" sz="1400" dirty="0" smtClean="0">
                <a:latin typeface="+mn-ea"/>
              </a:rPr>
              <a:t>vector</a:t>
            </a:r>
            <a:r>
              <a:rPr lang="ko-KR" altLang="en-US" sz="1400" dirty="0" smtClean="0">
                <a:latin typeface="+mn-ea"/>
              </a:rPr>
              <a:t>사용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색인 시 생성된 각 </a:t>
            </a:r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의 </a:t>
            </a:r>
            <a:r>
              <a:rPr lang="en-US" altLang="ko-KR" sz="1400" dirty="0" smtClean="0">
                <a:latin typeface="+mn-ea"/>
              </a:rPr>
              <a:t>vector</a:t>
            </a:r>
            <a:r>
              <a:rPr lang="ko-KR" altLang="en-US" sz="1400" dirty="0" smtClean="0">
                <a:latin typeface="+mn-ea"/>
              </a:rPr>
              <a:t>와 질의의 </a:t>
            </a:r>
            <a:r>
              <a:rPr lang="en-US" altLang="ko-KR" sz="1400" dirty="0" smtClean="0">
                <a:latin typeface="+mn-ea"/>
              </a:rPr>
              <a:t>vector</a:t>
            </a:r>
            <a:r>
              <a:rPr lang="ko-KR" altLang="en-US" sz="1400" dirty="0" smtClean="0">
                <a:latin typeface="+mn-ea"/>
              </a:rPr>
              <a:t>간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en-US" altLang="ko-KR" sz="1400" b="1" dirty="0" smtClean="0">
                <a:latin typeface="+mn-ea"/>
              </a:rPr>
              <a:t>Cosine </a:t>
            </a:r>
            <a:r>
              <a:rPr lang="ko-KR" altLang="en-US" sz="1400" b="1" dirty="0" err="1" smtClean="0">
                <a:latin typeface="+mn-ea"/>
              </a:rPr>
              <a:t>유사도</a:t>
            </a:r>
            <a:r>
              <a:rPr lang="ko-KR" altLang="en-US" sz="1400" dirty="0" err="1" smtClean="0">
                <a:latin typeface="+mn-ea"/>
              </a:rPr>
              <a:t>를</a:t>
            </a:r>
            <a:r>
              <a:rPr lang="ko-KR" altLang="en-US" sz="1400" dirty="0" smtClean="0">
                <a:latin typeface="+mn-ea"/>
              </a:rPr>
              <a:t> 계산하여 의미적으로 가장 가까운 문서 탐색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키워드가 일치하지 않아도 </a:t>
            </a:r>
            <a:r>
              <a:rPr lang="ko-KR" altLang="en-US" sz="1400" b="1" dirty="0" smtClean="0">
                <a:latin typeface="+mn-ea"/>
              </a:rPr>
              <a:t>동의어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smtClean="0">
                <a:latin typeface="+mn-ea"/>
              </a:rPr>
              <a:t>유사 표현을 매칭</a:t>
            </a:r>
            <a:r>
              <a:rPr lang="ko-KR" altLang="en-US" sz="1400" dirty="0" smtClean="0">
                <a:latin typeface="+mn-ea"/>
              </a:rPr>
              <a:t>할 수 있어 효과적</a:t>
            </a: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수행되는 검색 쿼리</a:t>
            </a:r>
            <a:endParaRPr lang="en-US" altLang="ko-KR" sz="1600" b="1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14</a:t>
            </a:fld>
            <a:endParaRPr lang="ko-KR" altLang="en-US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09042" y="3214686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select </a:t>
            </a:r>
            <a:r>
              <a:rPr lang="en-US" altLang="ko-KR" sz="1400" dirty="0" err="1" smtClean="0">
                <a:latin typeface="+mj-ea"/>
                <a:ea typeface="+mj-ea"/>
              </a:rPr>
              <a:t>cid,orderkey</a:t>
            </a:r>
            <a:r>
              <a:rPr lang="en-US" altLang="ko-KR" sz="1400" dirty="0" smtClean="0">
                <a:latin typeface="+mj-ea"/>
                <a:ea typeface="+mj-ea"/>
              </a:rPr>
              <a:t>(0) from </a:t>
            </a:r>
            <a:r>
              <a:rPr lang="en-US" altLang="ko-KR" sz="1400" dirty="0" err="1" smtClean="0">
                <a:latin typeface="+mj-ea"/>
                <a:ea typeface="+mj-ea"/>
              </a:rPr>
              <a:t>tabc</a:t>
            </a:r>
            <a:r>
              <a:rPr lang="en-US" altLang="ko-KR" sz="1400" dirty="0" smtClean="0">
                <a:latin typeface="+mj-ea"/>
                <a:ea typeface="+mj-ea"/>
              </a:rPr>
              <a:t> where ($1 </a:t>
            </a:r>
            <a:r>
              <a:rPr lang="en-US" altLang="ko-KR" sz="1400" dirty="0" err="1" smtClean="0">
                <a:latin typeface="+mj-ea"/>
                <a:ea typeface="+mj-ea"/>
              </a:rPr>
              <a:t>c_vec</a:t>
            </a:r>
            <a:r>
              <a:rPr lang="en-US" altLang="ko-KR" sz="1400" dirty="0" smtClean="0">
                <a:latin typeface="+mj-ea"/>
                <a:ea typeface="+mj-ea"/>
              </a:rPr>
              <a:t>=[0.143,0.245,0.312……])  order by $1 , </a:t>
            </a:r>
            <a:r>
              <a:rPr lang="en-US" altLang="ko-KR" sz="1400" dirty="0" err="1" smtClean="0">
                <a:latin typeface="+mj-ea"/>
                <a:ea typeface="+mj-ea"/>
              </a:rPr>
              <a:t>dt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en-US" altLang="ko-KR" sz="1400" dirty="0" err="1" smtClean="0">
                <a:latin typeface="+mj-ea"/>
                <a:ea typeface="+mj-ea"/>
              </a:rPr>
              <a:t>pagelength</a:t>
            </a:r>
            <a:r>
              <a:rPr lang="en-US" altLang="ko-KR" sz="1400" dirty="0" smtClean="0">
                <a:latin typeface="+mj-ea"/>
                <a:ea typeface="+mj-ea"/>
              </a:rPr>
              <a:t>=500 format=</a:t>
            </a:r>
            <a:r>
              <a:rPr lang="en-US" altLang="ko-KR" sz="1400" dirty="0" err="1" smtClean="0">
                <a:latin typeface="+mj-ea"/>
                <a:ea typeface="+mj-ea"/>
              </a:rPr>
              <a:t>json</a:t>
            </a:r>
            <a:r>
              <a:rPr lang="en-US" altLang="ko-KR" sz="1400" dirty="0" smtClean="0">
                <a:latin typeface="+mj-ea"/>
                <a:ea typeface="+mj-ea"/>
              </a:rPr>
              <a:t>;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Vector </a:t>
            </a:r>
            <a:r>
              <a:rPr lang="ko-KR" altLang="en-US" dirty="0" smtClean="0">
                <a:latin typeface="+mn-ea"/>
                <a:ea typeface="+mn-ea"/>
              </a:rPr>
              <a:t>검색 튜닝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 Vector</a:t>
            </a:r>
            <a:r>
              <a:rPr lang="ko-KR" altLang="en-US" sz="1600" b="1" dirty="0" smtClean="0">
                <a:latin typeface="+mn-ea"/>
              </a:rPr>
              <a:t>검색 시 유의사항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벡터 검색은 </a:t>
            </a:r>
            <a:r>
              <a:rPr lang="ko-KR" altLang="en-US" sz="1400" b="1" dirty="0" smtClean="0">
                <a:latin typeface="+mn-ea"/>
              </a:rPr>
              <a:t>의미 </a:t>
            </a:r>
            <a:r>
              <a:rPr lang="ko-KR" altLang="en-US" sz="1400" b="1" dirty="0" err="1" smtClean="0">
                <a:latin typeface="+mn-ea"/>
              </a:rPr>
              <a:t>유사도</a:t>
            </a:r>
            <a:r>
              <a:rPr lang="ko-KR" altLang="en-US" sz="1400" dirty="0" err="1" smtClean="0">
                <a:latin typeface="+mn-ea"/>
              </a:rPr>
              <a:t>를</a:t>
            </a:r>
            <a:r>
              <a:rPr lang="ko-KR" altLang="en-US" sz="1400" dirty="0" smtClean="0">
                <a:latin typeface="+mn-ea"/>
              </a:rPr>
              <a:t> 기준으로 하므로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사용자 관점에서는 관련 없어 보이는 문서가 결과에 포함될 수 있음</a:t>
            </a:r>
          </a:p>
          <a:p>
            <a:r>
              <a:rPr lang="ko-KR" altLang="en-US" sz="1400" dirty="0" err="1" smtClean="0">
                <a:latin typeface="+mn-ea"/>
              </a:rPr>
              <a:t>임베딩</a:t>
            </a:r>
            <a:r>
              <a:rPr lang="ko-KR" altLang="en-US" sz="1400" dirty="0" smtClean="0">
                <a:latin typeface="+mn-ea"/>
              </a:rPr>
              <a:t> 모델이 잘 표현하지 못하는 </a:t>
            </a:r>
            <a:r>
              <a:rPr lang="ko-KR" altLang="en-US" sz="1400" b="1" dirty="0" smtClean="0">
                <a:latin typeface="+mn-ea"/>
              </a:rPr>
              <a:t>신조어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smtClean="0">
                <a:latin typeface="+mn-ea"/>
              </a:rPr>
              <a:t>사내 약어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smtClean="0">
                <a:latin typeface="+mn-ea"/>
              </a:rPr>
              <a:t>제품 코드</a:t>
            </a:r>
            <a:r>
              <a:rPr lang="en-US" altLang="ko-KR" sz="1400" b="1" dirty="0" smtClean="0">
                <a:latin typeface="+mn-ea"/>
              </a:rPr>
              <a:t>/</a:t>
            </a:r>
            <a:r>
              <a:rPr lang="ko-KR" altLang="en-US" sz="1400" b="1" dirty="0" err="1" smtClean="0">
                <a:latin typeface="+mn-ea"/>
              </a:rPr>
              <a:t>오탈자</a:t>
            </a:r>
            <a:r>
              <a:rPr lang="ko-KR" altLang="en-US" sz="1400" dirty="0" err="1" smtClean="0">
                <a:latin typeface="+mn-ea"/>
              </a:rPr>
              <a:t>는</a:t>
            </a:r>
            <a:r>
              <a:rPr lang="ko-KR" altLang="en-US" sz="1400" dirty="0" smtClean="0">
                <a:latin typeface="+mn-ea"/>
              </a:rPr>
              <a:t> 검색 품질이 떨어질 수 있음</a:t>
            </a:r>
          </a:p>
          <a:p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r>
              <a:rPr lang="en-US" altLang="ko-KR" sz="1600" b="1" dirty="0">
                <a:latin typeface="+mn-ea"/>
              </a:rPr>
              <a:t>t</a:t>
            </a:r>
            <a:r>
              <a:rPr lang="en-US" altLang="ko-KR" sz="1600" b="1" dirty="0" smtClean="0">
                <a:latin typeface="+mn-ea"/>
              </a:rPr>
              <a:t>hreshold </a:t>
            </a:r>
          </a:p>
          <a:p>
            <a:r>
              <a:rPr lang="en-US" altLang="ko-KR" sz="1400" dirty="0" smtClean="0">
                <a:latin typeface="+mn-ea"/>
              </a:rPr>
              <a:t>threshold</a:t>
            </a:r>
            <a:r>
              <a:rPr lang="ko-KR" altLang="en-US" sz="1400" dirty="0" smtClean="0">
                <a:latin typeface="+mn-ea"/>
              </a:rPr>
              <a:t>는 </a:t>
            </a:r>
            <a:r>
              <a:rPr lang="ko-KR" altLang="en-US" sz="1400" b="1" dirty="0" smtClean="0">
                <a:latin typeface="+mn-ea"/>
              </a:rPr>
              <a:t>유사도가 낮은</a:t>
            </a:r>
            <a:r>
              <a:rPr lang="en-US" altLang="ko-KR" sz="1400" b="1" dirty="0" smtClean="0">
                <a:latin typeface="+mn-ea"/>
              </a:rPr>
              <a:t>(</a:t>
            </a:r>
            <a:r>
              <a:rPr lang="ko-KR" altLang="en-US" sz="1400" b="1" dirty="0" smtClean="0">
                <a:latin typeface="+mn-ea"/>
              </a:rPr>
              <a:t>연관성이 떨어지는</a:t>
            </a:r>
            <a:r>
              <a:rPr lang="en-US" altLang="ko-KR" sz="1400" b="1" dirty="0" smtClean="0">
                <a:latin typeface="+mn-ea"/>
              </a:rPr>
              <a:t>) </a:t>
            </a:r>
            <a:r>
              <a:rPr lang="ko-KR" altLang="en-US" sz="1400" b="1" dirty="0" smtClean="0">
                <a:latin typeface="+mn-ea"/>
              </a:rPr>
              <a:t>문서를 결과에서 제외</a:t>
            </a:r>
            <a:r>
              <a:rPr lang="ko-KR" altLang="en-US" sz="1400" dirty="0" smtClean="0">
                <a:latin typeface="+mn-ea"/>
              </a:rPr>
              <a:t>해 </a:t>
            </a:r>
            <a:r>
              <a:rPr lang="ko-KR" altLang="en-US" sz="1400" dirty="0" err="1" smtClean="0">
                <a:latin typeface="+mn-ea"/>
              </a:rPr>
              <a:t>노이즈를</a:t>
            </a:r>
            <a:r>
              <a:rPr lang="ko-KR" altLang="en-US" sz="1400" dirty="0" smtClean="0">
                <a:latin typeface="+mn-ea"/>
              </a:rPr>
              <a:t> 줄이기 위해 사용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와 질의문의 </a:t>
            </a:r>
            <a:r>
              <a:rPr lang="en-US" altLang="ko-KR" sz="1400" b="1" dirty="0" smtClean="0">
                <a:latin typeface="+mn-ea"/>
              </a:rPr>
              <a:t>vector</a:t>
            </a:r>
            <a:r>
              <a:rPr lang="ko-KR" altLang="en-US" sz="1400" b="1" dirty="0" smtClean="0">
                <a:latin typeface="+mn-ea"/>
              </a:rPr>
              <a:t>간 거리가 </a:t>
            </a:r>
            <a:r>
              <a:rPr lang="en-US" altLang="ko-KR" sz="1400" b="1" dirty="0" smtClean="0">
                <a:latin typeface="+mn-ea"/>
              </a:rPr>
              <a:t>threshold</a:t>
            </a:r>
            <a:r>
              <a:rPr lang="ko-KR" altLang="en-US" sz="1400" b="1" dirty="0" smtClean="0">
                <a:latin typeface="+mn-ea"/>
              </a:rPr>
              <a:t>이상인 결과는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 smtClean="0">
                <a:latin typeface="+mn-ea"/>
              </a:rPr>
              <a:t>검색 결과에서 제외</a:t>
            </a:r>
          </a:p>
          <a:p>
            <a:r>
              <a:rPr lang="ko-KR" altLang="en-US" sz="1400" dirty="0" smtClean="0">
                <a:latin typeface="+mn-ea"/>
              </a:rPr>
              <a:t>적정 </a:t>
            </a:r>
            <a:r>
              <a:rPr lang="en-US" altLang="ko-KR" sz="1400" dirty="0" smtClean="0">
                <a:latin typeface="+mn-ea"/>
              </a:rPr>
              <a:t>threshold</a:t>
            </a:r>
            <a:r>
              <a:rPr lang="ko-KR" altLang="en-US" sz="1400" dirty="0" smtClean="0">
                <a:latin typeface="+mn-ea"/>
              </a:rPr>
              <a:t> 값은 문서 특성과 데이터 품질에 따라 달라질 수 있어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현장에서 여러 값으로 테스트한 뒤 기준을 설정해야 함</a:t>
            </a:r>
          </a:p>
          <a:p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Rest API </a:t>
            </a:r>
            <a:r>
              <a:rPr lang="ko-KR" altLang="en-US" sz="1600" b="1" dirty="0" smtClean="0">
                <a:latin typeface="+mn-ea"/>
              </a:rPr>
              <a:t>예시</a:t>
            </a:r>
            <a:endParaRPr lang="en-US" altLang="ko-KR" sz="1600" b="1" dirty="0" smtClean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15</a:t>
            </a:fld>
            <a:endParaRPr lang="ko-KR" altLang="en-US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71472" y="4941168"/>
            <a:ext cx="7858180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sz="1400" dirty="0" smtClean="0">
                <a:solidFill>
                  <a:schemeClr val="bg1"/>
                </a:solidFill>
              </a:rPr>
              <a:t>http://10.10.50.3:50002/ksm/rag/v5/search?topk=100&amp;embedding=embedding-10&amp;vols=ragx_test&amp;text=</a:t>
            </a:r>
            <a:r>
              <a:rPr lang="ko-KR" altLang="en-US" sz="1400" dirty="0" err="1" smtClean="0">
                <a:solidFill>
                  <a:schemeClr val="bg1"/>
                </a:solidFill>
              </a:rPr>
              <a:t>전화번호가뭔가요</a:t>
            </a:r>
            <a:r>
              <a:rPr lang="en-US" altLang="ko-KR" sz="1400" dirty="0" smtClean="0">
                <a:solidFill>
                  <a:schemeClr val="bg1"/>
                </a:solidFill>
              </a:rPr>
              <a:t>?</a:t>
            </a:r>
            <a:r>
              <a:rPr lang="en-US" sz="1400" dirty="0" smtClean="0">
                <a:solidFill>
                  <a:schemeClr val="bg1"/>
                </a:solidFill>
              </a:rPr>
              <a:t>&amp;</a:t>
            </a:r>
            <a:r>
              <a:rPr lang="en-US" sz="1400" u="sng" dirty="0" smtClean="0">
                <a:solidFill>
                  <a:schemeClr val="bg1"/>
                </a:solidFill>
              </a:rPr>
              <a:t>vk=1&amp;threhold=0.7</a:t>
            </a:r>
            <a:endParaRPr lang="ko-KR" altLang="en-US" sz="1400" u="sng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6784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기타 주요 </a:t>
            </a:r>
            <a:r>
              <a:rPr lang="en-US" altLang="ko-KR" dirty="0" smtClean="0"/>
              <a:t>Parameter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기타 주요 </a:t>
            </a:r>
            <a:r>
              <a:rPr lang="en-US" altLang="ko-KR" dirty="0" err="1" smtClean="0">
                <a:latin typeface="+mn-ea"/>
                <a:ea typeface="+mn-ea"/>
              </a:rPr>
              <a:t>Prameter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17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ko-KR" sz="1600" b="1" dirty="0" err="1" smtClean="0">
                <a:solidFill>
                  <a:srgbClr val="FF0000"/>
                </a:solidFill>
                <a:latin typeface="+mn-ea"/>
              </a:rPr>
              <a:t>synfile</a:t>
            </a:r>
            <a:endParaRPr lang="en-US" altLang="ko-KR" sz="1600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동의어 사전 사용시 동의어 사전 파일 명 입력 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en-US" altLang="ko-KR" sz="1400" u="sng" dirty="0" smtClean="0">
                <a:latin typeface="+mn-ea"/>
              </a:rPr>
              <a:t>data</a:t>
            </a:r>
            <a:r>
              <a:rPr lang="ko-KR" altLang="en-US" sz="1400" u="sng" dirty="0" err="1" smtClean="0">
                <a:latin typeface="+mn-ea"/>
              </a:rPr>
              <a:t>디렉토리</a:t>
            </a:r>
            <a:r>
              <a:rPr lang="ko-KR" altLang="en-US" sz="1400" u="sng" dirty="0" smtClean="0">
                <a:latin typeface="+mn-ea"/>
              </a:rPr>
              <a:t> 하위에 </a:t>
            </a:r>
            <a:r>
              <a:rPr lang="ko-KR" altLang="en-US" sz="1400" u="sng" dirty="0" err="1" smtClean="0">
                <a:latin typeface="+mn-ea"/>
              </a:rPr>
              <a:t>존재해야함</a:t>
            </a:r>
            <a:r>
              <a:rPr lang="en-US" altLang="ko-KR" sz="1400" u="sng" dirty="0" smtClean="0">
                <a:latin typeface="+mn-ea"/>
              </a:rPr>
              <a:t>.</a:t>
            </a:r>
            <a:r>
              <a:rPr lang="en-US" altLang="ko-KR" sz="1400" dirty="0" smtClean="0">
                <a:latin typeface="+mn-ea"/>
              </a:rPr>
              <a:t>)</a:t>
            </a:r>
          </a:p>
          <a:p>
            <a:r>
              <a:rPr lang="ko-KR" altLang="en-US" sz="1400" dirty="0" smtClean="0">
                <a:latin typeface="+mn-ea"/>
              </a:rPr>
              <a:t>동의어 </a:t>
            </a:r>
            <a:r>
              <a:rPr lang="ko-KR" altLang="en-US" sz="1400" dirty="0">
                <a:latin typeface="+mn-ea"/>
              </a:rPr>
              <a:t>사전 작성 방법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b="1" u="sng" dirty="0">
                <a:latin typeface="+mn-ea"/>
              </a:rPr>
              <a:t>표제어</a:t>
            </a:r>
            <a:r>
              <a:rPr lang="en-US" altLang="ko-KR" sz="1400" b="1" u="sng" dirty="0">
                <a:latin typeface="+mn-ea"/>
              </a:rPr>
              <a:t>:</a:t>
            </a:r>
            <a:r>
              <a:rPr lang="ko-KR" altLang="en-US" sz="1400" b="1" u="sng" dirty="0">
                <a:latin typeface="+mn-ea"/>
              </a:rPr>
              <a:t>키워드</a:t>
            </a:r>
            <a:r>
              <a:rPr lang="en-US" altLang="ko-KR" sz="1400" b="1" u="sng" dirty="0">
                <a:latin typeface="+mn-ea"/>
              </a:rPr>
              <a:t>1,</a:t>
            </a:r>
            <a:r>
              <a:rPr lang="ko-KR" altLang="en-US" sz="1400" b="1" u="sng" dirty="0">
                <a:latin typeface="+mn-ea"/>
              </a:rPr>
              <a:t>키워드</a:t>
            </a:r>
            <a:r>
              <a:rPr lang="en-US" altLang="ko-KR" sz="1400" b="1" u="sng" dirty="0" smtClean="0">
                <a:latin typeface="+mn-ea"/>
              </a:rPr>
              <a:t>2</a:t>
            </a: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r>
              <a:rPr lang="ko-KR" altLang="en-US" sz="1400" b="1" dirty="0" smtClean="0">
                <a:latin typeface="+mn-ea"/>
              </a:rPr>
              <a:t>키워드</a:t>
            </a:r>
            <a:r>
              <a:rPr lang="en-US" altLang="ko-KR" sz="1400" b="1" dirty="0">
                <a:latin typeface="+mn-ea"/>
              </a:rPr>
              <a:t>1,</a:t>
            </a:r>
            <a:r>
              <a:rPr lang="ko-KR" altLang="en-US" sz="1400" b="1" dirty="0">
                <a:latin typeface="+mn-ea"/>
              </a:rPr>
              <a:t>키워드</a:t>
            </a:r>
            <a:r>
              <a:rPr lang="en-US" altLang="ko-KR" sz="1400" b="1" dirty="0">
                <a:latin typeface="+mn-ea"/>
              </a:rPr>
              <a:t>2</a:t>
            </a:r>
            <a:r>
              <a:rPr lang="ko-KR" altLang="en-US" sz="1400" b="1" dirty="0">
                <a:latin typeface="+mn-ea"/>
              </a:rPr>
              <a:t>가 쿼리에 출현하는 경우 표제어로 교체</a:t>
            </a:r>
            <a:r>
              <a:rPr lang="ko-KR" altLang="en-US" sz="1400" dirty="0">
                <a:latin typeface="+mn-ea"/>
              </a:rPr>
              <a:t>되어 검색되는 방식</a:t>
            </a:r>
            <a:endParaRPr lang="en-US" altLang="ko-KR" sz="1400" dirty="0">
              <a:latin typeface="+mn-ea"/>
            </a:endParaRP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endParaRPr lang="en-US" altLang="ko-KR" sz="1400" b="1" u="sng" dirty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endParaRPr lang="en-US" altLang="ko-KR" sz="1400" b="1" u="sng" dirty="0" smtClean="0">
              <a:latin typeface="+mn-ea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차기 버전부터는 </a:t>
            </a:r>
            <a:r>
              <a:rPr lang="en-US" altLang="ko-KR" sz="1400" dirty="0" err="1">
                <a:solidFill>
                  <a:srgbClr val="FF0000"/>
                </a:solidFill>
                <a:latin typeface="+mn-ea"/>
              </a:rPr>
              <a:t>lconf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지원 예정</a:t>
            </a:r>
            <a:r>
              <a:rPr lang="en-US" altLang="ko-KR" sz="14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동의어사전뿐 아니라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불용어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,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신조어등의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사전 사용 가능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endParaRPr lang="en-US" altLang="ko-KR" sz="1400" b="1" u="sng" dirty="0"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83568" y="2012011"/>
            <a:ext cx="7632848" cy="7689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ko-KR" altLang="en-US" sz="1400" dirty="0" smtClean="0">
                <a:solidFill>
                  <a:schemeClr val="bg1"/>
                </a:solidFill>
                <a:latin typeface="+mn-ea"/>
              </a:rPr>
              <a:t>부정청탁금지법</a:t>
            </a:r>
            <a:r>
              <a:rPr lang="en-US" altLang="ko-KR" sz="1400" dirty="0" smtClean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400" dirty="0" err="1" smtClean="0">
                <a:solidFill>
                  <a:schemeClr val="bg1"/>
                </a:solidFill>
                <a:latin typeface="+mn-ea"/>
              </a:rPr>
              <a:t>김영란법</a:t>
            </a:r>
            <a:endParaRPr lang="en-US" altLang="ko-KR" sz="1400" dirty="0" smtClean="0">
              <a:solidFill>
                <a:schemeClr val="bg1"/>
              </a:solidFill>
              <a:latin typeface="+mn-ea"/>
            </a:endParaRPr>
          </a:p>
          <a:p>
            <a:pPr>
              <a:buNone/>
            </a:pPr>
            <a:r>
              <a:rPr lang="en-US" altLang="ko-KR" sz="1400" dirty="0" err="1" smtClean="0">
                <a:solidFill>
                  <a:schemeClr val="bg1"/>
                </a:solidFill>
                <a:latin typeface="+mn-ea"/>
              </a:rPr>
              <a:t>KonanSearch</a:t>
            </a:r>
            <a:r>
              <a:rPr lang="en-US" altLang="ko-KR" sz="1400" dirty="0" smtClean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400" dirty="0" smtClean="0">
                <a:solidFill>
                  <a:schemeClr val="bg1"/>
                </a:solidFill>
                <a:latin typeface="+mn-ea"/>
              </a:rPr>
              <a:t>검색엔진</a:t>
            </a:r>
            <a:r>
              <a:rPr lang="en-US" altLang="ko-KR" sz="1400" dirty="0" smtClean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1400" dirty="0" err="1" smtClean="0">
                <a:solidFill>
                  <a:schemeClr val="bg1"/>
                </a:solidFill>
                <a:latin typeface="+mn-ea"/>
              </a:rPr>
              <a:t>코난서치</a:t>
            </a:r>
            <a:endParaRPr lang="en-US" altLang="ko-KR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87206" y="3429000"/>
            <a:ext cx="7632848" cy="20162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select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cid,orderkey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(0) from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tabc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where  (($1 title in 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{‘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부정청탁금지법 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형량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', ‘</a:t>
            </a:r>
            <a:r>
              <a:rPr lang="ko-KR" altLang="en-US" sz="1050" dirty="0" err="1">
                <a:solidFill>
                  <a:schemeClr val="bg1"/>
                </a:solidFill>
                <a:latin typeface="+mn-ea"/>
              </a:rPr>
              <a:t>김영란법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형량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’}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someword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synonym('d0')) or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        lines in 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{‘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부정청탁금지법 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형량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', ‘</a:t>
            </a:r>
            <a:r>
              <a:rPr lang="ko-KR" altLang="en-US" sz="1050" dirty="0" err="1">
                <a:solidFill>
                  <a:schemeClr val="bg1"/>
                </a:solidFill>
                <a:latin typeface="+mn-ea"/>
              </a:rPr>
              <a:t>김영란법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형량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’}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someword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synonym('d0') or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        chunk in 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{‘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부정청탁금지법 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형량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', ‘</a:t>
            </a:r>
            <a:r>
              <a:rPr lang="ko-KR" altLang="en-US" sz="1050" dirty="0" err="1">
                <a:solidFill>
                  <a:schemeClr val="bg1"/>
                </a:solidFill>
                <a:latin typeface="+mn-ea"/>
              </a:rPr>
              <a:t>김영란법</a:t>
            </a:r>
            <a:r>
              <a:rPr lang="ko-KR" altLang="en-US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50" dirty="0" smtClean="0">
                <a:solidFill>
                  <a:schemeClr val="bg1"/>
                </a:solidFill>
                <a:latin typeface="+mn-ea"/>
              </a:rPr>
              <a:t>형량</a:t>
            </a: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’} 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natural synonym('d0')  )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order by {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    $1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desc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50,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    $match(lines)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desc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25 ,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    $relevance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desc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15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    ,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dt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desc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5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}</a:t>
            </a:r>
          </a:p>
          <a:p>
            <a:pPr>
              <a:buNone/>
            </a:pP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        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pagelength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=5 format=</a:t>
            </a:r>
            <a:r>
              <a:rPr lang="en-US" altLang="ko-KR" sz="1050" dirty="0" err="1">
                <a:solidFill>
                  <a:schemeClr val="bg1"/>
                </a:solidFill>
                <a:latin typeface="+mn-ea"/>
              </a:rPr>
              <a:t>json</a:t>
            </a:r>
            <a:r>
              <a:rPr lang="en-US" altLang="ko-KR" sz="1050" dirty="0">
                <a:solidFill>
                  <a:schemeClr val="bg1"/>
                </a:solidFill>
                <a:latin typeface="+mn-ea"/>
              </a:rPr>
              <a:t>;</a:t>
            </a:r>
          </a:p>
          <a:p>
            <a:pPr>
              <a:buNone/>
            </a:pPr>
            <a:r>
              <a:rPr lang="en-US" altLang="ko-KR" sz="1050" dirty="0" smtClean="0">
                <a:solidFill>
                  <a:schemeClr val="bg1"/>
                </a:solidFill>
                <a:latin typeface="+mn-ea"/>
              </a:rPr>
              <a:t>`</a:t>
            </a:r>
            <a:endParaRPr lang="ko-KR" altLang="en-US" sz="105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기타 주요 </a:t>
            </a:r>
            <a:r>
              <a:rPr lang="en-US" altLang="ko-KR" dirty="0" err="1" smtClean="0">
                <a:latin typeface="+mn-ea"/>
                <a:ea typeface="+mn-ea"/>
              </a:rPr>
              <a:t>Prameter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18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b="1" dirty="0" err="1" smtClean="0">
                <a:latin typeface="+mn-ea"/>
              </a:rPr>
              <a:t>userfilter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탐색 문서를 제약하기 위해 사용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색인 시 설정한 </a:t>
            </a:r>
            <a:r>
              <a:rPr lang="en-US" altLang="ko-KR" sz="1400" dirty="0" err="1" smtClean="0">
                <a:latin typeface="+mn-ea"/>
              </a:rPr>
              <a:t>customfield</a:t>
            </a:r>
            <a:r>
              <a:rPr lang="ko-KR" altLang="en-US" sz="1400" dirty="0" smtClean="0">
                <a:latin typeface="+mn-ea"/>
              </a:rPr>
              <a:t>를 활용하여 </a:t>
            </a:r>
            <a:r>
              <a:rPr lang="en-US" altLang="ko-KR" sz="1400" dirty="0" smtClean="0">
                <a:latin typeface="+mn-ea"/>
              </a:rPr>
              <a:t>where </a:t>
            </a:r>
            <a:r>
              <a:rPr lang="ko-KR" altLang="en-US" sz="1400" dirty="0" smtClean="0">
                <a:latin typeface="+mn-ea"/>
              </a:rPr>
              <a:t>조건을 입력한다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예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400" dirty="0" err="1" smtClean="0">
                <a:latin typeface="+mn-ea"/>
              </a:rPr>
              <a:t>createdAt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en-US" altLang="ko-KR" sz="1400" dirty="0" err="1" smtClean="0">
                <a:latin typeface="+mn-ea"/>
              </a:rPr>
              <a:t>btween</a:t>
            </a:r>
            <a:r>
              <a:rPr lang="en-US" altLang="ko-KR" sz="1400" dirty="0" smtClean="0">
                <a:latin typeface="+mn-ea"/>
              </a:rPr>
              <a:t> 20250101000000 and 20251231235959</a:t>
            </a:r>
          </a:p>
          <a:p>
            <a:endParaRPr lang="en-US" altLang="ko-KR" dirty="0" smtClean="0">
              <a:latin typeface="+mn-ea"/>
            </a:endParaRPr>
          </a:p>
          <a:p>
            <a:pPr>
              <a:buNone/>
            </a:pPr>
            <a:r>
              <a:rPr lang="en-US" altLang="ko-KR" sz="1600" b="1" dirty="0" err="1" smtClean="0">
                <a:latin typeface="+mn-ea"/>
              </a:rPr>
              <a:t>customfields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조회 및 결과 노출에 사용할 필드를 입력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예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400" dirty="0" err="1" smtClean="0">
                <a:latin typeface="+mn-ea"/>
              </a:rPr>
              <a:t>url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threshold</a:t>
            </a:r>
          </a:p>
          <a:p>
            <a:r>
              <a:rPr lang="en-US" altLang="ko-KR" sz="1400" dirty="0" smtClean="0">
                <a:latin typeface="+mn-ea"/>
              </a:rPr>
              <a:t>vector </a:t>
            </a:r>
            <a:r>
              <a:rPr lang="ko-KR" altLang="en-US" sz="1400" dirty="0" smtClean="0">
                <a:latin typeface="+mn-ea"/>
              </a:rPr>
              <a:t>검색 시 거리 제약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037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검색엔진 최적화 설정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최적화 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20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Memory </a:t>
            </a:r>
            <a:r>
              <a:rPr lang="ko-KR" altLang="en-US" sz="1600" b="1" dirty="0" smtClean="0">
                <a:latin typeface="+mn-ea"/>
              </a:rPr>
              <a:t>설정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색인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검색 시 메모리를 충분히 활용하여 색인 속도를 보장할 수 있도록 설정합니다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서버사양을 참고하여 검색엔진이 사용할 수 있는 메모리크기를 설정해주세요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병렬 처리 설정</a:t>
            </a:r>
            <a:endParaRPr lang="en-US" altLang="ko-KR" sz="1600" b="1" dirty="0" smtClean="0">
              <a:latin typeface="+mn-ea"/>
            </a:endParaRPr>
          </a:p>
          <a:p>
            <a:pPr>
              <a:buFontTx/>
              <a:buChar char="-"/>
            </a:pPr>
            <a:r>
              <a:rPr lang="ko-KR" altLang="en-US" sz="1400" dirty="0" smtClean="0">
                <a:latin typeface="+mn-ea"/>
              </a:rPr>
              <a:t>색인 시 </a:t>
            </a:r>
            <a:r>
              <a:rPr lang="en-US" altLang="ko-KR" sz="1400" dirty="0" err="1" smtClean="0">
                <a:latin typeface="+mn-ea"/>
              </a:rPr>
              <a:t>cpu</a:t>
            </a:r>
            <a:r>
              <a:rPr lang="ko-KR" altLang="en-US" sz="1400" dirty="0" smtClean="0">
                <a:latin typeface="+mn-ea"/>
              </a:rPr>
              <a:t>를 최대한 활용하여 병렬 처리할 수 있도록 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pPr>
              <a:buFontTx/>
              <a:buChar char="-"/>
            </a:pPr>
            <a:r>
              <a:rPr lang="ko-KR" altLang="en-US" sz="1400" dirty="0" smtClean="0">
                <a:latin typeface="+mn-ea"/>
              </a:rPr>
              <a:t>검색엔진이 사용할 수 있는 </a:t>
            </a:r>
            <a:r>
              <a:rPr lang="en-US" altLang="ko-KR" sz="1400" dirty="0" smtClean="0">
                <a:latin typeface="+mn-ea"/>
              </a:rPr>
              <a:t>core</a:t>
            </a:r>
            <a:r>
              <a:rPr lang="ko-KR" altLang="en-US" sz="1400" dirty="0" smtClean="0">
                <a:latin typeface="+mn-ea"/>
              </a:rPr>
              <a:t>를 확인하여 설정</a:t>
            </a:r>
            <a:endParaRPr lang="en-US" altLang="ko-KR" sz="1400" dirty="0" smtClean="0">
              <a:latin typeface="+mn-ea"/>
            </a:endParaRPr>
          </a:p>
          <a:p>
            <a:endParaRPr lang="ko-KR" altLang="en-US" sz="14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00034" y="2071678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err="1" smtClean="0">
                <a:latin typeface="+mj-ea"/>
                <a:ea typeface="+mj-ea"/>
              </a:rPr>
              <a:t>kql.rc</a:t>
            </a:r>
            <a:r>
              <a:rPr lang="en-US" altLang="ko-KR" sz="1400" dirty="0" smtClean="0">
                <a:latin typeface="+mj-ea"/>
                <a:ea typeface="+mj-ea"/>
              </a:rPr>
              <a:t>::MAX_BUFFER_CACHE_SIZE      = 1 GB</a:t>
            </a:r>
          </a:p>
          <a:p>
            <a:pPr>
              <a:buNone/>
            </a:pPr>
            <a:r>
              <a:rPr lang="en-US" altLang="ko-KR" sz="1400" dirty="0" err="1" smtClean="0">
                <a:latin typeface="+mj-ea"/>
                <a:ea typeface="+mj-ea"/>
              </a:rPr>
              <a:t>kql.rc</a:t>
            </a:r>
            <a:r>
              <a:rPr lang="en-US" altLang="ko-KR" sz="1400" dirty="0" smtClean="0">
                <a:latin typeface="+mj-ea"/>
                <a:ea typeface="+mj-ea"/>
              </a:rPr>
              <a:t>::MAX_WORKING_MEMORY_SIZE    = 1 GB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71472" y="4143380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err="1" smtClean="0"/>
              <a:t>kql.rc</a:t>
            </a:r>
            <a:r>
              <a:rPr lang="en-US" altLang="ko-KR" sz="1400" dirty="0" smtClean="0"/>
              <a:t>::NO_OF_PARALLEL_TASK = 8</a:t>
            </a:r>
          </a:p>
        </p:txBody>
      </p:sp>
    </p:spTree>
    <p:extLst>
      <p:ext uri="{BB962C8B-B14F-4D97-AF65-F5344CB8AC3E}">
        <p14:creationId xmlns:p14="http://schemas.microsoft.com/office/powerpoint/2010/main" val="244772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최적화 설정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21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병렬 처리 설정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검색 시 </a:t>
            </a:r>
            <a:r>
              <a:rPr lang="en-US" altLang="ko-KR" sz="1400" dirty="0" err="1" smtClean="0">
                <a:latin typeface="+mn-ea"/>
              </a:rPr>
              <a:t>cpu</a:t>
            </a:r>
            <a:r>
              <a:rPr lang="ko-KR" altLang="en-US" sz="1400" dirty="0" smtClean="0">
                <a:latin typeface="+mn-ea"/>
              </a:rPr>
              <a:t>를 최대한 활용하여 병렬처리 할 수 있도록 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검색엔진이 사용할 수 있는 </a:t>
            </a:r>
            <a:r>
              <a:rPr lang="en-US" altLang="ko-KR" sz="1400" dirty="0" smtClean="0">
                <a:latin typeface="+mn-ea"/>
              </a:rPr>
              <a:t>core</a:t>
            </a:r>
            <a:r>
              <a:rPr lang="ko-KR" altLang="en-US" sz="1400" dirty="0" smtClean="0">
                <a:latin typeface="+mn-ea"/>
              </a:rPr>
              <a:t>를 확인하여 설정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err="1" smtClean="0">
                <a:latin typeface="+mn-ea"/>
              </a:rPr>
              <a:t>max_pqry_thread_count</a:t>
            </a:r>
            <a:r>
              <a:rPr lang="ko-KR" altLang="en-US" sz="1400" dirty="0" smtClean="0">
                <a:latin typeface="+mn-ea"/>
              </a:rPr>
              <a:t>설정</a:t>
            </a:r>
            <a:endParaRPr lang="en-US" altLang="ko-KR" sz="1400" dirty="0" smtClean="0">
              <a:latin typeface="+mn-ea"/>
            </a:endParaRPr>
          </a:p>
          <a:p>
            <a:pPr lvl="1">
              <a:buFontTx/>
              <a:buChar char="-"/>
            </a:pPr>
            <a:r>
              <a:rPr lang="en-US" altLang="ko-KR" sz="1400" b="1" dirty="0" err="1" smtClean="0">
                <a:latin typeface="+mn-ea"/>
              </a:rPr>
              <a:t>max_pqry_thread_count</a:t>
            </a:r>
            <a:r>
              <a:rPr lang="ko-KR" altLang="en-US" sz="1400" dirty="0" smtClean="0">
                <a:latin typeface="+mn-ea"/>
              </a:rPr>
              <a:t>는 브로커 볼륨 사용 시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포함된 </a:t>
            </a:r>
            <a:r>
              <a:rPr lang="ko-KR" altLang="en-US" sz="1400" b="1" dirty="0" err="1" smtClean="0">
                <a:latin typeface="+mn-ea"/>
              </a:rPr>
              <a:t>실볼륨</a:t>
            </a:r>
            <a:r>
              <a:rPr lang="ko-KR" altLang="en-US" sz="1400" b="1" dirty="0" smtClean="0">
                <a:latin typeface="+mn-ea"/>
              </a:rPr>
              <a:t> 검색을 병렬로 수행하는 </a:t>
            </a:r>
            <a:r>
              <a:rPr lang="ko-KR" altLang="en-US" sz="1400" b="1" dirty="0" err="1" smtClean="0">
                <a:latin typeface="+mn-ea"/>
              </a:rPr>
              <a:t>스레드</a:t>
            </a:r>
            <a:r>
              <a:rPr lang="ko-KR" altLang="en-US" sz="1400" b="1" dirty="0" smtClean="0">
                <a:latin typeface="+mn-ea"/>
              </a:rPr>
              <a:t> 수</a:t>
            </a:r>
            <a:r>
              <a:rPr lang="ko-KR" altLang="en-US" sz="1400" dirty="0" smtClean="0">
                <a:latin typeface="+mn-ea"/>
              </a:rPr>
              <a:t>를 지정하는 </a:t>
            </a:r>
            <a:r>
              <a:rPr lang="ko-KR" altLang="en-US" sz="1400" dirty="0" err="1" smtClean="0">
                <a:latin typeface="+mn-ea"/>
              </a:rPr>
              <a:t>파라미터임</a:t>
            </a:r>
            <a:endParaRPr lang="en-US" altLang="ko-KR" sz="1400" dirty="0" smtClean="0">
              <a:latin typeface="+mn-ea"/>
            </a:endParaRPr>
          </a:p>
          <a:p>
            <a:pPr lvl="1">
              <a:buFontTx/>
              <a:buChar char="-"/>
            </a:pPr>
            <a:r>
              <a:rPr lang="ko-KR" altLang="en-US" sz="1400" dirty="0" smtClean="0">
                <a:latin typeface="+mn-ea"/>
              </a:rPr>
              <a:t>실제 동시 처리량은 </a:t>
            </a:r>
            <a:r>
              <a:rPr lang="en-US" altLang="ko-KR" sz="1400" b="1" dirty="0" err="1" smtClean="0">
                <a:latin typeface="+mn-ea"/>
              </a:rPr>
              <a:t>work_thread</a:t>
            </a:r>
            <a:r>
              <a:rPr lang="en-US" altLang="ko-KR" sz="1400" b="1" dirty="0" smtClean="0">
                <a:latin typeface="+mn-ea"/>
              </a:rPr>
              <a:t> × (</a:t>
            </a:r>
            <a:r>
              <a:rPr lang="ko-KR" altLang="en-US" sz="1400" b="1" dirty="0" smtClean="0">
                <a:latin typeface="+mn-ea"/>
              </a:rPr>
              <a:t>브로커 볼륨에 포함된 </a:t>
            </a:r>
            <a:r>
              <a:rPr lang="ko-KR" altLang="en-US" sz="1400" b="1" dirty="0" err="1" smtClean="0">
                <a:latin typeface="+mn-ea"/>
              </a:rPr>
              <a:t>실볼륨</a:t>
            </a:r>
            <a:r>
              <a:rPr lang="ko-KR" altLang="en-US" sz="1400" b="1" dirty="0" smtClean="0">
                <a:latin typeface="+mn-ea"/>
              </a:rPr>
              <a:t> 개수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로 결정됨</a:t>
            </a:r>
            <a:endParaRPr lang="en-US" altLang="ko-KR" sz="1400" dirty="0" smtClean="0">
              <a:latin typeface="+mn-ea"/>
            </a:endParaRPr>
          </a:p>
          <a:p>
            <a:pPr lvl="1">
              <a:buFontTx/>
              <a:buChar char="-"/>
            </a:pPr>
            <a:r>
              <a:rPr lang="en-US" altLang="ko-KR" sz="1400" dirty="0" smtClean="0">
                <a:latin typeface="+mn-ea"/>
              </a:rPr>
              <a:t>RAG Search API </a:t>
            </a:r>
            <a:r>
              <a:rPr lang="ko-KR" altLang="en-US" sz="1400" dirty="0" smtClean="0">
                <a:latin typeface="+mn-ea"/>
              </a:rPr>
              <a:t>호출 시 </a:t>
            </a:r>
            <a:r>
              <a:rPr lang="en-US" altLang="ko-KR" sz="1400" dirty="0" err="1" smtClean="0">
                <a:latin typeface="+mn-ea"/>
              </a:rPr>
              <a:t>vols</a:t>
            </a:r>
            <a:r>
              <a:rPr lang="ko-KR" altLang="en-US" sz="1400" dirty="0" smtClean="0">
                <a:latin typeface="+mn-ea"/>
              </a:rPr>
              <a:t>에 설정한 </a:t>
            </a:r>
            <a:r>
              <a:rPr lang="ko-KR" altLang="en-US" sz="1400" b="1" dirty="0" smtClean="0">
                <a:latin typeface="+mn-ea"/>
              </a:rPr>
              <a:t>볼륨 목록 기준으로 실볼륨 개수</a:t>
            </a:r>
            <a:r>
              <a:rPr lang="ko-KR" altLang="en-US" sz="1400" dirty="0" smtClean="0">
                <a:latin typeface="+mn-ea"/>
              </a:rPr>
              <a:t>가 정해지므로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검색 범위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smtClean="0">
                <a:latin typeface="+mn-ea"/>
              </a:rPr>
              <a:t>볼륨 수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에 맞춰 값을 튜닝하면 됨</a:t>
            </a:r>
          </a:p>
          <a:p>
            <a:pPr lvl="1">
              <a:buFontTx/>
              <a:buChar char="-"/>
            </a:pP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sz="1400" dirty="0" smtClean="0">
              <a:latin typeface="+mn-ea"/>
            </a:endParaRPr>
          </a:p>
          <a:p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39552" y="3645024"/>
            <a:ext cx="7072362" cy="7143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err="1" smtClean="0"/>
              <a:t>ksearchd.rc</a:t>
            </a:r>
            <a:r>
              <a:rPr lang="en-US" altLang="ko-KR" sz="1400" dirty="0" smtClean="0"/>
              <a:t>:: </a:t>
            </a:r>
            <a:r>
              <a:rPr lang="en-US" altLang="ko-KR" sz="1400" dirty="0" err="1" smtClean="0"/>
              <a:t>max_work_thread_count</a:t>
            </a:r>
            <a:r>
              <a:rPr lang="en-US" altLang="ko-KR" sz="1400" dirty="0" smtClean="0"/>
              <a:t> = 8</a:t>
            </a:r>
          </a:p>
          <a:p>
            <a:r>
              <a:rPr lang="en-US" altLang="ko-KR" sz="1400" dirty="0" err="1" smtClean="0"/>
              <a:t>ksearchd.rc</a:t>
            </a:r>
            <a:r>
              <a:rPr lang="en-US" altLang="ko-KR" sz="1400" dirty="0" smtClean="0"/>
              <a:t>:: </a:t>
            </a:r>
            <a:r>
              <a:rPr lang="en-US" altLang="ko-KR" sz="1400" dirty="0" err="1" smtClean="0"/>
              <a:t>max_pqry_thread_count</a:t>
            </a:r>
            <a:r>
              <a:rPr lang="en-US" altLang="ko-KR" sz="1400" dirty="0" smtClean="0"/>
              <a:t> = 16</a:t>
            </a: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향후 계획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23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Custom chunking </a:t>
            </a:r>
            <a:r>
              <a:rPr lang="ko-KR" altLang="en-US" sz="1600" b="1" dirty="0" smtClean="0">
                <a:latin typeface="+mn-ea"/>
              </a:rPr>
              <a:t>활용을 위한 색인 동작 개선</a:t>
            </a:r>
            <a:endParaRPr lang="en-US" altLang="ko-KR" sz="1600" b="1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데이터 유형별로 더 적절한 </a:t>
            </a:r>
            <a:r>
              <a:rPr lang="en-US" altLang="ko-KR" sz="1400" dirty="0" smtClean="0">
                <a:latin typeface="+mn-ea"/>
              </a:rPr>
              <a:t>chunking</a:t>
            </a:r>
            <a:r>
              <a:rPr lang="ko-KR" altLang="en-US" sz="1400" dirty="0" smtClean="0">
                <a:latin typeface="+mn-ea"/>
              </a:rPr>
              <a:t>전략을 활용할 수 있도록 개선</a:t>
            </a: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쿼리</a:t>
            </a:r>
            <a:r>
              <a:rPr lang="en-US" altLang="ko-KR" sz="1600" b="1" dirty="0" smtClean="0">
                <a:latin typeface="+mn-ea"/>
              </a:rPr>
              <a:t>·</a:t>
            </a:r>
            <a:r>
              <a:rPr lang="ko-KR" altLang="en-US" sz="1600" b="1" dirty="0" smtClean="0">
                <a:latin typeface="+mn-ea"/>
              </a:rPr>
              <a:t>정렬 설정의 세밀한 튜닝 지원</a:t>
            </a:r>
            <a:endParaRPr lang="en-US" altLang="ko-KR" sz="1600" b="1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검색 옵션</a:t>
            </a:r>
            <a:r>
              <a:rPr lang="en-US" altLang="ko-KR" sz="1400" dirty="0" smtClean="0">
                <a:latin typeface="+mn-ea"/>
              </a:rPr>
              <a:t>(</a:t>
            </a:r>
            <a:r>
              <a:rPr lang="ko-KR" altLang="en-US" sz="1400" dirty="0" err="1" smtClean="0">
                <a:latin typeface="+mn-ea"/>
              </a:rPr>
              <a:t>매칭</a:t>
            </a:r>
            <a:r>
              <a:rPr lang="ko-KR" altLang="en-US" sz="1400" dirty="0" smtClean="0">
                <a:latin typeface="+mn-ea"/>
              </a:rPr>
              <a:t> 엄격도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필드 가중치 등</a:t>
            </a:r>
            <a:r>
              <a:rPr lang="en-US" altLang="ko-KR" sz="1400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과 정렬 기준을 더 세분화해 목적에 맞게 조절 가능하도록 개선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최신성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적합도 등 정렬 요소의 가중치와 조건을 명확히 제어할 수 있도록 고도화</a:t>
            </a: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검색 시 사전 활용</a:t>
            </a:r>
            <a:endParaRPr lang="en-US" altLang="ko-KR" sz="1600" b="1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동의어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신조어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err="1" smtClean="0">
                <a:latin typeface="+mn-ea"/>
              </a:rPr>
              <a:t>불용어</a:t>
            </a:r>
            <a:r>
              <a:rPr lang="ko-KR" altLang="en-US" sz="1400" dirty="0" smtClean="0">
                <a:latin typeface="+mn-ea"/>
              </a:rPr>
              <a:t> 사전을 </a:t>
            </a:r>
            <a:r>
              <a:rPr lang="en-US" altLang="ko-KR" sz="1400" dirty="0" smtClean="0">
                <a:latin typeface="+mn-ea"/>
              </a:rPr>
              <a:t>RAG</a:t>
            </a:r>
            <a:r>
              <a:rPr lang="ko-KR" altLang="en-US" sz="1400" dirty="0" smtClean="0">
                <a:latin typeface="+mn-ea"/>
              </a:rPr>
              <a:t>검색에 활용할 수 있도록 옵션 확장</a:t>
            </a: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en-US" altLang="ko-KR" dirty="0" smtClean="0"/>
              <a:t>. FAQ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라이선스를 바꿨더니 기동이 안 되요</a:t>
            </a:r>
            <a:r>
              <a:rPr lang="en-US" altLang="ko-KR" dirty="0"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25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latin typeface="+mn-ea"/>
              </a:rPr>
              <a:t>개발 라이선스 발급 시 확인 사항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v6, v7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kylin-search:25.10</a:t>
            </a:r>
            <a:r>
              <a:rPr lang="ko-KR" altLang="en-US" dirty="0">
                <a:latin typeface="+mn-ea"/>
              </a:rPr>
              <a:t>을 기준으로 이전이면 </a:t>
            </a:r>
            <a:r>
              <a:rPr lang="en-US" altLang="ko-KR" dirty="0">
                <a:latin typeface="+mn-ea"/>
              </a:rPr>
              <a:t>v6, </a:t>
            </a:r>
            <a:r>
              <a:rPr lang="ko-KR" altLang="en-US" dirty="0">
                <a:latin typeface="+mn-ea"/>
              </a:rPr>
              <a:t>이후면 </a:t>
            </a:r>
            <a:r>
              <a:rPr lang="en-US" altLang="ko-KR" dirty="0">
                <a:latin typeface="+mn-ea"/>
              </a:rPr>
              <a:t>v7</a:t>
            </a:r>
            <a:r>
              <a:rPr lang="ko-KR" altLang="en-US" dirty="0">
                <a:latin typeface="+mn-ea"/>
              </a:rPr>
              <a:t>을 </a:t>
            </a:r>
            <a:r>
              <a:rPr lang="ko-KR" altLang="en-US" dirty="0" smtClean="0">
                <a:latin typeface="+mn-ea"/>
              </a:rPr>
              <a:t>선택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600" b="1" dirty="0" err="1" smtClean="0">
                <a:latin typeface="+mn-ea"/>
              </a:rPr>
              <a:t>ksm</a:t>
            </a:r>
            <a:r>
              <a:rPr lang="en-US" altLang="ko-KR" sz="1600" b="1" dirty="0" smtClean="0">
                <a:latin typeface="+mn-ea"/>
              </a:rPr>
              <a:t>/</a:t>
            </a:r>
            <a:r>
              <a:rPr lang="en-US" altLang="ko-KR" sz="1600" b="1" dirty="0" err="1" smtClean="0">
                <a:latin typeface="+mn-ea"/>
              </a:rPr>
              <a:t>lic</a:t>
            </a:r>
            <a:r>
              <a:rPr lang="en-US" altLang="ko-KR" sz="1600" b="1" dirty="0" smtClean="0">
                <a:latin typeface="+mn-ea"/>
              </a:rPr>
              <a:t>/keys </a:t>
            </a:r>
            <a:r>
              <a:rPr lang="en-US" altLang="ko-KR" sz="1600" b="1" dirty="0" err="1" smtClean="0">
                <a:latin typeface="+mn-ea"/>
              </a:rPr>
              <a:t>api</a:t>
            </a:r>
            <a:r>
              <a:rPr lang="ko-KR" altLang="en-US" sz="1600" b="1" dirty="0" smtClean="0">
                <a:latin typeface="+mn-ea"/>
              </a:rPr>
              <a:t>의 </a:t>
            </a:r>
            <a:r>
              <a:rPr lang="en-US" altLang="ko-KR" sz="1600" b="1" dirty="0" err="1" smtClean="0">
                <a:latin typeface="+mn-ea"/>
              </a:rPr>
              <a:t>license_type</a:t>
            </a:r>
            <a:r>
              <a:rPr lang="ko-KR" altLang="en-US" sz="1600" b="1" dirty="0" smtClean="0">
                <a:latin typeface="+mn-ea"/>
              </a:rPr>
              <a:t>과 </a:t>
            </a:r>
            <a:r>
              <a:rPr lang="en-US" altLang="ko-KR" sz="1600" b="1" dirty="0" smtClean="0">
                <a:latin typeface="+mn-ea"/>
              </a:rPr>
              <a:t/>
            </a:r>
            <a:br>
              <a:rPr lang="en-US" altLang="ko-KR" sz="1600" b="1" dirty="0" smtClean="0">
                <a:latin typeface="+mn-ea"/>
              </a:rPr>
            </a:br>
            <a:r>
              <a:rPr lang="en-US" altLang="ko-KR" sz="1600" b="1" dirty="0" err="1" smtClean="0">
                <a:latin typeface="+mn-ea"/>
              </a:rPr>
              <a:t>kql.lic</a:t>
            </a:r>
            <a:r>
              <a:rPr lang="en-US" altLang="ko-KR" sz="1600" b="1" dirty="0" smtClean="0">
                <a:latin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파일의 </a:t>
            </a:r>
            <a:r>
              <a:rPr lang="en-US" altLang="ko-KR" sz="1600" b="1" dirty="0" err="1" smtClean="0">
                <a:solidFill>
                  <a:srgbClr val="FF0000"/>
                </a:solidFill>
                <a:latin typeface="+mn-ea"/>
              </a:rPr>
              <a:t>license_type</a:t>
            </a:r>
            <a:r>
              <a:rPr lang="ko-KR" altLang="en-US" sz="1600" b="1" dirty="0" smtClean="0">
                <a:solidFill>
                  <a:srgbClr val="FF0000"/>
                </a:solidFill>
                <a:latin typeface="+mn-ea"/>
              </a:rPr>
              <a:t>이 일치</a:t>
            </a:r>
            <a:r>
              <a:rPr lang="ko-KR" altLang="en-US" sz="1600" b="1" dirty="0" smtClean="0">
                <a:latin typeface="+mn-ea"/>
              </a:rPr>
              <a:t>하는지 확인</a:t>
            </a:r>
            <a:r>
              <a:rPr lang="en-US" altLang="ko-KR" sz="1600" b="1" dirty="0" smtClean="0">
                <a:latin typeface="+mn-ea"/>
              </a:rPr>
              <a:t>!!! </a:t>
            </a:r>
            <a:r>
              <a:rPr lang="ko-KR" altLang="en-US" sz="1600" b="1" dirty="0" smtClean="0">
                <a:latin typeface="+mn-ea"/>
              </a:rPr>
              <a:t>대소문자 정확히 일치</a:t>
            </a:r>
            <a:r>
              <a:rPr lang="en-US" altLang="ko-KR" sz="1600" b="1" dirty="0" smtClean="0">
                <a:latin typeface="+mn-ea"/>
              </a:rPr>
              <a:t>!!</a:t>
            </a:r>
            <a:endParaRPr lang="ko-KR" altLang="en-US" sz="16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3780" y="2420888"/>
            <a:ext cx="8072494" cy="32403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00" dirty="0" smtClean="0">
                <a:latin typeface="+mn-ea"/>
              </a:rPr>
              <a:t>$ curl http://</a:t>
            </a:r>
            <a:r>
              <a:rPr lang="en-US" altLang="ko-KR" sz="1000" dirty="0">
                <a:latin typeface="+mn-ea"/>
              </a:rPr>
              <a:t>__</a:t>
            </a:r>
            <a:r>
              <a:rPr lang="ko-KR" altLang="en-US" sz="1000" dirty="0">
                <a:latin typeface="+mn-ea"/>
              </a:rPr>
              <a:t>라이선스엔진</a:t>
            </a:r>
            <a:r>
              <a:rPr lang="en-US" altLang="ko-KR" sz="1000" dirty="0">
                <a:latin typeface="+mn-ea"/>
              </a:rPr>
              <a:t>_</a:t>
            </a:r>
            <a:r>
              <a:rPr lang="en-US" altLang="ko-KR" sz="1000" dirty="0" err="1">
                <a:latin typeface="+mn-ea"/>
              </a:rPr>
              <a:t>ip:port</a:t>
            </a:r>
            <a:r>
              <a:rPr lang="en-US" altLang="ko-KR" sz="1000" dirty="0">
                <a:latin typeface="+mn-ea"/>
              </a:rPr>
              <a:t>__</a:t>
            </a:r>
            <a:r>
              <a:rPr lang="en-US" altLang="ko-KR" sz="1000" dirty="0" smtClean="0">
                <a:latin typeface="+mn-ea"/>
              </a:rPr>
              <a:t>/</a:t>
            </a:r>
            <a:r>
              <a:rPr lang="en-US" altLang="ko-KR" sz="1000" dirty="0" err="1" smtClean="0">
                <a:latin typeface="+mn-ea"/>
              </a:rPr>
              <a:t>ksm</a:t>
            </a:r>
            <a:r>
              <a:rPr lang="en-US" altLang="ko-KR" sz="1000" dirty="0" smtClean="0">
                <a:latin typeface="+mn-ea"/>
              </a:rPr>
              <a:t>/</a:t>
            </a:r>
            <a:r>
              <a:rPr lang="en-US" altLang="ko-KR" sz="1000" dirty="0" err="1" smtClean="0">
                <a:latin typeface="+mn-ea"/>
              </a:rPr>
              <a:t>lic</a:t>
            </a:r>
            <a:r>
              <a:rPr lang="en-US" altLang="ko-KR" sz="1000" dirty="0" smtClean="0">
                <a:latin typeface="+mn-ea"/>
              </a:rPr>
              <a:t>/keys 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## Konan License 2.6.2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버전부터는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ksm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lic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/keys 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api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결과에 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license_type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을 제공</a:t>
            </a:r>
            <a:endParaRPr lang="en-US" altLang="ko-KR" sz="1000" dirty="0" smtClean="0">
              <a:solidFill>
                <a:srgbClr val="FF0000"/>
              </a:solidFill>
              <a:latin typeface="+mn-ea"/>
            </a:endParaRPr>
          </a:p>
          <a:p>
            <a:pPr>
              <a:buNone/>
            </a:pPr>
            <a:r>
              <a:rPr lang="en-US" altLang="ko-KR" sz="1000" dirty="0">
                <a:latin typeface="+mn-ea"/>
              </a:rPr>
              <a:t>{"result":[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{"key":"</a:t>
            </a:r>
            <a:r>
              <a:rPr lang="en-US" altLang="ko-KR" sz="1000" dirty="0" smtClean="0">
                <a:latin typeface="+mn-ea"/>
              </a:rPr>
              <a:t>VU87UAB-VPWQZRB-CK……",</a:t>
            </a:r>
            <a:endParaRPr lang="en-US" altLang="ko-KR" sz="1000" dirty="0">
              <a:latin typeface="+mn-ea"/>
            </a:endParaRP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issued":false</a:t>
            </a:r>
            <a:r>
              <a:rPr lang="en-US" altLang="ko-KR" sz="1000" dirty="0">
                <a:latin typeface="+mn-ea"/>
              </a:rPr>
              <a:t>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issued_to</a:t>
            </a:r>
            <a:r>
              <a:rPr lang="en-US" altLang="ko-KR" sz="1000" dirty="0">
                <a:latin typeface="+mn-ea"/>
              </a:rPr>
              <a:t>":"",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"expire_date":"2026-09-16",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"version":"6.2.0",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type":"RAGX</a:t>
            </a:r>
            <a:r>
              <a:rPr lang="en-US" altLang="ko-KR" sz="1000" dirty="0">
                <a:latin typeface="+mn-ea"/>
              </a:rPr>
              <a:t>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"license_type":"RAGX-10000-PRO2x",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expired":false</a:t>
            </a:r>
            <a:r>
              <a:rPr lang="en-US" altLang="ko-KR" sz="1000" dirty="0" smtClean="0">
                <a:latin typeface="+mn-ea"/>
              </a:rPr>
              <a:t>},</a:t>
            </a:r>
          </a:p>
          <a:p>
            <a:pPr>
              <a:buNone/>
            </a:pP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{"</a:t>
            </a:r>
            <a:r>
              <a:rPr lang="en-US" altLang="ko-KR" sz="1000" dirty="0" err="1">
                <a:latin typeface="+mn-ea"/>
              </a:rPr>
              <a:t>key":"</a:t>
            </a:r>
            <a:r>
              <a:rPr lang="en-US" altLang="ko-KR" sz="1000" dirty="0" err="1" smtClean="0">
                <a:latin typeface="+mn-ea"/>
              </a:rPr>
              <a:t>QRRLUAB-UPWQZRB-TO</a:t>
            </a:r>
            <a:r>
              <a:rPr lang="en-US" altLang="ko-KR" sz="1000" dirty="0" smtClean="0">
                <a:latin typeface="+mn-ea"/>
              </a:rPr>
              <a:t>….",</a:t>
            </a:r>
            <a:endParaRPr lang="en-US" altLang="ko-KR" sz="1000" dirty="0">
              <a:latin typeface="+mn-ea"/>
            </a:endParaRP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issued":false</a:t>
            </a:r>
            <a:r>
              <a:rPr lang="en-US" altLang="ko-KR" sz="1000" dirty="0">
                <a:latin typeface="+mn-ea"/>
              </a:rPr>
              <a:t>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issued_to</a:t>
            </a:r>
            <a:r>
              <a:rPr lang="en-US" altLang="ko-KR" sz="1000" dirty="0">
                <a:latin typeface="+mn-ea"/>
              </a:rPr>
              <a:t>":"",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expire_date":"Unlimited</a:t>
            </a:r>
            <a:r>
              <a:rPr lang="en-US" altLang="ko-KR" sz="1000" dirty="0">
                <a:latin typeface="+mn-ea"/>
              </a:rPr>
              <a:t>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"version":"6.2.0",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"type":"</a:t>
            </a:r>
            <a:r>
              <a:rPr lang="en-US" altLang="ko-KR" sz="1000" dirty="0" err="1">
                <a:latin typeface="+mn-ea"/>
              </a:rPr>
              <a:t>Search&amp;Indexing</a:t>
            </a:r>
            <a:r>
              <a:rPr lang="en-US" altLang="ko-KR" sz="1000" dirty="0">
                <a:latin typeface="+mn-ea"/>
              </a:rPr>
              <a:t>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"license_type":"SI16gntcs",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    "</a:t>
            </a:r>
            <a:r>
              <a:rPr lang="en-US" altLang="ko-KR" sz="1000" dirty="0" err="1">
                <a:latin typeface="+mn-ea"/>
              </a:rPr>
              <a:t>expired":true</a:t>
            </a:r>
            <a:r>
              <a:rPr lang="en-US" altLang="ko-KR" sz="1000" dirty="0">
                <a:latin typeface="+mn-ea"/>
              </a:rPr>
              <a:t>}],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"message":"",</a:t>
            </a:r>
          </a:p>
          <a:p>
            <a:pPr>
              <a:buNone/>
            </a:pPr>
            <a:r>
              <a:rPr lang="en-US" altLang="ko-KR" sz="1000" dirty="0">
                <a:latin typeface="+mn-ea"/>
              </a:rPr>
              <a:t>  "code":200</a:t>
            </a:r>
            <a:r>
              <a:rPr lang="en-US" altLang="ko-KR" sz="1000" dirty="0" smtClean="0">
                <a:latin typeface="+mn-ea"/>
              </a:rPr>
              <a:t>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78452" y="5733256"/>
            <a:ext cx="8072494" cy="5844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00" dirty="0" smtClean="0">
                <a:latin typeface="+mn-ea"/>
              </a:rPr>
              <a:t>$ cat package/</a:t>
            </a:r>
            <a:r>
              <a:rPr lang="en-US" altLang="ko-KR" sz="1000" dirty="0" err="1" smtClean="0">
                <a:latin typeface="+mn-ea"/>
              </a:rPr>
              <a:t>kylin</a:t>
            </a:r>
            <a:r>
              <a:rPr lang="en-US" altLang="ko-KR" sz="1000" dirty="0" smtClean="0">
                <a:latin typeface="+mn-ea"/>
              </a:rPr>
              <a:t>-search/mounted/licenses/</a:t>
            </a:r>
            <a:r>
              <a:rPr lang="en-US" altLang="ko-KR" sz="1000" dirty="0" err="1" smtClean="0">
                <a:latin typeface="+mn-ea"/>
              </a:rPr>
              <a:t>kql.lic</a:t>
            </a:r>
            <a:endParaRPr lang="en-US" altLang="ko-KR" sz="1000" dirty="0" smtClean="0">
              <a:latin typeface="+mn-ea"/>
            </a:endParaRPr>
          </a:p>
          <a:p>
            <a:pPr>
              <a:buNone/>
            </a:pPr>
            <a:r>
              <a:rPr lang="en-US" altLang="ko-KR" sz="1000" dirty="0" err="1" smtClean="0">
                <a:latin typeface="+mn-ea"/>
              </a:rPr>
              <a:t>license_server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= </a:t>
            </a:r>
            <a:r>
              <a:rPr lang="en-US" altLang="ko-KR" sz="1000" dirty="0" smtClean="0">
                <a:latin typeface="+mn-ea"/>
              </a:rPr>
              <a:t>{__</a:t>
            </a:r>
            <a:r>
              <a:rPr lang="ko-KR" altLang="en-US" sz="1000" dirty="0" smtClean="0">
                <a:latin typeface="+mn-ea"/>
              </a:rPr>
              <a:t>라이선스엔진</a:t>
            </a:r>
            <a:r>
              <a:rPr lang="en-US" altLang="ko-KR" sz="1000" dirty="0" smtClean="0">
                <a:latin typeface="+mn-ea"/>
              </a:rPr>
              <a:t>_</a:t>
            </a:r>
            <a:r>
              <a:rPr lang="en-US" altLang="ko-KR" sz="1000" dirty="0" err="1" smtClean="0">
                <a:latin typeface="+mn-ea"/>
              </a:rPr>
              <a:t>ip:port</a:t>
            </a:r>
            <a:r>
              <a:rPr lang="en-US" altLang="ko-KR" sz="1000" dirty="0" smtClean="0">
                <a:latin typeface="+mn-ea"/>
              </a:rPr>
              <a:t>__}</a:t>
            </a:r>
            <a:endParaRPr lang="en-US" altLang="ko-KR" sz="1000" dirty="0">
              <a:latin typeface="+mn-ea"/>
            </a:endParaRPr>
          </a:p>
          <a:p>
            <a:pPr>
              <a:buNone/>
            </a:pPr>
            <a:r>
              <a:rPr lang="en-US" altLang="ko-KR" sz="1000" dirty="0" err="1">
                <a:solidFill>
                  <a:srgbClr val="FF0000"/>
                </a:solidFill>
                <a:latin typeface="+mn-ea"/>
              </a:rPr>
              <a:t>license_type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 = SI16gntcs</a:t>
            </a: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라이선스를 바꿨더니 기동이 안 되요</a:t>
            </a:r>
            <a:r>
              <a:rPr lang="en-US" altLang="ko-KR" dirty="0">
                <a:latin typeface="+mn-ea"/>
                <a:ea typeface="+mn-ea"/>
              </a:rPr>
              <a:t>.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26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 smtClean="0">
                <a:latin typeface="+mn-ea"/>
              </a:rPr>
              <a:t>그래도 </a:t>
            </a:r>
            <a:r>
              <a:rPr lang="ko-KR" altLang="en-US" sz="1600" b="1" dirty="0" err="1">
                <a:latin typeface="+mn-ea"/>
              </a:rPr>
              <a:t>안될시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en-US" altLang="ko-KR" sz="1600" b="1" dirty="0" err="1">
                <a:latin typeface="+mn-ea"/>
              </a:rPr>
              <a:t>zeus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이슈 </a:t>
            </a:r>
            <a:r>
              <a:rPr lang="ko-KR" altLang="en-US" sz="1600" b="1" dirty="0" smtClean="0">
                <a:latin typeface="+mn-ea"/>
              </a:rPr>
              <a:t>등록</a:t>
            </a:r>
            <a:r>
              <a:rPr lang="en-US" altLang="ko-KR" sz="1600" b="1" dirty="0" smtClean="0">
                <a:latin typeface="+mn-ea"/>
              </a:rPr>
              <a:t>.  </a:t>
            </a:r>
          </a:p>
          <a:p>
            <a:r>
              <a:rPr lang="ko-KR" altLang="en-US" sz="1600" b="1" dirty="0" smtClean="0">
                <a:latin typeface="+mn-ea"/>
              </a:rPr>
              <a:t>이슈 등록 시 첨부할 정보들</a:t>
            </a:r>
            <a:endParaRPr lang="en-US" altLang="ko-KR" sz="1600" b="1" dirty="0" smtClean="0">
              <a:latin typeface="+mn-ea"/>
            </a:endParaRPr>
          </a:p>
          <a:p>
            <a:pPr lvl="1"/>
            <a:r>
              <a:rPr lang="ko-KR" altLang="en-US" b="1" dirty="0" smtClean="0">
                <a:latin typeface="+mn-ea"/>
              </a:rPr>
              <a:t>검색엔진</a:t>
            </a:r>
            <a:r>
              <a:rPr lang="en-US" altLang="ko-KR" b="1" dirty="0" smtClean="0">
                <a:latin typeface="+mn-ea"/>
              </a:rPr>
              <a:t>, </a:t>
            </a:r>
            <a:r>
              <a:rPr lang="ko-KR" altLang="en-US" b="1" dirty="0" smtClean="0">
                <a:latin typeface="+mn-ea"/>
              </a:rPr>
              <a:t>라이선스 엔진 </a:t>
            </a:r>
            <a:r>
              <a:rPr lang="ko-KR" altLang="en-US" b="1" dirty="0">
                <a:latin typeface="+mn-ea"/>
              </a:rPr>
              <a:t>정보</a:t>
            </a:r>
            <a:r>
              <a:rPr lang="en-US" altLang="ko-KR" b="1" dirty="0">
                <a:latin typeface="+mn-ea"/>
              </a:rPr>
              <a:t>(./</a:t>
            </a:r>
            <a:r>
              <a:rPr lang="en-US" altLang="ko-KR" b="1" dirty="0" err="1">
                <a:latin typeface="+mn-ea"/>
              </a:rPr>
              <a:t>ksearchd</a:t>
            </a:r>
            <a:r>
              <a:rPr lang="en-US" altLang="ko-KR" b="1" dirty="0">
                <a:latin typeface="+mn-ea"/>
              </a:rPr>
              <a:t> –v</a:t>
            </a:r>
            <a:r>
              <a:rPr lang="en-US" altLang="ko-KR" b="1" dirty="0" smtClean="0">
                <a:latin typeface="+mn-ea"/>
              </a:rPr>
              <a:t>, ./</a:t>
            </a:r>
            <a:r>
              <a:rPr lang="en-US" altLang="ko-KR" b="1" dirty="0" err="1">
                <a:latin typeface="+mn-ea"/>
              </a:rPr>
              <a:t>klicensed</a:t>
            </a:r>
            <a:r>
              <a:rPr lang="en-US" altLang="ko-KR" b="1" dirty="0">
                <a:latin typeface="+mn-ea"/>
              </a:rPr>
              <a:t> -v)</a:t>
            </a:r>
            <a:endParaRPr lang="en-US" altLang="ko-KR" b="1" dirty="0" smtClean="0">
              <a:latin typeface="+mn-ea"/>
            </a:endParaRPr>
          </a:p>
          <a:p>
            <a:pPr lvl="1"/>
            <a:r>
              <a:rPr lang="en-US" altLang="ko-KR" b="1" dirty="0" smtClean="0">
                <a:latin typeface="+mn-ea"/>
              </a:rPr>
              <a:t>/</a:t>
            </a:r>
            <a:r>
              <a:rPr lang="en-US" altLang="ko-KR" b="1" dirty="0" err="1" smtClean="0">
                <a:latin typeface="+mn-ea"/>
              </a:rPr>
              <a:t>ksm</a:t>
            </a:r>
            <a:r>
              <a:rPr lang="en-US" altLang="ko-KR" b="1" dirty="0" smtClean="0">
                <a:latin typeface="+mn-ea"/>
              </a:rPr>
              <a:t>/</a:t>
            </a:r>
            <a:r>
              <a:rPr lang="en-US" altLang="ko-KR" b="1" dirty="0" err="1" smtClean="0">
                <a:latin typeface="+mn-ea"/>
              </a:rPr>
              <a:t>lic</a:t>
            </a:r>
            <a:r>
              <a:rPr lang="en-US" altLang="ko-KR" b="1" dirty="0" smtClean="0">
                <a:latin typeface="+mn-ea"/>
              </a:rPr>
              <a:t>/keys </a:t>
            </a:r>
            <a:r>
              <a:rPr lang="ko-KR" altLang="en-US" b="1" dirty="0" smtClean="0">
                <a:latin typeface="+mn-ea"/>
              </a:rPr>
              <a:t>결과 </a:t>
            </a:r>
            <a:r>
              <a:rPr lang="en-US" altLang="ko-KR" b="1" dirty="0" smtClean="0">
                <a:latin typeface="+mn-ea"/>
              </a:rPr>
              <a:t>(</a:t>
            </a:r>
            <a:r>
              <a:rPr lang="ko-KR" altLang="en-US" b="1" dirty="0" smtClean="0">
                <a:latin typeface="+mn-ea"/>
              </a:rPr>
              <a:t>안되면</a:t>
            </a:r>
            <a:r>
              <a:rPr lang="en-US" altLang="ko-KR" b="1" dirty="0" smtClean="0">
                <a:latin typeface="+mn-ea"/>
              </a:rPr>
              <a:t>, </a:t>
            </a:r>
            <a:r>
              <a:rPr lang="ko-KR" altLang="en-US" b="1" dirty="0" smtClean="0">
                <a:latin typeface="+mn-ea"/>
              </a:rPr>
              <a:t>사용한 라이선스라도</a:t>
            </a:r>
            <a:r>
              <a:rPr lang="en-US" altLang="ko-KR" b="1" smtClean="0">
                <a:latin typeface="+mn-ea"/>
              </a:rPr>
              <a:t>..)</a:t>
            </a:r>
            <a:endParaRPr lang="en-US" altLang="ko-KR" b="1" dirty="0" smtClean="0">
              <a:latin typeface="+mn-ea"/>
            </a:endParaRPr>
          </a:p>
          <a:p>
            <a:pPr lvl="1"/>
            <a:r>
              <a:rPr lang="ko-KR" altLang="en-US" b="1" dirty="0" smtClean="0">
                <a:latin typeface="+mn-ea"/>
              </a:rPr>
              <a:t>엔진 기동에 성공한 적이 있었다면</a:t>
            </a:r>
            <a:r>
              <a:rPr lang="en-US" altLang="ko-KR" b="1" dirty="0" smtClean="0">
                <a:latin typeface="+mn-ea"/>
              </a:rPr>
              <a:t>, </a:t>
            </a:r>
            <a:r>
              <a:rPr lang="ko-KR" altLang="en-US" b="1" dirty="0" smtClean="0">
                <a:latin typeface="+mn-ea"/>
              </a:rPr>
              <a:t>성공했을 때 사용한 라이선스</a:t>
            </a:r>
            <a:r>
              <a:rPr lang="en-US" altLang="ko-KR" b="1" dirty="0" smtClean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329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RAG</a:t>
            </a:r>
            <a:r>
              <a:rPr lang="ko-KR" altLang="en-US" dirty="0" smtClean="0">
                <a:latin typeface="+mn-ea"/>
                <a:ea typeface="+mn-ea"/>
              </a:rPr>
              <a:t>의 검색 결과가 이상해요</a:t>
            </a:r>
            <a:r>
              <a:rPr lang="en-US" altLang="ko-KR" dirty="0" smtClean="0">
                <a:latin typeface="+mn-ea"/>
                <a:ea typeface="+mn-ea"/>
              </a:rPr>
              <a:t>!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27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주의사항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/response</a:t>
            </a:r>
            <a:r>
              <a:rPr lang="ko-KR" altLang="en-US" sz="1400" dirty="0" smtClean="0">
                <a:latin typeface="+mn-ea"/>
              </a:rPr>
              <a:t>의 결과는 </a:t>
            </a:r>
            <a:r>
              <a:rPr lang="en-US" altLang="ko-KR" sz="1400" dirty="0" err="1" smtClean="0">
                <a:latin typeface="+mn-ea"/>
              </a:rPr>
              <a:t>KonanSearch</a:t>
            </a:r>
            <a:r>
              <a:rPr lang="ko-KR" altLang="en-US" sz="1400" dirty="0" smtClean="0">
                <a:latin typeface="+mn-ea"/>
              </a:rPr>
              <a:t>에서 반환한 검색결과를 </a:t>
            </a:r>
            <a:r>
              <a:rPr lang="en-US" altLang="ko-KR" sz="1400" dirty="0" err="1" smtClean="0">
                <a:latin typeface="+mn-ea"/>
              </a:rPr>
              <a:t>reranking+selector</a:t>
            </a:r>
            <a:r>
              <a:rPr lang="ko-KR" altLang="en-US" sz="1400" dirty="0" smtClean="0">
                <a:latin typeface="+mn-ea"/>
              </a:rPr>
              <a:t>가 수행된 결과이므로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검색 이후에 사라졌을 가능성을 고려해야 함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en-US" altLang="ko-KR" sz="1400" b="1" dirty="0" err="1" smtClean="0">
                <a:latin typeface="+mn-ea"/>
              </a:rPr>
              <a:t>MLflow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툴을 활용</a:t>
            </a:r>
            <a:r>
              <a:rPr lang="en-US" altLang="ko-KR" sz="1400" dirty="0" smtClean="0">
                <a:latin typeface="+mn-ea"/>
              </a:rPr>
              <a:t>!!</a:t>
            </a:r>
          </a:p>
          <a:p>
            <a:pPr lvl="1"/>
            <a:r>
              <a:rPr lang="en-US" altLang="ko-KR" sz="1200" dirty="0" smtClean="0">
                <a:latin typeface="+mn-ea"/>
              </a:rPr>
              <a:t>RAG</a:t>
            </a:r>
            <a:r>
              <a:rPr lang="ko-KR" altLang="en-US" sz="1200" dirty="0" smtClean="0">
                <a:latin typeface="+mn-ea"/>
              </a:rPr>
              <a:t>에서 수행되는 각 단계별로 </a:t>
            </a:r>
            <a:r>
              <a:rPr lang="en-US" altLang="ko-KR" sz="1200" dirty="0" smtClean="0">
                <a:latin typeface="+mn-ea"/>
              </a:rPr>
              <a:t>input/output </a:t>
            </a:r>
            <a:r>
              <a:rPr lang="ko-KR" altLang="en-US" sz="1200" dirty="0" smtClean="0">
                <a:latin typeface="+mn-ea"/>
              </a:rPr>
              <a:t>확인 가능</a:t>
            </a:r>
            <a:endParaRPr lang="en-US" altLang="ko-KR" sz="1200" dirty="0" smtClean="0">
              <a:latin typeface="+mn-ea"/>
            </a:endParaRPr>
          </a:p>
          <a:p>
            <a:pPr lvl="1"/>
            <a:r>
              <a:rPr lang="ko-KR" altLang="en-US" sz="1200" dirty="0" smtClean="0">
                <a:latin typeface="+mn-ea"/>
              </a:rPr>
              <a:t>검색결과에 없는 것인지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어느 단계에서 사라지는 것인지 먼저 확인</a:t>
            </a:r>
            <a:r>
              <a:rPr lang="en-US" altLang="ko-KR" sz="1200" dirty="0" smtClean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2786058"/>
            <a:ext cx="8925526" cy="3545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오른쪽 중괄호 9"/>
          <p:cNvSpPr/>
          <p:nvPr/>
        </p:nvSpPr>
        <p:spPr>
          <a:xfrm>
            <a:off x="2428860" y="3933056"/>
            <a:ext cx="142876" cy="357190"/>
          </a:xfrm>
          <a:prstGeom prst="rightBrac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2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검색엔진 로그 읽기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28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600" dirty="0" smtClean="0">
                <a:latin typeface="+mn-ea"/>
              </a:rPr>
              <a:t>검색엔진의 각 수행 결과를 확인하기 위해서 검색엔진 로그를 확인할 수 있어야 한다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pPr>
              <a:buNone/>
            </a:pP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색인 로그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logs/</a:t>
            </a:r>
            <a:r>
              <a:rPr lang="en-US" altLang="ko-KR" sz="1400" b="1" dirty="0" err="1" smtClean="0">
                <a:latin typeface="+mn-ea"/>
              </a:rPr>
              <a:t>kql</a:t>
            </a:r>
            <a:r>
              <a:rPr lang="en-US" altLang="ko-KR" sz="1400" b="1" dirty="0" smtClean="0">
                <a:latin typeface="+mn-ea"/>
              </a:rPr>
              <a:t>/kql.log</a:t>
            </a:r>
          </a:p>
          <a:p>
            <a:r>
              <a:rPr lang="ko-KR" altLang="en-US" sz="1400" dirty="0" smtClean="0">
                <a:latin typeface="+mn-ea"/>
              </a:rPr>
              <a:t>색인 또는 스케줄 실행 결과를 확인할 수 있다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b="1" dirty="0" smtClean="0">
                <a:latin typeface="+mn-ea"/>
              </a:rPr>
              <a:t>검색엔진 </a:t>
            </a:r>
            <a:r>
              <a:rPr lang="ko-KR" altLang="en-US" sz="1400" b="1" smtClean="0">
                <a:latin typeface="+mn-ea"/>
              </a:rPr>
              <a:t>관련 문의 시 </a:t>
            </a:r>
            <a:r>
              <a:rPr lang="ko-KR" altLang="en-US" sz="1400" b="1" dirty="0" smtClean="0">
                <a:latin typeface="+mn-ea"/>
              </a:rPr>
              <a:t>필수 첨부</a:t>
            </a:r>
            <a:r>
              <a:rPr lang="en-US" altLang="ko-KR" sz="1400" b="1" dirty="0" smtClean="0">
                <a:latin typeface="+mn-ea"/>
              </a:rPr>
              <a:t>!</a:t>
            </a:r>
          </a:p>
          <a:p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검색 로그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logs/search/rpc.log, logs/</a:t>
            </a:r>
            <a:r>
              <a:rPr lang="en-US" altLang="ko-KR" sz="1400" b="1" dirty="0" err="1" smtClean="0">
                <a:latin typeface="+mn-ea"/>
              </a:rPr>
              <a:t>system.sys.log</a:t>
            </a:r>
            <a:endParaRPr lang="en-US" altLang="ko-KR" sz="1400" b="1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rpc.log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err="1" smtClean="0">
                <a:latin typeface="+mn-ea"/>
              </a:rPr>
              <a:t>error_msg</a:t>
            </a:r>
            <a:r>
              <a:rPr lang="ko-KR" altLang="en-US" sz="1400" dirty="0" smtClean="0">
                <a:latin typeface="+mn-ea"/>
              </a:rPr>
              <a:t>로그가</a:t>
            </a:r>
            <a:r>
              <a:rPr lang="en-US" altLang="ko-KR" sz="1400" dirty="0" smtClean="0">
                <a:latin typeface="+mn-ea"/>
              </a:rPr>
              <a:t>,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sys.log</a:t>
            </a:r>
            <a:r>
              <a:rPr lang="ko-KR" altLang="en-US" sz="1400" dirty="0" smtClean="0">
                <a:latin typeface="+mn-ea"/>
              </a:rPr>
              <a:t>에 오류메세지가 존재하는지 확인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질의 수행 시 설정에 맞는 </a:t>
            </a:r>
            <a:r>
              <a:rPr lang="en-US" altLang="ko-KR" sz="1400" dirty="0" smtClean="0">
                <a:latin typeface="+mn-ea"/>
              </a:rPr>
              <a:t>parameter</a:t>
            </a:r>
            <a:r>
              <a:rPr lang="ko-KR" altLang="en-US" sz="1400" dirty="0" smtClean="0">
                <a:latin typeface="+mn-ea"/>
              </a:rPr>
              <a:t>가 제대로 설정되어 요청이 오는지 확인</a:t>
            </a:r>
            <a:endParaRPr lang="en-US" altLang="ko-KR" sz="1400" dirty="0" smtClean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0034" y="4293096"/>
            <a:ext cx="8072494" cy="207170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900" dirty="0" smtClean="0">
                <a:latin typeface="+mn-ea"/>
              </a:rPr>
              <a:t>&lt;&lt;&lt;&lt;&lt;&lt;&lt;&lt;&lt;&lt;&lt;&lt;&lt;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[2026-01-16 01:56:12,198] S (request:1576,response:95295,client[172.24.0.7:52728],elapsed_time:3847ms,status_code:200) &gt;&gt;&gt;&gt;&gt;&gt;&gt;&gt;&gt;&gt;&gt;&gt;&gt;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GET /</a:t>
            </a:r>
            <a:r>
              <a:rPr lang="en-US" altLang="ko-KR" sz="900" dirty="0" err="1" smtClean="0">
                <a:latin typeface="+mn-ea"/>
              </a:rPr>
              <a:t>ksm</a:t>
            </a:r>
            <a:r>
              <a:rPr lang="en-US" altLang="ko-KR" sz="900" dirty="0" smtClean="0">
                <a:latin typeface="+mn-ea"/>
              </a:rPr>
              <a:t>/rag/v5/</a:t>
            </a:r>
            <a:r>
              <a:rPr lang="en-US" altLang="ko-KR" sz="900" dirty="0" err="1" smtClean="0">
                <a:latin typeface="+mn-ea"/>
              </a:rPr>
              <a:t>search?text</a:t>
            </a:r>
            <a:r>
              <a:rPr lang="en-US" altLang="ko-KR" sz="900" dirty="0">
                <a:latin typeface="+mn-ea"/>
              </a:rPr>
              <a:t>= %EA%B2%80%EC%83%89%EC%97%94%EC%A7%84%EC%97%90%EC%84%9C+%EC%98%A4%EB%A5%98%EA%B0%80+%EB%82%98%EB%8A%94%EB%8D%B0+%EC%96%B4%EB%96%A4+%EB%A1%9C%EA%B7%B8%EB%A5%BC+%ED%99%95%EC%9D%B8%ED%95%B4%EC%95%BC%ED%95%98%EB%82%98%EC%9A%94+%3F &amp;</a:t>
            </a:r>
            <a:r>
              <a:rPr lang="en-US" altLang="ko-KR" sz="900" dirty="0" smtClean="0">
                <a:latin typeface="+mn-ea"/>
              </a:rPr>
              <a:t>topk=30&amp;rr=0&amp;threshold=0.5&amp;embedding=embedding-10&amp;llmyn=0&amp;vk=1&amp;relscore=0.0&amp;vols=</a:t>
            </a:r>
            <a:r>
              <a:rPr lang="en-US" altLang="ko-KR" sz="900" dirty="0" err="1" smtClean="0">
                <a:latin typeface="+mn-ea"/>
              </a:rPr>
              <a:t>ragx_zeus&amp;userid</a:t>
            </a:r>
            <a:r>
              <a:rPr lang="en-US" altLang="ko-KR" sz="900" dirty="0" smtClean="0">
                <a:latin typeface="+mn-ea"/>
              </a:rPr>
              <a:t>=&amp;</a:t>
            </a:r>
            <a:r>
              <a:rPr lang="en-US" altLang="ko-KR" sz="900" dirty="0" err="1" smtClean="0">
                <a:latin typeface="+mn-ea"/>
              </a:rPr>
              <a:t>customfields</a:t>
            </a:r>
            <a:r>
              <a:rPr lang="en-US" altLang="ko-KR" sz="900" dirty="0" smtClean="0">
                <a:latin typeface="+mn-ea"/>
              </a:rPr>
              <a:t>=url%2CcreatedAt%2Cupdated%2Creporter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import rag;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string </a:t>
            </a:r>
            <a:r>
              <a:rPr lang="en-US" altLang="ko-KR" sz="900" dirty="0" err="1" smtClean="0">
                <a:latin typeface="+mn-ea"/>
              </a:rPr>
              <a:t>post_data</a:t>
            </a:r>
            <a:r>
              <a:rPr lang="en-US" altLang="ko-KR" sz="900" dirty="0" smtClean="0">
                <a:latin typeface="+mn-ea"/>
              </a:rPr>
              <a:t> = '';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void main() {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  </a:t>
            </a:r>
            <a:r>
              <a:rPr lang="en-US" altLang="ko-KR" sz="900" dirty="0" err="1" smtClean="0">
                <a:latin typeface="+mn-ea"/>
              </a:rPr>
              <a:t>printf</a:t>
            </a:r>
            <a:r>
              <a:rPr lang="en-US" altLang="ko-KR" sz="900" dirty="0" smtClean="0">
                <a:latin typeface="+mn-ea"/>
              </a:rPr>
              <a:t>('%s', rest('GET','/</a:t>
            </a:r>
            <a:r>
              <a:rPr lang="en-US" altLang="ko-KR" sz="900" dirty="0" err="1" smtClean="0">
                <a:latin typeface="+mn-ea"/>
              </a:rPr>
              <a:t>ksm</a:t>
            </a:r>
            <a:r>
              <a:rPr lang="en-US" altLang="ko-KR" sz="900" dirty="0" smtClean="0">
                <a:latin typeface="+mn-ea"/>
              </a:rPr>
              <a:t>/rag/v5/search',{'URI':'/</a:t>
            </a:r>
            <a:r>
              <a:rPr lang="en-US" altLang="ko-KR" sz="900" dirty="0" err="1" smtClean="0">
                <a:latin typeface="+mn-ea"/>
              </a:rPr>
              <a:t>ksm</a:t>
            </a:r>
            <a:r>
              <a:rPr lang="en-US" altLang="ko-KR" sz="900" dirty="0" smtClean="0">
                <a:latin typeface="+mn-ea"/>
              </a:rPr>
              <a:t>/rag/v5/search','DAEMON_THREAD_ID':'w2','text':＇</a:t>
            </a:r>
            <a:r>
              <a:rPr lang="ko-KR" altLang="en-US" sz="900" dirty="0" smtClean="0">
                <a:latin typeface="+mn-ea"/>
              </a:rPr>
              <a:t>검색엔진에서 </a:t>
            </a:r>
            <a:r>
              <a:rPr lang="ko-KR" altLang="en-US" sz="900" dirty="0">
                <a:latin typeface="+mn-ea"/>
              </a:rPr>
              <a:t>오류가 나는데 어떤 로그를 </a:t>
            </a:r>
            <a:r>
              <a:rPr lang="ko-KR" altLang="en-US" sz="900" dirty="0" err="1">
                <a:latin typeface="+mn-ea"/>
              </a:rPr>
              <a:t>확인해야하나요</a:t>
            </a:r>
            <a:r>
              <a:rPr lang="en-US" altLang="ko-KR" sz="900" dirty="0" smtClean="0">
                <a:latin typeface="+mn-ea"/>
              </a:rPr>
              <a:t>?','topk':'30','rr':'0','threshold':'0.5','embedding':'embedding-10','llmyn':'0','vk':'1','relscore':'0.0','vols':'ragx_zeus','userid':'','customfields':'url,createdAt,updated,reporter','SERVER_IP':'172.24.0.2','SERVER_PORT':7577,'CLIENT_IP':'172.24.0.7','CLIENT_PORT':52728,'HOST':'kylin-search-network:…</a:t>
            </a: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실제 실행되는 쿼리를 확인하고 싶어요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29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dirty="0" smtClean="0"/>
              <a:t>IRIS </a:t>
            </a:r>
            <a:r>
              <a:rPr lang="ko-KR" altLang="en-US" sz="1600" dirty="0" smtClean="0"/>
              <a:t>문서 참조</a:t>
            </a:r>
            <a:endParaRPr lang="en-US" altLang="ko-KR" sz="1600" dirty="0" smtClean="0"/>
          </a:p>
          <a:p>
            <a:pPr>
              <a:buNone/>
            </a:pPr>
            <a:r>
              <a:rPr lang="en-US" altLang="ko-KR" sz="1600" dirty="0" smtClean="0">
                <a:hlinkClick r:id="rId3"/>
              </a:rPr>
              <a:t>TS-2025-008</a:t>
            </a:r>
            <a:r>
              <a:rPr lang="en-US" altLang="ko-KR" sz="1600" dirty="0">
                <a:hlinkClick r:id="rId3"/>
              </a:rPr>
              <a:t>. RAG </a:t>
            </a:r>
            <a:r>
              <a:rPr lang="ko-KR" altLang="en-US" sz="1600" dirty="0">
                <a:hlinkClick r:id="rId3"/>
              </a:rPr>
              <a:t>검색 결과 디버깅 </a:t>
            </a:r>
            <a:r>
              <a:rPr lang="en-US" altLang="ko-KR" sz="1600" dirty="0">
                <a:hlinkClick r:id="rId3"/>
              </a:rPr>
              <a:t>- [12] Product Information </a:t>
            </a:r>
            <a:r>
              <a:rPr lang="en-US" altLang="ko-KR" sz="1600" dirty="0" smtClean="0">
                <a:hlinkClick r:id="rId3"/>
              </a:rPr>
              <a:t>– IRIS</a:t>
            </a:r>
            <a:endParaRPr lang="en-US" altLang="ko-KR" sz="1600" dirty="0" smtClean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 smtClean="0"/>
              <a:t>DEBUG </a:t>
            </a:r>
            <a:r>
              <a:rPr lang="ko-KR" altLang="en-US" sz="1600" dirty="0" smtClean="0"/>
              <a:t>플래그를 아래와 같이 설정한 후 검색 혹은 색인을 실행한다</a:t>
            </a:r>
            <a:r>
              <a:rPr lang="en-US" altLang="ko-KR" sz="1600" dirty="0" smtClean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endParaRPr lang="en-US" altLang="ko-KR" sz="1600" dirty="0" smtClean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endParaRPr lang="en-US" altLang="ko-KR" sz="1600" dirty="0" smtClean="0"/>
          </a:p>
          <a:p>
            <a:pPr>
              <a:buNone/>
            </a:pPr>
            <a:r>
              <a:rPr lang="en-US" altLang="ko-KR" sz="1600" dirty="0" smtClean="0"/>
              <a:t>DEBUG</a:t>
            </a:r>
            <a:r>
              <a:rPr lang="ko-KR" altLang="en-US" sz="1600" dirty="0" smtClean="0"/>
              <a:t>파일을 확인한다</a:t>
            </a:r>
            <a:r>
              <a:rPr lang="en-US" altLang="ko-KR" sz="1600" dirty="0" smtClean="0"/>
              <a:t>.</a:t>
            </a:r>
          </a:p>
          <a:p>
            <a:pPr>
              <a:buNone/>
            </a:pPr>
            <a:endParaRPr lang="en-US" altLang="ko-KR" sz="16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39552" y="2386980"/>
            <a:ext cx="8072494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00" dirty="0" err="1">
                <a:latin typeface="+mn-ea"/>
              </a:rPr>
              <a:t>k</a:t>
            </a:r>
            <a:r>
              <a:rPr lang="en-US" altLang="ko-KR" sz="1000" dirty="0" err="1" smtClean="0">
                <a:latin typeface="+mn-ea"/>
              </a:rPr>
              <a:t>ql</a:t>
            </a:r>
            <a:r>
              <a:rPr lang="en-US" altLang="ko-KR" sz="1000" dirty="0" smtClean="0">
                <a:latin typeface="+mn-ea"/>
              </a:rPr>
              <a:t>&gt;&gt; import </a:t>
            </a:r>
            <a:r>
              <a:rPr lang="en-US" altLang="ko-KR" sz="1000" dirty="0" err="1" smtClean="0">
                <a:latin typeface="+mn-ea"/>
              </a:rPr>
              <a:t>shm</a:t>
            </a:r>
            <a:r>
              <a:rPr lang="en-US" altLang="ko-KR" sz="1000" dirty="0" smtClean="0">
                <a:latin typeface="+mn-ea"/>
              </a:rPr>
              <a:t>;</a:t>
            </a:r>
          </a:p>
          <a:p>
            <a:pPr>
              <a:buNone/>
            </a:pPr>
            <a:r>
              <a:rPr lang="en-US" altLang="ko-KR" sz="1000" dirty="0" smtClean="0">
                <a:latin typeface="+mn-ea"/>
              </a:rPr>
              <a:t>OK</a:t>
            </a:r>
          </a:p>
          <a:p>
            <a:pPr>
              <a:buNone/>
            </a:pPr>
            <a:endParaRPr lang="en-US" altLang="ko-KR" sz="1000" dirty="0">
              <a:latin typeface="+mn-ea"/>
            </a:endParaRPr>
          </a:p>
          <a:p>
            <a:pPr>
              <a:buNone/>
            </a:pPr>
            <a:r>
              <a:rPr lang="en-US" altLang="ko-KR" sz="1000" dirty="0" err="1" smtClean="0">
                <a:latin typeface="+mn-ea"/>
              </a:rPr>
              <a:t>kql</a:t>
            </a:r>
            <a:r>
              <a:rPr lang="en-US" altLang="ko-KR" sz="1000" dirty="0" smtClean="0">
                <a:latin typeface="+mn-ea"/>
              </a:rPr>
              <a:t>&gt;&gt; </a:t>
            </a:r>
            <a:r>
              <a:rPr lang="en-US" altLang="ko-KR" sz="1000" dirty="0" err="1" smtClean="0">
                <a:latin typeface="+mn-ea"/>
              </a:rPr>
              <a:t>shm</a:t>
            </a:r>
            <a:r>
              <a:rPr lang="en-US" altLang="ko-KR" sz="1000" dirty="0" smtClean="0">
                <a:latin typeface="+mn-ea"/>
              </a:rPr>
              <a:t>::create(“DEBUG_RAG”, 0x01, 0x01,. “”);</a:t>
            </a:r>
          </a:p>
          <a:p>
            <a:pPr>
              <a:buNone/>
            </a:pPr>
            <a:r>
              <a:rPr lang="en-US" altLang="ko-KR" sz="1000" dirty="0" smtClean="0">
                <a:latin typeface="+mn-ea"/>
              </a:rPr>
              <a:t>OK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34224" y="3861048"/>
            <a:ext cx="8072494" cy="25202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da-DK" altLang="ko-KR" sz="900" dirty="0">
                <a:latin typeface="+mn-ea"/>
              </a:rPr>
              <a:t>root@00e8b8d2ae3d:~# cd bin/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root@00e8b8d2ae3d:~/bin# cat </a:t>
            </a:r>
            <a:r>
              <a:rPr lang="da-DK" altLang="ko-KR" sz="900" dirty="0" smtClean="0">
                <a:latin typeface="+mn-ea"/>
              </a:rPr>
              <a:t>debug.log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:1996 rag::build_chunks() build_chunks_from_pages </a:t>
            </a:r>
            <a:r>
              <a:rPr lang="ko-KR" altLang="en-US" sz="900" dirty="0">
                <a:latin typeface="+mn-ea"/>
              </a:rPr>
              <a:t>전 </a:t>
            </a:r>
            <a:r>
              <a:rPr lang="en-US" altLang="ko-KR" sz="900" dirty="0">
                <a:latin typeface="+mn-ea"/>
              </a:rPr>
              <a:t>=&gt;{}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:2655 rag::build_chunks_from_pages() chunked_file=[../users/jhjeon/dump/594ce949/tmp46bac5f17c77fd9b.fgf]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:2663 rag::build_chunks_from_pages() dt_guess={'org_dt':'2026', 'std_dt':'20260101', 'fmt':'YYYY'}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:687 rag::import_files() imp smt=&gt;#tag rag_import_files_incr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import rag</a:t>
            </a:r>
          </a:p>
          <a:p>
            <a:pPr>
              <a:buNone/>
            </a:pPr>
            <a:endParaRPr lang="da-DK" altLang="ko-KR" sz="900" dirty="0">
              <a:latin typeface="+mn-ea"/>
            </a:endParaRPr>
          </a:p>
          <a:p>
            <a:pPr>
              <a:buNone/>
            </a:pPr>
            <a:r>
              <a:rPr lang="da-DK" altLang="ko-KR" sz="900" dirty="0">
                <a:latin typeface="+mn-ea"/>
              </a:rPr>
              <a:t>void main() {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setenv('lconf','RAG_INDEX_COMP5');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setenv('privilege','superuser');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import files ../users/jhjeon/dump/594ce949 *.fgf to /jhjeon/tabc format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uuid = "``uuid``",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cid = "``cid``",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prev_cid = "``prev_cid``",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title = "``title``",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chunk = "``chunk</a:t>
            </a:r>
            <a:r>
              <a:rPr lang="da-DK" altLang="ko-KR" sz="900" dirty="0" smtClean="0">
                <a:latin typeface="+mn-ea"/>
              </a:rPr>
              <a:t>``", </a:t>
            </a:r>
          </a:p>
          <a:p>
            <a:pPr>
              <a:buNone/>
            </a:pPr>
            <a:r>
              <a:rPr lang="da-DK" altLang="ko-KR" sz="900" dirty="0" smtClean="0">
                <a:latin typeface="+mn-ea"/>
              </a:rPr>
              <a:t>....</a:t>
            </a:r>
            <a:endParaRPr lang="da-DK" altLang="ko-KR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8869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ZEUS</a:t>
            </a:r>
            <a:r>
              <a:rPr lang="ko-KR" altLang="en-US" dirty="0" smtClean="0">
                <a:latin typeface="+mn-ea"/>
                <a:ea typeface="+mn-ea"/>
              </a:rPr>
              <a:t>이슈 어떻게 올리나요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30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왜 </a:t>
            </a:r>
            <a:r>
              <a:rPr lang="en-US" altLang="ko-KR" sz="1600" b="1" dirty="0" smtClean="0">
                <a:latin typeface="+mn-ea"/>
              </a:rPr>
              <a:t>ZEUS</a:t>
            </a:r>
            <a:r>
              <a:rPr lang="ko-KR" altLang="en-US" sz="1600" b="1" dirty="0" smtClean="0">
                <a:latin typeface="+mn-ea"/>
              </a:rPr>
              <a:t>로 이슈를 올려야 하나요</a:t>
            </a:r>
            <a:r>
              <a:rPr lang="en-US" altLang="ko-KR" sz="1600" b="1" dirty="0" smtClean="0">
                <a:latin typeface="+mn-ea"/>
              </a:rPr>
              <a:t>?</a:t>
            </a:r>
          </a:p>
          <a:p>
            <a:r>
              <a:rPr lang="en-US" altLang="ko-KR" sz="1400" dirty="0" smtClean="0">
                <a:latin typeface="+mn-ea"/>
              </a:rPr>
              <a:t>RAG </a:t>
            </a:r>
            <a:r>
              <a:rPr lang="ko-KR" altLang="en-US" sz="1400" dirty="0" smtClean="0">
                <a:latin typeface="+mn-ea"/>
              </a:rPr>
              <a:t>제품은 </a:t>
            </a:r>
            <a:r>
              <a:rPr lang="en-US" altLang="ko-KR" sz="1400" b="1" dirty="0" smtClean="0">
                <a:latin typeface="+mn-ea"/>
              </a:rPr>
              <a:t>MSA </a:t>
            </a:r>
            <a:r>
              <a:rPr lang="ko-KR" altLang="en-US" sz="1400" b="1" dirty="0" smtClean="0">
                <a:latin typeface="+mn-ea"/>
              </a:rPr>
              <a:t>구조</a:t>
            </a:r>
            <a:r>
              <a:rPr lang="ko-KR" altLang="en-US" sz="1400" dirty="0" smtClean="0">
                <a:latin typeface="+mn-ea"/>
              </a:rPr>
              <a:t>라 구성 요소</a:t>
            </a:r>
            <a:r>
              <a:rPr lang="en-US" altLang="ko-KR" sz="1400" dirty="0" smtClean="0">
                <a:latin typeface="+mn-ea"/>
              </a:rPr>
              <a:t>(software)</a:t>
            </a:r>
            <a:r>
              <a:rPr lang="ko-KR" altLang="en-US" sz="1400" dirty="0" smtClean="0">
                <a:latin typeface="+mn-ea"/>
              </a:rPr>
              <a:t>별 담당자가 달라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이슈에 따라 여러 담당자가 함께 확인해야 하는 경우가 많음</a:t>
            </a:r>
          </a:p>
          <a:p>
            <a:r>
              <a:rPr lang="ko-KR" altLang="en-US" sz="1400" dirty="0" smtClean="0">
                <a:latin typeface="+mn-ea"/>
              </a:rPr>
              <a:t>이슈를 </a:t>
            </a:r>
            <a:r>
              <a:rPr lang="en-US" altLang="ko-KR" sz="1400" b="1" dirty="0" smtClean="0">
                <a:latin typeface="+mn-ea"/>
              </a:rPr>
              <a:t>ZEUS</a:t>
            </a:r>
            <a:r>
              <a:rPr lang="ko-KR" altLang="en-US" sz="1400" b="1" dirty="0" smtClean="0">
                <a:latin typeface="+mn-ea"/>
              </a:rPr>
              <a:t>에 등록</a:t>
            </a:r>
            <a:r>
              <a:rPr lang="ko-KR" altLang="en-US" sz="1400" dirty="0" smtClean="0">
                <a:latin typeface="+mn-ea"/>
              </a:rPr>
              <a:t>하면 관련 담당자들이 같은 티켓에서 맥락을 공유하므로</a:t>
            </a:r>
            <a:r>
              <a:rPr lang="en-US" altLang="ko-KR" sz="1400" dirty="0" smtClean="0">
                <a:latin typeface="+mn-ea"/>
              </a:rPr>
              <a:t>, </a:t>
            </a:r>
            <a:br>
              <a:rPr lang="en-US" altLang="ko-KR" sz="1400" dirty="0" smtClean="0">
                <a:latin typeface="+mn-ea"/>
              </a:rPr>
            </a:br>
            <a:r>
              <a:rPr lang="ko-KR" altLang="en-US" sz="1400" dirty="0" smtClean="0">
                <a:latin typeface="+mn-ea"/>
              </a:rPr>
              <a:t>별도 전달</a:t>
            </a:r>
            <a:r>
              <a:rPr lang="en-US" altLang="ko-KR" sz="1400" dirty="0" smtClean="0">
                <a:latin typeface="+mn-ea"/>
              </a:rPr>
              <a:t>·</a:t>
            </a:r>
            <a:r>
              <a:rPr lang="ko-KR" altLang="en-US" sz="1400" dirty="0" err="1" smtClean="0">
                <a:latin typeface="+mn-ea"/>
              </a:rPr>
              <a:t>재설명</a:t>
            </a:r>
            <a:r>
              <a:rPr lang="ko-KR" altLang="en-US" sz="1400" dirty="0" smtClean="0">
                <a:latin typeface="+mn-ea"/>
              </a:rPr>
              <a:t> 없이 빠르게 공동 대응이 가능함</a:t>
            </a:r>
          </a:p>
          <a:p>
            <a:r>
              <a:rPr lang="ko-KR" altLang="en-US" sz="1400" dirty="0" smtClean="0">
                <a:latin typeface="+mn-ea"/>
              </a:rPr>
              <a:t>또한 </a:t>
            </a:r>
            <a:r>
              <a:rPr lang="en-US" altLang="ko-KR" sz="1400" u="sng" dirty="0" smtClean="0">
                <a:latin typeface="+mn-ea"/>
              </a:rPr>
              <a:t>Zeus</a:t>
            </a:r>
            <a:r>
              <a:rPr lang="ko-KR" altLang="en-US" sz="1400" u="sng" dirty="0" smtClean="0">
                <a:latin typeface="+mn-ea"/>
              </a:rPr>
              <a:t>에 구축된 </a:t>
            </a:r>
            <a:r>
              <a:rPr lang="en-US" altLang="ko-KR" sz="1400" b="1" u="sng" dirty="0" smtClean="0">
                <a:latin typeface="+mn-ea"/>
              </a:rPr>
              <a:t>RAG-X</a:t>
            </a:r>
            <a:r>
              <a:rPr lang="ko-KR" altLang="en-US" sz="1400" u="sng" dirty="0" smtClean="0">
                <a:latin typeface="+mn-ea"/>
              </a:rPr>
              <a:t>가 이슈의 질문</a:t>
            </a:r>
            <a:r>
              <a:rPr lang="en-US" altLang="ko-KR" sz="1400" u="sng" dirty="0" smtClean="0">
                <a:latin typeface="+mn-ea"/>
              </a:rPr>
              <a:t>·</a:t>
            </a:r>
            <a:r>
              <a:rPr lang="ko-KR" altLang="en-US" sz="1400" u="sng" dirty="0" smtClean="0">
                <a:latin typeface="+mn-ea"/>
              </a:rPr>
              <a:t>답변을 학습하므로</a:t>
            </a:r>
            <a:r>
              <a:rPr lang="en-US" altLang="ko-KR" sz="1400" u="sng" dirty="0" smtClean="0">
                <a:latin typeface="+mn-ea"/>
              </a:rPr>
              <a:t>, </a:t>
            </a:r>
            <a:r>
              <a:rPr lang="ko-KR" altLang="en-US" sz="1400" u="sng" dirty="0" smtClean="0">
                <a:latin typeface="+mn-ea"/>
              </a:rPr>
              <a:t>동일</a:t>
            </a:r>
            <a:r>
              <a:rPr lang="en-US" altLang="ko-KR" sz="1400" u="sng" dirty="0" smtClean="0">
                <a:latin typeface="+mn-ea"/>
              </a:rPr>
              <a:t>/</a:t>
            </a:r>
            <a:r>
              <a:rPr lang="ko-KR" altLang="en-US" sz="1400" u="sng" dirty="0" smtClean="0">
                <a:latin typeface="+mn-ea"/>
              </a:rPr>
              <a:t>유사 이슈가 재발했을 때 다음 담당자에게 지식이 자연스럽게 누적</a:t>
            </a:r>
            <a:r>
              <a:rPr lang="en-US" altLang="ko-KR" sz="1400" u="sng" dirty="0" smtClean="0">
                <a:latin typeface="+mn-ea"/>
              </a:rPr>
              <a:t>·</a:t>
            </a:r>
            <a:r>
              <a:rPr lang="ko-KR" altLang="en-US" sz="1400" u="sng" dirty="0" smtClean="0">
                <a:latin typeface="+mn-ea"/>
              </a:rPr>
              <a:t>전파됨</a:t>
            </a: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214686"/>
            <a:ext cx="7002463" cy="1047750"/>
          </a:xfrm>
          <a:prstGeom prst="rect">
            <a:avLst/>
          </a:prstGeom>
          <a:noFill/>
          <a:ln w="952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4214818"/>
            <a:ext cx="7286676" cy="1951301"/>
          </a:xfrm>
          <a:prstGeom prst="rect">
            <a:avLst/>
          </a:prstGeom>
          <a:noFill/>
          <a:ln w="952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0" name="직사각형 9"/>
          <p:cNvSpPr/>
          <p:nvPr/>
        </p:nvSpPr>
        <p:spPr>
          <a:xfrm>
            <a:off x="2285984" y="3500438"/>
            <a:ext cx="928694" cy="285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643438" y="4643446"/>
            <a:ext cx="2071702" cy="2143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643438" y="4929198"/>
            <a:ext cx="2071702" cy="12144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하트 4"/>
          <p:cNvSpPr/>
          <p:nvPr/>
        </p:nvSpPr>
        <p:spPr>
          <a:xfrm>
            <a:off x="3787521" y="3356992"/>
            <a:ext cx="784479" cy="543466"/>
          </a:xfrm>
          <a:prstGeom prst="hear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ZEUS</a:t>
            </a:r>
            <a:r>
              <a:rPr lang="ko-KR" altLang="en-US" dirty="0" smtClean="0">
                <a:latin typeface="+mn-ea"/>
                <a:ea typeface="+mn-ea"/>
              </a:rPr>
              <a:t>이슈 어떻게 올리나요</a:t>
            </a:r>
            <a:r>
              <a:rPr lang="en-US" altLang="ko-KR" dirty="0" smtClean="0">
                <a:latin typeface="+mn-ea"/>
                <a:ea typeface="+mn-ea"/>
              </a:rPr>
              <a:t>?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31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 r="1870"/>
          <a:stretch>
            <a:fillRect/>
          </a:stretch>
        </p:blipFill>
        <p:spPr bwMode="auto">
          <a:xfrm>
            <a:off x="-64" y="1142984"/>
            <a:ext cx="9144064" cy="4379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273607" y="2714620"/>
            <a:ext cx="5265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C00000"/>
                </a:solidFill>
                <a:latin typeface="+mn-ea"/>
              </a:rPr>
              <a:t>어떤 컴포넌트의 이슈인지 확신한다면 </a:t>
            </a:r>
            <a:r>
              <a:rPr lang="en-US" altLang="ko-KR" sz="1200" b="1" dirty="0" err="1" smtClean="0">
                <a:solidFill>
                  <a:srgbClr val="C00000"/>
                </a:solidFill>
                <a:latin typeface="+mn-ea"/>
              </a:rPr>
              <a:t>kylin</a:t>
            </a:r>
            <a:r>
              <a:rPr lang="en-US" altLang="ko-KR" sz="1200" b="1" dirty="0" smtClean="0">
                <a:solidFill>
                  <a:srgbClr val="C00000"/>
                </a:solidFill>
                <a:latin typeface="+mn-ea"/>
              </a:rPr>
              <a:t>-search, </a:t>
            </a:r>
            <a:r>
              <a:rPr lang="en-US" altLang="ko-KR" sz="1200" b="1" dirty="0" err="1" smtClean="0">
                <a:solidFill>
                  <a:srgbClr val="C00000"/>
                </a:solidFill>
                <a:latin typeface="+mn-ea"/>
              </a:rPr>
              <a:t>kylin</a:t>
            </a:r>
            <a:r>
              <a:rPr lang="en-US" altLang="ko-KR" sz="1200" b="1" dirty="0" smtClean="0">
                <a:solidFill>
                  <a:srgbClr val="C00000"/>
                </a:solidFill>
                <a:latin typeface="+mn-ea"/>
              </a:rPr>
              <a:t>-service</a:t>
            </a:r>
            <a:r>
              <a:rPr lang="ko-KR" altLang="en-US" sz="1200" b="1" dirty="0" smtClean="0">
                <a:solidFill>
                  <a:srgbClr val="C00000"/>
                </a:solidFill>
                <a:latin typeface="+mn-ea"/>
              </a:rPr>
              <a:t>등 선택</a:t>
            </a:r>
            <a:endParaRPr lang="en-US" altLang="ko-KR" sz="1200" b="1" dirty="0" smtClean="0">
              <a:solidFill>
                <a:srgbClr val="C00000"/>
              </a:solidFill>
              <a:latin typeface="+mn-ea"/>
            </a:endParaRPr>
          </a:p>
          <a:p>
            <a:r>
              <a:rPr lang="ko-KR" altLang="en-US" sz="1200" b="1" dirty="0" smtClean="0">
                <a:solidFill>
                  <a:srgbClr val="C00000"/>
                </a:solidFill>
                <a:latin typeface="+mn-ea"/>
              </a:rPr>
              <a:t>아니라면</a:t>
            </a:r>
            <a:r>
              <a:rPr lang="en-US" altLang="ko-KR" sz="1200" b="1" dirty="0" smtClean="0">
                <a:solidFill>
                  <a:srgbClr val="C00000"/>
                </a:solidFill>
                <a:latin typeface="+mn-ea"/>
              </a:rPr>
              <a:t>, Konan LLM, RAG-X </a:t>
            </a:r>
            <a:r>
              <a:rPr lang="ko-KR" altLang="en-US" sz="1200" b="1" dirty="0" smtClean="0">
                <a:solidFill>
                  <a:srgbClr val="C00000"/>
                </a:solidFill>
                <a:latin typeface="+mn-ea"/>
              </a:rPr>
              <a:t>제품 선택</a:t>
            </a:r>
            <a:endParaRPr lang="ko-KR" altLang="en-US" sz="1200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" y="4572032"/>
            <a:ext cx="8817684" cy="2143116"/>
          </a:xfrm>
          <a:prstGeom prst="rect">
            <a:avLst/>
          </a:prstGeom>
          <a:noFill/>
          <a:ln w="9525">
            <a:solidFill>
              <a:schemeClr val="accent1">
                <a:shade val="95000"/>
                <a:satMod val="10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1" name="직사각형 10"/>
          <p:cNvSpPr/>
          <p:nvPr/>
        </p:nvSpPr>
        <p:spPr>
          <a:xfrm>
            <a:off x="1428728" y="2714620"/>
            <a:ext cx="1857388" cy="642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988346" y="4596174"/>
            <a:ext cx="15119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>
                <a:solidFill>
                  <a:srgbClr val="C00000"/>
                </a:solidFill>
                <a:latin typeface="+mn-ea"/>
              </a:rPr>
              <a:t>[</a:t>
            </a:r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고객사명</a:t>
            </a:r>
            <a:r>
              <a:rPr lang="en-US" altLang="ko-KR" sz="1100" b="1" dirty="0" smtClean="0">
                <a:solidFill>
                  <a:srgbClr val="C00000"/>
                </a:solidFill>
                <a:latin typeface="+mn-ea"/>
              </a:rPr>
              <a:t>] </a:t>
            </a:r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질문 요약</a:t>
            </a:r>
            <a:endParaRPr lang="ko-KR" altLang="en-US" sz="11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0166" y="5072098"/>
            <a:ext cx="357662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오류 재현 상황 상세 설명</a:t>
            </a:r>
            <a:r>
              <a:rPr lang="en-US" altLang="ko-KR" sz="1100" b="1" dirty="0" smtClean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최대한 상세하게 해주세요</a:t>
            </a:r>
            <a:r>
              <a:rPr lang="en-US" altLang="ko-KR" sz="1100" b="1" dirty="0" smtClean="0">
                <a:solidFill>
                  <a:srgbClr val="C00000"/>
                </a:solidFill>
                <a:latin typeface="+mn-ea"/>
              </a:rPr>
              <a:t>!</a:t>
            </a:r>
          </a:p>
          <a:p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확보할 수 있는 로그파일</a:t>
            </a:r>
            <a:endParaRPr lang="en-US" altLang="ko-KR" sz="1100" b="1" dirty="0" smtClean="0">
              <a:solidFill>
                <a:srgbClr val="C00000"/>
              </a:solidFill>
              <a:latin typeface="+mn-ea"/>
            </a:endParaRPr>
          </a:p>
          <a:p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재현을 위해 필요한 파일 </a:t>
            </a:r>
            <a:r>
              <a:rPr lang="en-US" altLang="ko-KR" sz="11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반출이 가능하다면</a:t>
            </a:r>
            <a:r>
              <a:rPr lang="en-US" altLang="ko-KR" sz="1100" b="1" dirty="0" smtClean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1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6722" y="4077072"/>
            <a:ext cx="1694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각 </a:t>
            </a:r>
            <a:r>
              <a:rPr lang="ko-KR" altLang="en-US" sz="1100" b="1" dirty="0" err="1" smtClean="0">
                <a:solidFill>
                  <a:srgbClr val="C00000"/>
                </a:solidFill>
                <a:latin typeface="+mn-ea"/>
              </a:rPr>
              <a:t>컴포넌트별</a:t>
            </a:r>
            <a:r>
              <a:rPr lang="ko-KR" altLang="en-US" sz="1100" b="1" dirty="0" smtClean="0">
                <a:solidFill>
                  <a:srgbClr val="C00000"/>
                </a:solidFill>
                <a:latin typeface="+mn-ea"/>
              </a:rPr>
              <a:t> 버전정보</a:t>
            </a:r>
            <a:endParaRPr lang="ko-KR" altLang="en-US" sz="1100" b="1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72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5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데이터 준비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33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 smtClean="0">
                <a:latin typeface="+mn-ea"/>
              </a:rPr>
              <a:t>파일 다운로드</a:t>
            </a:r>
            <a:r>
              <a:rPr lang="en-US" altLang="ko-KR" sz="1600" dirty="0" smtClean="0">
                <a:latin typeface="+mn-ea"/>
              </a:rPr>
              <a:t>: </a:t>
            </a:r>
            <a:r>
              <a:rPr lang="en-US" altLang="ko-KR" sz="1600" u="sng" dirty="0" smtClean="0">
                <a:solidFill>
                  <a:srgbClr val="0070C0"/>
                </a:solidFill>
                <a:latin typeface="+mn-ea"/>
              </a:rPr>
              <a:t>http</a:t>
            </a:r>
            <a:r>
              <a:rPr lang="en-US" altLang="ko-KR" sz="1600" u="sng" smtClean="0">
                <a:solidFill>
                  <a:srgbClr val="0070C0"/>
                </a:solidFill>
                <a:latin typeface="+mn-ea"/>
              </a:rPr>
              <a:t>://</a:t>
            </a:r>
            <a:r>
              <a:rPr lang="en-US" altLang="ko-KR" sz="1600" u="sng" smtClean="0">
                <a:solidFill>
                  <a:srgbClr val="0070C0"/>
                </a:solidFill>
                <a:latin typeface="+mn-ea"/>
              </a:rPr>
              <a:t>release.konantech.com/docruzer/RAG-X/train-202602.</a:t>
            </a:r>
            <a:r>
              <a:rPr lang="en-US" altLang="ko-KR" sz="1600" u="sng" smtClean="0">
                <a:solidFill>
                  <a:srgbClr val="0070C0"/>
                </a:solidFill>
                <a:latin typeface="+mn-ea"/>
              </a:rPr>
              <a:t>tar</a:t>
            </a:r>
            <a:endParaRPr lang="en-US" altLang="ko-KR" sz="1600" u="sng" dirty="0" smtClean="0">
              <a:solidFill>
                <a:srgbClr val="0070C0"/>
              </a:solidFill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다운로드 위치</a:t>
            </a:r>
            <a:r>
              <a:rPr lang="en-US" altLang="ko-KR" sz="1600" dirty="0" smtClean="0">
                <a:latin typeface="+mn-ea"/>
              </a:rPr>
              <a:t>: packages/</a:t>
            </a:r>
            <a:r>
              <a:rPr lang="en-US" altLang="ko-KR" sz="1600" dirty="0" err="1" smtClean="0">
                <a:latin typeface="+mn-ea"/>
              </a:rPr>
              <a:t>kylin</a:t>
            </a:r>
            <a:r>
              <a:rPr lang="en-US" altLang="ko-KR" sz="1600" dirty="0" smtClean="0">
                <a:latin typeface="+mn-ea"/>
              </a:rPr>
              <a:t>-search/</a:t>
            </a:r>
            <a:r>
              <a:rPr lang="en-US" altLang="ko-KR" sz="1600" dirty="0" err="1" smtClean="0">
                <a:latin typeface="+mn-ea"/>
              </a:rPr>
              <a:t>mouned</a:t>
            </a:r>
            <a:r>
              <a:rPr lang="en-US" altLang="ko-KR" sz="1600" dirty="0" smtClean="0">
                <a:latin typeface="+mn-ea"/>
              </a:rPr>
              <a:t>/raw</a:t>
            </a:r>
          </a:p>
          <a:p>
            <a:r>
              <a:rPr lang="en-US" altLang="ko-KR" sz="1600" dirty="0" smtClean="0">
                <a:latin typeface="+mn-ea"/>
              </a:rPr>
              <a:t>DB </a:t>
            </a:r>
            <a:r>
              <a:rPr lang="ko-KR" altLang="en-US" sz="1600" dirty="0" smtClean="0">
                <a:latin typeface="+mn-ea"/>
              </a:rPr>
              <a:t>정보 </a:t>
            </a:r>
            <a:r>
              <a:rPr lang="en-US" altLang="ko-KR" sz="1600" dirty="0" smtClean="0">
                <a:latin typeface="+mn-ea"/>
              </a:rPr>
              <a:t>(PostgreSQ</a:t>
            </a:r>
            <a:r>
              <a:rPr lang="en-US" altLang="ko-KR" sz="1600" dirty="0" smtClean="0">
                <a:latin typeface="+mn-ea"/>
                <a:sym typeface="Wingdings" panose="05000000000000000000" pitchFamily="2" charset="2"/>
              </a:rPr>
              <a:t>L)</a:t>
            </a:r>
            <a:endParaRPr lang="en-US" altLang="ko-KR" sz="1600" dirty="0" smtClean="0">
              <a:latin typeface="+mn-ea"/>
            </a:endParaRPr>
          </a:p>
          <a:p>
            <a:pPr lvl="1"/>
            <a:r>
              <a:rPr lang="en-US" altLang="ko-KR" dirty="0" smtClean="0">
                <a:latin typeface="+mn-ea"/>
              </a:rPr>
              <a:t>IP:10.10.30.43 port:10020 </a:t>
            </a:r>
            <a:r>
              <a:rPr lang="en-US" altLang="ko-KR" dirty="0" err="1" smtClean="0">
                <a:latin typeface="+mn-ea"/>
              </a:rPr>
              <a:t>id:konan</a:t>
            </a:r>
            <a:r>
              <a:rPr lang="en-US" altLang="ko-KR" dirty="0" smtClean="0">
                <a:latin typeface="+mn-ea"/>
              </a:rPr>
              <a:t> pw:konan415 </a:t>
            </a:r>
            <a:r>
              <a:rPr lang="en-US" altLang="ko-KR" dirty="0" err="1" smtClean="0">
                <a:latin typeface="+mn-ea"/>
              </a:rPr>
              <a:t>database:train</a:t>
            </a:r>
            <a:r>
              <a:rPr lang="en-US" altLang="ko-KR" dirty="0" smtClean="0">
                <a:latin typeface="+mn-ea"/>
              </a:rPr>
              <a:t> </a:t>
            </a:r>
            <a:r>
              <a:rPr lang="en-US" altLang="ko-KR" dirty="0" err="1" smtClean="0">
                <a:latin typeface="+mn-ea"/>
              </a:rPr>
              <a:t>table:train</a:t>
            </a:r>
            <a:endParaRPr lang="en-US" altLang="ko-KR" sz="1400" dirty="0" smtClean="0">
              <a:latin typeface="+mn-ea"/>
            </a:endParaRP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1520" y="2420888"/>
            <a:ext cx="8748464" cy="42484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900" dirty="0">
                <a:latin typeface="+mn-ea"/>
              </a:rPr>
              <a:t>root@e24da1740577:/</a:t>
            </a:r>
            <a:r>
              <a:rPr lang="en-US" altLang="ko-KR" sz="900" dirty="0" smtClean="0">
                <a:latin typeface="+mn-ea"/>
              </a:rPr>
              <a:t>home/</a:t>
            </a:r>
            <a:r>
              <a:rPr lang="en-US" altLang="ko-KR" sz="900" dirty="0" err="1" smtClean="0">
                <a:latin typeface="+mn-ea"/>
              </a:rPr>
              <a:t>konan</a:t>
            </a:r>
            <a:r>
              <a:rPr lang="en-US" altLang="ko-KR" sz="900" dirty="0" smtClean="0">
                <a:latin typeface="+mn-ea"/>
              </a:rPr>
              <a:t>/workspace/</a:t>
            </a:r>
            <a:r>
              <a:rPr lang="en-US" altLang="ko-KR" sz="900" dirty="0" err="1" smtClean="0">
                <a:latin typeface="+mn-ea"/>
              </a:rPr>
              <a:t>kylin_data</a:t>
            </a:r>
            <a:r>
              <a:rPr lang="en-US" altLang="ko-KR" sz="900" dirty="0" smtClean="0">
                <a:latin typeface="+mn-ea"/>
              </a:rPr>
              <a:t>/packages/</a:t>
            </a:r>
            <a:r>
              <a:rPr lang="en-US" altLang="ko-KR" sz="900" dirty="0" err="1" smtClean="0">
                <a:latin typeface="+mn-ea"/>
              </a:rPr>
              <a:t>kylin</a:t>
            </a:r>
            <a:r>
              <a:rPr lang="en-US" altLang="ko-KR" sz="900" dirty="0" smtClean="0">
                <a:latin typeface="+mn-ea"/>
              </a:rPr>
              <a:t>-search/mounted</a:t>
            </a:r>
            <a:r>
              <a:rPr lang="en-US" altLang="ko-KR" sz="900" dirty="0" smtClean="0">
                <a:solidFill>
                  <a:srgbClr val="FFFF00"/>
                </a:solidFill>
                <a:latin typeface="+mn-ea"/>
              </a:rPr>
              <a:t>#</a:t>
            </a:r>
            <a:r>
              <a:rPr lang="da-DK" altLang="ko-KR" sz="900" dirty="0" smtClean="0">
                <a:solidFill>
                  <a:srgbClr val="FFFF00"/>
                </a:solidFill>
                <a:latin typeface="+mn-ea"/>
              </a:rPr>
              <a:t> </a:t>
            </a:r>
            <a:r>
              <a:rPr lang="da-DK" altLang="ko-KR" sz="900" dirty="0">
                <a:solidFill>
                  <a:srgbClr val="FFFF00"/>
                </a:solidFill>
                <a:latin typeface="+mn-ea"/>
              </a:rPr>
              <a:t>wget http://release.konantech.com/docruzer/RAG-X/train-202602.tar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--2026-02-02 08:15:15--  http://release.konantech.com/docruzer/RAG-X/train-202602.tar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Resolving release.konantech.com (release.konantech.com)... 183.110.247.23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Connecting to release.konantech.com (release.konantech.com)|183.110.247.23|:80... connected.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HTTP request sent, awaiting response... 200 OK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Length: 5775360 (5.5M) [application/octet-stream]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Saving to: ‘train-202602.tar’</a:t>
            </a:r>
          </a:p>
          <a:p>
            <a:pPr>
              <a:buNone/>
            </a:pPr>
            <a:endParaRPr lang="da-DK" altLang="ko-KR" sz="900" dirty="0">
              <a:latin typeface="+mn-ea"/>
            </a:endParaRPr>
          </a:p>
          <a:p>
            <a:pPr>
              <a:buNone/>
            </a:pPr>
            <a:r>
              <a:rPr lang="da-DK" altLang="ko-KR" sz="900" dirty="0">
                <a:latin typeface="+mn-ea"/>
              </a:rPr>
              <a:t>train-202602.tar                                100%[=====================================================================================================&gt;]   5.51M  2.20MB/s    in 2.5s</a:t>
            </a:r>
          </a:p>
          <a:p>
            <a:pPr>
              <a:buNone/>
            </a:pPr>
            <a:endParaRPr lang="da-DK" altLang="ko-KR" sz="900" dirty="0">
              <a:latin typeface="+mn-ea"/>
            </a:endParaRPr>
          </a:p>
          <a:p>
            <a:pPr>
              <a:buNone/>
            </a:pPr>
            <a:r>
              <a:rPr lang="da-DK" altLang="ko-KR" sz="900" dirty="0">
                <a:latin typeface="+mn-ea"/>
              </a:rPr>
              <a:t>2026-02-02 08:15:17 (2.20 MB/s) - ‘train-202602.tar’ saved [5775360/5775360</a:t>
            </a:r>
            <a:r>
              <a:rPr lang="da-DK" altLang="ko-KR" sz="900" dirty="0" smtClean="0">
                <a:latin typeface="+mn-ea"/>
              </a:rPr>
              <a:t>]</a:t>
            </a:r>
          </a:p>
          <a:p>
            <a:pPr>
              <a:buNone/>
            </a:pPr>
            <a:endParaRPr lang="da-DK" altLang="ko-KR" sz="900" dirty="0" smtClean="0">
              <a:latin typeface="+mn-ea"/>
            </a:endParaRPr>
          </a:p>
          <a:p>
            <a:pPr>
              <a:buNone/>
            </a:pPr>
            <a:r>
              <a:rPr lang="en-US" altLang="ko-KR" sz="900" dirty="0">
                <a:latin typeface="+mn-ea"/>
              </a:rPr>
              <a:t>root@e24da1740577:/home/</a:t>
            </a:r>
            <a:r>
              <a:rPr lang="en-US" altLang="ko-KR" sz="900" dirty="0" err="1">
                <a:latin typeface="+mn-ea"/>
              </a:rPr>
              <a:t>konan</a:t>
            </a:r>
            <a:r>
              <a:rPr lang="en-US" altLang="ko-KR" sz="900" dirty="0">
                <a:latin typeface="+mn-ea"/>
              </a:rPr>
              <a:t>/workspace/</a:t>
            </a:r>
            <a:r>
              <a:rPr lang="en-US" altLang="ko-KR" sz="900" dirty="0" err="1">
                <a:latin typeface="+mn-ea"/>
              </a:rPr>
              <a:t>kylin_data</a:t>
            </a:r>
            <a:r>
              <a:rPr lang="en-US" altLang="ko-KR" sz="900" dirty="0">
                <a:latin typeface="+mn-ea"/>
              </a:rPr>
              <a:t>/packages/</a:t>
            </a:r>
            <a:r>
              <a:rPr lang="en-US" altLang="ko-KR" sz="900" dirty="0" err="1">
                <a:latin typeface="+mn-ea"/>
              </a:rPr>
              <a:t>kylin</a:t>
            </a:r>
            <a:r>
              <a:rPr lang="en-US" altLang="ko-KR" sz="900" dirty="0">
                <a:latin typeface="+mn-ea"/>
              </a:rPr>
              <a:t>-search/mounted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# tar </a:t>
            </a:r>
            <a:r>
              <a:rPr lang="en-US" altLang="ko-KR" sz="900" b="1" dirty="0" err="1">
                <a:solidFill>
                  <a:srgbClr val="FFFF00"/>
                </a:solidFill>
                <a:latin typeface="+mn-ea"/>
              </a:rPr>
              <a:t>xvf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 train-202602.tar</a:t>
            </a:r>
          </a:p>
          <a:p>
            <a:pPr>
              <a:buNone/>
            </a:pP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raw/</a:t>
            </a:r>
          </a:p>
          <a:p>
            <a:pPr>
              <a:buNone/>
            </a:pP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raw/</a:t>
            </a:r>
            <a:r>
              <a:rPr lang="en-US" altLang="ko-KR" sz="900" b="1" dirty="0" err="1">
                <a:solidFill>
                  <a:srgbClr val="FFFF00"/>
                </a:solidFill>
                <a:latin typeface="+mn-ea"/>
              </a:rPr>
              <a:t>Konan_LLM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_</a:t>
            </a:r>
            <a:r>
              <a:rPr lang="ko-KR" altLang="en-US" sz="900" b="1" dirty="0">
                <a:solidFill>
                  <a:srgbClr val="FFFF00"/>
                </a:solidFill>
                <a:latin typeface="+mn-ea"/>
              </a:rPr>
              <a:t>설치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_</a:t>
            </a:r>
            <a:r>
              <a:rPr lang="ko-KR" altLang="en-US" sz="900" b="1" dirty="0">
                <a:solidFill>
                  <a:srgbClr val="FFFF00"/>
                </a:solidFill>
                <a:latin typeface="+mn-ea"/>
              </a:rPr>
              <a:t>가이드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.pdf</a:t>
            </a:r>
          </a:p>
          <a:p>
            <a:pPr>
              <a:buNone/>
            </a:pP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raw/Konan_RAG-X_3.0_</a:t>
            </a:r>
            <a:r>
              <a:rPr lang="ko-KR" altLang="en-US" sz="900" b="1" dirty="0">
                <a:solidFill>
                  <a:srgbClr val="FFFF00"/>
                </a:solidFill>
                <a:latin typeface="+mn-ea"/>
              </a:rPr>
              <a:t>사용자매뉴얼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_np.pdf</a:t>
            </a:r>
          </a:p>
          <a:p>
            <a:pPr>
              <a:buNone/>
            </a:pP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raw/</a:t>
            </a:r>
            <a:r>
              <a:rPr lang="ko-KR" altLang="en-US" sz="900" b="1" dirty="0">
                <a:solidFill>
                  <a:srgbClr val="FFFF00"/>
                </a:solidFill>
                <a:latin typeface="+mn-ea"/>
              </a:rPr>
              <a:t>취업규칙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_</a:t>
            </a:r>
            <a:r>
              <a:rPr lang="ko-KR" altLang="en-US" sz="900" b="1" dirty="0" err="1">
                <a:solidFill>
                  <a:srgbClr val="FFFF00"/>
                </a:solidFill>
                <a:latin typeface="+mn-ea"/>
              </a:rPr>
              <a:t>코난테크놀로지</a:t>
            </a:r>
            <a:r>
              <a:rPr lang="en-US" altLang="ko-KR" sz="900" b="1" dirty="0">
                <a:solidFill>
                  <a:srgbClr val="FFFF00"/>
                </a:solidFill>
                <a:latin typeface="+mn-ea"/>
              </a:rPr>
              <a:t>_</a:t>
            </a:r>
            <a:r>
              <a:rPr lang="en-US" altLang="ko-KR" sz="900" b="1" dirty="0" smtClean="0">
                <a:solidFill>
                  <a:srgbClr val="FFFF00"/>
                </a:solidFill>
                <a:latin typeface="+mn-ea"/>
              </a:rPr>
              <a:t>250701.pdf</a:t>
            </a:r>
          </a:p>
          <a:p>
            <a:pPr>
              <a:buNone/>
            </a:pPr>
            <a:r>
              <a:rPr lang="en-US" altLang="ko-KR" sz="900" dirty="0">
                <a:latin typeface="+mn-ea"/>
              </a:rPr>
              <a:t>root@e24da1740577:/home/</a:t>
            </a:r>
            <a:r>
              <a:rPr lang="en-US" altLang="ko-KR" sz="900" dirty="0" err="1">
                <a:latin typeface="+mn-ea"/>
              </a:rPr>
              <a:t>konan</a:t>
            </a:r>
            <a:r>
              <a:rPr lang="en-US" altLang="ko-KR" sz="900" dirty="0">
                <a:latin typeface="+mn-ea"/>
              </a:rPr>
              <a:t>/workspace/</a:t>
            </a:r>
            <a:r>
              <a:rPr lang="en-US" altLang="ko-KR" sz="900" dirty="0" err="1">
                <a:latin typeface="+mn-ea"/>
              </a:rPr>
              <a:t>kylin_data</a:t>
            </a:r>
            <a:r>
              <a:rPr lang="en-US" altLang="ko-KR" sz="900" dirty="0">
                <a:latin typeface="+mn-ea"/>
              </a:rPr>
              <a:t>/packages/</a:t>
            </a:r>
            <a:r>
              <a:rPr lang="en-US" altLang="ko-KR" sz="900" dirty="0" err="1">
                <a:latin typeface="+mn-ea"/>
              </a:rPr>
              <a:t>kylin</a:t>
            </a:r>
            <a:r>
              <a:rPr lang="en-US" altLang="ko-KR" sz="900" dirty="0">
                <a:latin typeface="+mn-ea"/>
              </a:rPr>
              <a:t>-search</a:t>
            </a:r>
            <a:r>
              <a:rPr lang="en-US" altLang="ko-KR" sz="900" dirty="0">
                <a:solidFill>
                  <a:srgbClr val="FFFF00"/>
                </a:solidFill>
                <a:latin typeface="+mn-ea"/>
              </a:rPr>
              <a:t># cat </a:t>
            </a:r>
            <a:r>
              <a:rPr lang="en-US" altLang="ko-KR" sz="900" dirty="0" err="1">
                <a:solidFill>
                  <a:srgbClr val="FFFF00"/>
                </a:solidFill>
                <a:latin typeface="+mn-ea"/>
              </a:rPr>
              <a:t>docker-compose.yml</a:t>
            </a:r>
            <a:endParaRPr lang="en-US" altLang="ko-KR" sz="900" dirty="0">
              <a:solidFill>
                <a:srgbClr val="FFFF00"/>
              </a:solidFill>
              <a:latin typeface="+mn-ea"/>
            </a:endParaRP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(</a:t>
            </a:r>
            <a:r>
              <a:rPr lang="ko-KR" altLang="en-US" sz="900" dirty="0" smtClean="0">
                <a:latin typeface="+mn-ea"/>
              </a:rPr>
              <a:t>생략</a:t>
            </a:r>
            <a:r>
              <a:rPr lang="en-US" altLang="ko-KR" sz="900" dirty="0" smtClean="0">
                <a:latin typeface="+mn-ea"/>
              </a:rPr>
              <a:t>)</a:t>
            </a:r>
            <a:endParaRPr lang="en-US" altLang="ko-KR" sz="900" dirty="0">
              <a:latin typeface="+mn-ea"/>
            </a:endParaRPr>
          </a:p>
          <a:p>
            <a:pPr>
              <a:buNone/>
            </a:pPr>
            <a:r>
              <a:rPr lang="en-US" altLang="ko-KR" sz="900" dirty="0">
                <a:latin typeface="+mn-ea"/>
              </a:rPr>
              <a:t>    volumes: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(</a:t>
            </a:r>
            <a:r>
              <a:rPr lang="ko-KR" altLang="en-US" sz="900" dirty="0" smtClean="0">
                <a:latin typeface="+mn-ea"/>
              </a:rPr>
              <a:t>생략</a:t>
            </a:r>
            <a:r>
              <a:rPr lang="en-US" altLang="ko-KR" sz="900" dirty="0" smtClean="0">
                <a:latin typeface="+mn-ea"/>
              </a:rPr>
              <a:t>)</a:t>
            </a:r>
            <a:endParaRPr lang="en-US" altLang="ko-KR" sz="900" dirty="0">
              <a:latin typeface="+mn-ea"/>
            </a:endParaRPr>
          </a:p>
          <a:p>
            <a:pPr>
              <a:buNone/>
            </a:pPr>
            <a:r>
              <a:rPr lang="en-US" altLang="ko-KR" sz="900" dirty="0">
                <a:latin typeface="+mn-ea"/>
              </a:rPr>
              <a:t>      - ${KYLIN_VOLUME}/</a:t>
            </a:r>
            <a:r>
              <a:rPr lang="en-US" altLang="ko-KR" sz="900" dirty="0" err="1">
                <a:latin typeface="+mn-ea"/>
              </a:rPr>
              <a:t>kylin</a:t>
            </a:r>
            <a:r>
              <a:rPr lang="en-US" altLang="ko-KR" sz="900" dirty="0">
                <a:latin typeface="+mn-ea"/>
              </a:rPr>
              <a:t>-search/mounted/users:/app/</a:t>
            </a:r>
            <a:r>
              <a:rPr lang="en-US" altLang="ko-KR" sz="900" dirty="0" err="1">
                <a:latin typeface="+mn-ea"/>
              </a:rPr>
              <a:t>konan</a:t>
            </a:r>
            <a:r>
              <a:rPr lang="en-US" altLang="ko-KR" sz="900" dirty="0">
                <a:latin typeface="+mn-ea"/>
              </a:rPr>
              <a:t>/search/users</a:t>
            </a:r>
          </a:p>
          <a:p>
            <a:pPr>
              <a:buNone/>
            </a:pPr>
            <a:r>
              <a:rPr lang="en-US" altLang="ko-KR" sz="900" dirty="0">
                <a:latin typeface="+mn-ea"/>
              </a:rPr>
              <a:t>      - ${KYLIN_VOLUME}/</a:t>
            </a:r>
            <a:r>
              <a:rPr lang="en-US" altLang="ko-KR" sz="900" dirty="0" err="1">
                <a:latin typeface="+mn-ea"/>
              </a:rPr>
              <a:t>kylin</a:t>
            </a:r>
            <a:r>
              <a:rPr lang="en-US" altLang="ko-KR" sz="900" dirty="0">
                <a:latin typeface="+mn-ea"/>
              </a:rPr>
              <a:t>-search/mounted/</a:t>
            </a:r>
            <a:r>
              <a:rPr lang="en-US" altLang="ko-KR" sz="900" dirty="0" err="1">
                <a:latin typeface="+mn-ea"/>
              </a:rPr>
              <a:t>pu</a:t>
            </a:r>
            <a:r>
              <a:rPr lang="en-US" altLang="ko-KR" sz="900" dirty="0">
                <a:latin typeface="+mn-ea"/>
              </a:rPr>
              <a:t>:/app/</a:t>
            </a:r>
            <a:r>
              <a:rPr lang="en-US" altLang="ko-KR" sz="900" dirty="0" err="1">
                <a:latin typeface="+mn-ea"/>
              </a:rPr>
              <a:t>konan</a:t>
            </a:r>
            <a:r>
              <a:rPr lang="en-US" altLang="ko-KR" sz="900" dirty="0">
                <a:latin typeface="+mn-ea"/>
              </a:rPr>
              <a:t>/search/</a:t>
            </a:r>
            <a:r>
              <a:rPr lang="en-US" altLang="ko-KR" sz="900" dirty="0" err="1">
                <a:latin typeface="+mn-ea"/>
              </a:rPr>
              <a:t>pu</a:t>
            </a:r>
            <a:endParaRPr lang="en-US" altLang="ko-KR" sz="900" dirty="0">
              <a:latin typeface="+mn-ea"/>
            </a:endParaRPr>
          </a:p>
          <a:p>
            <a:pPr>
              <a:buNone/>
            </a:pPr>
            <a:r>
              <a:rPr lang="en-US" altLang="ko-KR" sz="900" dirty="0">
                <a:latin typeface="+mn-ea"/>
              </a:rPr>
              <a:t>      - ${KYLIN_VOLUME}/</a:t>
            </a:r>
            <a:r>
              <a:rPr lang="en-US" altLang="ko-KR" sz="900" dirty="0" err="1">
                <a:latin typeface="+mn-ea"/>
              </a:rPr>
              <a:t>kylin</a:t>
            </a:r>
            <a:r>
              <a:rPr lang="en-US" altLang="ko-KR" sz="900" dirty="0">
                <a:latin typeface="+mn-ea"/>
              </a:rPr>
              <a:t>-search/mounted/workspace:/app/</a:t>
            </a:r>
            <a:r>
              <a:rPr lang="en-US" altLang="ko-KR" sz="900" dirty="0" err="1">
                <a:latin typeface="+mn-ea"/>
              </a:rPr>
              <a:t>konan</a:t>
            </a:r>
            <a:r>
              <a:rPr lang="en-US" altLang="ko-KR" sz="900" dirty="0">
                <a:latin typeface="+mn-ea"/>
              </a:rPr>
              <a:t>/search/workspace</a:t>
            </a:r>
          </a:p>
          <a:p>
            <a:pPr>
              <a:buNone/>
            </a:pPr>
            <a:r>
              <a:rPr lang="en-US" altLang="ko-KR" sz="900" dirty="0">
                <a:solidFill>
                  <a:srgbClr val="FFFF00"/>
                </a:solidFill>
                <a:latin typeface="+mn-ea"/>
              </a:rPr>
              <a:t>      - ${KYLIN_VOLUME}/</a:t>
            </a:r>
            <a:r>
              <a:rPr lang="en-US" altLang="ko-KR" sz="900" dirty="0" err="1">
                <a:solidFill>
                  <a:srgbClr val="FFFF00"/>
                </a:solidFill>
                <a:latin typeface="+mn-ea"/>
              </a:rPr>
              <a:t>kylin</a:t>
            </a:r>
            <a:r>
              <a:rPr lang="en-US" altLang="ko-KR" sz="900" dirty="0">
                <a:solidFill>
                  <a:srgbClr val="FFFF00"/>
                </a:solidFill>
                <a:latin typeface="+mn-ea"/>
              </a:rPr>
              <a:t>-search/mounted/raw:/app/</a:t>
            </a:r>
            <a:r>
              <a:rPr lang="en-US" altLang="ko-KR" sz="900" dirty="0" err="1">
                <a:solidFill>
                  <a:srgbClr val="FFFF00"/>
                </a:solidFill>
                <a:latin typeface="+mn-ea"/>
              </a:rPr>
              <a:t>konan</a:t>
            </a:r>
            <a:r>
              <a:rPr lang="en-US" altLang="ko-KR" sz="900" dirty="0">
                <a:solidFill>
                  <a:srgbClr val="FFFF00"/>
                </a:solidFill>
                <a:latin typeface="+mn-ea"/>
              </a:rPr>
              <a:t>/search/raw</a:t>
            </a:r>
          </a:p>
          <a:p>
            <a:pPr>
              <a:buNone/>
            </a:pPr>
            <a:r>
              <a:rPr lang="en-US" altLang="ko-KR" sz="900" dirty="0">
                <a:latin typeface="+mn-ea"/>
              </a:rPr>
              <a:t>    ports:</a:t>
            </a:r>
          </a:p>
          <a:p>
            <a:pPr>
              <a:buNone/>
            </a:pPr>
            <a:r>
              <a:rPr lang="en-US" altLang="ko-KR" sz="900" dirty="0" smtClean="0">
                <a:latin typeface="+mn-ea"/>
              </a:rPr>
              <a:t>(</a:t>
            </a:r>
            <a:r>
              <a:rPr lang="ko-KR" altLang="en-US" sz="900" dirty="0" smtClean="0">
                <a:latin typeface="+mn-ea"/>
              </a:rPr>
              <a:t>생략</a:t>
            </a:r>
            <a:r>
              <a:rPr lang="en-US" altLang="ko-KR" sz="900" dirty="0" smtClean="0">
                <a:latin typeface="+mn-ea"/>
              </a:rPr>
              <a:t>)</a:t>
            </a:r>
            <a:endParaRPr lang="da-DK" altLang="ko-KR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490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en-US" altLang="ko-KR" dirty="0" smtClean="0"/>
              <a:t>. Q&amp;A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5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691488" y="2515546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Thank You.</a:t>
            </a:r>
            <a:endParaRPr lang="ko-KR" altLang="en-US" dirty="0"/>
          </a:p>
        </p:txBody>
      </p: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4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1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D2533C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20613</TotalTime>
  <Words>2858</Words>
  <Application>Microsoft Office PowerPoint</Application>
  <PresentationFormat>화면 슬라이드 쇼(4:3)</PresentationFormat>
  <Paragraphs>568</Paragraphs>
  <Slides>35</Slides>
  <Notes>23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Office 테마</vt:lpstr>
      <vt:lpstr>RAG 교육 – 2부 검색</vt:lpstr>
      <vt:lpstr>■ 목차</vt:lpstr>
      <vt:lpstr>1. 개요</vt:lpstr>
      <vt:lpstr>■ 왜 RAG인가?</vt:lpstr>
      <vt:lpstr>■ RAG </vt:lpstr>
      <vt:lpstr>■ RAG vs NL2SQL </vt:lpstr>
      <vt:lpstr>2. Search API</vt:lpstr>
      <vt:lpstr>■ Search API</vt:lpstr>
      <vt:lpstr>■ /ksm/rag/v5/search api Parameter</vt:lpstr>
      <vt:lpstr>3. KEyword 검색</vt:lpstr>
      <vt:lpstr>■ Keyword 검색</vt:lpstr>
      <vt:lpstr>■ Keyword 검색 튜닝</vt:lpstr>
      <vt:lpstr>4. Vector 검색</vt:lpstr>
      <vt:lpstr>■ Vector 검색</vt:lpstr>
      <vt:lpstr>■ Vector 검색 튜닝</vt:lpstr>
      <vt:lpstr>4. 기타 주요 Parameter</vt:lpstr>
      <vt:lpstr>■ 기타 주요 Prameter</vt:lpstr>
      <vt:lpstr>■ 기타 주요 Prameter</vt:lpstr>
      <vt:lpstr>5. 검색엔진 최적화 설정</vt:lpstr>
      <vt:lpstr>■ 검색엔진 최적화 설정</vt:lpstr>
      <vt:lpstr>■ 검색엔진 최적화 설정</vt:lpstr>
      <vt:lpstr>6. 향후 계획</vt:lpstr>
      <vt:lpstr>■ 향후 계획</vt:lpstr>
      <vt:lpstr>7. FAQ</vt:lpstr>
      <vt:lpstr>■ 검색엔진 라이선스를 바꿨더니 기동이 안 되요.</vt:lpstr>
      <vt:lpstr>■ 검색엔진 라이선스를 바꿨더니 기동이 안 되요.</vt:lpstr>
      <vt:lpstr>■ RAG의 검색 결과가 이상해요!</vt:lpstr>
      <vt:lpstr>■ 검색엔진 로그 읽기</vt:lpstr>
      <vt:lpstr>■ 실제 실행되는 쿼리를 확인하고 싶어요</vt:lpstr>
      <vt:lpstr>■ ZEUS이슈 어떻게 올리나요?</vt:lpstr>
      <vt:lpstr>■ ZEUS이슈 어떻게 올리나요?</vt:lpstr>
      <vt:lpstr>8. 실습</vt:lpstr>
      <vt:lpstr>■ 데이터 준비</vt:lpstr>
      <vt:lpstr>9. Q&amp;A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전주현</dc:creator>
  <cp:lastModifiedBy>전주현</cp:lastModifiedBy>
  <cp:revision>1341</cp:revision>
  <dcterms:created xsi:type="dcterms:W3CDTF">2023-05-09T04:33:32Z</dcterms:created>
  <dcterms:modified xsi:type="dcterms:W3CDTF">2026-02-04T07:40:31Z</dcterms:modified>
</cp:coreProperties>
</file>