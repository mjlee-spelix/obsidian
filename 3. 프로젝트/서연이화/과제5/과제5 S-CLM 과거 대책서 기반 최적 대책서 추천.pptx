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7775575" cx="13823950"/>
  <p:notesSz cx="6797675" cy="9926625"/>
  <p:embeddedFontLst>
    <p:embeddedFont>
      <p:font typeface="Play"/>
      <p:regular r:id="rId13"/>
      <p:bold r:id="rId14"/>
    </p:embeddedFont>
    <p:embeddedFont>
      <p:font typeface="Noto Sans KR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98">
          <p15:clr>
            <a:srgbClr val="A4A3A4"/>
          </p15:clr>
        </p15:guide>
        <p15:guide id="2" orient="horz" pos="453">
          <p15:clr>
            <a:srgbClr val="A4A3A4"/>
          </p15:clr>
        </p15:guide>
        <p15:guide id="3" orient="horz" pos="793">
          <p15:clr>
            <a:srgbClr val="A4A3A4"/>
          </p15:clr>
        </p15:guide>
        <p15:guide id="4" pos="4354">
          <p15:clr>
            <a:srgbClr val="A4A3A4"/>
          </p15:clr>
        </p15:guide>
        <p15:guide id="5" orient="horz" pos="4536">
          <p15:clr>
            <a:srgbClr val="A4A3A4"/>
          </p15:clr>
        </p15:guide>
        <p15:guide id="6" pos="445">
          <p15:clr>
            <a:srgbClr val="A4A3A4"/>
          </p15:clr>
        </p15:guide>
        <p15:guide id="7" pos="8255">
          <p15:clr>
            <a:srgbClr val="A4A3A4"/>
          </p15:clr>
        </p15:guide>
        <p15:guide id="8" pos="5737">
          <p15:clr>
            <a:srgbClr val="A4A3A4"/>
          </p15:clr>
        </p15:guide>
        <p15:guide id="9" pos="6758">
          <p15:clr>
            <a:srgbClr val="A4A3A4"/>
          </p15:clr>
        </p15:guide>
        <p15:guide id="10" pos="7348">
          <p15:clr>
            <a:srgbClr val="A4A3A4"/>
          </p15:clr>
        </p15:guide>
        <p15:guide id="11" pos="2336">
          <p15:clr>
            <a:srgbClr val="A4A3A4"/>
          </p15:clr>
        </p15:guide>
        <p15:guide id="12" pos="839">
          <p15:clr>
            <a:srgbClr val="A4A3A4"/>
          </p15:clr>
        </p15:guide>
        <p15:guide id="13" pos="7847">
          <p15:clr>
            <a:srgbClr val="A4A3A4"/>
          </p15:clr>
        </p15:guide>
        <p15:guide id="14" orient="horz" pos="1270">
          <p15:clr>
            <a:srgbClr val="A4A3A4"/>
          </p15:clr>
        </p15:guide>
        <p15:guide id="15" orient="horz" pos="4422">
          <p15:clr>
            <a:srgbClr val="A4A3A4"/>
          </p15:clr>
        </p15:guide>
        <p15:guide id="16" pos="3923">
          <p15:clr>
            <a:srgbClr val="A4A3A4"/>
          </p15:clr>
        </p15:guide>
        <p15:guide id="17" orient="horz" pos="2835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npgg0Uartqwy+qSQX/+7AsfAN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95245F-60D0-43EA-8C94-45057C71EF8C}">
  <a:tblStyle styleId="{C795245F-60D0-43EA-8C94-45057C71EF8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C76C97A-AB75-4E68-933A-387F25F932B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98" orient="horz"/>
        <p:guide pos="453" orient="horz"/>
        <p:guide pos="793" orient="horz"/>
        <p:guide pos="4354"/>
        <p:guide pos="4536" orient="horz"/>
        <p:guide pos="445"/>
        <p:guide pos="8255"/>
        <p:guide pos="5737"/>
        <p:guide pos="6758"/>
        <p:guide pos="7348"/>
        <p:guide pos="2336"/>
        <p:guide pos="839"/>
        <p:guide pos="7847"/>
        <p:guide pos="1270" orient="horz"/>
        <p:guide pos="4422" orient="horz"/>
        <p:guide pos="3923"/>
        <p:guide pos="283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Play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otoSansKR-regular.fntdata"/><Relationship Id="rId14" Type="http://schemas.openxmlformats.org/officeDocument/2006/relationships/font" Target="fonts/Play-bold.fntdata"/><Relationship Id="rId17" Type="http://customschemas.google.com/relationships/presentationmetadata" Target="metadata"/><Relationship Id="rId16" Type="http://schemas.openxmlformats.org/officeDocument/2006/relationships/font" Target="fonts/NotoSansK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2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3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4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5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6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6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I장">
  <p:cSld name="II장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/>
        </p:nvSpPr>
        <p:spPr>
          <a:xfrm>
            <a:off x="-1" y="3"/>
            <a:ext cx="13823951" cy="7775575"/>
          </a:xfrm>
          <a:prstGeom prst="rect">
            <a:avLst/>
          </a:prstGeom>
          <a:solidFill>
            <a:srgbClr val="F2F2F2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4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6551804" y="7356131"/>
            <a:ext cx="720346" cy="185328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57925" lIns="115875" spcFirstLastPara="1" rIns="115875" wrap="square" tIns="57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8"/>
          <p:cNvSpPr/>
          <p:nvPr/>
        </p:nvSpPr>
        <p:spPr>
          <a:xfrm>
            <a:off x="702859" y="1553866"/>
            <a:ext cx="12414905" cy="5647034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56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oogle Shape;29;p8"/>
          <p:cNvGrpSpPr/>
          <p:nvPr/>
        </p:nvGrpSpPr>
        <p:grpSpPr>
          <a:xfrm>
            <a:off x="1710088" y="7316382"/>
            <a:ext cx="784403" cy="156068"/>
            <a:chOff x="1514435" y="7371483"/>
            <a:chExt cx="618929" cy="156068"/>
          </a:xfrm>
        </p:grpSpPr>
        <p:sp>
          <p:nvSpPr>
            <p:cNvPr id="30" name="Google Shape;30;p8"/>
            <p:cNvSpPr txBox="1"/>
            <p:nvPr/>
          </p:nvSpPr>
          <p:spPr>
            <a:xfrm>
              <a:off x="1565450" y="7371483"/>
              <a:ext cx="567914" cy="156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14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AX 구축사업</a:t>
              </a:r>
              <a:endParaRPr/>
            </a:p>
          </p:txBody>
        </p:sp>
        <p:cxnSp>
          <p:nvCxnSpPr>
            <p:cNvPr id="31" name="Google Shape;31;p8"/>
            <p:cNvCxnSpPr/>
            <p:nvPr/>
          </p:nvCxnSpPr>
          <p:spPr>
            <a:xfrm>
              <a:off x="1514435" y="7404659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descr="폰트, 텍스트, 스크린샷, 그래픽이(가) 표시된 사진&#10;&#10;자동 생성된 설명" id="32" name="Google Shape;3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04860" y="7299935"/>
            <a:ext cx="903329" cy="20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8"/>
          <p:cNvPicPr preferRelativeResize="0"/>
          <p:nvPr/>
        </p:nvPicPr>
        <p:blipFill rotWithShape="1">
          <a:blip r:embed="rId3">
            <a:alphaModFix/>
          </a:blip>
          <a:srcRect b="66535" l="28381" r="26536" t="12716"/>
          <a:stretch/>
        </p:blipFill>
        <p:spPr>
          <a:xfrm>
            <a:off x="542170" y="7235114"/>
            <a:ext cx="1135591" cy="318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29886" y="7238214"/>
            <a:ext cx="719322" cy="318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449">
          <p15:clr>
            <a:srgbClr val="FBAE40"/>
          </p15:clr>
        </p15:guide>
        <p15:guide id="2" pos="435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ctrTitle"/>
          </p:nvPr>
        </p:nvSpPr>
        <p:spPr>
          <a:xfrm>
            <a:off x="1727994" y="1272531"/>
            <a:ext cx="10367963" cy="27070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3"/>
              <a:buFont typeface="Play"/>
              <a:buNone/>
              <a:defRPr sz="680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1727994" y="4083977"/>
            <a:ext cx="10367963" cy="1877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2721"/>
              <a:buNone/>
              <a:defRPr sz="2721"/>
            </a:lvl1pPr>
            <a:lvl2pPr lvl="1" algn="ctr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2pPr>
            <a:lvl3pPr lvl="2" algn="ctr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1"/>
              <a:buNone/>
              <a:defRPr sz="2041"/>
            </a:lvl3pPr>
            <a:lvl4pPr lvl="3" algn="ctr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/>
            </a:lvl4pPr>
            <a:lvl5pPr lvl="4" algn="ctr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/>
            </a:lvl5pPr>
            <a:lvl6pPr lvl="5" algn="ctr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/>
            </a:lvl6pPr>
            <a:lvl7pPr lvl="6" algn="ctr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/>
            </a:lvl7pPr>
            <a:lvl8pPr lvl="7" algn="ctr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/>
            </a:lvl8pPr>
            <a:lvl9pPr lvl="8" algn="ctr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/>
            </a:lvl9pPr>
          </a:lstStyle>
          <a:p/>
        </p:txBody>
      </p:sp>
      <p:sp>
        <p:nvSpPr>
          <p:cNvPr id="38" name="Google Shape;38;p9"/>
          <p:cNvSpPr txBox="1"/>
          <p:nvPr>
            <p:ph idx="10" type="dt"/>
          </p:nvPr>
        </p:nvSpPr>
        <p:spPr>
          <a:xfrm>
            <a:off x="950396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1" type="ftr"/>
          </p:nvPr>
        </p:nvSpPr>
        <p:spPr>
          <a:xfrm>
            <a:off x="4579184" y="7206807"/>
            <a:ext cx="4665583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763165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950397" y="413978"/>
            <a:ext cx="11923157" cy="1502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950397" y="2069887"/>
            <a:ext cx="11923157" cy="4933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0" type="dt"/>
          </p:nvPr>
        </p:nvSpPr>
        <p:spPr>
          <a:xfrm>
            <a:off x="950396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4579184" y="7206807"/>
            <a:ext cx="4665583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9763165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943197" y="1938495"/>
            <a:ext cx="11923157" cy="32344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3"/>
              <a:buFont typeface="Play"/>
              <a:buNone/>
              <a:defRPr sz="680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943197" y="5203517"/>
            <a:ext cx="11923157" cy="1700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757575"/>
              </a:buClr>
              <a:buSzPts val="2721"/>
              <a:buNone/>
              <a:defRPr sz="2721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rgbClr val="757575"/>
              </a:buClr>
              <a:buSzPts val="2041"/>
              <a:buNone/>
              <a:defRPr sz="2041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rgbClr val="757575"/>
              </a:buClr>
              <a:buSzPts val="1814"/>
              <a:buNone/>
              <a:defRPr sz="1814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rgbClr val="757575"/>
              </a:buClr>
              <a:buSzPts val="1814"/>
              <a:buNone/>
              <a:defRPr sz="1814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rgbClr val="757575"/>
              </a:buClr>
              <a:buSzPts val="1814"/>
              <a:buNone/>
              <a:defRPr sz="1814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rgbClr val="757575"/>
              </a:buClr>
              <a:buSzPts val="1814"/>
              <a:buNone/>
              <a:defRPr sz="1814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rgbClr val="757575"/>
              </a:buClr>
              <a:buSzPts val="1814"/>
              <a:buNone/>
              <a:defRPr sz="1814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rgbClr val="757575"/>
              </a:buClr>
              <a:buSzPts val="1814"/>
              <a:buNone/>
              <a:defRPr sz="1814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50" name="Google Shape;50;p11"/>
          <p:cNvSpPr txBox="1"/>
          <p:nvPr>
            <p:ph idx="10" type="dt"/>
          </p:nvPr>
        </p:nvSpPr>
        <p:spPr>
          <a:xfrm>
            <a:off x="950396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4579184" y="7206807"/>
            <a:ext cx="4665583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9763165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950397" y="413978"/>
            <a:ext cx="11923157" cy="1502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950396" y="2069887"/>
            <a:ext cx="5875179" cy="4933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6998375" y="2069887"/>
            <a:ext cx="5875179" cy="4933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0" type="dt"/>
          </p:nvPr>
        </p:nvSpPr>
        <p:spPr>
          <a:xfrm>
            <a:off x="950396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1" type="ftr"/>
          </p:nvPr>
        </p:nvSpPr>
        <p:spPr>
          <a:xfrm>
            <a:off x="4579184" y="7206807"/>
            <a:ext cx="4665583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9763165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952197" y="413978"/>
            <a:ext cx="11923157" cy="1502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952198" y="1906097"/>
            <a:ext cx="5848178" cy="9341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2721"/>
              <a:buNone/>
              <a:defRPr b="1" sz="2721"/>
            </a:lvl1pPr>
            <a:lvl2pPr indent="-228600" lvl="1" marL="914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2pPr>
            <a:lvl3pPr indent="-228600" lvl="2" marL="1371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1"/>
              <a:buNone/>
              <a:defRPr b="1" sz="2041"/>
            </a:lvl3pPr>
            <a:lvl4pPr indent="-228600" lvl="3" marL="1828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b="1" sz="1814"/>
            </a:lvl4pPr>
            <a:lvl5pPr indent="-228600" lvl="4" marL="22860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b="1" sz="1814"/>
            </a:lvl5pPr>
            <a:lvl6pPr indent="-228600" lvl="5" marL="27432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b="1" sz="1814"/>
            </a:lvl6pPr>
            <a:lvl7pPr indent="-228600" lvl="6" marL="3200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b="1" sz="1814"/>
            </a:lvl7pPr>
            <a:lvl8pPr indent="-228600" lvl="7" marL="3657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b="1" sz="1814"/>
            </a:lvl8pPr>
            <a:lvl9pPr indent="-228600" lvl="8" marL="4114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b="1" sz="1814"/>
            </a:lvl9pPr>
          </a:lstStyle>
          <a:p/>
        </p:txBody>
      </p:sp>
      <p:sp>
        <p:nvSpPr>
          <p:cNvPr id="63" name="Google Shape;63;p13"/>
          <p:cNvSpPr txBox="1"/>
          <p:nvPr>
            <p:ph idx="2" type="body"/>
          </p:nvPr>
        </p:nvSpPr>
        <p:spPr>
          <a:xfrm>
            <a:off x="952198" y="2840245"/>
            <a:ext cx="5848178" cy="417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3" type="body"/>
          </p:nvPr>
        </p:nvSpPr>
        <p:spPr>
          <a:xfrm>
            <a:off x="6998375" y="1906097"/>
            <a:ext cx="5876979" cy="9341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2721"/>
              <a:buNone/>
              <a:defRPr b="1" sz="2721"/>
            </a:lvl1pPr>
            <a:lvl2pPr indent="-228600" lvl="1" marL="914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2pPr>
            <a:lvl3pPr indent="-228600" lvl="2" marL="1371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1"/>
              <a:buNone/>
              <a:defRPr b="1" sz="2041"/>
            </a:lvl3pPr>
            <a:lvl4pPr indent="-228600" lvl="3" marL="1828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b="1" sz="1814"/>
            </a:lvl4pPr>
            <a:lvl5pPr indent="-228600" lvl="4" marL="22860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b="1" sz="1814"/>
            </a:lvl5pPr>
            <a:lvl6pPr indent="-228600" lvl="5" marL="27432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b="1" sz="1814"/>
            </a:lvl6pPr>
            <a:lvl7pPr indent="-228600" lvl="6" marL="3200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b="1" sz="1814"/>
            </a:lvl7pPr>
            <a:lvl8pPr indent="-228600" lvl="7" marL="3657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b="1" sz="1814"/>
            </a:lvl8pPr>
            <a:lvl9pPr indent="-228600" lvl="8" marL="4114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b="1" sz="1814"/>
            </a:lvl9pPr>
          </a:lstStyle>
          <a:p/>
        </p:txBody>
      </p:sp>
      <p:sp>
        <p:nvSpPr>
          <p:cNvPr id="65" name="Google Shape;65;p13"/>
          <p:cNvSpPr txBox="1"/>
          <p:nvPr>
            <p:ph idx="4" type="body"/>
          </p:nvPr>
        </p:nvSpPr>
        <p:spPr>
          <a:xfrm>
            <a:off x="6998375" y="2840245"/>
            <a:ext cx="5876979" cy="417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0" type="dt"/>
          </p:nvPr>
        </p:nvSpPr>
        <p:spPr>
          <a:xfrm>
            <a:off x="950396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1" type="ftr"/>
          </p:nvPr>
        </p:nvSpPr>
        <p:spPr>
          <a:xfrm>
            <a:off x="4579184" y="7206807"/>
            <a:ext cx="4665583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9763165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950397" y="413978"/>
            <a:ext cx="11923157" cy="1502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950396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579184" y="7206807"/>
            <a:ext cx="4665583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9763165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10" type="dt"/>
          </p:nvPr>
        </p:nvSpPr>
        <p:spPr>
          <a:xfrm>
            <a:off x="950396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4579184" y="7206807"/>
            <a:ext cx="4665583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9763165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952198" y="518372"/>
            <a:ext cx="4458583" cy="18143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28"/>
              <a:buFont typeface="Play"/>
              <a:buNone/>
              <a:defRPr sz="362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5876979" y="1119539"/>
            <a:ext cx="6998375" cy="5525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8978" lvl="0" marL="45720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3628"/>
              <a:buChar char="•"/>
              <a:defRPr sz="3628"/>
            </a:lvl1pPr>
            <a:lvl2pPr indent="-430213" lvl="1" marL="914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3175"/>
              <a:buChar char="•"/>
              <a:defRPr sz="3175"/>
            </a:lvl2pPr>
            <a:lvl3pPr indent="-401383" lvl="2" marL="1371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721"/>
              <a:buChar char="•"/>
              <a:defRPr sz="2721"/>
            </a:lvl3pPr>
            <a:lvl4pPr indent="-372618" lvl="3" marL="1828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8"/>
              <a:buChar char="•"/>
              <a:defRPr sz="2268"/>
            </a:lvl4pPr>
            <a:lvl5pPr indent="-372618" lvl="4" marL="22860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8"/>
              <a:buChar char="•"/>
              <a:defRPr sz="2268"/>
            </a:lvl5pPr>
            <a:lvl6pPr indent="-372618" lvl="5" marL="27432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8"/>
              <a:buChar char="•"/>
              <a:defRPr sz="2268"/>
            </a:lvl6pPr>
            <a:lvl7pPr indent="-372618" lvl="6" marL="3200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8"/>
              <a:buChar char="•"/>
              <a:defRPr sz="2268"/>
            </a:lvl7pPr>
            <a:lvl8pPr indent="-372618" lvl="7" marL="3657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8"/>
              <a:buChar char="•"/>
              <a:defRPr sz="2268"/>
            </a:lvl8pPr>
            <a:lvl9pPr indent="-372618" lvl="8" marL="4114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8"/>
              <a:buChar char="•"/>
              <a:defRPr sz="2268"/>
            </a:lvl9pPr>
          </a:lstStyle>
          <a:p/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952198" y="2332673"/>
            <a:ext cx="4458583" cy="4321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/>
            </a:lvl1pPr>
            <a:lvl2pPr indent="-228600" lvl="1" marL="914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587"/>
              <a:buNone/>
              <a:defRPr sz="1587"/>
            </a:lvl2pPr>
            <a:lvl3pPr indent="-228600" lvl="2" marL="1371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/>
            </a:lvl3pPr>
            <a:lvl4pPr indent="-228600" lvl="3" marL="1828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134"/>
              <a:buNone/>
              <a:defRPr sz="1134"/>
            </a:lvl4pPr>
            <a:lvl5pPr indent="-228600" lvl="4" marL="22860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134"/>
              <a:buNone/>
              <a:defRPr sz="1134"/>
            </a:lvl5pPr>
            <a:lvl6pPr indent="-228600" lvl="5" marL="27432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134"/>
              <a:buNone/>
              <a:defRPr sz="1134"/>
            </a:lvl6pPr>
            <a:lvl7pPr indent="-228600" lvl="6" marL="3200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134"/>
              <a:buNone/>
              <a:defRPr sz="1134"/>
            </a:lvl7pPr>
            <a:lvl8pPr indent="-228600" lvl="7" marL="3657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134"/>
              <a:buNone/>
              <a:defRPr sz="1134"/>
            </a:lvl8pPr>
            <a:lvl9pPr indent="-228600" lvl="8" marL="4114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134"/>
              <a:buNone/>
              <a:defRPr sz="1134"/>
            </a:lvl9pPr>
          </a:lstStyle>
          <a:p/>
        </p:txBody>
      </p:sp>
      <p:sp>
        <p:nvSpPr>
          <p:cNvPr id="82" name="Google Shape;82;p16"/>
          <p:cNvSpPr txBox="1"/>
          <p:nvPr>
            <p:ph idx="10" type="dt"/>
          </p:nvPr>
        </p:nvSpPr>
        <p:spPr>
          <a:xfrm>
            <a:off x="950396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1" type="ftr"/>
          </p:nvPr>
        </p:nvSpPr>
        <p:spPr>
          <a:xfrm>
            <a:off x="4579184" y="7206807"/>
            <a:ext cx="4665583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9763165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952198" y="518372"/>
            <a:ext cx="4458583" cy="18143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28"/>
              <a:buFont typeface="Play"/>
              <a:buNone/>
              <a:defRPr sz="362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/>
          <p:nvPr>
            <p:ph idx="2" type="pic"/>
          </p:nvPr>
        </p:nvSpPr>
        <p:spPr>
          <a:xfrm>
            <a:off x="5876979" y="1119539"/>
            <a:ext cx="6998375" cy="5525698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952198" y="2332673"/>
            <a:ext cx="4458583" cy="4321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/>
            </a:lvl1pPr>
            <a:lvl2pPr indent="-228600" lvl="1" marL="914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587"/>
              <a:buNone/>
              <a:defRPr sz="1587"/>
            </a:lvl2pPr>
            <a:lvl3pPr indent="-228600" lvl="2" marL="1371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/>
            </a:lvl3pPr>
            <a:lvl4pPr indent="-228600" lvl="3" marL="1828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134"/>
              <a:buNone/>
              <a:defRPr sz="1134"/>
            </a:lvl4pPr>
            <a:lvl5pPr indent="-228600" lvl="4" marL="22860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134"/>
              <a:buNone/>
              <a:defRPr sz="1134"/>
            </a:lvl5pPr>
            <a:lvl6pPr indent="-228600" lvl="5" marL="27432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134"/>
              <a:buNone/>
              <a:defRPr sz="1134"/>
            </a:lvl6pPr>
            <a:lvl7pPr indent="-228600" lvl="6" marL="3200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134"/>
              <a:buNone/>
              <a:defRPr sz="1134"/>
            </a:lvl7pPr>
            <a:lvl8pPr indent="-228600" lvl="7" marL="3657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134"/>
              <a:buNone/>
              <a:defRPr sz="1134"/>
            </a:lvl8pPr>
            <a:lvl9pPr indent="-228600" lvl="8" marL="4114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134"/>
              <a:buNone/>
              <a:defRPr sz="1134"/>
            </a:lvl9pPr>
          </a:lstStyle>
          <a:p/>
        </p:txBody>
      </p:sp>
      <p:sp>
        <p:nvSpPr>
          <p:cNvPr id="89" name="Google Shape;89;p17"/>
          <p:cNvSpPr txBox="1"/>
          <p:nvPr>
            <p:ph idx="10" type="dt"/>
          </p:nvPr>
        </p:nvSpPr>
        <p:spPr>
          <a:xfrm>
            <a:off x="950396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1" type="ftr"/>
          </p:nvPr>
        </p:nvSpPr>
        <p:spPr>
          <a:xfrm>
            <a:off x="4579184" y="7206807"/>
            <a:ext cx="4665583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9763165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950397" y="413978"/>
            <a:ext cx="11923157" cy="1502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 rot="5400000">
            <a:off x="4445210" y="-1424926"/>
            <a:ext cx="4933531" cy="11923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0" type="dt"/>
          </p:nvPr>
        </p:nvSpPr>
        <p:spPr>
          <a:xfrm>
            <a:off x="950396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1" type="ftr"/>
          </p:nvPr>
        </p:nvSpPr>
        <p:spPr>
          <a:xfrm>
            <a:off x="4579184" y="7206807"/>
            <a:ext cx="4665583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9763165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 rot="5400000">
            <a:off x="8088439" y="2218303"/>
            <a:ext cx="6589440" cy="298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 rot="5400000">
            <a:off x="2040461" y="-676086"/>
            <a:ext cx="6589440" cy="8769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10" type="dt"/>
          </p:nvPr>
        </p:nvSpPr>
        <p:spPr>
          <a:xfrm>
            <a:off x="950396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1" type="ftr"/>
          </p:nvPr>
        </p:nvSpPr>
        <p:spPr>
          <a:xfrm>
            <a:off x="4579184" y="7206807"/>
            <a:ext cx="4665583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9763165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(사용안함)_전략1">
  <p:cSld name="(사용안함)_전략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-1" y="3"/>
            <a:ext cx="13823951" cy="7775575"/>
          </a:xfrm>
          <a:prstGeom prst="rect">
            <a:avLst/>
          </a:prstGeom>
          <a:solidFill>
            <a:srgbClr val="F2F2F2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4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" name="Google Shape;106;p20"/>
          <p:cNvGrpSpPr/>
          <p:nvPr/>
        </p:nvGrpSpPr>
        <p:grpSpPr>
          <a:xfrm>
            <a:off x="2422295" y="380095"/>
            <a:ext cx="2070007" cy="194092"/>
            <a:chOff x="1981629" y="380095"/>
            <a:chExt cx="1633328" cy="194092"/>
          </a:xfrm>
        </p:grpSpPr>
        <p:sp>
          <p:nvSpPr>
            <p:cNvPr id="107" name="Google Shape;107;p20"/>
            <p:cNvSpPr txBox="1"/>
            <p:nvPr/>
          </p:nvSpPr>
          <p:spPr>
            <a:xfrm>
              <a:off x="2210984" y="380095"/>
              <a:ext cx="1403973" cy="175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4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추진 전략 및 구축ㆍ수행방안</a:t>
              </a:r>
              <a:endParaRPr/>
            </a:p>
          </p:txBody>
        </p:sp>
        <p:grpSp>
          <p:nvGrpSpPr>
            <p:cNvPr id="108" name="Google Shape;108;p20"/>
            <p:cNvGrpSpPr/>
            <p:nvPr/>
          </p:nvGrpSpPr>
          <p:grpSpPr>
            <a:xfrm>
              <a:off x="1981629" y="393666"/>
              <a:ext cx="176276" cy="180521"/>
              <a:chOff x="1981629" y="393666"/>
              <a:chExt cx="176276" cy="180521"/>
            </a:xfrm>
          </p:grpSpPr>
          <p:sp>
            <p:nvSpPr>
              <p:cNvPr id="109" name="Google Shape;109;p20"/>
              <p:cNvSpPr/>
              <p:nvPr/>
            </p:nvSpPr>
            <p:spPr>
              <a:xfrm>
                <a:off x="1981629" y="393666"/>
                <a:ext cx="176276" cy="176274"/>
              </a:xfrm>
              <a:prstGeom prst="ellipse">
                <a:avLst/>
              </a:prstGeom>
              <a:solidFill>
                <a:srgbClr val="0488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8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0"/>
              <p:cNvSpPr txBox="1"/>
              <p:nvPr/>
            </p:nvSpPr>
            <p:spPr>
              <a:xfrm>
                <a:off x="2012219" y="398626"/>
                <a:ext cx="115101" cy="1755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141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Ⅱ</a:t>
                </a:r>
                <a:endParaRPr sz="114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1" name="Google Shape;111;p20"/>
          <p:cNvGrpSpPr/>
          <p:nvPr/>
        </p:nvGrpSpPr>
        <p:grpSpPr>
          <a:xfrm>
            <a:off x="641807" y="244303"/>
            <a:ext cx="1176207" cy="780214"/>
            <a:chOff x="519113" y="309389"/>
            <a:chExt cx="928080" cy="780214"/>
          </a:xfrm>
        </p:grpSpPr>
        <p:sp>
          <p:nvSpPr>
            <p:cNvPr id="112" name="Google Shape;112;p20"/>
            <p:cNvSpPr txBox="1"/>
            <p:nvPr/>
          </p:nvSpPr>
          <p:spPr>
            <a:xfrm>
              <a:off x="846393" y="309389"/>
              <a:ext cx="600800" cy="7802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070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ko-KR" sz="5070">
                  <a:solidFill>
                    <a:srgbClr val="203864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5070">
                <a:solidFill>
                  <a:srgbClr val="20386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" name="Google Shape;113;p20"/>
            <p:cNvGrpSpPr/>
            <p:nvPr/>
          </p:nvGrpSpPr>
          <p:grpSpPr>
            <a:xfrm>
              <a:off x="519113" y="566739"/>
              <a:ext cx="469106" cy="376960"/>
              <a:chOff x="519113" y="566739"/>
              <a:chExt cx="469106" cy="376960"/>
            </a:xfrm>
          </p:grpSpPr>
          <p:sp>
            <p:nvSpPr>
              <p:cNvPr id="114" name="Google Shape;114;p20"/>
              <p:cNvSpPr/>
              <p:nvPr/>
            </p:nvSpPr>
            <p:spPr>
              <a:xfrm>
                <a:off x="821531" y="566739"/>
                <a:ext cx="166688" cy="1881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8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0"/>
              <p:cNvSpPr txBox="1"/>
              <p:nvPr/>
            </p:nvSpPr>
            <p:spPr>
              <a:xfrm>
                <a:off x="532009" y="748709"/>
                <a:ext cx="242850" cy="1949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67">
                    <a:solidFill>
                      <a:srgbClr val="203864"/>
                    </a:solidFill>
                    <a:latin typeface="Arial"/>
                    <a:ea typeface="Arial"/>
                    <a:cs typeface="Arial"/>
                    <a:sym typeface="Arial"/>
                  </a:rPr>
                  <a:t>전략</a:t>
                </a:r>
                <a:endParaRPr sz="1267">
                  <a:solidFill>
                    <a:srgbClr val="20386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6" name="Google Shape;116;p20"/>
              <p:cNvCxnSpPr/>
              <p:nvPr/>
            </p:nvCxnSpPr>
            <p:spPr>
              <a:xfrm>
                <a:off x="519113" y="709614"/>
                <a:ext cx="411956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03864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17" name="Google Shape;117;p20"/>
              <p:cNvSpPr txBox="1"/>
              <p:nvPr/>
            </p:nvSpPr>
            <p:spPr>
              <a:xfrm>
                <a:off x="532009" y="574879"/>
                <a:ext cx="390836" cy="136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887">
                    <a:solidFill>
                      <a:srgbClr val="203864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lang="ko-KR" sz="887">
                    <a:solidFill>
                      <a:srgbClr val="A5A5A5"/>
                    </a:solidFill>
                    <a:latin typeface="Arial"/>
                    <a:ea typeface="Arial"/>
                    <a:cs typeface="Arial"/>
                    <a:sym typeface="Arial"/>
                  </a:rPr>
                  <a:t>trategy</a:t>
                </a:r>
                <a:endParaRPr/>
              </a:p>
            </p:txBody>
          </p:sp>
        </p:grpSp>
      </p:grpSp>
      <p:sp>
        <p:nvSpPr>
          <p:cNvPr id="118" name="Google Shape;118;p20"/>
          <p:cNvSpPr/>
          <p:nvPr/>
        </p:nvSpPr>
        <p:spPr>
          <a:xfrm flipH="1" rot="5400000">
            <a:off x="893147" y="76025"/>
            <a:ext cx="326231" cy="2112523"/>
          </a:xfrm>
          <a:prstGeom prst="rect">
            <a:avLst/>
          </a:prstGeom>
          <a:solidFill>
            <a:srgbClr val="084F6A"/>
          </a:solidFill>
          <a:ln cap="flat" cmpd="sng" w="9525">
            <a:solidFill>
              <a:srgbClr val="20386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78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20"/>
          <p:cNvGrpSpPr/>
          <p:nvPr/>
        </p:nvGrpSpPr>
        <p:grpSpPr>
          <a:xfrm>
            <a:off x="676672" y="410679"/>
            <a:ext cx="353696" cy="45719"/>
            <a:chOff x="533924" y="410676"/>
            <a:chExt cx="279082" cy="45719"/>
          </a:xfrm>
        </p:grpSpPr>
        <p:sp>
          <p:nvSpPr>
            <p:cNvPr id="120" name="Google Shape;120;p20"/>
            <p:cNvSpPr/>
            <p:nvPr/>
          </p:nvSpPr>
          <p:spPr>
            <a:xfrm>
              <a:off x="533924" y="410676"/>
              <a:ext cx="45719" cy="45719"/>
            </a:xfrm>
            <a:prstGeom prst="ellipse">
              <a:avLst/>
            </a:prstGeom>
            <a:solidFill>
              <a:srgbClr val="CC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0"/>
            <p:cNvSpPr/>
            <p:nvPr/>
          </p:nvSpPr>
          <p:spPr>
            <a:xfrm>
              <a:off x="611712" y="410676"/>
              <a:ext cx="45719" cy="4571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0"/>
            <p:cNvSpPr/>
            <p:nvPr/>
          </p:nvSpPr>
          <p:spPr>
            <a:xfrm>
              <a:off x="689500" y="410676"/>
              <a:ext cx="45719" cy="4571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0"/>
            <p:cNvSpPr/>
            <p:nvPr/>
          </p:nvSpPr>
          <p:spPr>
            <a:xfrm>
              <a:off x="767287" y="410676"/>
              <a:ext cx="45719" cy="4571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4" name="Google Shape;124;p20"/>
          <p:cNvCxnSpPr/>
          <p:nvPr/>
        </p:nvCxnSpPr>
        <p:spPr>
          <a:xfrm>
            <a:off x="2112522" y="0"/>
            <a:ext cx="0" cy="1295400"/>
          </a:xfrm>
          <a:prstGeom prst="straightConnector1">
            <a:avLst/>
          </a:prstGeom>
          <a:noFill/>
          <a:ln cap="flat" cmpd="sng" w="9525">
            <a:solidFill>
              <a:srgbClr val="203864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125" name="Google Shape;125;p20"/>
          <p:cNvGrpSpPr/>
          <p:nvPr/>
        </p:nvGrpSpPr>
        <p:grpSpPr>
          <a:xfrm>
            <a:off x="2017437" y="1050131"/>
            <a:ext cx="208234" cy="164304"/>
            <a:chOff x="4791013" y="2146704"/>
            <a:chExt cx="169923" cy="169923"/>
          </a:xfrm>
        </p:grpSpPr>
        <p:sp>
          <p:nvSpPr>
            <p:cNvPr id="126" name="Google Shape;126;p20"/>
            <p:cNvSpPr/>
            <p:nvPr/>
          </p:nvSpPr>
          <p:spPr>
            <a:xfrm>
              <a:off x="4791013" y="2146704"/>
              <a:ext cx="169923" cy="1699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0"/>
            <p:cNvSpPr/>
            <p:nvPr/>
          </p:nvSpPr>
          <p:spPr>
            <a:xfrm rot="-2700000">
              <a:off x="4839584" y="2195275"/>
              <a:ext cx="72780" cy="72780"/>
            </a:xfrm>
            <a:custGeom>
              <a:rect b="b" l="l" r="r" t="t"/>
              <a:pathLst>
                <a:path extrusionOk="0" h="264" w="263">
                  <a:moveTo>
                    <a:pt x="51" y="264"/>
                  </a:moveTo>
                  <a:lnTo>
                    <a:pt x="222" y="264"/>
                  </a:lnTo>
                  <a:lnTo>
                    <a:pt x="222" y="264"/>
                  </a:lnTo>
                  <a:lnTo>
                    <a:pt x="231" y="263"/>
                  </a:lnTo>
                  <a:lnTo>
                    <a:pt x="238" y="261"/>
                  </a:lnTo>
                  <a:lnTo>
                    <a:pt x="245" y="257"/>
                  </a:lnTo>
                  <a:lnTo>
                    <a:pt x="252" y="251"/>
                  </a:lnTo>
                  <a:lnTo>
                    <a:pt x="256" y="246"/>
                  </a:lnTo>
                  <a:lnTo>
                    <a:pt x="260" y="239"/>
                  </a:lnTo>
                  <a:lnTo>
                    <a:pt x="262" y="232"/>
                  </a:lnTo>
                  <a:lnTo>
                    <a:pt x="263" y="223"/>
                  </a:lnTo>
                  <a:lnTo>
                    <a:pt x="263" y="52"/>
                  </a:lnTo>
                  <a:lnTo>
                    <a:pt x="263" y="52"/>
                  </a:lnTo>
                  <a:lnTo>
                    <a:pt x="262" y="43"/>
                  </a:lnTo>
                  <a:lnTo>
                    <a:pt x="260" y="36"/>
                  </a:lnTo>
                  <a:lnTo>
                    <a:pt x="256" y="29"/>
                  </a:lnTo>
                  <a:lnTo>
                    <a:pt x="252" y="24"/>
                  </a:lnTo>
                  <a:lnTo>
                    <a:pt x="245" y="18"/>
                  </a:lnTo>
                  <a:lnTo>
                    <a:pt x="238" y="15"/>
                  </a:lnTo>
                  <a:lnTo>
                    <a:pt x="231" y="13"/>
                  </a:lnTo>
                  <a:lnTo>
                    <a:pt x="222" y="11"/>
                  </a:lnTo>
                  <a:lnTo>
                    <a:pt x="222" y="11"/>
                  </a:lnTo>
                  <a:lnTo>
                    <a:pt x="214" y="13"/>
                  </a:lnTo>
                  <a:lnTo>
                    <a:pt x="207" y="15"/>
                  </a:lnTo>
                  <a:lnTo>
                    <a:pt x="200" y="18"/>
                  </a:lnTo>
                  <a:lnTo>
                    <a:pt x="194" y="24"/>
                  </a:lnTo>
                  <a:lnTo>
                    <a:pt x="194" y="24"/>
                  </a:lnTo>
                  <a:lnTo>
                    <a:pt x="189" y="29"/>
                  </a:lnTo>
                  <a:lnTo>
                    <a:pt x="186" y="36"/>
                  </a:lnTo>
                  <a:lnTo>
                    <a:pt x="183" y="43"/>
                  </a:lnTo>
                  <a:lnTo>
                    <a:pt x="183" y="52"/>
                  </a:lnTo>
                  <a:lnTo>
                    <a:pt x="183" y="52"/>
                  </a:lnTo>
                  <a:lnTo>
                    <a:pt x="183" y="126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2" y="7"/>
                  </a:lnTo>
                  <a:lnTo>
                    <a:pt x="55" y="3"/>
                  </a:lnTo>
                  <a:lnTo>
                    <a:pt x="48" y="1"/>
                  </a:lnTo>
                  <a:lnTo>
                    <a:pt x="40" y="0"/>
                  </a:lnTo>
                  <a:lnTo>
                    <a:pt x="33" y="1"/>
                  </a:lnTo>
                  <a:lnTo>
                    <a:pt x="26" y="3"/>
                  </a:lnTo>
                  <a:lnTo>
                    <a:pt x="19" y="7"/>
                  </a:lnTo>
                  <a:lnTo>
                    <a:pt x="12" y="13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5"/>
                  </a:lnTo>
                  <a:lnTo>
                    <a:pt x="0" y="34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3" y="56"/>
                  </a:lnTo>
                  <a:lnTo>
                    <a:pt x="6" y="63"/>
                  </a:lnTo>
                  <a:lnTo>
                    <a:pt x="12" y="69"/>
                  </a:lnTo>
                  <a:lnTo>
                    <a:pt x="126" y="183"/>
                  </a:lnTo>
                  <a:lnTo>
                    <a:pt x="51" y="183"/>
                  </a:lnTo>
                  <a:lnTo>
                    <a:pt x="51" y="183"/>
                  </a:lnTo>
                  <a:lnTo>
                    <a:pt x="44" y="184"/>
                  </a:lnTo>
                  <a:lnTo>
                    <a:pt x="36" y="185"/>
                  </a:lnTo>
                  <a:lnTo>
                    <a:pt x="29" y="190"/>
                  </a:lnTo>
                  <a:lnTo>
                    <a:pt x="23" y="195"/>
                  </a:lnTo>
                  <a:lnTo>
                    <a:pt x="19" y="201"/>
                  </a:lnTo>
                  <a:lnTo>
                    <a:pt x="15" y="208"/>
                  </a:lnTo>
                  <a:lnTo>
                    <a:pt x="12" y="215"/>
                  </a:lnTo>
                  <a:lnTo>
                    <a:pt x="12" y="223"/>
                  </a:lnTo>
                  <a:lnTo>
                    <a:pt x="12" y="223"/>
                  </a:lnTo>
                  <a:lnTo>
                    <a:pt x="12" y="232"/>
                  </a:lnTo>
                  <a:lnTo>
                    <a:pt x="15" y="239"/>
                  </a:lnTo>
                  <a:lnTo>
                    <a:pt x="19" y="246"/>
                  </a:lnTo>
                  <a:lnTo>
                    <a:pt x="23" y="251"/>
                  </a:lnTo>
                  <a:lnTo>
                    <a:pt x="29" y="257"/>
                  </a:lnTo>
                  <a:lnTo>
                    <a:pt x="36" y="261"/>
                  </a:lnTo>
                  <a:lnTo>
                    <a:pt x="44" y="263"/>
                  </a:lnTo>
                  <a:lnTo>
                    <a:pt x="51" y="264"/>
                  </a:lnTo>
                  <a:lnTo>
                    <a:pt x="51" y="264"/>
                  </a:lnTo>
                  <a:close/>
                </a:path>
              </a:pathLst>
            </a:custGeom>
            <a:solidFill>
              <a:srgbClr val="2038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7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>
            <a:off x="6551804" y="7351134"/>
            <a:ext cx="720346" cy="185328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57925" lIns="115875" spcFirstLastPara="1" rIns="115875" wrap="square" tIns="57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1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1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" name="Google Shape;129;p20"/>
          <p:cNvGrpSpPr/>
          <p:nvPr/>
        </p:nvGrpSpPr>
        <p:grpSpPr>
          <a:xfrm>
            <a:off x="456413" y="7349286"/>
            <a:ext cx="2938966" cy="161214"/>
            <a:chOff x="360129" y="7358275"/>
            <a:chExt cx="2318975" cy="161214"/>
          </a:xfrm>
        </p:grpSpPr>
        <p:grpSp>
          <p:nvGrpSpPr>
            <p:cNvPr id="130" name="Google Shape;130;p20"/>
            <p:cNvGrpSpPr/>
            <p:nvPr/>
          </p:nvGrpSpPr>
          <p:grpSpPr>
            <a:xfrm>
              <a:off x="1349335" y="7358275"/>
              <a:ext cx="1329769" cy="156068"/>
              <a:chOff x="1514435" y="7371483"/>
              <a:chExt cx="1329769" cy="156068"/>
            </a:xfrm>
          </p:grpSpPr>
          <p:sp>
            <p:nvSpPr>
              <p:cNvPr id="131" name="Google Shape;131;p20"/>
              <p:cNvSpPr txBox="1"/>
              <p:nvPr/>
            </p:nvSpPr>
            <p:spPr>
              <a:xfrm>
                <a:off x="1565450" y="7371483"/>
                <a:ext cx="1278754" cy="156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14">
                    <a:solidFill>
                      <a:srgbClr val="A5A5A5"/>
                    </a:solidFill>
                    <a:latin typeface="Arial"/>
                    <a:ea typeface="Arial"/>
                    <a:cs typeface="Arial"/>
                    <a:sym typeface="Arial"/>
                  </a:rPr>
                  <a:t>생성형 AI 및 응용서비스 구축</a:t>
                </a:r>
                <a:endParaRPr/>
              </a:p>
            </p:txBody>
          </p:sp>
          <p:cxnSp>
            <p:nvCxnSpPr>
              <p:cNvPr id="132" name="Google Shape;132;p20"/>
              <p:cNvCxnSpPr/>
              <p:nvPr/>
            </p:nvCxnSpPr>
            <p:spPr>
              <a:xfrm>
                <a:off x="1514435" y="7404659"/>
                <a:ext cx="0" cy="10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pic>
          <p:nvPicPr>
            <p:cNvPr descr="강원랜드 로고. 다음 내용 참조" id="133" name="Google Shape;133;p20"/>
            <p:cNvPicPr preferRelativeResize="0"/>
            <p:nvPr/>
          </p:nvPicPr>
          <p:blipFill rotWithShape="1">
            <a:blip r:embed="rId2">
              <a:alphaModFix/>
            </a:blip>
            <a:srcRect b="48853" l="43877" r="4530" t="42605"/>
            <a:stretch/>
          </p:blipFill>
          <p:spPr>
            <a:xfrm>
              <a:off x="360129" y="7386085"/>
              <a:ext cx="917561" cy="13340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폰트, 텍스트, 스크린샷, 그래픽이(가) 표시된 사진&#10;&#10;자동 생성된 설명" id="134" name="Google Shape;1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04860" y="7338883"/>
            <a:ext cx="903329" cy="209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(사용안함)_전략2">
  <p:cSld name="(사용안함)_전략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>
            <a:off x="-1" y="3"/>
            <a:ext cx="13823951" cy="7775575"/>
          </a:xfrm>
          <a:prstGeom prst="rect">
            <a:avLst/>
          </a:prstGeom>
          <a:solidFill>
            <a:srgbClr val="F2F2F2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4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21"/>
          <p:cNvGrpSpPr/>
          <p:nvPr/>
        </p:nvGrpSpPr>
        <p:grpSpPr>
          <a:xfrm>
            <a:off x="-1" y="0"/>
            <a:ext cx="4492303" cy="1295400"/>
            <a:chOff x="-1" y="0"/>
            <a:chExt cx="3544628" cy="1295400"/>
          </a:xfrm>
        </p:grpSpPr>
        <p:grpSp>
          <p:nvGrpSpPr>
            <p:cNvPr id="138" name="Google Shape;138;p21"/>
            <p:cNvGrpSpPr/>
            <p:nvPr/>
          </p:nvGrpSpPr>
          <p:grpSpPr>
            <a:xfrm>
              <a:off x="1911299" y="385016"/>
              <a:ext cx="1633328" cy="184924"/>
              <a:chOff x="1981629" y="385016"/>
              <a:chExt cx="1633328" cy="184924"/>
            </a:xfrm>
          </p:grpSpPr>
          <p:sp>
            <p:nvSpPr>
              <p:cNvPr id="139" name="Google Shape;139;p21"/>
              <p:cNvSpPr txBox="1"/>
              <p:nvPr/>
            </p:nvSpPr>
            <p:spPr>
              <a:xfrm>
                <a:off x="2210984" y="385016"/>
                <a:ext cx="1403973" cy="1755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141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추진 전략 및 구축ㆍ수행방안</a:t>
                </a:r>
                <a:endParaRPr/>
              </a:p>
            </p:txBody>
          </p:sp>
          <p:grpSp>
            <p:nvGrpSpPr>
              <p:cNvPr id="140" name="Google Shape;140;p21"/>
              <p:cNvGrpSpPr/>
              <p:nvPr/>
            </p:nvGrpSpPr>
            <p:grpSpPr>
              <a:xfrm>
                <a:off x="1981629" y="393666"/>
                <a:ext cx="176276" cy="176274"/>
                <a:chOff x="1981629" y="393666"/>
                <a:chExt cx="176276" cy="176274"/>
              </a:xfrm>
            </p:grpSpPr>
            <p:sp>
              <p:nvSpPr>
                <p:cNvPr id="141" name="Google Shape;141;p21"/>
                <p:cNvSpPr/>
                <p:nvPr/>
              </p:nvSpPr>
              <p:spPr>
                <a:xfrm>
                  <a:off x="1981629" y="393666"/>
                  <a:ext cx="176276" cy="176274"/>
                </a:xfrm>
                <a:prstGeom prst="ellipse">
                  <a:avLst/>
                </a:prstGeom>
                <a:solidFill>
                  <a:srgbClr val="0488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81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" name="Google Shape;142;p21"/>
                <p:cNvSpPr txBox="1"/>
                <p:nvPr/>
              </p:nvSpPr>
              <p:spPr>
                <a:xfrm>
                  <a:off x="2012219" y="393704"/>
                  <a:ext cx="115101" cy="1755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141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Ⅱ</a:t>
                  </a:r>
                  <a:endParaRPr sz="1141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43" name="Google Shape;143;p21"/>
            <p:cNvGrpSpPr/>
            <p:nvPr/>
          </p:nvGrpSpPr>
          <p:grpSpPr>
            <a:xfrm>
              <a:off x="506413" y="244301"/>
              <a:ext cx="1038121" cy="780214"/>
              <a:chOff x="519113" y="309389"/>
              <a:chExt cx="1038121" cy="780214"/>
            </a:xfrm>
          </p:grpSpPr>
          <p:sp>
            <p:nvSpPr>
              <p:cNvPr id="144" name="Google Shape;144;p21"/>
              <p:cNvSpPr txBox="1"/>
              <p:nvPr/>
            </p:nvSpPr>
            <p:spPr>
              <a:xfrm>
                <a:off x="846393" y="309389"/>
                <a:ext cx="710841" cy="7802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70">
                    <a:solidFill>
                      <a:srgbClr val="D8D8D8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ko-KR" sz="5070">
                    <a:solidFill>
                      <a:srgbClr val="203864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5070">
                  <a:solidFill>
                    <a:srgbClr val="20386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5" name="Google Shape;145;p21"/>
              <p:cNvGrpSpPr/>
              <p:nvPr/>
            </p:nvGrpSpPr>
            <p:grpSpPr>
              <a:xfrm>
                <a:off x="519113" y="566739"/>
                <a:ext cx="469106" cy="376960"/>
                <a:chOff x="519113" y="566739"/>
                <a:chExt cx="469106" cy="376960"/>
              </a:xfrm>
            </p:grpSpPr>
            <p:sp>
              <p:nvSpPr>
                <p:cNvPr id="146" name="Google Shape;146;p21"/>
                <p:cNvSpPr/>
                <p:nvPr/>
              </p:nvSpPr>
              <p:spPr>
                <a:xfrm>
                  <a:off x="821531" y="566739"/>
                  <a:ext cx="166688" cy="18812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81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" name="Google Shape;147;p21"/>
                <p:cNvSpPr txBox="1"/>
                <p:nvPr/>
              </p:nvSpPr>
              <p:spPr>
                <a:xfrm>
                  <a:off x="532009" y="748709"/>
                  <a:ext cx="242850" cy="1949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267">
                      <a:solidFill>
                        <a:srgbClr val="20386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전략</a:t>
                  </a:r>
                  <a:endParaRPr sz="1267">
                    <a:solidFill>
                      <a:srgbClr val="203864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48" name="Google Shape;148;p21"/>
                <p:cNvCxnSpPr/>
                <p:nvPr/>
              </p:nvCxnSpPr>
              <p:spPr>
                <a:xfrm>
                  <a:off x="519113" y="709614"/>
                  <a:ext cx="41195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03864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sp>
              <p:nvSpPr>
                <p:cNvPr id="149" name="Google Shape;149;p21"/>
                <p:cNvSpPr txBox="1"/>
                <p:nvPr/>
              </p:nvSpPr>
              <p:spPr>
                <a:xfrm>
                  <a:off x="532009" y="574879"/>
                  <a:ext cx="390836" cy="1365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887">
                      <a:solidFill>
                        <a:srgbClr val="20386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</a:t>
                  </a:r>
                  <a:r>
                    <a:rPr lang="ko-KR" sz="887">
                      <a:solidFill>
                        <a:srgbClr val="A5A5A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trategy</a:t>
                  </a:r>
                  <a:endParaRPr/>
                </a:p>
              </p:txBody>
            </p:sp>
          </p:grpSp>
        </p:grpSp>
        <p:sp>
          <p:nvSpPr>
            <p:cNvPr id="150" name="Google Shape;150;p21"/>
            <p:cNvSpPr/>
            <p:nvPr/>
          </p:nvSpPr>
          <p:spPr>
            <a:xfrm flipH="1" rot="5400000">
              <a:off x="670321" y="298846"/>
              <a:ext cx="326231" cy="1666875"/>
            </a:xfrm>
            <a:prstGeom prst="rect">
              <a:avLst/>
            </a:prstGeom>
            <a:solidFill>
              <a:srgbClr val="203864"/>
            </a:solidFill>
            <a:ln cap="flat" cmpd="sng" w="9525">
              <a:solidFill>
                <a:srgbClr val="20386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7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" name="Google Shape;151;p21"/>
            <p:cNvCxnSpPr/>
            <p:nvPr/>
          </p:nvCxnSpPr>
          <p:spPr>
            <a:xfrm>
              <a:off x="1666874" y="0"/>
              <a:ext cx="0" cy="1295400"/>
            </a:xfrm>
            <a:prstGeom prst="straightConnector1">
              <a:avLst/>
            </a:prstGeom>
            <a:noFill/>
            <a:ln cap="flat" cmpd="sng" w="9525">
              <a:solidFill>
                <a:srgbClr val="203864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152" name="Google Shape;152;p21"/>
            <p:cNvGrpSpPr/>
            <p:nvPr/>
          </p:nvGrpSpPr>
          <p:grpSpPr>
            <a:xfrm>
              <a:off x="1591848" y="1050131"/>
              <a:ext cx="164306" cy="164304"/>
              <a:chOff x="4791013" y="2146704"/>
              <a:chExt cx="169923" cy="169923"/>
            </a:xfrm>
          </p:grpSpPr>
          <p:sp>
            <p:nvSpPr>
              <p:cNvPr id="153" name="Google Shape;153;p21"/>
              <p:cNvSpPr/>
              <p:nvPr/>
            </p:nvSpPr>
            <p:spPr>
              <a:xfrm>
                <a:off x="4791013" y="2146704"/>
                <a:ext cx="169923" cy="169923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8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1"/>
              <p:cNvSpPr/>
              <p:nvPr/>
            </p:nvSpPr>
            <p:spPr>
              <a:xfrm rot="-2700000">
                <a:off x="4839584" y="2195275"/>
                <a:ext cx="72780" cy="72780"/>
              </a:xfrm>
              <a:custGeom>
                <a:rect b="b" l="l" r="r" t="t"/>
                <a:pathLst>
                  <a:path extrusionOk="0" h="264" w="263">
                    <a:moveTo>
                      <a:pt x="51" y="264"/>
                    </a:moveTo>
                    <a:lnTo>
                      <a:pt x="222" y="264"/>
                    </a:lnTo>
                    <a:lnTo>
                      <a:pt x="222" y="264"/>
                    </a:lnTo>
                    <a:lnTo>
                      <a:pt x="231" y="263"/>
                    </a:lnTo>
                    <a:lnTo>
                      <a:pt x="238" y="261"/>
                    </a:lnTo>
                    <a:lnTo>
                      <a:pt x="245" y="257"/>
                    </a:lnTo>
                    <a:lnTo>
                      <a:pt x="252" y="251"/>
                    </a:lnTo>
                    <a:lnTo>
                      <a:pt x="256" y="246"/>
                    </a:lnTo>
                    <a:lnTo>
                      <a:pt x="260" y="239"/>
                    </a:lnTo>
                    <a:lnTo>
                      <a:pt x="262" y="232"/>
                    </a:lnTo>
                    <a:lnTo>
                      <a:pt x="263" y="223"/>
                    </a:lnTo>
                    <a:lnTo>
                      <a:pt x="263" y="52"/>
                    </a:lnTo>
                    <a:lnTo>
                      <a:pt x="263" y="52"/>
                    </a:lnTo>
                    <a:lnTo>
                      <a:pt x="262" y="43"/>
                    </a:lnTo>
                    <a:lnTo>
                      <a:pt x="260" y="36"/>
                    </a:lnTo>
                    <a:lnTo>
                      <a:pt x="256" y="29"/>
                    </a:lnTo>
                    <a:lnTo>
                      <a:pt x="252" y="24"/>
                    </a:lnTo>
                    <a:lnTo>
                      <a:pt x="245" y="18"/>
                    </a:lnTo>
                    <a:lnTo>
                      <a:pt x="238" y="15"/>
                    </a:lnTo>
                    <a:lnTo>
                      <a:pt x="231" y="13"/>
                    </a:lnTo>
                    <a:lnTo>
                      <a:pt x="222" y="11"/>
                    </a:lnTo>
                    <a:lnTo>
                      <a:pt x="222" y="11"/>
                    </a:lnTo>
                    <a:lnTo>
                      <a:pt x="214" y="13"/>
                    </a:lnTo>
                    <a:lnTo>
                      <a:pt x="207" y="15"/>
                    </a:lnTo>
                    <a:lnTo>
                      <a:pt x="200" y="18"/>
                    </a:lnTo>
                    <a:lnTo>
                      <a:pt x="194" y="24"/>
                    </a:lnTo>
                    <a:lnTo>
                      <a:pt x="194" y="24"/>
                    </a:lnTo>
                    <a:lnTo>
                      <a:pt x="189" y="29"/>
                    </a:lnTo>
                    <a:lnTo>
                      <a:pt x="186" y="36"/>
                    </a:lnTo>
                    <a:lnTo>
                      <a:pt x="183" y="43"/>
                    </a:lnTo>
                    <a:lnTo>
                      <a:pt x="183" y="52"/>
                    </a:lnTo>
                    <a:lnTo>
                      <a:pt x="183" y="52"/>
                    </a:lnTo>
                    <a:lnTo>
                      <a:pt x="183" y="126"/>
                    </a:lnTo>
                    <a:lnTo>
                      <a:pt x="69" y="13"/>
                    </a:lnTo>
                    <a:lnTo>
                      <a:pt x="69" y="13"/>
                    </a:lnTo>
                    <a:lnTo>
                      <a:pt x="62" y="7"/>
                    </a:lnTo>
                    <a:lnTo>
                      <a:pt x="55" y="3"/>
                    </a:lnTo>
                    <a:lnTo>
                      <a:pt x="48" y="1"/>
                    </a:lnTo>
                    <a:lnTo>
                      <a:pt x="40" y="0"/>
                    </a:lnTo>
                    <a:lnTo>
                      <a:pt x="33" y="1"/>
                    </a:lnTo>
                    <a:lnTo>
                      <a:pt x="26" y="3"/>
                    </a:lnTo>
                    <a:lnTo>
                      <a:pt x="19" y="7"/>
                    </a:lnTo>
                    <a:lnTo>
                      <a:pt x="12" y="13"/>
                    </a:lnTo>
                    <a:lnTo>
                      <a:pt x="12" y="13"/>
                    </a:lnTo>
                    <a:lnTo>
                      <a:pt x="6" y="18"/>
                    </a:lnTo>
                    <a:lnTo>
                      <a:pt x="3" y="25"/>
                    </a:lnTo>
                    <a:lnTo>
                      <a:pt x="0" y="34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3" y="56"/>
                    </a:lnTo>
                    <a:lnTo>
                      <a:pt x="6" y="63"/>
                    </a:lnTo>
                    <a:lnTo>
                      <a:pt x="12" y="69"/>
                    </a:lnTo>
                    <a:lnTo>
                      <a:pt x="126" y="183"/>
                    </a:lnTo>
                    <a:lnTo>
                      <a:pt x="51" y="183"/>
                    </a:lnTo>
                    <a:lnTo>
                      <a:pt x="51" y="183"/>
                    </a:lnTo>
                    <a:lnTo>
                      <a:pt x="44" y="184"/>
                    </a:lnTo>
                    <a:lnTo>
                      <a:pt x="36" y="185"/>
                    </a:lnTo>
                    <a:lnTo>
                      <a:pt x="29" y="190"/>
                    </a:lnTo>
                    <a:lnTo>
                      <a:pt x="23" y="195"/>
                    </a:lnTo>
                    <a:lnTo>
                      <a:pt x="19" y="201"/>
                    </a:lnTo>
                    <a:lnTo>
                      <a:pt x="15" y="208"/>
                    </a:lnTo>
                    <a:lnTo>
                      <a:pt x="12" y="215"/>
                    </a:lnTo>
                    <a:lnTo>
                      <a:pt x="12" y="223"/>
                    </a:lnTo>
                    <a:lnTo>
                      <a:pt x="12" y="223"/>
                    </a:lnTo>
                    <a:lnTo>
                      <a:pt x="12" y="232"/>
                    </a:lnTo>
                    <a:lnTo>
                      <a:pt x="15" y="239"/>
                    </a:lnTo>
                    <a:lnTo>
                      <a:pt x="19" y="246"/>
                    </a:lnTo>
                    <a:lnTo>
                      <a:pt x="23" y="251"/>
                    </a:lnTo>
                    <a:lnTo>
                      <a:pt x="29" y="257"/>
                    </a:lnTo>
                    <a:lnTo>
                      <a:pt x="36" y="261"/>
                    </a:lnTo>
                    <a:lnTo>
                      <a:pt x="44" y="263"/>
                    </a:lnTo>
                    <a:lnTo>
                      <a:pt x="51" y="264"/>
                    </a:lnTo>
                    <a:lnTo>
                      <a:pt x="51" y="264"/>
                    </a:lnTo>
                    <a:close/>
                  </a:path>
                </a:pathLst>
              </a:custGeom>
              <a:solidFill>
                <a:srgbClr val="20386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78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5" name="Google Shape;155;p21"/>
          <p:cNvGrpSpPr/>
          <p:nvPr/>
        </p:nvGrpSpPr>
        <p:grpSpPr>
          <a:xfrm>
            <a:off x="676672" y="410679"/>
            <a:ext cx="353696" cy="45719"/>
            <a:chOff x="533924" y="410676"/>
            <a:chExt cx="279082" cy="45719"/>
          </a:xfrm>
        </p:grpSpPr>
        <p:sp>
          <p:nvSpPr>
            <p:cNvPr id="156" name="Google Shape;156;p21"/>
            <p:cNvSpPr/>
            <p:nvPr/>
          </p:nvSpPr>
          <p:spPr>
            <a:xfrm>
              <a:off x="533924" y="410676"/>
              <a:ext cx="45719" cy="4571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611712" y="410676"/>
              <a:ext cx="45719" cy="45719"/>
            </a:xfrm>
            <a:prstGeom prst="ellipse">
              <a:avLst/>
            </a:prstGeom>
            <a:solidFill>
              <a:srgbClr val="CC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1"/>
            <p:cNvSpPr/>
            <p:nvPr/>
          </p:nvSpPr>
          <p:spPr>
            <a:xfrm>
              <a:off x="689500" y="410676"/>
              <a:ext cx="45719" cy="4571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767287" y="410676"/>
              <a:ext cx="45719" cy="4571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21"/>
          <p:cNvSpPr/>
          <p:nvPr/>
        </p:nvSpPr>
        <p:spPr>
          <a:xfrm>
            <a:off x="6551804" y="7351134"/>
            <a:ext cx="720346" cy="185328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57925" lIns="115875" spcFirstLastPara="1" rIns="115875" wrap="square" tIns="57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1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1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21"/>
          <p:cNvGrpSpPr/>
          <p:nvPr/>
        </p:nvGrpSpPr>
        <p:grpSpPr>
          <a:xfrm>
            <a:off x="456413" y="7349286"/>
            <a:ext cx="2938966" cy="161214"/>
            <a:chOff x="360129" y="7358275"/>
            <a:chExt cx="2318975" cy="161214"/>
          </a:xfrm>
        </p:grpSpPr>
        <p:grpSp>
          <p:nvGrpSpPr>
            <p:cNvPr id="162" name="Google Shape;162;p21"/>
            <p:cNvGrpSpPr/>
            <p:nvPr/>
          </p:nvGrpSpPr>
          <p:grpSpPr>
            <a:xfrm>
              <a:off x="1349335" y="7358275"/>
              <a:ext cx="1329769" cy="156068"/>
              <a:chOff x="1514435" y="7371483"/>
              <a:chExt cx="1329769" cy="156068"/>
            </a:xfrm>
          </p:grpSpPr>
          <p:sp>
            <p:nvSpPr>
              <p:cNvPr id="163" name="Google Shape;163;p21"/>
              <p:cNvSpPr txBox="1"/>
              <p:nvPr/>
            </p:nvSpPr>
            <p:spPr>
              <a:xfrm>
                <a:off x="1565450" y="7371483"/>
                <a:ext cx="1278754" cy="156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14">
                    <a:solidFill>
                      <a:srgbClr val="A5A5A5"/>
                    </a:solidFill>
                    <a:latin typeface="Arial"/>
                    <a:ea typeface="Arial"/>
                    <a:cs typeface="Arial"/>
                    <a:sym typeface="Arial"/>
                  </a:rPr>
                  <a:t>생성형 AI 및 응용서비스 구축</a:t>
                </a:r>
                <a:endParaRPr/>
              </a:p>
            </p:txBody>
          </p:sp>
          <p:cxnSp>
            <p:nvCxnSpPr>
              <p:cNvPr id="164" name="Google Shape;164;p21"/>
              <p:cNvCxnSpPr/>
              <p:nvPr/>
            </p:nvCxnSpPr>
            <p:spPr>
              <a:xfrm>
                <a:off x="1514435" y="7404659"/>
                <a:ext cx="0" cy="10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pic>
          <p:nvPicPr>
            <p:cNvPr descr="강원랜드 로고. 다음 내용 참조" id="165" name="Google Shape;165;p21"/>
            <p:cNvPicPr preferRelativeResize="0"/>
            <p:nvPr/>
          </p:nvPicPr>
          <p:blipFill rotWithShape="1">
            <a:blip r:embed="rId2">
              <a:alphaModFix/>
            </a:blip>
            <a:srcRect b="48853" l="43877" r="4530" t="42605"/>
            <a:stretch/>
          </p:blipFill>
          <p:spPr>
            <a:xfrm>
              <a:off x="360129" y="7386085"/>
              <a:ext cx="917561" cy="13340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폰트, 텍스트, 스크린샷, 그래픽이(가) 표시된 사진&#10;&#10;자동 생성된 설명" id="166" name="Google Shape;1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04860" y="7338883"/>
            <a:ext cx="903329" cy="209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(사용안함)_전략3">
  <p:cSld name="(사용안함)_전략3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/>
          <p:nvPr/>
        </p:nvSpPr>
        <p:spPr>
          <a:xfrm>
            <a:off x="-1" y="3"/>
            <a:ext cx="13823951" cy="7775575"/>
          </a:xfrm>
          <a:prstGeom prst="rect">
            <a:avLst/>
          </a:prstGeom>
          <a:solidFill>
            <a:srgbClr val="F2F2F2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4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22"/>
          <p:cNvGrpSpPr/>
          <p:nvPr/>
        </p:nvGrpSpPr>
        <p:grpSpPr>
          <a:xfrm>
            <a:off x="-1" y="0"/>
            <a:ext cx="4492303" cy="1295400"/>
            <a:chOff x="-1" y="0"/>
            <a:chExt cx="3544628" cy="1295400"/>
          </a:xfrm>
        </p:grpSpPr>
        <p:grpSp>
          <p:nvGrpSpPr>
            <p:cNvPr id="170" name="Google Shape;170;p22"/>
            <p:cNvGrpSpPr/>
            <p:nvPr/>
          </p:nvGrpSpPr>
          <p:grpSpPr>
            <a:xfrm>
              <a:off x="1911299" y="385016"/>
              <a:ext cx="1633328" cy="184924"/>
              <a:chOff x="1981629" y="385016"/>
              <a:chExt cx="1633328" cy="184924"/>
            </a:xfrm>
          </p:grpSpPr>
          <p:sp>
            <p:nvSpPr>
              <p:cNvPr id="171" name="Google Shape;171;p22"/>
              <p:cNvSpPr txBox="1"/>
              <p:nvPr/>
            </p:nvSpPr>
            <p:spPr>
              <a:xfrm>
                <a:off x="2210984" y="385016"/>
                <a:ext cx="1403973" cy="1755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141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추진 전략 및 구축ㆍ수행방안</a:t>
                </a:r>
                <a:endParaRPr/>
              </a:p>
            </p:txBody>
          </p:sp>
          <p:grpSp>
            <p:nvGrpSpPr>
              <p:cNvPr id="172" name="Google Shape;172;p22"/>
              <p:cNvGrpSpPr/>
              <p:nvPr/>
            </p:nvGrpSpPr>
            <p:grpSpPr>
              <a:xfrm>
                <a:off x="1981629" y="393666"/>
                <a:ext cx="176276" cy="176274"/>
                <a:chOff x="1981629" y="393666"/>
                <a:chExt cx="176276" cy="176274"/>
              </a:xfrm>
            </p:grpSpPr>
            <p:sp>
              <p:nvSpPr>
                <p:cNvPr id="173" name="Google Shape;173;p22"/>
                <p:cNvSpPr/>
                <p:nvPr/>
              </p:nvSpPr>
              <p:spPr>
                <a:xfrm>
                  <a:off x="1981629" y="393666"/>
                  <a:ext cx="176276" cy="176274"/>
                </a:xfrm>
                <a:prstGeom prst="ellipse">
                  <a:avLst/>
                </a:prstGeom>
                <a:solidFill>
                  <a:srgbClr val="0488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81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22"/>
                <p:cNvSpPr txBox="1"/>
                <p:nvPr/>
              </p:nvSpPr>
              <p:spPr>
                <a:xfrm>
                  <a:off x="2012219" y="393704"/>
                  <a:ext cx="115101" cy="1755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141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Ⅱ</a:t>
                  </a:r>
                  <a:endParaRPr sz="1141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5" name="Google Shape;175;p22"/>
            <p:cNvGrpSpPr/>
            <p:nvPr/>
          </p:nvGrpSpPr>
          <p:grpSpPr>
            <a:xfrm>
              <a:off x="506413" y="244301"/>
              <a:ext cx="1045710" cy="780214"/>
              <a:chOff x="519113" y="309389"/>
              <a:chExt cx="1045710" cy="780214"/>
            </a:xfrm>
          </p:grpSpPr>
          <p:sp>
            <p:nvSpPr>
              <p:cNvPr id="176" name="Google Shape;176;p22"/>
              <p:cNvSpPr txBox="1"/>
              <p:nvPr/>
            </p:nvSpPr>
            <p:spPr>
              <a:xfrm>
                <a:off x="846393" y="309389"/>
                <a:ext cx="718430" cy="7802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70">
                    <a:solidFill>
                      <a:srgbClr val="D8D8D8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ko-KR" sz="5070">
                    <a:solidFill>
                      <a:srgbClr val="203864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5070">
                  <a:solidFill>
                    <a:srgbClr val="20386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7" name="Google Shape;177;p22"/>
              <p:cNvGrpSpPr/>
              <p:nvPr/>
            </p:nvGrpSpPr>
            <p:grpSpPr>
              <a:xfrm>
                <a:off x="519113" y="566739"/>
                <a:ext cx="469106" cy="376960"/>
                <a:chOff x="519113" y="566739"/>
                <a:chExt cx="469106" cy="376960"/>
              </a:xfrm>
            </p:grpSpPr>
            <p:sp>
              <p:nvSpPr>
                <p:cNvPr id="178" name="Google Shape;178;p22"/>
                <p:cNvSpPr/>
                <p:nvPr/>
              </p:nvSpPr>
              <p:spPr>
                <a:xfrm>
                  <a:off x="821531" y="566739"/>
                  <a:ext cx="166688" cy="18812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81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" name="Google Shape;179;p22"/>
                <p:cNvSpPr txBox="1"/>
                <p:nvPr/>
              </p:nvSpPr>
              <p:spPr>
                <a:xfrm>
                  <a:off x="532009" y="748709"/>
                  <a:ext cx="242850" cy="1949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267">
                      <a:solidFill>
                        <a:srgbClr val="20386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전략</a:t>
                  </a:r>
                  <a:endParaRPr sz="1267">
                    <a:solidFill>
                      <a:srgbClr val="203864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80" name="Google Shape;180;p22"/>
                <p:cNvCxnSpPr/>
                <p:nvPr/>
              </p:nvCxnSpPr>
              <p:spPr>
                <a:xfrm>
                  <a:off x="519113" y="709614"/>
                  <a:ext cx="41195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03864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sp>
              <p:nvSpPr>
                <p:cNvPr id="181" name="Google Shape;181;p22"/>
                <p:cNvSpPr txBox="1"/>
                <p:nvPr/>
              </p:nvSpPr>
              <p:spPr>
                <a:xfrm>
                  <a:off x="532009" y="574879"/>
                  <a:ext cx="390836" cy="1365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887">
                      <a:solidFill>
                        <a:srgbClr val="20386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</a:t>
                  </a:r>
                  <a:r>
                    <a:rPr lang="ko-KR" sz="887">
                      <a:solidFill>
                        <a:srgbClr val="A5A5A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trategy</a:t>
                  </a:r>
                  <a:endParaRPr/>
                </a:p>
              </p:txBody>
            </p:sp>
          </p:grpSp>
        </p:grpSp>
        <p:sp>
          <p:nvSpPr>
            <p:cNvPr id="182" name="Google Shape;182;p22"/>
            <p:cNvSpPr/>
            <p:nvPr/>
          </p:nvSpPr>
          <p:spPr>
            <a:xfrm flipH="1" rot="5400000">
              <a:off x="670321" y="298846"/>
              <a:ext cx="326231" cy="1666875"/>
            </a:xfrm>
            <a:prstGeom prst="rect">
              <a:avLst/>
            </a:prstGeom>
            <a:solidFill>
              <a:srgbClr val="80350E"/>
            </a:solidFill>
            <a:ln cap="flat" cmpd="sng" w="9525">
              <a:solidFill>
                <a:srgbClr val="20386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7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3" name="Google Shape;183;p22"/>
            <p:cNvCxnSpPr/>
            <p:nvPr/>
          </p:nvCxnSpPr>
          <p:spPr>
            <a:xfrm>
              <a:off x="1666874" y="0"/>
              <a:ext cx="0" cy="1295400"/>
            </a:xfrm>
            <a:prstGeom prst="straightConnector1">
              <a:avLst/>
            </a:prstGeom>
            <a:noFill/>
            <a:ln cap="flat" cmpd="sng" w="9525">
              <a:solidFill>
                <a:srgbClr val="203864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184" name="Google Shape;184;p22"/>
            <p:cNvGrpSpPr/>
            <p:nvPr/>
          </p:nvGrpSpPr>
          <p:grpSpPr>
            <a:xfrm>
              <a:off x="1591848" y="1050131"/>
              <a:ext cx="164306" cy="164304"/>
              <a:chOff x="4791013" y="2146704"/>
              <a:chExt cx="169923" cy="169923"/>
            </a:xfrm>
          </p:grpSpPr>
          <p:sp>
            <p:nvSpPr>
              <p:cNvPr id="185" name="Google Shape;185;p22"/>
              <p:cNvSpPr/>
              <p:nvPr/>
            </p:nvSpPr>
            <p:spPr>
              <a:xfrm>
                <a:off x="4791013" y="2146704"/>
                <a:ext cx="169923" cy="169923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8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2"/>
              <p:cNvSpPr/>
              <p:nvPr/>
            </p:nvSpPr>
            <p:spPr>
              <a:xfrm rot="-2700000">
                <a:off x="4839584" y="2195275"/>
                <a:ext cx="72780" cy="72780"/>
              </a:xfrm>
              <a:custGeom>
                <a:rect b="b" l="l" r="r" t="t"/>
                <a:pathLst>
                  <a:path extrusionOk="0" h="264" w="263">
                    <a:moveTo>
                      <a:pt x="51" y="264"/>
                    </a:moveTo>
                    <a:lnTo>
                      <a:pt x="222" y="264"/>
                    </a:lnTo>
                    <a:lnTo>
                      <a:pt x="222" y="264"/>
                    </a:lnTo>
                    <a:lnTo>
                      <a:pt x="231" y="263"/>
                    </a:lnTo>
                    <a:lnTo>
                      <a:pt x="238" y="261"/>
                    </a:lnTo>
                    <a:lnTo>
                      <a:pt x="245" y="257"/>
                    </a:lnTo>
                    <a:lnTo>
                      <a:pt x="252" y="251"/>
                    </a:lnTo>
                    <a:lnTo>
                      <a:pt x="256" y="246"/>
                    </a:lnTo>
                    <a:lnTo>
                      <a:pt x="260" y="239"/>
                    </a:lnTo>
                    <a:lnTo>
                      <a:pt x="262" y="232"/>
                    </a:lnTo>
                    <a:lnTo>
                      <a:pt x="263" y="223"/>
                    </a:lnTo>
                    <a:lnTo>
                      <a:pt x="263" y="52"/>
                    </a:lnTo>
                    <a:lnTo>
                      <a:pt x="263" y="52"/>
                    </a:lnTo>
                    <a:lnTo>
                      <a:pt x="262" y="43"/>
                    </a:lnTo>
                    <a:lnTo>
                      <a:pt x="260" y="36"/>
                    </a:lnTo>
                    <a:lnTo>
                      <a:pt x="256" y="29"/>
                    </a:lnTo>
                    <a:lnTo>
                      <a:pt x="252" y="24"/>
                    </a:lnTo>
                    <a:lnTo>
                      <a:pt x="245" y="18"/>
                    </a:lnTo>
                    <a:lnTo>
                      <a:pt x="238" y="15"/>
                    </a:lnTo>
                    <a:lnTo>
                      <a:pt x="231" y="13"/>
                    </a:lnTo>
                    <a:lnTo>
                      <a:pt x="222" y="11"/>
                    </a:lnTo>
                    <a:lnTo>
                      <a:pt x="222" y="11"/>
                    </a:lnTo>
                    <a:lnTo>
                      <a:pt x="214" y="13"/>
                    </a:lnTo>
                    <a:lnTo>
                      <a:pt x="207" y="15"/>
                    </a:lnTo>
                    <a:lnTo>
                      <a:pt x="200" y="18"/>
                    </a:lnTo>
                    <a:lnTo>
                      <a:pt x="194" y="24"/>
                    </a:lnTo>
                    <a:lnTo>
                      <a:pt x="194" y="24"/>
                    </a:lnTo>
                    <a:lnTo>
                      <a:pt x="189" y="29"/>
                    </a:lnTo>
                    <a:lnTo>
                      <a:pt x="186" y="36"/>
                    </a:lnTo>
                    <a:lnTo>
                      <a:pt x="183" y="43"/>
                    </a:lnTo>
                    <a:lnTo>
                      <a:pt x="183" y="52"/>
                    </a:lnTo>
                    <a:lnTo>
                      <a:pt x="183" y="52"/>
                    </a:lnTo>
                    <a:lnTo>
                      <a:pt x="183" y="126"/>
                    </a:lnTo>
                    <a:lnTo>
                      <a:pt x="69" y="13"/>
                    </a:lnTo>
                    <a:lnTo>
                      <a:pt x="69" y="13"/>
                    </a:lnTo>
                    <a:lnTo>
                      <a:pt x="62" y="7"/>
                    </a:lnTo>
                    <a:lnTo>
                      <a:pt x="55" y="3"/>
                    </a:lnTo>
                    <a:lnTo>
                      <a:pt x="48" y="1"/>
                    </a:lnTo>
                    <a:lnTo>
                      <a:pt x="40" y="0"/>
                    </a:lnTo>
                    <a:lnTo>
                      <a:pt x="33" y="1"/>
                    </a:lnTo>
                    <a:lnTo>
                      <a:pt x="26" y="3"/>
                    </a:lnTo>
                    <a:lnTo>
                      <a:pt x="19" y="7"/>
                    </a:lnTo>
                    <a:lnTo>
                      <a:pt x="12" y="13"/>
                    </a:lnTo>
                    <a:lnTo>
                      <a:pt x="12" y="13"/>
                    </a:lnTo>
                    <a:lnTo>
                      <a:pt x="6" y="18"/>
                    </a:lnTo>
                    <a:lnTo>
                      <a:pt x="3" y="25"/>
                    </a:lnTo>
                    <a:lnTo>
                      <a:pt x="0" y="34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3" y="56"/>
                    </a:lnTo>
                    <a:lnTo>
                      <a:pt x="6" y="63"/>
                    </a:lnTo>
                    <a:lnTo>
                      <a:pt x="12" y="69"/>
                    </a:lnTo>
                    <a:lnTo>
                      <a:pt x="126" y="183"/>
                    </a:lnTo>
                    <a:lnTo>
                      <a:pt x="51" y="183"/>
                    </a:lnTo>
                    <a:lnTo>
                      <a:pt x="51" y="183"/>
                    </a:lnTo>
                    <a:lnTo>
                      <a:pt x="44" y="184"/>
                    </a:lnTo>
                    <a:lnTo>
                      <a:pt x="36" y="185"/>
                    </a:lnTo>
                    <a:lnTo>
                      <a:pt x="29" y="190"/>
                    </a:lnTo>
                    <a:lnTo>
                      <a:pt x="23" y="195"/>
                    </a:lnTo>
                    <a:lnTo>
                      <a:pt x="19" y="201"/>
                    </a:lnTo>
                    <a:lnTo>
                      <a:pt x="15" y="208"/>
                    </a:lnTo>
                    <a:lnTo>
                      <a:pt x="12" y="215"/>
                    </a:lnTo>
                    <a:lnTo>
                      <a:pt x="12" y="223"/>
                    </a:lnTo>
                    <a:lnTo>
                      <a:pt x="12" y="223"/>
                    </a:lnTo>
                    <a:lnTo>
                      <a:pt x="12" y="232"/>
                    </a:lnTo>
                    <a:lnTo>
                      <a:pt x="15" y="239"/>
                    </a:lnTo>
                    <a:lnTo>
                      <a:pt x="19" y="246"/>
                    </a:lnTo>
                    <a:lnTo>
                      <a:pt x="23" y="251"/>
                    </a:lnTo>
                    <a:lnTo>
                      <a:pt x="29" y="257"/>
                    </a:lnTo>
                    <a:lnTo>
                      <a:pt x="36" y="261"/>
                    </a:lnTo>
                    <a:lnTo>
                      <a:pt x="44" y="263"/>
                    </a:lnTo>
                    <a:lnTo>
                      <a:pt x="51" y="264"/>
                    </a:lnTo>
                    <a:lnTo>
                      <a:pt x="51" y="264"/>
                    </a:lnTo>
                    <a:close/>
                  </a:path>
                </a:pathLst>
              </a:custGeom>
              <a:solidFill>
                <a:srgbClr val="20386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78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7" name="Google Shape;187;p22"/>
          <p:cNvGrpSpPr/>
          <p:nvPr/>
        </p:nvGrpSpPr>
        <p:grpSpPr>
          <a:xfrm>
            <a:off x="676672" y="410679"/>
            <a:ext cx="353696" cy="45719"/>
            <a:chOff x="533924" y="410676"/>
            <a:chExt cx="279082" cy="45719"/>
          </a:xfrm>
        </p:grpSpPr>
        <p:sp>
          <p:nvSpPr>
            <p:cNvPr id="188" name="Google Shape;188;p22"/>
            <p:cNvSpPr/>
            <p:nvPr/>
          </p:nvSpPr>
          <p:spPr>
            <a:xfrm>
              <a:off x="533924" y="410676"/>
              <a:ext cx="45719" cy="4571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611712" y="410676"/>
              <a:ext cx="45719" cy="4571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689500" y="410676"/>
              <a:ext cx="45719" cy="45719"/>
            </a:xfrm>
            <a:prstGeom prst="ellipse">
              <a:avLst/>
            </a:prstGeom>
            <a:solidFill>
              <a:srgbClr val="CC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2"/>
            <p:cNvSpPr/>
            <p:nvPr/>
          </p:nvSpPr>
          <p:spPr>
            <a:xfrm>
              <a:off x="767287" y="410676"/>
              <a:ext cx="45719" cy="4571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22"/>
          <p:cNvSpPr/>
          <p:nvPr/>
        </p:nvSpPr>
        <p:spPr>
          <a:xfrm>
            <a:off x="6551804" y="7351134"/>
            <a:ext cx="720346" cy="185328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57925" lIns="115875" spcFirstLastPara="1" rIns="115875" wrap="square" tIns="57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1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1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22"/>
          <p:cNvGrpSpPr/>
          <p:nvPr/>
        </p:nvGrpSpPr>
        <p:grpSpPr>
          <a:xfrm>
            <a:off x="456413" y="7349286"/>
            <a:ext cx="2938966" cy="161214"/>
            <a:chOff x="360129" y="7358275"/>
            <a:chExt cx="2318975" cy="161214"/>
          </a:xfrm>
        </p:grpSpPr>
        <p:grpSp>
          <p:nvGrpSpPr>
            <p:cNvPr id="194" name="Google Shape;194;p22"/>
            <p:cNvGrpSpPr/>
            <p:nvPr/>
          </p:nvGrpSpPr>
          <p:grpSpPr>
            <a:xfrm>
              <a:off x="1349335" y="7358275"/>
              <a:ext cx="1329769" cy="156068"/>
              <a:chOff x="1514435" y="7371483"/>
              <a:chExt cx="1329769" cy="156068"/>
            </a:xfrm>
          </p:grpSpPr>
          <p:sp>
            <p:nvSpPr>
              <p:cNvPr id="195" name="Google Shape;195;p22"/>
              <p:cNvSpPr txBox="1"/>
              <p:nvPr/>
            </p:nvSpPr>
            <p:spPr>
              <a:xfrm>
                <a:off x="1565450" y="7371483"/>
                <a:ext cx="1278754" cy="156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14">
                    <a:solidFill>
                      <a:srgbClr val="A5A5A5"/>
                    </a:solidFill>
                    <a:latin typeface="Arial"/>
                    <a:ea typeface="Arial"/>
                    <a:cs typeface="Arial"/>
                    <a:sym typeface="Arial"/>
                  </a:rPr>
                  <a:t>생성형 AI 및 응용서비스 구축</a:t>
                </a:r>
                <a:endParaRPr/>
              </a:p>
            </p:txBody>
          </p:sp>
          <p:cxnSp>
            <p:nvCxnSpPr>
              <p:cNvPr id="196" name="Google Shape;196;p22"/>
              <p:cNvCxnSpPr/>
              <p:nvPr/>
            </p:nvCxnSpPr>
            <p:spPr>
              <a:xfrm>
                <a:off x="1514435" y="7404659"/>
                <a:ext cx="0" cy="10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pic>
          <p:nvPicPr>
            <p:cNvPr descr="강원랜드 로고. 다음 내용 참조" id="197" name="Google Shape;197;p22"/>
            <p:cNvPicPr preferRelativeResize="0"/>
            <p:nvPr/>
          </p:nvPicPr>
          <p:blipFill rotWithShape="1">
            <a:blip r:embed="rId2">
              <a:alphaModFix/>
            </a:blip>
            <a:srcRect b="48853" l="43877" r="4530" t="42605"/>
            <a:stretch/>
          </p:blipFill>
          <p:spPr>
            <a:xfrm>
              <a:off x="360129" y="7386085"/>
              <a:ext cx="917561" cy="13340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폰트, 텍스트, 스크린샷, 그래픽이(가) 표시된 사진&#10;&#10;자동 생성된 설명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04860" y="7338883"/>
            <a:ext cx="903329" cy="209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(사용안함)_전략4">
  <p:cSld name="(사용안함)_전략4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-1" y="3"/>
            <a:ext cx="13823951" cy="7775575"/>
          </a:xfrm>
          <a:prstGeom prst="rect">
            <a:avLst/>
          </a:prstGeom>
          <a:solidFill>
            <a:srgbClr val="F2F2F2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4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" name="Google Shape;201;p23"/>
          <p:cNvGrpSpPr/>
          <p:nvPr/>
        </p:nvGrpSpPr>
        <p:grpSpPr>
          <a:xfrm>
            <a:off x="-1" y="0"/>
            <a:ext cx="4492303" cy="1295400"/>
            <a:chOff x="-1" y="0"/>
            <a:chExt cx="3544628" cy="1295400"/>
          </a:xfrm>
        </p:grpSpPr>
        <p:grpSp>
          <p:nvGrpSpPr>
            <p:cNvPr id="202" name="Google Shape;202;p23"/>
            <p:cNvGrpSpPr/>
            <p:nvPr/>
          </p:nvGrpSpPr>
          <p:grpSpPr>
            <a:xfrm>
              <a:off x="1911299" y="385016"/>
              <a:ext cx="1633328" cy="184924"/>
              <a:chOff x="1981629" y="385016"/>
              <a:chExt cx="1633328" cy="184924"/>
            </a:xfrm>
          </p:grpSpPr>
          <p:sp>
            <p:nvSpPr>
              <p:cNvPr id="203" name="Google Shape;203;p23"/>
              <p:cNvSpPr txBox="1"/>
              <p:nvPr/>
            </p:nvSpPr>
            <p:spPr>
              <a:xfrm>
                <a:off x="2210984" y="385016"/>
                <a:ext cx="1403973" cy="1755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141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추진 전략 및 구축ㆍ수행방안</a:t>
                </a:r>
                <a:endParaRPr/>
              </a:p>
            </p:txBody>
          </p:sp>
          <p:grpSp>
            <p:nvGrpSpPr>
              <p:cNvPr id="204" name="Google Shape;204;p23"/>
              <p:cNvGrpSpPr/>
              <p:nvPr/>
            </p:nvGrpSpPr>
            <p:grpSpPr>
              <a:xfrm>
                <a:off x="1981629" y="393666"/>
                <a:ext cx="176276" cy="176274"/>
                <a:chOff x="1981629" y="393666"/>
                <a:chExt cx="176276" cy="176274"/>
              </a:xfrm>
            </p:grpSpPr>
            <p:sp>
              <p:nvSpPr>
                <p:cNvPr id="205" name="Google Shape;205;p23"/>
                <p:cNvSpPr/>
                <p:nvPr/>
              </p:nvSpPr>
              <p:spPr>
                <a:xfrm>
                  <a:off x="1981629" y="393666"/>
                  <a:ext cx="176276" cy="176274"/>
                </a:xfrm>
                <a:prstGeom prst="ellipse">
                  <a:avLst/>
                </a:prstGeom>
                <a:solidFill>
                  <a:srgbClr val="0488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81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" name="Google Shape;206;p23"/>
                <p:cNvSpPr txBox="1"/>
                <p:nvPr/>
              </p:nvSpPr>
              <p:spPr>
                <a:xfrm>
                  <a:off x="2012217" y="393704"/>
                  <a:ext cx="115101" cy="1755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141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Ⅱ</a:t>
                  </a:r>
                  <a:endParaRPr sz="1141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07" name="Google Shape;207;p23"/>
            <p:cNvGrpSpPr/>
            <p:nvPr/>
          </p:nvGrpSpPr>
          <p:grpSpPr>
            <a:xfrm>
              <a:off x="506413" y="244301"/>
              <a:ext cx="1059623" cy="780214"/>
              <a:chOff x="519113" y="309389"/>
              <a:chExt cx="1059623" cy="780214"/>
            </a:xfrm>
          </p:grpSpPr>
          <p:sp>
            <p:nvSpPr>
              <p:cNvPr id="208" name="Google Shape;208;p23"/>
              <p:cNvSpPr txBox="1"/>
              <p:nvPr/>
            </p:nvSpPr>
            <p:spPr>
              <a:xfrm>
                <a:off x="846393" y="309389"/>
                <a:ext cx="732343" cy="7802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70">
                    <a:solidFill>
                      <a:srgbClr val="D8D8D8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ko-KR" sz="5070">
                    <a:solidFill>
                      <a:srgbClr val="203864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5070">
                  <a:solidFill>
                    <a:srgbClr val="20386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09" name="Google Shape;209;p23"/>
              <p:cNvGrpSpPr/>
              <p:nvPr/>
            </p:nvGrpSpPr>
            <p:grpSpPr>
              <a:xfrm>
                <a:off x="519113" y="566739"/>
                <a:ext cx="469106" cy="376960"/>
                <a:chOff x="519113" y="566739"/>
                <a:chExt cx="469106" cy="376960"/>
              </a:xfrm>
            </p:grpSpPr>
            <p:sp>
              <p:nvSpPr>
                <p:cNvPr id="210" name="Google Shape;210;p23"/>
                <p:cNvSpPr/>
                <p:nvPr/>
              </p:nvSpPr>
              <p:spPr>
                <a:xfrm>
                  <a:off x="821531" y="566739"/>
                  <a:ext cx="166688" cy="18812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81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Google Shape;211;p23"/>
                <p:cNvSpPr txBox="1"/>
                <p:nvPr/>
              </p:nvSpPr>
              <p:spPr>
                <a:xfrm>
                  <a:off x="532009" y="748709"/>
                  <a:ext cx="242850" cy="1949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267">
                      <a:solidFill>
                        <a:srgbClr val="20386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전략</a:t>
                  </a:r>
                  <a:endParaRPr sz="1267">
                    <a:solidFill>
                      <a:srgbClr val="203864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2" name="Google Shape;212;p23"/>
                <p:cNvCxnSpPr/>
                <p:nvPr/>
              </p:nvCxnSpPr>
              <p:spPr>
                <a:xfrm>
                  <a:off x="519113" y="709614"/>
                  <a:ext cx="41195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03864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sp>
              <p:nvSpPr>
                <p:cNvPr id="213" name="Google Shape;213;p23"/>
                <p:cNvSpPr txBox="1"/>
                <p:nvPr/>
              </p:nvSpPr>
              <p:spPr>
                <a:xfrm>
                  <a:off x="532009" y="574879"/>
                  <a:ext cx="390836" cy="1365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887">
                      <a:solidFill>
                        <a:srgbClr val="20386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</a:t>
                  </a:r>
                  <a:r>
                    <a:rPr lang="ko-KR" sz="887">
                      <a:solidFill>
                        <a:srgbClr val="A5A5A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trategy</a:t>
                  </a:r>
                  <a:endParaRPr/>
                </a:p>
              </p:txBody>
            </p:sp>
          </p:grpSp>
        </p:grpSp>
        <p:sp>
          <p:nvSpPr>
            <p:cNvPr id="214" name="Google Shape;214;p23"/>
            <p:cNvSpPr/>
            <p:nvPr/>
          </p:nvSpPr>
          <p:spPr>
            <a:xfrm flipH="1" rot="5400000">
              <a:off x="670321" y="298846"/>
              <a:ext cx="326231" cy="1666875"/>
            </a:xfrm>
            <a:prstGeom prst="rect">
              <a:avLst/>
            </a:prstGeom>
            <a:solidFill>
              <a:srgbClr val="50164A"/>
            </a:solidFill>
            <a:ln cap="flat" cmpd="sng" w="9525">
              <a:solidFill>
                <a:srgbClr val="20386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7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5" name="Google Shape;215;p23"/>
            <p:cNvCxnSpPr/>
            <p:nvPr/>
          </p:nvCxnSpPr>
          <p:spPr>
            <a:xfrm>
              <a:off x="1666874" y="0"/>
              <a:ext cx="0" cy="1295400"/>
            </a:xfrm>
            <a:prstGeom prst="straightConnector1">
              <a:avLst/>
            </a:prstGeom>
            <a:noFill/>
            <a:ln cap="flat" cmpd="sng" w="9525">
              <a:solidFill>
                <a:srgbClr val="203864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216" name="Google Shape;216;p23"/>
            <p:cNvGrpSpPr/>
            <p:nvPr/>
          </p:nvGrpSpPr>
          <p:grpSpPr>
            <a:xfrm>
              <a:off x="1591848" y="1050131"/>
              <a:ext cx="164306" cy="164304"/>
              <a:chOff x="4791013" y="2146704"/>
              <a:chExt cx="169923" cy="169923"/>
            </a:xfrm>
          </p:grpSpPr>
          <p:sp>
            <p:nvSpPr>
              <p:cNvPr id="217" name="Google Shape;217;p23"/>
              <p:cNvSpPr/>
              <p:nvPr/>
            </p:nvSpPr>
            <p:spPr>
              <a:xfrm>
                <a:off x="4791013" y="2146704"/>
                <a:ext cx="169923" cy="169923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8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23"/>
              <p:cNvSpPr/>
              <p:nvPr/>
            </p:nvSpPr>
            <p:spPr>
              <a:xfrm rot="-2700000">
                <a:off x="4839584" y="2195275"/>
                <a:ext cx="72780" cy="72780"/>
              </a:xfrm>
              <a:custGeom>
                <a:rect b="b" l="l" r="r" t="t"/>
                <a:pathLst>
                  <a:path extrusionOk="0" h="264" w="263">
                    <a:moveTo>
                      <a:pt x="51" y="264"/>
                    </a:moveTo>
                    <a:lnTo>
                      <a:pt x="222" y="264"/>
                    </a:lnTo>
                    <a:lnTo>
                      <a:pt x="222" y="264"/>
                    </a:lnTo>
                    <a:lnTo>
                      <a:pt x="231" y="263"/>
                    </a:lnTo>
                    <a:lnTo>
                      <a:pt x="238" y="261"/>
                    </a:lnTo>
                    <a:lnTo>
                      <a:pt x="245" y="257"/>
                    </a:lnTo>
                    <a:lnTo>
                      <a:pt x="252" y="251"/>
                    </a:lnTo>
                    <a:lnTo>
                      <a:pt x="256" y="246"/>
                    </a:lnTo>
                    <a:lnTo>
                      <a:pt x="260" y="239"/>
                    </a:lnTo>
                    <a:lnTo>
                      <a:pt x="262" y="232"/>
                    </a:lnTo>
                    <a:lnTo>
                      <a:pt x="263" y="223"/>
                    </a:lnTo>
                    <a:lnTo>
                      <a:pt x="263" y="52"/>
                    </a:lnTo>
                    <a:lnTo>
                      <a:pt x="263" y="52"/>
                    </a:lnTo>
                    <a:lnTo>
                      <a:pt x="262" y="43"/>
                    </a:lnTo>
                    <a:lnTo>
                      <a:pt x="260" y="36"/>
                    </a:lnTo>
                    <a:lnTo>
                      <a:pt x="256" y="29"/>
                    </a:lnTo>
                    <a:lnTo>
                      <a:pt x="252" y="24"/>
                    </a:lnTo>
                    <a:lnTo>
                      <a:pt x="245" y="18"/>
                    </a:lnTo>
                    <a:lnTo>
                      <a:pt x="238" y="15"/>
                    </a:lnTo>
                    <a:lnTo>
                      <a:pt x="231" y="13"/>
                    </a:lnTo>
                    <a:lnTo>
                      <a:pt x="222" y="11"/>
                    </a:lnTo>
                    <a:lnTo>
                      <a:pt x="222" y="11"/>
                    </a:lnTo>
                    <a:lnTo>
                      <a:pt x="214" y="13"/>
                    </a:lnTo>
                    <a:lnTo>
                      <a:pt x="207" y="15"/>
                    </a:lnTo>
                    <a:lnTo>
                      <a:pt x="200" y="18"/>
                    </a:lnTo>
                    <a:lnTo>
                      <a:pt x="194" y="24"/>
                    </a:lnTo>
                    <a:lnTo>
                      <a:pt x="194" y="24"/>
                    </a:lnTo>
                    <a:lnTo>
                      <a:pt x="189" y="29"/>
                    </a:lnTo>
                    <a:lnTo>
                      <a:pt x="186" y="36"/>
                    </a:lnTo>
                    <a:lnTo>
                      <a:pt x="183" y="43"/>
                    </a:lnTo>
                    <a:lnTo>
                      <a:pt x="183" y="52"/>
                    </a:lnTo>
                    <a:lnTo>
                      <a:pt x="183" y="52"/>
                    </a:lnTo>
                    <a:lnTo>
                      <a:pt x="183" y="126"/>
                    </a:lnTo>
                    <a:lnTo>
                      <a:pt x="69" y="13"/>
                    </a:lnTo>
                    <a:lnTo>
                      <a:pt x="69" y="13"/>
                    </a:lnTo>
                    <a:lnTo>
                      <a:pt x="62" y="7"/>
                    </a:lnTo>
                    <a:lnTo>
                      <a:pt x="55" y="3"/>
                    </a:lnTo>
                    <a:lnTo>
                      <a:pt x="48" y="1"/>
                    </a:lnTo>
                    <a:lnTo>
                      <a:pt x="40" y="0"/>
                    </a:lnTo>
                    <a:lnTo>
                      <a:pt x="33" y="1"/>
                    </a:lnTo>
                    <a:lnTo>
                      <a:pt x="26" y="3"/>
                    </a:lnTo>
                    <a:lnTo>
                      <a:pt x="19" y="7"/>
                    </a:lnTo>
                    <a:lnTo>
                      <a:pt x="12" y="13"/>
                    </a:lnTo>
                    <a:lnTo>
                      <a:pt x="12" y="13"/>
                    </a:lnTo>
                    <a:lnTo>
                      <a:pt x="6" y="18"/>
                    </a:lnTo>
                    <a:lnTo>
                      <a:pt x="3" y="25"/>
                    </a:lnTo>
                    <a:lnTo>
                      <a:pt x="0" y="34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3" y="56"/>
                    </a:lnTo>
                    <a:lnTo>
                      <a:pt x="6" y="63"/>
                    </a:lnTo>
                    <a:lnTo>
                      <a:pt x="12" y="69"/>
                    </a:lnTo>
                    <a:lnTo>
                      <a:pt x="126" y="183"/>
                    </a:lnTo>
                    <a:lnTo>
                      <a:pt x="51" y="183"/>
                    </a:lnTo>
                    <a:lnTo>
                      <a:pt x="51" y="183"/>
                    </a:lnTo>
                    <a:lnTo>
                      <a:pt x="44" y="184"/>
                    </a:lnTo>
                    <a:lnTo>
                      <a:pt x="36" y="185"/>
                    </a:lnTo>
                    <a:lnTo>
                      <a:pt x="29" y="190"/>
                    </a:lnTo>
                    <a:lnTo>
                      <a:pt x="23" y="195"/>
                    </a:lnTo>
                    <a:lnTo>
                      <a:pt x="19" y="201"/>
                    </a:lnTo>
                    <a:lnTo>
                      <a:pt x="15" y="208"/>
                    </a:lnTo>
                    <a:lnTo>
                      <a:pt x="12" y="215"/>
                    </a:lnTo>
                    <a:lnTo>
                      <a:pt x="12" y="223"/>
                    </a:lnTo>
                    <a:lnTo>
                      <a:pt x="12" y="223"/>
                    </a:lnTo>
                    <a:lnTo>
                      <a:pt x="12" y="232"/>
                    </a:lnTo>
                    <a:lnTo>
                      <a:pt x="15" y="239"/>
                    </a:lnTo>
                    <a:lnTo>
                      <a:pt x="19" y="246"/>
                    </a:lnTo>
                    <a:lnTo>
                      <a:pt x="23" y="251"/>
                    </a:lnTo>
                    <a:lnTo>
                      <a:pt x="29" y="257"/>
                    </a:lnTo>
                    <a:lnTo>
                      <a:pt x="36" y="261"/>
                    </a:lnTo>
                    <a:lnTo>
                      <a:pt x="44" y="263"/>
                    </a:lnTo>
                    <a:lnTo>
                      <a:pt x="51" y="264"/>
                    </a:lnTo>
                    <a:lnTo>
                      <a:pt x="51" y="264"/>
                    </a:lnTo>
                    <a:close/>
                  </a:path>
                </a:pathLst>
              </a:custGeom>
              <a:solidFill>
                <a:srgbClr val="20386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78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9" name="Google Shape;219;p23"/>
          <p:cNvGrpSpPr/>
          <p:nvPr/>
        </p:nvGrpSpPr>
        <p:grpSpPr>
          <a:xfrm>
            <a:off x="676672" y="410679"/>
            <a:ext cx="353696" cy="45719"/>
            <a:chOff x="533924" y="410676"/>
            <a:chExt cx="279082" cy="45719"/>
          </a:xfrm>
        </p:grpSpPr>
        <p:sp>
          <p:nvSpPr>
            <p:cNvPr id="220" name="Google Shape;220;p23"/>
            <p:cNvSpPr/>
            <p:nvPr/>
          </p:nvSpPr>
          <p:spPr>
            <a:xfrm>
              <a:off x="533924" y="410676"/>
              <a:ext cx="45719" cy="4571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611712" y="410676"/>
              <a:ext cx="45719" cy="4571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3"/>
            <p:cNvSpPr/>
            <p:nvPr/>
          </p:nvSpPr>
          <p:spPr>
            <a:xfrm>
              <a:off x="689500" y="410676"/>
              <a:ext cx="45719" cy="4571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3"/>
            <p:cNvSpPr/>
            <p:nvPr/>
          </p:nvSpPr>
          <p:spPr>
            <a:xfrm>
              <a:off x="767287" y="410676"/>
              <a:ext cx="45719" cy="45719"/>
            </a:xfrm>
            <a:prstGeom prst="ellipse">
              <a:avLst/>
            </a:prstGeom>
            <a:solidFill>
              <a:srgbClr val="CC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23"/>
          <p:cNvSpPr/>
          <p:nvPr/>
        </p:nvSpPr>
        <p:spPr>
          <a:xfrm>
            <a:off x="6551804" y="7351134"/>
            <a:ext cx="720346" cy="185328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57925" lIns="115875" spcFirstLastPara="1" rIns="115875" wrap="square" tIns="57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1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1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23"/>
          <p:cNvGrpSpPr/>
          <p:nvPr/>
        </p:nvGrpSpPr>
        <p:grpSpPr>
          <a:xfrm>
            <a:off x="456413" y="7349286"/>
            <a:ext cx="2938966" cy="161214"/>
            <a:chOff x="360129" y="7358275"/>
            <a:chExt cx="2318975" cy="161214"/>
          </a:xfrm>
        </p:grpSpPr>
        <p:grpSp>
          <p:nvGrpSpPr>
            <p:cNvPr id="226" name="Google Shape;226;p23"/>
            <p:cNvGrpSpPr/>
            <p:nvPr/>
          </p:nvGrpSpPr>
          <p:grpSpPr>
            <a:xfrm>
              <a:off x="1349335" y="7358275"/>
              <a:ext cx="1329769" cy="156068"/>
              <a:chOff x="1514435" y="7371483"/>
              <a:chExt cx="1329769" cy="156068"/>
            </a:xfrm>
          </p:grpSpPr>
          <p:sp>
            <p:nvSpPr>
              <p:cNvPr id="227" name="Google Shape;227;p23"/>
              <p:cNvSpPr txBox="1"/>
              <p:nvPr/>
            </p:nvSpPr>
            <p:spPr>
              <a:xfrm>
                <a:off x="1565450" y="7371483"/>
                <a:ext cx="1278754" cy="156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14">
                    <a:solidFill>
                      <a:srgbClr val="A5A5A5"/>
                    </a:solidFill>
                    <a:latin typeface="Arial"/>
                    <a:ea typeface="Arial"/>
                    <a:cs typeface="Arial"/>
                    <a:sym typeface="Arial"/>
                  </a:rPr>
                  <a:t>생성형 AI 및 응용서비스 구축</a:t>
                </a:r>
                <a:endParaRPr/>
              </a:p>
            </p:txBody>
          </p:sp>
          <p:cxnSp>
            <p:nvCxnSpPr>
              <p:cNvPr id="228" name="Google Shape;228;p23"/>
              <p:cNvCxnSpPr/>
              <p:nvPr/>
            </p:nvCxnSpPr>
            <p:spPr>
              <a:xfrm>
                <a:off x="1514435" y="7404659"/>
                <a:ext cx="0" cy="10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pic>
          <p:nvPicPr>
            <p:cNvPr descr="강원랜드 로고. 다음 내용 참조" id="229" name="Google Shape;229;p23"/>
            <p:cNvPicPr preferRelativeResize="0"/>
            <p:nvPr/>
          </p:nvPicPr>
          <p:blipFill rotWithShape="1">
            <a:blip r:embed="rId2">
              <a:alphaModFix/>
            </a:blip>
            <a:srcRect b="48853" l="43877" r="4530" t="42605"/>
            <a:stretch/>
          </p:blipFill>
          <p:spPr>
            <a:xfrm>
              <a:off x="360129" y="7386085"/>
              <a:ext cx="917561" cy="13340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폰트, 텍스트, 스크린샷, 그래픽이(가) 표시된 사진&#10;&#10;자동 생성된 설명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04860" y="7338883"/>
            <a:ext cx="903329" cy="209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950397" y="413978"/>
            <a:ext cx="11923157" cy="1502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9"/>
              <a:buFont typeface="Play"/>
              <a:buNone/>
              <a:defRPr b="0" i="0" sz="4989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950397" y="2069887"/>
            <a:ext cx="11923157" cy="4933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0213" lvl="0" marL="457200" marR="0" rtl="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3175"/>
              <a:buFont typeface="Arial"/>
              <a:buChar char="•"/>
              <a:defRPr b="0" i="0" sz="31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1384" lvl="1" marL="914400" marR="0" rtl="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721"/>
              <a:buFont typeface="Arial"/>
              <a:buChar char="•"/>
              <a:defRPr b="0" i="0" sz="272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2618" lvl="2" marL="1371600" marR="0" rtl="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8"/>
              <a:buFont typeface="Arial"/>
              <a:buChar char="•"/>
              <a:defRPr b="0" i="0" sz="226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8204" lvl="3" marL="1828800" marR="0" rtl="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b="0" i="0" sz="204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8204" lvl="4" marL="2286000" marR="0" rtl="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b="0" i="0" sz="204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8204" lvl="5" marL="2743200" marR="0" rtl="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b="0" i="0" sz="204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8204" lvl="6" marL="3200400" marR="0" rtl="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b="0" i="0" sz="204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8203" lvl="7" marL="3657600" marR="0" rtl="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b="0" i="0" sz="204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8203" lvl="8" marL="4114800" marR="0" rtl="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b="0" i="0" sz="204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950396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579184" y="7206807"/>
            <a:ext cx="4665583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9763165" y="7206807"/>
            <a:ext cx="3110389" cy="41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36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36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36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36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36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36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36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36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36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15" name="Google Shape;15;p7"/>
          <p:cNvGrpSpPr/>
          <p:nvPr/>
        </p:nvGrpSpPr>
        <p:grpSpPr>
          <a:xfrm>
            <a:off x="-1002571" y="2291317"/>
            <a:ext cx="820499" cy="3827204"/>
            <a:chOff x="-791073" y="2291317"/>
            <a:chExt cx="647410" cy="3827204"/>
          </a:xfrm>
        </p:grpSpPr>
        <p:sp>
          <p:nvSpPr>
            <p:cNvPr id="16" name="Google Shape;16;p7"/>
            <p:cNvSpPr/>
            <p:nvPr/>
          </p:nvSpPr>
          <p:spPr>
            <a:xfrm>
              <a:off x="-791073" y="2291317"/>
              <a:ext cx="647410" cy="360000"/>
            </a:xfrm>
            <a:prstGeom prst="rect">
              <a:avLst/>
            </a:prstGeom>
            <a:solidFill>
              <a:srgbClr val="203864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18000">
              <a:noAutofit/>
            </a:bodyPr>
            <a:lstStyle/>
            <a:p>
              <a:pPr indent="0" lvl="2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2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7"/>
            <p:cNvSpPr/>
            <p:nvPr/>
          </p:nvSpPr>
          <p:spPr>
            <a:xfrm>
              <a:off x="-791073" y="2724717"/>
              <a:ext cx="647410" cy="360000"/>
            </a:xfrm>
            <a:prstGeom prst="rect">
              <a:avLst/>
            </a:prstGeom>
            <a:solidFill>
              <a:srgbClr val="0497F2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8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7"/>
            <p:cNvSpPr/>
            <p:nvPr/>
          </p:nvSpPr>
          <p:spPr>
            <a:xfrm>
              <a:off x="-791073" y="5325117"/>
              <a:ext cx="647410" cy="360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18000">
              <a:noAutofit/>
            </a:bodyPr>
            <a:lstStyle/>
            <a:p>
              <a:pPr indent="0" lvl="2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21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-791073" y="4891717"/>
              <a:ext cx="647410" cy="360000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8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-791073" y="4024917"/>
              <a:ext cx="647410" cy="360000"/>
            </a:xfrm>
            <a:prstGeom prst="rect">
              <a:avLst/>
            </a:prstGeom>
            <a:solidFill>
              <a:srgbClr val="E0F1F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72000" spcFirstLastPara="1" rIns="72000" wrap="square" tIns="72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63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7"/>
            <p:cNvSpPr/>
            <p:nvPr/>
          </p:nvSpPr>
          <p:spPr>
            <a:xfrm>
              <a:off x="-791073" y="3591517"/>
              <a:ext cx="647410" cy="360000"/>
            </a:xfrm>
            <a:prstGeom prst="rect">
              <a:avLst/>
            </a:prstGeom>
            <a:solidFill>
              <a:srgbClr val="C9EDFB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127000" sx="102000" rotWithShape="0" algn="ctr" sy="102000">
                <a:srgbClr val="000000">
                  <a:alpha val="1215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8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7"/>
            <p:cNvSpPr/>
            <p:nvPr/>
          </p:nvSpPr>
          <p:spPr>
            <a:xfrm>
              <a:off x="-791073" y="4458317"/>
              <a:ext cx="647410" cy="3600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8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7"/>
            <p:cNvSpPr/>
            <p:nvPr/>
          </p:nvSpPr>
          <p:spPr>
            <a:xfrm>
              <a:off x="-791073" y="3158117"/>
              <a:ext cx="647410" cy="360000"/>
            </a:xfrm>
            <a:prstGeom prst="rect">
              <a:avLst/>
            </a:prstGeom>
            <a:solidFill>
              <a:srgbClr val="0488DD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2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7"/>
            <p:cNvSpPr/>
            <p:nvPr/>
          </p:nvSpPr>
          <p:spPr>
            <a:xfrm>
              <a:off x="-791073" y="5758521"/>
              <a:ext cx="647410" cy="360000"/>
            </a:xfrm>
            <a:prstGeom prst="rect">
              <a:avLst/>
            </a:prstGeom>
            <a:solidFill>
              <a:srgbClr val="CC0066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3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/>
          <p:cNvSpPr/>
          <p:nvPr/>
        </p:nvSpPr>
        <p:spPr>
          <a:xfrm>
            <a:off x="446458" y="1000354"/>
            <a:ext cx="6202448" cy="2848672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"/>
          <p:cNvSpPr txBox="1"/>
          <p:nvPr/>
        </p:nvSpPr>
        <p:spPr>
          <a:xfrm>
            <a:off x="685117" y="1187483"/>
            <a:ext cx="5478711" cy="27781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lang="ko-KR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에이전트 기본 정보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"/>
          <p:cNvSpPr/>
          <p:nvPr/>
        </p:nvSpPr>
        <p:spPr>
          <a:xfrm>
            <a:off x="6870776" y="1000354"/>
            <a:ext cx="6571759" cy="2848672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"/>
          <p:cNvSpPr/>
          <p:nvPr/>
        </p:nvSpPr>
        <p:spPr>
          <a:xfrm>
            <a:off x="446457" y="3998729"/>
            <a:ext cx="12995367" cy="2474415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"/>
          <p:cNvSpPr txBox="1"/>
          <p:nvPr/>
        </p:nvSpPr>
        <p:spPr>
          <a:xfrm>
            <a:off x="7142852" y="1187483"/>
            <a:ext cx="5453192" cy="27781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lang="ko-KR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주요 입력 · 참조 · 출력 데이터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"/>
          <p:cNvSpPr/>
          <p:nvPr/>
        </p:nvSpPr>
        <p:spPr>
          <a:xfrm>
            <a:off x="7089204" y="2131267"/>
            <a:ext cx="5833137" cy="7197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"/>
          <p:cNvSpPr/>
          <p:nvPr/>
        </p:nvSpPr>
        <p:spPr>
          <a:xfrm>
            <a:off x="7133152" y="1749266"/>
            <a:ext cx="586220" cy="254783"/>
          </a:xfrm>
          <a:prstGeom prst="roundRect">
            <a:avLst>
              <a:gd fmla="val 17797" name="adj"/>
            </a:avLst>
          </a:prstGeom>
          <a:solidFill>
            <a:srgbClr val="E0F2F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입력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"/>
          <p:cNvSpPr txBox="1"/>
          <p:nvPr/>
        </p:nvSpPr>
        <p:spPr>
          <a:xfrm>
            <a:off x="7792613" y="1673695"/>
            <a:ext cx="4873352" cy="390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사용자 입력 현상(이미지 포함)·원인, 품질문제 ID·메타데이터</a:t>
            </a:r>
            <a:endParaRPr/>
          </a:p>
        </p:txBody>
      </p:sp>
      <p:sp>
        <p:nvSpPr>
          <p:cNvPr id="244" name="Google Shape;244;p1"/>
          <p:cNvSpPr/>
          <p:nvPr/>
        </p:nvSpPr>
        <p:spPr>
          <a:xfrm>
            <a:off x="7089204" y="2663517"/>
            <a:ext cx="5833137" cy="7197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"/>
          <p:cNvSpPr/>
          <p:nvPr/>
        </p:nvSpPr>
        <p:spPr>
          <a:xfrm>
            <a:off x="7133152" y="2273599"/>
            <a:ext cx="586220" cy="254783"/>
          </a:xfrm>
          <a:prstGeom prst="roundRect">
            <a:avLst>
              <a:gd fmla="val 17797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참조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"/>
          <p:cNvSpPr txBox="1"/>
          <p:nvPr/>
        </p:nvSpPr>
        <p:spPr>
          <a:xfrm>
            <a:off x="7792613" y="2205945"/>
            <a:ext cx="4873352" cy="390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과거 품질 이력 검색 DB(메타·텍스트·벡터), 보고서 양식 가이드</a:t>
            </a:r>
            <a:endParaRPr/>
          </a:p>
        </p:txBody>
      </p:sp>
      <p:sp>
        <p:nvSpPr>
          <p:cNvPr id="247" name="Google Shape;247;p1"/>
          <p:cNvSpPr/>
          <p:nvPr/>
        </p:nvSpPr>
        <p:spPr>
          <a:xfrm>
            <a:off x="7089204" y="3195767"/>
            <a:ext cx="5833137" cy="7197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"/>
          <p:cNvSpPr/>
          <p:nvPr/>
        </p:nvSpPr>
        <p:spPr>
          <a:xfrm>
            <a:off x="7133152" y="2805849"/>
            <a:ext cx="586220" cy="254783"/>
          </a:xfrm>
          <a:prstGeom prst="roundRect">
            <a:avLst>
              <a:gd fmla="val 17797" name="adj"/>
            </a:avLst>
          </a:prstGeom>
          <a:solidFill>
            <a:srgbClr val="E6F4F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출력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"/>
          <p:cNvSpPr txBox="1"/>
          <p:nvPr/>
        </p:nvSpPr>
        <p:spPr>
          <a:xfrm>
            <a:off x="7792613" y="2738195"/>
            <a:ext cx="4873352" cy="390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현상-원인-대책 구조의 대책서 초안 및 필수 점검항목(점검시트) 가이드</a:t>
            </a:r>
            <a:endParaRPr/>
          </a:p>
        </p:txBody>
      </p:sp>
      <p:sp>
        <p:nvSpPr>
          <p:cNvPr id="250" name="Google Shape;250;p1"/>
          <p:cNvSpPr/>
          <p:nvPr/>
        </p:nvSpPr>
        <p:spPr>
          <a:xfrm>
            <a:off x="7133152" y="3348896"/>
            <a:ext cx="586220" cy="254783"/>
          </a:xfrm>
          <a:prstGeom prst="roundRect">
            <a:avLst>
              <a:gd fmla="val 17797" name="adj"/>
            </a:avLst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"/>
          <p:cNvSpPr txBox="1"/>
          <p:nvPr/>
        </p:nvSpPr>
        <p:spPr>
          <a:xfrm>
            <a:off x="7792613" y="3270446"/>
            <a:ext cx="4873352" cy="390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사용자 확정 대책서·과거 개선대책서를 증분 색인하여 검색 DB에 활용</a:t>
            </a:r>
            <a:endParaRPr/>
          </a:p>
        </p:txBody>
      </p:sp>
      <p:sp>
        <p:nvSpPr>
          <p:cNvPr id="252" name="Google Shape;252;p1"/>
          <p:cNvSpPr/>
          <p:nvPr/>
        </p:nvSpPr>
        <p:spPr>
          <a:xfrm>
            <a:off x="446458" y="6660273"/>
            <a:ext cx="12995368" cy="449828"/>
          </a:xfrm>
          <a:prstGeom prst="roundRect">
            <a:avLst>
              <a:gd fmla="val 13280" name="adj"/>
            </a:avLst>
          </a:prstGeom>
          <a:solidFill>
            <a:srgbClr val="074E6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"/>
          <p:cNvSpPr txBox="1"/>
          <p:nvPr/>
        </p:nvSpPr>
        <p:spPr>
          <a:xfrm>
            <a:off x="623671" y="6769671"/>
            <a:ext cx="12641652" cy="2324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600"/>
              <a:buFont typeface="Arial"/>
              <a:buNone/>
            </a:pPr>
            <a:r>
              <a:rPr b="1" lang="ko-KR" sz="16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💡 핵심 요약</a:t>
            </a:r>
            <a:r>
              <a:rPr b="1" lang="ko-KR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AI 에이전트는 과거 품질 이력 기반 유사 사례 검색 또는 상용 LLM으로 대책서 초안과 점검 가이드를 제시하며, 최종 완성은 사용자가 수행합니다.</a:t>
            </a:r>
            <a:endParaRPr/>
          </a:p>
        </p:txBody>
      </p:sp>
      <p:sp>
        <p:nvSpPr>
          <p:cNvPr id="254" name="Google Shape;254;p1"/>
          <p:cNvSpPr txBox="1"/>
          <p:nvPr/>
        </p:nvSpPr>
        <p:spPr>
          <a:xfrm>
            <a:off x="609905" y="190195"/>
            <a:ext cx="1047811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ko-KR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S-CLM 과거 대책서 기반 최적 대책서 추천 에이전트 상세 처리 흐름도(과제 5)</a:t>
            </a:r>
            <a:endParaRPr/>
          </a:p>
        </p:txBody>
      </p:sp>
      <p:sp>
        <p:nvSpPr>
          <p:cNvPr id="255" name="Google Shape;255;p1"/>
          <p:cNvSpPr txBox="1"/>
          <p:nvPr/>
        </p:nvSpPr>
        <p:spPr>
          <a:xfrm>
            <a:off x="609905" y="562356"/>
            <a:ext cx="10478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S-CLM 과거 품질 이력 수집·저장 및 최적 대책서 추천</a:t>
            </a:r>
            <a:endParaRPr/>
          </a:p>
        </p:txBody>
      </p:sp>
      <p:sp>
        <p:nvSpPr>
          <p:cNvPr id="256" name="Google Shape;256;p1"/>
          <p:cNvSpPr/>
          <p:nvPr/>
        </p:nvSpPr>
        <p:spPr>
          <a:xfrm>
            <a:off x="0" y="780898"/>
            <a:ext cx="13823950" cy="15961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7" name="Google Shape;257;p1"/>
          <p:cNvGraphicFramePr/>
          <p:nvPr/>
        </p:nvGraphicFramePr>
        <p:xfrm>
          <a:off x="685117" y="15897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{C795245F-60D0-43EA-8C94-45057C71EF8C}</a:tableStyleId>
              </a:tblPr>
              <a:tblGrid>
                <a:gridCol w="938575"/>
                <a:gridCol w="4700175"/>
              </a:tblGrid>
              <a:tr h="42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200"/>
                        <a:buFont typeface="Noto Sans KR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에이전트명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100" marB="95100" marR="0" marL="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Noto Sans KR"/>
                        <a:buNone/>
                      </a:pPr>
                      <a:r>
                        <a:rPr lang="ko-KR" sz="120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① 과거 대책서 수집·저장 에이전트(5-1)   ② 최적 대책서 추천 에이전트(5-2)</a:t>
                      </a:r>
                      <a:endParaRPr/>
                    </a:p>
                  </a:txBody>
                  <a:tcPr marT="95100" marB="95100" marR="0" marL="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200"/>
                        <a:buFont typeface="Noto Sans KR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대상 업무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100" marB="95100" marR="0" marL="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Noto Sans KR"/>
                        <a:buNone/>
                      </a:pPr>
                      <a:r>
                        <a:rPr lang="ko-KR" sz="120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(5-1) 품질 이력 수집·OCR 구조화·검색 DB 구축   (5-2) 현상·원인 기반 최적 대책서 추천</a:t>
                      </a:r>
                      <a:endParaRPr/>
                    </a:p>
                  </a:txBody>
                  <a:tcPr marT="95100" marB="95100" marR="0" marL="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200"/>
                        <a:buFont typeface="Noto Sans KR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호출 시스템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100" marB="95100" marR="0" marL="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4C7"/>
                        </a:buClr>
                        <a:buSzPts val="1200"/>
                        <a:buFont typeface="Noto Sans KR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0284C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S-CLM (AI 플랫폼 / AI 에이전트)</a:t>
                      </a:r>
                      <a:endParaRPr/>
                    </a:p>
                  </a:txBody>
                  <a:tcPr marT="95100" marB="95100" marR="0" marL="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200"/>
                        <a:buFont typeface="Noto Sans KR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업무 목적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100" marB="95100" marR="0" marL="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Noto Sans KR"/>
                        <a:buNone/>
                      </a:pPr>
                      <a:r>
                        <a:rPr lang="ko-KR" sz="120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과거 품질 이력 검색 DB(Vector) 기반 유사 사례·상용 LLM으로 현상-원인-대책 초안·점검 가이드 제시</a:t>
                      </a:r>
                      <a:endParaRPr/>
                    </a:p>
                  </a:txBody>
                  <a:tcPr marT="95100" marB="95100" marR="0" marL="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200"/>
                        <a:buFont typeface="Noto Sans KR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반영 방식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100" marB="95100" marR="0" marL="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Noto Sans KR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0D948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사용자 검토·확정 대책서를 S-CLM 화면/DB에 반영 후 증분 색인하여 재활용</a:t>
                      </a:r>
                      <a:endParaRPr/>
                    </a:p>
                  </a:txBody>
                  <a:tcPr marT="95100" marB="95100" marR="0" marL="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8" name="Google Shape;258;p1"/>
          <p:cNvSpPr txBox="1"/>
          <p:nvPr/>
        </p:nvSpPr>
        <p:spPr>
          <a:xfrm>
            <a:off x="685117" y="4090289"/>
            <a:ext cx="5823921" cy="27781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lang="ko-KR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처리 개념 요약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9" name="Google Shape;259;p1"/>
          <p:cNvGrpSpPr/>
          <p:nvPr/>
        </p:nvGrpSpPr>
        <p:grpSpPr>
          <a:xfrm>
            <a:off x="835698" y="4718005"/>
            <a:ext cx="12151460" cy="809691"/>
            <a:chOff x="7309787" y="4622885"/>
            <a:chExt cx="6202448" cy="809691"/>
          </a:xfrm>
        </p:grpSpPr>
        <p:sp>
          <p:nvSpPr>
            <p:cNvPr id="260" name="Google Shape;260;p1"/>
            <p:cNvSpPr/>
            <p:nvPr/>
          </p:nvSpPr>
          <p:spPr>
            <a:xfrm>
              <a:off x="7309787" y="4622885"/>
              <a:ext cx="1070365" cy="809691"/>
            </a:xfrm>
            <a:prstGeom prst="roundRect">
              <a:avLst>
                <a:gd fmla="val 7378" name="adj"/>
              </a:avLst>
            </a:prstGeom>
            <a:solidFill>
              <a:srgbClr val="F1F5F9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"/>
            <p:cNvSpPr txBox="1"/>
            <p:nvPr/>
          </p:nvSpPr>
          <p:spPr>
            <a:xfrm>
              <a:off x="7421077" y="4810013"/>
              <a:ext cx="849204" cy="435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Arial"/>
                <a:buNone/>
              </a:pPr>
              <a:r>
                <a:rPr b="1" lang="ko-KR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현상·원인 입력</a:t>
              </a:r>
              <a:endParaRPr/>
            </a:p>
          </p:txBody>
        </p:sp>
        <p:sp>
          <p:nvSpPr>
            <p:cNvPr id="262" name="Google Shape;262;p1"/>
            <p:cNvSpPr txBox="1"/>
            <p:nvPr/>
          </p:nvSpPr>
          <p:spPr>
            <a:xfrm>
              <a:off x="8394330" y="4877667"/>
              <a:ext cx="192098" cy="300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Play"/>
                <a:buNone/>
              </a:pPr>
              <a:r>
                <a:rPr b="1" lang="ko-KR" sz="21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➔</a:t>
              </a:r>
              <a:endParaRPr sz="21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8592808" y="4622885"/>
              <a:ext cx="1070365" cy="809691"/>
            </a:xfrm>
            <a:prstGeom prst="roundRect">
              <a:avLst>
                <a:gd fmla="val 7378" name="adj"/>
              </a:avLst>
            </a:prstGeom>
            <a:solidFill>
              <a:srgbClr val="E0F2FE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"/>
            <p:cNvSpPr txBox="1"/>
            <p:nvPr/>
          </p:nvSpPr>
          <p:spPr>
            <a:xfrm>
              <a:off x="8703389" y="4810013"/>
              <a:ext cx="849204" cy="435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284C7"/>
                </a:buClr>
                <a:buSzPts val="1500"/>
                <a:buFont typeface="Arial"/>
                <a:buNone/>
              </a:pPr>
              <a:r>
                <a:rPr b="1" lang="ko-KR" sz="1500">
                  <a:solidFill>
                    <a:srgbClr val="0284C7"/>
                  </a:solidFill>
                  <a:latin typeface="Arial"/>
                  <a:ea typeface="Arial"/>
                  <a:cs typeface="Arial"/>
                  <a:sym typeface="Arial"/>
                </a:rPr>
                <a:t>유사 과거 사례 검색 / 상용 LLM 질의</a:t>
              </a:r>
              <a:endParaRPr/>
            </a:p>
          </p:txBody>
        </p:sp>
        <p:sp>
          <p:nvSpPr>
            <p:cNvPr id="265" name="Google Shape;265;p1"/>
            <p:cNvSpPr txBox="1"/>
            <p:nvPr/>
          </p:nvSpPr>
          <p:spPr>
            <a:xfrm>
              <a:off x="9677350" y="4877667"/>
              <a:ext cx="192098" cy="300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Play"/>
                <a:buNone/>
              </a:pPr>
              <a:r>
                <a:rPr b="1" lang="ko-KR" sz="21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➔</a:t>
              </a:r>
              <a:endParaRPr sz="21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9875829" y="4622885"/>
              <a:ext cx="1070365" cy="809691"/>
            </a:xfrm>
            <a:prstGeom prst="roundRect">
              <a:avLst>
                <a:gd fmla="val 7378" name="adj"/>
              </a:avLst>
            </a:prstGeom>
            <a:solidFill>
              <a:srgbClr val="E0F2FE"/>
            </a:solidFill>
            <a:ln cap="flat" cmpd="sng" w="1270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"/>
            <p:cNvSpPr txBox="1"/>
            <p:nvPr/>
          </p:nvSpPr>
          <p:spPr>
            <a:xfrm>
              <a:off x="9986410" y="4810013"/>
              <a:ext cx="849204" cy="435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284C7"/>
                </a:buClr>
                <a:buSzPts val="1500"/>
                <a:buFont typeface="Arial"/>
                <a:buNone/>
              </a:pPr>
              <a:r>
                <a:rPr b="1" lang="ko-KR" sz="1500">
                  <a:solidFill>
                    <a:srgbClr val="0284C7"/>
                  </a:solidFill>
                  <a:latin typeface="Arial"/>
                  <a:ea typeface="Arial"/>
                  <a:cs typeface="Arial"/>
                  <a:sym typeface="Arial"/>
                </a:rPr>
                <a:t>현상-원인-대책 초안 생성</a:t>
              </a:r>
              <a:endParaRPr/>
            </a:p>
          </p:txBody>
        </p:sp>
        <p:sp>
          <p:nvSpPr>
            <p:cNvPr id="268" name="Google Shape;268;p1"/>
            <p:cNvSpPr txBox="1"/>
            <p:nvPr/>
          </p:nvSpPr>
          <p:spPr>
            <a:xfrm>
              <a:off x="10960371" y="4877667"/>
              <a:ext cx="192098" cy="300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Play"/>
                <a:buNone/>
              </a:pPr>
              <a:r>
                <a:rPr b="1" lang="ko-KR" sz="21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➔</a:t>
              </a:r>
              <a:endParaRPr sz="21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11158849" y="4622885"/>
              <a:ext cx="1070365" cy="809691"/>
            </a:xfrm>
            <a:prstGeom prst="roundRect">
              <a:avLst>
                <a:gd fmla="val 7378" name="adj"/>
              </a:avLst>
            </a:prstGeom>
            <a:solidFill>
              <a:srgbClr val="E6F4F1"/>
            </a:solidFill>
            <a:ln cap="flat" cmpd="sng" w="12700">
              <a:solidFill>
                <a:srgbClr val="99F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"/>
            <p:cNvSpPr txBox="1"/>
            <p:nvPr/>
          </p:nvSpPr>
          <p:spPr>
            <a:xfrm>
              <a:off x="11269430" y="4810013"/>
              <a:ext cx="849204" cy="435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9488"/>
                </a:buClr>
                <a:buSzPts val="1500"/>
                <a:buFont typeface="Arial"/>
                <a:buNone/>
              </a:pPr>
              <a:r>
                <a:rPr b="1" lang="ko-KR" sz="1500">
                  <a:solidFill>
                    <a:srgbClr val="0D9488"/>
                  </a:solidFill>
                  <a:latin typeface="Arial"/>
                  <a:ea typeface="Arial"/>
                  <a:cs typeface="Arial"/>
                  <a:sym typeface="Arial"/>
                </a:rPr>
                <a:t>사용자 검토·확정</a:t>
              </a:r>
              <a:endParaRPr/>
            </a:p>
          </p:txBody>
        </p:sp>
        <p:sp>
          <p:nvSpPr>
            <p:cNvPr id="271" name="Google Shape;271;p1"/>
            <p:cNvSpPr txBox="1"/>
            <p:nvPr/>
          </p:nvSpPr>
          <p:spPr>
            <a:xfrm>
              <a:off x="12243392" y="4877667"/>
              <a:ext cx="192098" cy="300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Play"/>
                <a:buNone/>
              </a:pPr>
              <a:r>
                <a:rPr b="1" lang="ko-KR" sz="21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➔</a:t>
              </a:r>
              <a:endParaRPr sz="21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72" name="Google Shape;272;p1"/>
            <p:cNvSpPr/>
            <p:nvPr/>
          </p:nvSpPr>
          <p:spPr>
            <a:xfrm>
              <a:off x="12441870" y="4630442"/>
              <a:ext cx="1070365" cy="794577"/>
            </a:xfrm>
            <a:prstGeom prst="roundRect">
              <a:avLst>
                <a:gd fmla="val 7518" name="adj"/>
              </a:avLst>
            </a:prstGeom>
            <a:solidFill>
              <a:srgbClr val="F1F5F9"/>
            </a:solidFill>
            <a:ln cap="flat" cmpd="sng" w="12700">
              <a:solidFill>
                <a:srgbClr val="FFFF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"/>
            <p:cNvSpPr txBox="1"/>
            <p:nvPr/>
          </p:nvSpPr>
          <p:spPr>
            <a:xfrm>
              <a:off x="12545363" y="4810013"/>
              <a:ext cx="864090" cy="435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Arial"/>
                <a:buNone/>
              </a:pPr>
              <a:r>
                <a:rPr b="1" lang="ko-KR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S-CLM 반영·증분 색인</a:t>
              </a:r>
              <a:endParaRPr/>
            </a:p>
          </p:txBody>
        </p:sp>
      </p:grpSp>
      <p:sp>
        <p:nvSpPr>
          <p:cNvPr id="274" name="Google Shape;274;p1"/>
          <p:cNvSpPr/>
          <p:nvPr/>
        </p:nvSpPr>
        <p:spPr>
          <a:xfrm>
            <a:off x="696248" y="5801949"/>
            <a:ext cx="12518479" cy="553315"/>
          </a:xfrm>
          <a:prstGeom prst="roundRect">
            <a:avLst>
              <a:gd fmla="val 585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"/>
          <p:cNvSpPr/>
          <p:nvPr/>
        </p:nvSpPr>
        <p:spPr>
          <a:xfrm>
            <a:off x="696249" y="5801949"/>
            <a:ext cx="36860" cy="553315"/>
          </a:xfrm>
          <a:prstGeom prst="roundRect">
            <a:avLst>
              <a:gd fmla="val 159615" name="adj"/>
            </a:avLst>
          </a:prstGeom>
          <a:solidFill>
            <a:srgbClr val="0284C7"/>
          </a:solidFill>
          <a:ln cap="flat" cmpd="sng" w="12700">
            <a:solidFill>
              <a:srgbClr val="0284C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"/>
          <p:cNvSpPr txBox="1"/>
          <p:nvPr/>
        </p:nvSpPr>
        <p:spPr>
          <a:xfrm>
            <a:off x="777771" y="5823568"/>
            <a:ext cx="12436956" cy="51007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본 과제는 두 에이전트로 구성됩니다. (5-1) 과거 품질 이력·개선대책서(각 약 7,000건)를 OCR로 구조화 추출하여 검색 DB(Vector)를 구축하고, (5-2) 사용자 현상·원인을 기반으로 외부 LLM(OpenAI ChatGPT) 생성과 내부 RAG 검색(사내 유사사례, 현재 더미)을 결합해 현상-원인-대책 초안과 필수 점검항목을 생성합니다. AI는 방향을 제시하고 사용자가 검토·확정하며, 확정 대책서는 증분 색인되어 검색에 재활용됩니다.</a:t>
            </a:r>
            <a:endParaRPr/>
          </a:p>
        </p:txBody>
      </p:sp>
      <p:cxnSp>
        <p:nvCxnSpPr>
          <p:cNvPr id="277" name="Google Shape;277;p1"/>
          <p:cNvCxnSpPr/>
          <p:nvPr/>
        </p:nvCxnSpPr>
        <p:spPr>
          <a:xfrm>
            <a:off x="631468" y="1564156"/>
            <a:ext cx="5760000" cy="0"/>
          </a:xfrm>
          <a:prstGeom prst="straightConnector1">
            <a:avLst/>
          </a:prstGeom>
          <a:noFill/>
          <a:ln cap="flat" cmpd="sng" w="19050">
            <a:solidFill>
              <a:srgbClr val="D0D0D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8" name="Google Shape;278;p1"/>
          <p:cNvCxnSpPr/>
          <p:nvPr/>
        </p:nvCxnSpPr>
        <p:spPr>
          <a:xfrm>
            <a:off x="7133152" y="1564156"/>
            <a:ext cx="5760000" cy="0"/>
          </a:xfrm>
          <a:prstGeom prst="straightConnector1">
            <a:avLst/>
          </a:prstGeom>
          <a:noFill/>
          <a:ln cap="flat" cmpd="sng" w="19050">
            <a:solidFill>
              <a:srgbClr val="D0D0D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9" name="Google Shape;279;p1"/>
          <p:cNvCxnSpPr/>
          <p:nvPr/>
        </p:nvCxnSpPr>
        <p:spPr>
          <a:xfrm>
            <a:off x="667682" y="4528123"/>
            <a:ext cx="12518479" cy="0"/>
          </a:xfrm>
          <a:prstGeom prst="straightConnector1">
            <a:avLst/>
          </a:prstGeom>
          <a:noFill/>
          <a:ln cap="flat" cmpd="sng" w="19050">
            <a:solidFill>
              <a:srgbClr val="D0D0D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"/>
          <p:cNvSpPr txBox="1"/>
          <p:nvPr/>
        </p:nvSpPr>
        <p:spPr>
          <a:xfrm>
            <a:off x="609905" y="190195"/>
            <a:ext cx="1047811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ko-KR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S-CLM 과거 대책서 기반 최적 대책서 추천 에이전트 상세 처리 흐름도(과제 5)</a:t>
            </a:r>
            <a:endParaRPr/>
          </a:p>
        </p:txBody>
      </p:sp>
      <p:sp>
        <p:nvSpPr>
          <p:cNvPr id="286" name="Google Shape;286;p2"/>
          <p:cNvSpPr txBox="1"/>
          <p:nvPr/>
        </p:nvSpPr>
        <p:spPr>
          <a:xfrm>
            <a:off x="609905" y="562356"/>
            <a:ext cx="10478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S-CLM 데이터 구축 현황 및 규모</a:t>
            </a:r>
            <a:endParaRPr/>
          </a:p>
        </p:txBody>
      </p:sp>
      <p:sp>
        <p:nvSpPr>
          <p:cNvPr id="287" name="Google Shape;287;p2"/>
          <p:cNvSpPr/>
          <p:nvPr/>
        </p:nvSpPr>
        <p:spPr>
          <a:xfrm>
            <a:off x="0" y="780898"/>
            <a:ext cx="13823950" cy="15961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"/>
          <p:cNvSpPr txBox="1"/>
          <p:nvPr/>
        </p:nvSpPr>
        <p:spPr>
          <a:xfrm>
            <a:off x="609905" y="919372"/>
            <a:ext cx="5047411" cy="268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36000" spcFirstLastPara="1" rIns="36000" wrap="square" tIns="0">
            <a:noAutofit/>
          </a:bodyPr>
          <a:lstStyle/>
          <a:p>
            <a:pPr indent="-179388" lvl="0" marL="1793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1400"/>
              <a:buFont typeface="Noto Sans Symbols"/>
              <a:buChar char="▪"/>
            </a:pPr>
            <a:r>
              <a:rPr lang="ko-KR" sz="1400">
                <a:solidFill>
                  <a:srgbClr val="203864"/>
                </a:solidFill>
                <a:latin typeface="Arial"/>
                <a:ea typeface="Arial"/>
                <a:cs typeface="Arial"/>
                <a:sym typeface="Arial"/>
              </a:rPr>
              <a:t>데이터 구축 항목</a:t>
            </a:r>
            <a:endParaRPr/>
          </a:p>
        </p:txBody>
      </p:sp>
      <p:sp>
        <p:nvSpPr>
          <p:cNvPr id="289" name="Google Shape;289;p2"/>
          <p:cNvSpPr/>
          <p:nvPr/>
        </p:nvSpPr>
        <p:spPr>
          <a:xfrm>
            <a:off x="9744453" y="443882"/>
            <a:ext cx="3469592" cy="65296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정의서 03_데이터 구축 기준 · 추천은 외부 LLM(OpenAI ChatGPT) 생성 + 내부 RAG 검색(사내 유사사례) 결합, 내부 RAG는 현재 더미(미구축)</a:t>
            </a:r>
            <a:endParaRPr/>
          </a:p>
        </p:txBody>
      </p:sp>
      <p:graphicFrame>
        <p:nvGraphicFramePr>
          <p:cNvPr id="290" name="Google Shape;290;p2"/>
          <p:cNvGraphicFramePr/>
          <p:nvPr/>
        </p:nvGraphicFramePr>
        <p:xfrm>
          <a:off x="520884" y="12035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{DC76C97A-AB75-4E68-933A-387F25F932BF}</a:tableStyleId>
              </a:tblPr>
              <a:tblGrid>
                <a:gridCol w="453475"/>
                <a:gridCol w="1315925"/>
                <a:gridCol w="854575"/>
                <a:gridCol w="5469300"/>
                <a:gridCol w="1563875"/>
                <a:gridCol w="1580975"/>
                <a:gridCol w="1538250"/>
              </a:tblGrid>
              <a:tr h="34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유형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데이터명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설명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포맷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출처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규모·상태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5-1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품질문제마스터 DB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과거 품질 이슈 형태·연도·사유·개선대책서 링크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DB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S-CLM(서연이화)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약 7,000건 / 미착수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5-1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개선대책서(비정형)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발생형태·귀책사유·발생장소·중요도·대책방안 원본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PDF 등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서연이화 제공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약 7,000건 / 미착수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5-1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참조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OCR 추출 텍스트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개선대책서 구조화 추출(6개 항목)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JSON/DB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OCR 모듈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미착수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5-1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검색DB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과거 품질 이력 검색 DB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메타데이터+텍스트 키워드·벡터 인덱스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Vector DB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검색 DB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미착수(현재 더미)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5-2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사용자 입력 정보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사용자 기입 현상(이미지 포함)·원인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Text/Image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S-CLM 사용자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요청당 / 미착수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5-2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참조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검색 DB(5-1 공유)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5-1 구축 메타+대책서 검색 DB 공유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Vector DB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검색 DB 공유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미착수(현재 더미)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5-2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참조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보고서 양식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현상-원인-대책 보고서 양식 가이드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문서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서연이화 제공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미착수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5-2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결과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대책서 초안/점검 가이드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현상-원인-대책 초안 및 필수 점검항목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Text/문서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에이전트 산출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요청당 / 미착수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5-2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프롬프트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대책서 생성 프롬프트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대책서 초안·가이드 생성 프롬프트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코난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미착수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"/>
          <p:cNvSpPr/>
          <p:nvPr/>
        </p:nvSpPr>
        <p:spPr>
          <a:xfrm>
            <a:off x="3772556" y="1196848"/>
            <a:ext cx="2880220" cy="5934537"/>
          </a:xfrm>
          <a:prstGeom prst="rect">
            <a:avLst/>
          </a:prstGeom>
          <a:solidFill>
            <a:srgbClr val="FAFB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3"/>
          <p:cNvCxnSpPr>
            <a:stCxn id="298" idx="3"/>
            <a:endCxn id="299" idx="1"/>
          </p:cNvCxnSpPr>
          <p:nvPr/>
        </p:nvCxnSpPr>
        <p:spPr>
          <a:xfrm>
            <a:off x="6509007" y="4320227"/>
            <a:ext cx="3705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00" name="Google Shape;300;p3"/>
          <p:cNvCxnSpPr>
            <a:stCxn id="301" idx="3"/>
            <a:endCxn id="302" idx="1"/>
          </p:cNvCxnSpPr>
          <p:nvPr/>
        </p:nvCxnSpPr>
        <p:spPr>
          <a:xfrm>
            <a:off x="6509007" y="5207384"/>
            <a:ext cx="3705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03" name="Google Shape;303;p3"/>
          <p:cNvCxnSpPr/>
          <p:nvPr/>
        </p:nvCxnSpPr>
        <p:spPr>
          <a:xfrm>
            <a:off x="3628787" y="984952"/>
            <a:ext cx="0" cy="6120000"/>
          </a:xfrm>
          <a:prstGeom prst="straightConnector1">
            <a:avLst/>
          </a:prstGeom>
          <a:noFill/>
          <a:ln cap="flat" cmpd="sng" w="19050">
            <a:solidFill>
              <a:srgbClr val="D0D0D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04" name="Google Shape;304;p3"/>
          <p:cNvCxnSpPr/>
          <p:nvPr/>
        </p:nvCxnSpPr>
        <p:spPr>
          <a:xfrm>
            <a:off x="6796545" y="984952"/>
            <a:ext cx="0" cy="6120000"/>
          </a:xfrm>
          <a:prstGeom prst="straightConnector1">
            <a:avLst/>
          </a:prstGeom>
          <a:noFill/>
          <a:ln cap="flat" cmpd="sng" w="19050">
            <a:solidFill>
              <a:srgbClr val="D0D0D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5" name="Google Shape;305;p3"/>
          <p:cNvSpPr txBox="1"/>
          <p:nvPr/>
        </p:nvSpPr>
        <p:spPr>
          <a:xfrm>
            <a:off x="609905" y="190195"/>
            <a:ext cx="1047811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ko-KR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S-CLM 과거 대책서 기반 최적 대책서 추천 에이전트 상세 처리 흐름도(과제 5)</a:t>
            </a:r>
            <a:endParaRPr/>
          </a:p>
        </p:txBody>
      </p:sp>
      <p:sp>
        <p:nvSpPr>
          <p:cNvPr id="306" name="Google Shape;306;p3"/>
          <p:cNvSpPr txBox="1"/>
          <p:nvPr/>
        </p:nvSpPr>
        <p:spPr>
          <a:xfrm>
            <a:off x="609905" y="562356"/>
            <a:ext cx="10478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S-CLM 과거 품질 이력 데이터 수집·저장 흐름</a:t>
            </a:r>
            <a:endParaRPr/>
          </a:p>
        </p:txBody>
      </p:sp>
      <p:sp>
        <p:nvSpPr>
          <p:cNvPr id="307" name="Google Shape;307;p3"/>
          <p:cNvSpPr/>
          <p:nvPr/>
        </p:nvSpPr>
        <p:spPr>
          <a:xfrm>
            <a:off x="0" y="780898"/>
            <a:ext cx="13823950" cy="15961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"/>
          <p:cNvSpPr/>
          <p:nvPr/>
        </p:nvSpPr>
        <p:spPr>
          <a:xfrm>
            <a:off x="461029" y="911817"/>
            <a:ext cx="3023989" cy="285031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S-CLM · 업무 시스템</a:t>
            </a:r>
            <a:endParaRPr/>
          </a:p>
        </p:txBody>
      </p:sp>
      <p:sp>
        <p:nvSpPr>
          <p:cNvPr id="309" name="Google Shape;309;p3"/>
          <p:cNvSpPr/>
          <p:nvPr/>
        </p:nvSpPr>
        <p:spPr>
          <a:xfrm>
            <a:off x="6941005" y="911817"/>
            <a:ext cx="6422607" cy="285031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단계별 주요 작업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"/>
          <p:cNvSpPr/>
          <p:nvPr/>
        </p:nvSpPr>
        <p:spPr>
          <a:xfrm>
            <a:off x="461029" y="1621202"/>
            <a:ext cx="3023989" cy="855093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"/>
          <p:cNvSpPr/>
          <p:nvPr/>
        </p:nvSpPr>
        <p:spPr>
          <a:xfrm>
            <a:off x="461029" y="2697478"/>
            <a:ext cx="3023989" cy="1420687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en-dedup-c4d63490290c7ad44ddee165159d8932.png" id="312" name="Google Shape;312;p3"/>
          <p:cNvPicPr preferRelativeResize="0"/>
          <p:nvPr/>
        </p:nvPicPr>
        <p:blipFill rotWithShape="1">
          <a:blip r:embed="rId3">
            <a:alphaModFix/>
          </a:blip>
          <a:srcRect b="-400" l="0" r="0" t="-400"/>
          <a:stretch/>
        </p:blipFill>
        <p:spPr>
          <a:xfrm>
            <a:off x="461029" y="1621202"/>
            <a:ext cx="3023989" cy="3192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"/>
          <p:cNvSpPr/>
          <p:nvPr/>
        </p:nvSpPr>
        <p:spPr>
          <a:xfrm>
            <a:off x="3866559" y="1873253"/>
            <a:ext cx="50457" cy="79049"/>
          </a:xfrm>
          <a:prstGeom prst="rect">
            <a:avLst/>
          </a:prstGeom>
          <a:noFill/>
          <a:ln cap="flat" cmpd="sng" w="635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"/>
          <p:cNvSpPr txBox="1"/>
          <p:nvPr/>
        </p:nvSpPr>
        <p:spPr>
          <a:xfrm>
            <a:off x="575767" y="1716212"/>
            <a:ext cx="2793820" cy="110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ko-KR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STEP · R1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"/>
          <p:cNvSpPr txBox="1"/>
          <p:nvPr/>
        </p:nvSpPr>
        <p:spPr>
          <a:xfrm>
            <a:off x="575767" y="1858348"/>
            <a:ext cx="2793820" cy="2059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ko-KR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과거 품질 이력 문서 업로드</a:t>
            </a:r>
            <a:endParaRPr/>
          </a:p>
        </p:txBody>
      </p:sp>
      <p:sp>
        <p:nvSpPr>
          <p:cNvPr id="316" name="Google Shape;316;p3"/>
          <p:cNvSpPr txBox="1"/>
          <p:nvPr/>
        </p:nvSpPr>
        <p:spPr>
          <a:xfrm>
            <a:off x="575767" y="2112215"/>
            <a:ext cx="2793820" cy="285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과거 품질 이력 문서를 저장하기 위해 S-CLM에 업로드</a:t>
            </a:r>
            <a:endParaRPr/>
          </a:p>
        </p:txBody>
      </p:sp>
      <p:sp>
        <p:nvSpPr>
          <p:cNvPr id="317" name="Google Shape;317;p3"/>
          <p:cNvSpPr txBox="1"/>
          <p:nvPr/>
        </p:nvSpPr>
        <p:spPr>
          <a:xfrm>
            <a:off x="575767" y="2808451"/>
            <a:ext cx="2793820" cy="126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ko-KR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입력 데이터 예시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"/>
          <p:cNvSpPr txBox="1"/>
          <p:nvPr/>
        </p:nvSpPr>
        <p:spPr>
          <a:xfrm>
            <a:off x="575767" y="2959955"/>
            <a:ext cx="2793820" cy="1115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lang="ko-KR" sz="1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발생형태 : 치수불량 / 귀책사유 : 가공불량 / 발생장소 : 사출공정 / 대책방안 : 금형 보정 (비정형 문서 약 7,000건)</a:t>
            </a:r>
            <a:endParaRPr/>
          </a:p>
        </p:txBody>
      </p:sp>
      <p:grpSp>
        <p:nvGrpSpPr>
          <p:cNvPr id="319" name="Google Shape;319;p3"/>
          <p:cNvGrpSpPr/>
          <p:nvPr/>
        </p:nvGrpSpPr>
        <p:grpSpPr>
          <a:xfrm>
            <a:off x="461029" y="4704189"/>
            <a:ext cx="3023989" cy="1013189"/>
            <a:chOff x="461029" y="4059133"/>
            <a:chExt cx="3023989" cy="1013189"/>
          </a:xfrm>
        </p:grpSpPr>
        <p:sp>
          <p:nvSpPr>
            <p:cNvPr id="320" name="Google Shape;320;p3"/>
            <p:cNvSpPr/>
            <p:nvPr/>
          </p:nvSpPr>
          <p:spPr>
            <a:xfrm>
              <a:off x="461029" y="4059133"/>
              <a:ext cx="3023989" cy="1013189"/>
            </a:xfrm>
            <a:prstGeom prst="rect">
              <a:avLst/>
            </a:prstGeom>
            <a:solidFill>
              <a:srgbClr val="FFFBEB"/>
            </a:solidFill>
            <a:ln cap="flat" cmpd="sng" w="12700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gen-dedup-21eee3c32cd4fb292d51690cc6be3052.png" id="321" name="Google Shape;321;p3"/>
            <p:cNvPicPr preferRelativeResize="0"/>
            <p:nvPr/>
          </p:nvPicPr>
          <p:blipFill rotWithShape="1">
            <a:blip r:embed="rId4">
              <a:alphaModFix/>
            </a:blip>
            <a:srcRect b="-400" l="0" r="0" t="-400"/>
            <a:stretch/>
          </p:blipFill>
          <p:spPr>
            <a:xfrm>
              <a:off x="461029" y="4059133"/>
              <a:ext cx="3023989" cy="31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3"/>
            <p:cNvSpPr txBox="1"/>
            <p:nvPr/>
          </p:nvSpPr>
          <p:spPr>
            <a:xfrm>
              <a:off x="575767" y="4154143"/>
              <a:ext cx="2793820" cy="1269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2400E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92400E"/>
                  </a:solidFill>
                  <a:latin typeface="Arial"/>
                  <a:ea typeface="Arial"/>
                  <a:cs typeface="Arial"/>
                  <a:sym typeface="Arial"/>
                </a:rPr>
                <a:t>STEP · R2</a:t>
              </a:r>
              <a:endParaRPr/>
            </a:p>
          </p:txBody>
        </p:sp>
        <p:sp>
          <p:nvSpPr>
            <p:cNvPr id="323" name="Google Shape;323;p3"/>
            <p:cNvSpPr txBox="1"/>
            <p:nvPr/>
          </p:nvSpPr>
          <p:spPr>
            <a:xfrm>
              <a:off x="575767" y="4312240"/>
              <a:ext cx="2793820" cy="205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데이터 업데이트 항목 확인</a:t>
              </a:r>
              <a:endParaRPr/>
            </a:p>
          </p:txBody>
        </p:sp>
        <p:sp>
          <p:nvSpPr>
            <p:cNvPr id="324" name="Google Shape;324;p3"/>
            <p:cNvSpPr txBox="1"/>
            <p:nvPr/>
          </p:nvSpPr>
          <p:spPr>
            <a:xfrm>
              <a:off x="575767" y="4565347"/>
              <a:ext cx="2793820" cy="285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B5563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AI가 추출·정규화한 신규/변경 항목을 S-CLM에서 확인</a:t>
              </a:r>
              <a:endParaRPr/>
            </a:p>
          </p:txBody>
        </p:sp>
        <p:sp>
          <p:nvSpPr>
            <p:cNvPr id="325" name="Google Shape;325;p3"/>
            <p:cNvSpPr txBox="1"/>
            <p:nvPr/>
          </p:nvSpPr>
          <p:spPr>
            <a:xfrm>
              <a:off x="575767" y="4914225"/>
              <a:ext cx="2793820" cy="1269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45309"/>
                </a:buClr>
                <a:buSzPts val="900"/>
                <a:buFont typeface="Arial"/>
                <a:buNone/>
              </a:pPr>
              <a:r>
                <a:rPr lang="ko-KR" sz="900">
                  <a:solidFill>
                    <a:srgbClr val="B45309"/>
                  </a:solidFill>
                  <a:latin typeface="Arial"/>
                  <a:ea typeface="Arial"/>
                  <a:cs typeface="Arial"/>
                  <a:sym typeface="Arial"/>
                </a:rPr>
                <a:t>※ 신규/변경 항목 확인</a:t>
              </a:r>
              <a:endParaRPr/>
            </a:p>
          </p:txBody>
        </p:sp>
      </p:grpSp>
      <p:grpSp>
        <p:nvGrpSpPr>
          <p:cNvPr id="326" name="Google Shape;326;p3"/>
          <p:cNvGrpSpPr/>
          <p:nvPr/>
        </p:nvGrpSpPr>
        <p:grpSpPr>
          <a:xfrm>
            <a:off x="461029" y="6235077"/>
            <a:ext cx="3023989" cy="855093"/>
            <a:chOff x="461029" y="5515450"/>
            <a:chExt cx="3023989" cy="855093"/>
          </a:xfrm>
        </p:grpSpPr>
        <p:sp>
          <p:nvSpPr>
            <p:cNvPr id="327" name="Google Shape;327;p3"/>
            <p:cNvSpPr/>
            <p:nvPr/>
          </p:nvSpPr>
          <p:spPr>
            <a:xfrm>
              <a:off x="461029" y="5515450"/>
              <a:ext cx="3023989" cy="855093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9CA3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gen-dedup-c4d63490290c7ad44ddee165159d8932.png" id="328" name="Google Shape;328;p3"/>
            <p:cNvPicPr preferRelativeResize="0"/>
            <p:nvPr/>
          </p:nvPicPr>
          <p:blipFill rotWithShape="1">
            <a:blip r:embed="rId3">
              <a:alphaModFix/>
            </a:blip>
            <a:srcRect b="-400" l="0" r="0" t="-400"/>
            <a:stretch/>
          </p:blipFill>
          <p:spPr>
            <a:xfrm>
              <a:off x="461029" y="5515450"/>
              <a:ext cx="3023989" cy="31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"/>
            <p:cNvSpPr txBox="1"/>
            <p:nvPr/>
          </p:nvSpPr>
          <p:spPr>
            <a:xfrm>
              <a:off x="576113" y="5610460"/>
              <a:ext cx="2793820" cy="1109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B7280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STEP · R3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"/>
            <p:cNvSpPr txBox="1"/>
            <p:nvPr/>
          </p:nvSpPr>
          <p:spPr>
            <a:xfrm>
              <a:off x="576113" y="5760957"/>
              <a:ext cx="2793820" cy="205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S-CLM DB 반영</a:t>
              </a:r>
              <a:endParaRPr/>
            </a:p>
          </p:txBody>
        </p:sp>
        <p:sp>
          <p:nvSpPr>
            <p:cNvPr id="331" name="Google Shape;331;p3"/>
            <p:cNvSpPr txBox="1"/>
            <p:nvPr/>
          </p:nvSpPr>
          <p:spPr>
            <a:xfrm>
              <a:off x="576113" y="6006464"/>
              <a:ext cx="2793820" cy="275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B5563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확인된 신규/변경 사항을 S-CLM DB에 반영</a:t>
              </a:r>
              <a:endParaRPr/>
            </a:p>
          </p:txBody>
        </p:sp>
      </p:grpSp>
      <p:grpSp>
        <p:nvGrpSpPr>
          <p:cNvPr id="332" name="Google Shape;332;p3"/>
          <p:cNvGrpSpPr/>
          <p:nvPr/>
        </p:nvGrpSpPr>
        <p:grpSpPr>
          <a:xfrm>
            <a:off x="3917016" y="1262756"/>
            <a:ext cx="2591991" cy="792000"/>
            <a:chOff x="3917016" y="1572903"/>
            <a:chExt cx="2591991" cy="792000"/>
          </a:xfrm>
        </p:grpSpPr>
        <p:grpSp>
          <p:nvGrpSpPr>
            <p:cNvPr id="333" name="Google Shape;333;p3"/>
            <p:cNvGrpSpPr/>
            <p:nvPr/>
          </p:nvGrpSpPr>
          <p:grpSpPr>
            <a:xfrm>
              <a:off x="3917016" y="1572903"/>
              <a:ext cx="2591991" cy="792000"/>
              <a:chOff x="3917016" y="1574718"/>
              <a:chExt cx="2591991" cy="696996"/>
            </a:xfrm>
          </p:grpSpPr>
          <p:sp>
            <p:nvSpPr>
              <p:cNvPr id="334" name="Google Shape;334;p3"/>
              <p:cNvSpPr/>
              <p:nvPr/>
            </p:nvSpPr>
            <p:spPr>
              <a:xfrm>
                <a:off x="3917016" y="1574718"/>
                <a:ext cx="2591991" cy="696996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gen-dedup-c5e96a759af184f561dadf0011acd6c3.png" id="335" name="Google Shape;335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-382" r="-382" t="0"/>
              <a:stretch/>
            </p:blipFill>
            <p:spPr>
              <a:xfrm>
                <a:off x="3917016" y="1574718"/>
                <a:ext cx="29030" cy="696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36" name="Google Shape;336;p3"/>
            <p:cNvSpPr txBox="1"/>
            <p:nvPr/>
          </p:nvSpPr>
          <p:spPr>
            <a:xfrm>
              <a:off x="4031755" y="1634916"/>
              <a:ext cx="646291" cy="1109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4ED8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STEP A1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"/>
            <p:cNvSpPr txBox="1"/>
            <p:nvPr/>
          </p:nvSpPr>
          <p:spPr>
            <a:xfrm>
              <a:off x="4031755" y="1770459"/>
              <a:ext cx="2361822" cy="190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문서·변동 내역 수신</a:t>
              </a:r>
              <a:endParaRPr/>
            </a:p>
          </p:txBody>
        </p:sp>
        <p:sp>
          <p:nvSpPr>
            <p:cNvPr id="338" name="Google Shape;338;p3"/>
            <p:cNvSpPr txBox="1"/>
            <p:nvPr/>
          </p:nvSpPr>
          <p:spPr>
            <a:xfrm>
              <a:off x="4031755" y="1954512"/>
              <a:ext cx="2361822" cy="30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00" lIns="0" spcFirstLastPara="1" rIns="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B5563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S-CLM 업로드 문서와 품질문제 변동 내역을 수신</a:t>
              </a:r>
              <a:endParaRPr/>
            </a:p>
          </p:txBody>
        </p:sp>
      </p:grpSp>
      <p:grpSp>
        <p:nvGrpSpPr>
          <p:cNvPr id="339" name="Google Shape;339;p3"/>
          <p:cNvGrpSpPr/>
          <p:nvPr/>
        </p:nvGrpSpPr>
        <p:grpSpPr>
          <a:xfrm>
            <a:off x="3917016" y="3037070"/>
            <a:ext cx="2591991" cy="792000"/>
            <a:chOff x="3917016" y="3202905"/>
            <a:chExt cx="2591991" cy="792000"/>
          </a:xfrm>
        </p:grpSpPr>
        <p:grpSp>
          <p:nvGrpSpPr>
            <p:cNvPr id="340" name="Google Shape;340;p3"/>
            <p:cNvGrpSpPr/>
            <p:nvPr/>
          </p:nvGrpSpPr>
          <p:grpSpPr>
            <a:xfrm>
              <a:off x="3917016" y="3202905"/>
              <a:ext cx="2591991" cy="792000"/>
              <a:chOff x="3917016" y="3649542"/>
              <a:chExt cx="2591991" cy="696996"/>
            </a:xfrm>
          </p:grpSpPr>
          <p:sp>
            <p:nvSpPr>
              <p:cNvPr id="341" name="Google Shape;341;p3"/>
              <p:cNvSpPr/>
              <p:nvPr/>
            </p:nvSpPr>
            <p:spPr>
              <a:xfrm>
                <a:off x="3917016" y="3649542"/>
                <a:ext cx="2591991" cy="696996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gen-dedup-c5e96a759af184f561dadf0011acd6c3.png" id="342" name="Google Shape;342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-382" r="-382" t="0"/>
              <a:stretch/>
            </p:blipFill>
            <p:spPr>
              <a:xfrm>
                <a:off x="3917016" y="3649542"/>
                <a:ext cx="29030" cy="696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3" name="Google Shape;343;p3"/>
            <p:cNvSpPr txBox="1"/>
            <p:nvPr/>
          </p:nvSpPr>
          <p:spPr>
            <a:xfrm>
              <a:off x="4031755" y="3267376"/>
              <a:ext cx="646291" cy="1109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4ED8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STEP A3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"/>
            <p:cNvSpPr txBox="1"/>
            <p:nvPr/>
          </p:nvSpPr>
          <p:spPr>
            <a:xfrm>
              <a:off x="4031755" y="3402919"/>
              <a:ext cx="2361822" cy="190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OCR 추출 결과 수신</a:t>
              </a:r>
              <a:endParaRPr/>
            </a:p>
          </p:txBody>
        </p:sp>
        <p:sp>
          <p:nvSpPr>
            <p:cNvPr id="345" name="Google Shape;345;p3"/>
            <p:cNvSpPr txBox="1"/>
            <p:nvPr/>
          </p:nvSpPr>
          <p:spPr>
            <a:xfrm>
              <a:off x="4031755" y="3586972"/>
              <a:ext cx="2361822" cy="30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00" lIns="0" spcFirstLastPara="1" rIns="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B5563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개선대책서 구조화 텍스트를 에이전트로 수신</a:t>
              </a:r>
              <a:endParaRPr/>
            </a:p>
          </p:txBody>
        </p:sp>
      </p:grpSp>
      <p:grpSp>
        <p:nvGrpSpPr>
          <p:cNvPr id="346" name="Google Shape;346;p3"/>
          <p:cNvGrpSpPr/>
          <p:nvPr/>
        </p:nvGrpSpPr>
        <p:grpSpPr>
          <a:xfrm>
            <a:off x="3917016" y="3924227"/>
            <a:ext cx="2591991" cy="792000"/>
            <a:chOff x="3917016" y="4017906"/>
            <a:chExt cx="2591991" cy="792000"/>
          </a:xfrm>
        </p:grpSpPr>
        <p:grpSp>
          <p:nvGrpSpPr>
            <p:cNvPr id="347" name="Google Shape;347;p3"/>
            <p:cNvGrpSpPr/>
            <p:nvPr/>
          </p:nvGrpSpPr>
          <p:grpSpPr>
            <a:xfrm>
              <a:off x="3917016" y="4017906"/>
              <a:ext cx="2591991" cy="792000"/>
              <a:chOff x="3917016" y="4504634"/>
              <a:chExt cx="2591991" cy="696996"/>
            </a:xfrm>
          </p:grpSpPr>
          <p:sp>
            <p:nvSpPr>
              <p:cNvPr id="298" name="Google Shape;298;p3"/>
              <p:cNvSpPr/>
              <p:nvPr/>
            </p:nvSpPr>
            <p:spPr>
              <a:xfrm>
                <a:off x="3917016" y="4504634"/>
                <a:ext cx="2591991" cy="696996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gen-dedup-c5e96a759af184f561dadf0011acd6c3.png" id="348" name="Google Shape;348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-382" r="-382" t="0"/>
              <a:stretch/>
            </p:blipFill>
            <p:spPr>
              <a:xfrm>
                <a:off x="3917016" y="4504634"/>
                <a:ext cx="29030" cy="696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9" name="Google Shape;349;p3"/>
            <p:cNvSpPr txBox="1"/>
            <p:nvPr/>
          </p:nvSpPr>
          <p:spPr>
            <a:xfrm>
              <a:off x="4031755" y="4082377"/>
              <a:ext cx="646291" cy="1109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4ED8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STEP A4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"/>
            <p:cNvSpPr txBox="1"/>
            <p:nvPr/>
          </p:nvSpPr>
          <p:spPr>
            <a:xfrm>
              <a:off x="4031755" y="4217920"/>
              <a:ext cx="2361822" cy="190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과거 품질 이력 데이터 전처리</a:t>
              </a:r>
              <a:endParaRPr/>
            </a:p>
          </p:txBody>
        </p:sp>
        <p:sp>
          <p:nvSpPr>
            <p:cNvPr id="351" name="Google Shape;351;p3"/>
            <p:cNvSpPr txBox="1"/>
            <p:nvPr/>
          </p:nvSpPr>
          <p:spPr>
            <a:xfrm>
              <a:off x="4031755" y="4401973"/>
              <a:ext cx="2361822" cy="30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00" lIns="0" spcFirstLastPara="1" rIns="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B5563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구조화 텍스트를 적재용 정규화 JSON으로 전처리</a:t>
              </a:r>
              <a:endParaRPr/>
            </a:p>
          </p:txBody>
        </p:sp>
      </p:grpSp>
      <p:grpSp>
        <p:nvGrpSpPr>
          <p:cNvPr id="352" name="Google Shape;352;p3"/>
          <p:cNvGrpSpPr/>
          <p:nvPr/>
        </p:nvGrpSpPr>
        <p:grpSpPr>
          <a:xfrm>
            <a:off x="3917016" y="4811384"/>
            <a:ext cx="2591991" cy="792000"/>
            <a:chOff x="3917016" y="4832907"/>
            <a:chExt cx="2591991" cy="792000"/>
          </a:xfrm>
        </p:grpSpPr>
        <p:grpSp>
          <p:nvGrpSpPr>
            <p:cNvPr id="353" name="Google Shape;353;p3"/>
            <p:cNvGrpSpPr/>
            <p:nvPr/>
          </p:nvGrpSpPr>
          <p:grpSpPr>
            <a:xfrm>
              <a:off x="3917016" y="4832907"/>
              <a:ext cx="2591991" cy="792000"/>
              <a:chOff x="3917016" y="5359727"/>
              <a:chExt cx="2591991" cy="696996"/>
            </a:xfrm>
          </p:grpSpPr>
          <p:sp>
            <p:nvSpPr>
              <p:cNvPr id="301" name="Google Shape;301;p3"/>
              <p:cNvSpPr/>
              <p:nvPr/>
            </p:nvSpPr>
            <p:spPr>
              <a:xfrm>
                <a:off x="3917016" y="5359727"/>
                <a:ext cx="2591991" cy="696996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gen-dedup-c5e96a759af184f561dadf0011acd6c3.png" id="354" name="Google Shape;354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-382" r="-382" t="0"/>
              <a:stretch/>
            </p:blipFill>
            <p:spPr>
              <a:xfrm>
                <a:off x="3917016" y="5359727"/>
                <a:ext cx="29030" cy="696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55" name="Google Shape;355;p3"/>
            <p:cNvSpPr txBox="1"/>
            <p:nvPr/>
          </p:nvSpPr>
          <p:spPr>
            <a:xfrm>
              <a:off x="4031755" y="4897378"/>
              <a:ext cx="646291" cy="1109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4ED8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STEP A5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"/>
            <p:cNvSpPr txBox="1"/>
            <p:nvPr/>
          </p:nvSpPr>
          <p:spPr>
            <a:xfrm>
              <a:off x="4031755" y="5032921"/>
              <a:ext cx="2361822" cy="190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추출 리스트 데이터 전송</a:t>
              </a:r>
              <a:endParaRPr/>
            </a:p>
          </p:txBody>
        </p:sp>
        <p:sp>
          <p:nvSpPr>
            <p:cNvPr id="357" name="Google Shape;357;p3"/>
            <p:cNvSpPr txBox="1"/>
            <p:nvPr/>
          </p:nvSpPr>
          <p:spPr>
            <a:xfrm>
              <a:off x="4031755" y="5216974"/>
              <a:ext cx="2361822" cy="30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00" lIns="0" spcFirstLastPara="1" rIns="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B5563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추출 항목 및 요약 정보를 S-CLM으로 전송</a:t>
              </a:r>
              <a:endParaRPr/>
            </a:p>
          </p:txBody>
        </p:sp>
      </p:grpSp>
      <p:grpSp>
        <p:nvGrpSpPr>
          <p:cNvPr id="358" name="Google Shape;358;p3"/>
          <p:cNvGrpSpPr/>
          <p:nvPr/>
        </p:nvGrpSpPr>
        <p:grpSpPr>
          <a:xfrm>
            <a:off x="3917016" y="5698543"/>
            <a:ext cx="2591991" cy="792000"/>
            <a:chOff x="3917016" y="5647909"/>
            <a:chExt cx="2591991" cy="792000"/>
          </a:xfrm>
        </p:grpSpPr>
        <p:grpSp>
          <p:nvGrpSpPr>
            <p:cNvPr id="359" name="Google Shape;359;p3"/>
            <p:cNvGrpSpPr/>
            <p:nvPr/>
          </p:nvGrpSpPr>
          <p:grpSpPr>
            <a:xfrm>
              <a:off x="3917016" y="5647909"/>
              <a:ext cx="2591991" cy="792000"/>
              <a:chOff x="3917016" y="6214819"/>
              <a:chExt cx="2591991" cy="696996"/>
            </a:xfrm>
          </p:grpSpPr>
          <p:sp>
            <p:nvSpPr>
              <p:cNvPr id="360" name="Google Shape;360;p3"/>
              <p:cNvSpPr/>
              <p:nvPr/>
            </p:nvSpPr>
            <p:spPr>
              <a:xfrm>
                <a:off x="3917016" y="6214819"/>
                <a:ext cx="2591991" cy="696996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gen-dedup-c5e96a759af184f561dadf0011acd6c3.png" id="361" name="Google Shape;361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-382" r="-382" t="0"/>
              <a:stretch/>
            </p:blipFill>
            <p:spPr>
              <a:xfrm>
                <a:off x="3917016" y="6214819"/>
                <a:ext cx="29030" cy="696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62" name="Google Shape;362;p3"/>
            <p:cNvSpPr txBox="1"/>
            <p:nvPr/>
          </p:nvSpPr>
          <p:spPr>
            <a:xfrm>
              <a:off x="4031755" y="5712380"/>
              <a:ext cx="646291" cy="1109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4ED8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STEP A6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"/>
            <p:cNvSpPr txBox="1"/>
            <p:nvPr/>
          </p:nvSpPr>
          <p:spPr>
            <a:xfrm>
              <a:off x="4031755" y="5847923"/>
              <a:ext cx="2361822" cy="190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DB 데이터 증분 색인</a:t>
              </a:r>
              <a:endParaRPr/>
            </a:p>
          </p:txBody>
        </p:sp>
        <p:sp>
          <p:nvSpPr>
            <p:cNvPr id="364" name="Google Shape;364;p3"/>
            <p:cNvSpPr txBox="1"/>
            <p:nvPr/>
          </p:nvSpPr>
          <p:spPr>
            <a:xfrm>
              <a:off x="4031755" y="6031976"/>
              <a:ext cx="2361822" cy="30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00" lIns="0" spcFirstLastPara="1" rIns="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변경된 DB 데이터를 검색엔진으로 자동 증분 색인</a:t>
              </a:r>
              <a:endParaRPr/>
            </a:p>
          </p:txBody>
        </p:sp>
      </p:grpSp>
      <p:cxnSp>
        <p:nvCxnSpPr>
          <p:cNvPr id="365" name="Google Shape;365;p3"/>
          <p:cNvCxnSpPr>
            <a:stCxn id="310" idx="3"/>
            <a:endCxn id="335" idx="1"/>
          </p:cNvCxnSpPr>
          <p:nvPr/>
        </p:nvCxnSpPr>
        <p:spPr>
          <a:xfrm flipH="1" rot="10800000">
            <a:off x="3485018" y="1658749"/>
            <a:ext cx="432000" cy="3900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66" name="Google Shape;366;p3"/>
          <p:cNvCxnSpPr>
            <a:stCxn id="360" idx="1"/>
            <a:endCxn id="320" idx="3"/>
          </p:cNvCxnSpPr>
          <p:nvPr/>
        </p:nvCxnSpPr>
        <p:spPr>
          <a:xfrm rot="10800000">
            <a:off x="3485016" y="5210743"/>
            <a:ext cx="432000" cy="8838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67" name="Google Shape;367;p3"/>
          <p:cNvCxnSpPr>
            <a:stCxn id="334" idx="2"/>
            <a:endCxn id="368" idx="0"/>
          </p:cNvCxnSpPr>
          <p:nvPr/>
        </p:nvCxnSpPr>
        <p:spPr>
          <a:xfrm>
            <a:off x="5213012" y="2054756"/>
            <a:ext cx="0" cy="95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69" name="Google Shape;369;p3"/>
          <p:cNvCxnSpPr>
            <a:stCxn id="310" idx="2"/>
            <a:endCxn id="311" idx="0"/>
          </p:cNvCxnSpPr>
          <p:nvPr/>
        </p:nvCxnSpPr>
        <p:spPr>
          <a:xfrm>
            <a:off x="1973024" y="2476295"/>
            <a:ext cx="0" cy="221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0" name="Google Shape;370;p3"/>
          <p:cNvCxnSpPr>
            <a:stCxn id="320" idx="2"/>
            <a:endCxn id="327" idx="0"/>
          </p:cNvCxnSpPr>
          <p:nvPr/>
        </p:nvCxnSpPr>
        <p:spPr>
          <a:xfrm>
            <a:off x="1973024" y="5717378"/>
            <a:ext cx="0" cy="517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grpSp>
        <p:nvGrpSpPr>
          <p:cNvPr id="371" name="Google Shape;371;p3"/>
          <p:cNvGrpSpPr/>
          <p:nvPr/>
        </p:nvGrpSpPr>
        <p:grpSpPr>
          <a:xfrm>
            <a:off x="3917016" y="2149913"/>
            <a:ext cx="2591991" cy="792000"/>
            <a:chOff x="3917016" y="2387904"/>
            <a:chExt cx="2591991" cy="792000"/>
          </a:xfrm>
        </p:grpSpPr>
        <p:grpSp>
          <p:nvGrpSpPr>
            <p:cNvPr id="372" name="Google Shape;372;p3"/>
            <p:cNvGrpSpPr/>
            <p:nvPr/>
          </p:nvGrpSpPr>
          <p:grpSpPr>
            <a:xfrm>
              <a:off x="3917016" y="2387904"/>
              <a:ext cx="2591991" cy="792000"/>
              <a:chOff x="3917016" y="2525000"/>
              <a:chExt cx="2591991" cy="696996"/>
            </a:xfrm>
          </p:grpSpPr>
          <p:sp>
            <p:nvSpPr>
              <p:cNvPr id="368" name="Google Shape;368;p3"/>
              <p:cNvSpPr/>
              <p:nvPr/>
            </p:nvSpPr>
            <p:spPr>
              <a:xfrm>
                <a:off x="3917016" y="2525000"/>
                <a:ext cx="2591991" cy="696996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gen-dedup-c5e96a759af184f561dadf0011acd6c3.png" id="373" name="Google Shape;373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-382" r="-382" t="0"/>
              <a:stretch/>
            </p:blipFill>
            <p:spPr>
              <a:xfrm>
                <a:off x="3917016" y="2525000"/>
                <a:ext cx="29030" cy="696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74" name="Google Shape;374;p3"/>
            <p:cNvSpPr txBox="1"/>
            <p:nvPr/>
          </p:nvSpPr>
          <p:spPr>
            <a:xfrm>
              <a:off x="4031755" y="2452375"/>
              <a:ext cx="646291" cy="1109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4ED8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STEP A2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"/>
            <p:cNvSpPr txBox="1"/>
            <p:nvPr/>
          </p:nvSpPr>
          <p:spPr>
            <a:xfrm>
              <a:off x="4031755" y="2587918"/>
              <a:ext cx="2361822" cy="190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OCR 전송·텍스트 추출</a:t>
              </a:r>
              <a:endParaRPr/>
            </a:p>
          </p:txBody>
        </p:sp>
        <p:sp>
          <p:nvSpPr>
            <p:cNvPr id="376" name="Google Shape;376;p3"/>
            <p:cNvSpPr txBox="1"/>
            <p:nvPr/>
          </p:nvSpPr>
          <p:spPr>
            <a:xfrm>
              <a:off x="4031755" y="2771971"/>
              <a:ext cx="2361822" cy="30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00" lIns="0" spcFirstLastPara="1" rIns="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과거 품질 이력 문서를 OCR로 전송하여 구조화 텍스트 추출</a:t>
              </a:r>
              <a:endParaRPr/>
            </a:p>
          </p:txBody>
        </p:sp>
      </p:grpSp>
      <p:cxnSp>
        <p:nvCxnSpPr>
          <p:cNvPr id="377" name="Google Shape;377;p3"/>
          <p:cNvCxnSpPr>
            <a:stCxn id="368" idx="2"/>
            <a:endCxn id="341" idx="0"/>
          </p:cNvCxnSpPr>
          <p:nvPr/>
        </p:nvCxnSpPr>
        <p:spPr>
          <a:xfrm>
            <a:off x="5213012" y="2941913"/>
            <a:ext cx="0" cy="95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78" name="Google Shape;378;p3"/>
          <p:cNvCxnSpPr>
            <a:stCxn id="341" idx="2"/>
            <a:endCxn id="298" idx="0"/>
          </p:cNvCxnSpPr>
          <p:nvPr/>
        </p:nvCxnSpPr>
        <p:spPr>
          <a:xfrm>
            <a:off x="5213012" y="3829070"/>
            <a:ext cx="0" cy="95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79" name="Google Shape;379;p3"/>
          <p:cNvCxnSpPr>
            <a:stCxn id="298" idx="2"/>
            <a:endCxn id="301" idx="0"/>
          </p:cNvCxnSpPr>
          <p:nvPr/>
        </p:nvCxnSpPr>
        <p:spPr>
          <a:xfrm>
            <a:off x="5213012" y="4716227"/>
            <a:ext cx="0" cy="95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80" name="Google Shape;380;p3"/>
          <p:cNvCxnSpPr>
            <a:stCxn id="301" idx="2"/>
            <a:endCxn id="360" idx="0"/>
          </p:cNvCxnSpPr>
          <p:nvPr/>
        </p:nvCxnSpPr>
        <p:spPr>
          <a:xfrm>
            <a:off x="5213012" y="5603384"/>
            <a:ext cx="0" cy="95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grpSp>
        <p:nvGrpSpPr>
          <p:cNvPr id="381" name="Google Shape;381;p3"/>
          <p:cNvGrpSpPr/>
          <p:nvPr/>
        </p:nvGrpSpPr>
        <p:grpSpPr>
          <a:xfrm>
            <a:off x="6946159" y="2149913"/>
            <a:ext cx="6422607" cy="792000"/>
            <a:chOff x="6946159" y="2479825"/>
            <a:chExt cx="6422607" cy="792000"/>
          </a:xfrm>
        </p:grpSpPr>
        <p:sp>
          <p:nvSpPr>
            <p:cNvPr id="382" name="Google Shape;382;p3"/>
            <p:cNvSpPr/>
            <p:nvPr/>
          </p:nvSpPr>
          <p:spPr>
            <a:xfrm>
              <a:off x="6946159" y="2479825"/>
              <a:ext cx="6422607" cy="7920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"/>
            <p:cNvSpPr txBox="1"/>
            <p:nvPr/>
          </p:nvSpPr>
          <p:spPr>
            <a:xfrm>
              <a:off x="7064289" y="2552893"/>
              <a:ext cx="2916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OCR API 전송</a:t>
              </a:r>
              <a:endParaRPr/>
            </a:p>
          </p:txBody>
        </p:sp>
        <p:sp>
          <p:nvSpPr>
            <p:cNvPr id="384" name="Google Shape;384;p3"/>
            <p:cNvSpPr txBox="1"/>
            <p:nvPr/>
          </p:nvSpPr>
          <p:spPr>
            <a:xfrm>
              <a:off x="7064288" y="2777199"/>
              <a:ext cx="3558133" cy="304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CA3AF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9CA3AF"/>
                  </a:solidFill>
                  <a:latin typeface="Arial"/>
                  <a:ea typeface="Arial"/>
                  <a:cs typeface="Arial"/>
                  <a:sym typeface="Arial"/>
                </a:rPr>
                <a:t>과거 품질 이력 문서 파일을 OCR 모듈로 전송</a:t>
              </a:r>
              <a:endParaRPr/>
            </a:p>
          </p:txBody>
        </p:sp>
      </p:grpSp>
      <p:grpSp>
        <p:nvGrpSpPr>
          <p:cNvPr id="385" name="Google Shape;385;p3"/>
          <p:cNvGrpSpPr/>
          <p:nvPr/>
        </p:nvGrpSpPr>
        <p:grpSpPr>
          <a:xfrm>
            <a:off x="6946853" y="3037070"/>
            <a:ext cx="6421913" cy="792000"/>
            <a:chOff x="6946853" y="3347956"/>
            <a:chExt cx="6421913" cy="792000"/>
          </a:xfrm>
        </p:grpSpPr>
        <p:sp>
          <p:nvSpPr>
            <p:cNvPr id="386" name="Google Shape;386;p3"/>
            <p:cNvSpPr/>
            <p:nvPr/>
          </p:nvSpPr>
          <p:spPr>
            <a:xfrm>
              <a:off x="6946853" y="3347956"/>
              <a:ext cx="6421913" cy="7920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3"/>
            <p:cNvSpPr txBox="1"/>
            <p:nvPr/>
          </p:nvSpPr>
          <p:spPr>
            <a:xfrm>
              <a:off x="7064289" y="3421024"/>
              <a:ext cx="2916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구조화 텍스트 추출</a:t>
              </a:r>
              <a:endParaRPr/>
            </a:p>
          </p:txBody>
        </p:sp>
        <p:sp>
          <p:nvSpPr>
            <p:cNvPr id="388" name="Google Shape;388;p3"/>
            <p:cNvSpPr txBox="1"/>
            <p:nvPr/>
          </p:nvSpPr>
          <p:spPr>
            <a:xfrm>
              <a:off x="7064288" y="3645330"/>
              <a:ext cx="4139247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B7280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발생형태·귀책사유·발생장소·중요도·발생년도·대책방안 등 추출</a:t>
              </a:r>
              <a:endParaRPr/>
            </a:p>
          </p:txBody>
        </p:sp>
      </p:grpSp>
      <p:grpSp>
        <p:nvGrpSpPr>
          <p:cNvPr id="389" name="Google Shape;389;p3"/>
          <p:cNvGrpSpPr/>
          <p:nvPr/>
        </p:nvGrpSpPr>
        <p:grpSpPr>
          <a:xfrm>
            <a:off x="6946159" y="3924227"/>
            <a:ext cx="6422607" cy="792000"/>
            <a:chOff x="6946159" y="4181930"/>
            <a:chExt cx="6422607" cy="792000"/>
          </a:xfrm>
        </p:grpSpPr>
        <p:grpSp>
          <p:nvGrpSpPr>
            <p:cNvPr id="390" name="Google Shape;390;p3"/>
            <p:cNvGrpSpPr/>
            <p:nvPr/>
          </p:nvGrpSpPr>
          <p:grpSpPr>
            <a:xfrm>
              <a:off x="6946159" y="4181930"/>
              <a:ext cx="3153934" cy="792000"/>
              <a:chOff x="6946159" y="4181930"/>
              <a:chExt cx="3153934" cy="792000"/>
            </a:xfrm>
          </p:grpSpPr>
          <p:sp>
            <p:nvSpPr>
              <p:cNvPr id="391" name="Google Shape;391;p3"/>
              <p:cNvSpPr/>
              <p:nvPr/>
            </p:nvSpPr>
            <p:spPr>
              <a:xfrm>
                <a:off x="6946159" y="4181930"/>
                <a:ext cx="3153934" cy="7920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5D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3"/>
              <p:cNvSpPr txBox="1"/>
              <p:nvPr/>
            </p:nvSpPr>
            <p:spPr>
              <a:xfrm>
                <a:off x="7064289" y="4289848"/>
                <a:ext cx="29160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정규화 전처리</a:t>
                </a:r>
                <a:endParaRPr/>
              </a:p>
            </p:txBody>
          </p:sp>
          <p:sp>
            <p:nvSpPr>
              <p:cNvPr id="393" name="Google Shape;393;p3"/>
              <p:cNvSpPr txBox="1"/>
              <p:nvPr/>
            </p:nvSpPr>
            <p:spPr>
              <a:xfrm>
                <a:off x="7064289" y="4526653"/>
                <a:ext cx="2880000" cy="14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B7280"/>
                  </a:buClr>
                  <a:buSzPts val="1000"/>
                  <a:buFont typeface="Arial"/>
                  <a:buNone/>
                </a:pPr>
                <a:r>
                  <a:rPr lang="ko-KR" sz="1000">
                    <a:solidFill>
                      <a:srgbClr val="6B7280"/>
                    </a:solidFill>
                    <a:latin typeface="Arial"/>
                    <a:ea typeface="Arial"/>
                    <a:cs typeface="Arial"/>
                    <a:sym typeface="Arial"/>
                  </a:rPr>
                  <a:t>추출 텍스트를 정규화 JSON 포맷으로 변환</a:t>
                </a:r>
                <a:endParaRPr/>
              </a:p>
            </p:txBody>
          </p:sp>
        </p:grpSp>
        <p:grpSp>
          <p:nvGrpSpPr>
            <p:cNvPr id="394" name="Google Shape;394;p3"/>
            <p:cNvGrpSpPr/>
            <p:nvPr/>
          </p:nvGrpSpPr>
          <p:grpSpPr>
            <a:xfrm>
              <a:off x="10214832" y="4181930"/>
              <a:ext cx="3153934" cy="792000"/>
              <a:chOff x="10214832" y="4181930"/>
              <a:chExt cx="3153934" cy="792000"/>
            </a:xfrm>
          </p:grpSpPr>
          <p:sp>
            <p:nvSpPr>
              <p:cNvPr id="299" name="Google Shape;299;p3"/>
              <p:cNvSpPr/>
              <p:nvPr/>
            </p:nvSpPr>
            <p:spPr>
              <a:xfrm>
                <a:off x="10214832" y="4181930"/>
                <a:ext cx="3153934" cy="7920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5D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3"/>
              <p:cNvSpPr txBox="1"/>
              <p:nvPr/>
            </p:nvSpPr>
            <p:spPr>
              <a:xfrm>
                <a:off x="10341510" y="4289848"/>
                <a:ext cx="29160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리스트·요약 구성</a:t>
                </a:r>
                <a:endParaRPr/>
              </a:p>
            </p:txBody>
          </p:sp>
          <p:sp>
            <p:nvSpPr>
              <p:cNvPr id="396" name="Google Shape;396;p3"/>
              <p:cNvSpPr txBox="1"/>
              <p:nvPr/>
            </p:nvSpPr>
            <p:spPr>
              <a:xfrm>
                <a:off x="10341510" y="4526653"/>
                <a:ext cx="2880000" cy="14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B7280"/>
                  </a:buClr>
                  <a:buSzPts val="1000"/>
                  <a:buFont typeface="Arial"/>
                  <a:buNone/>
                </a:pPr>
                <a:r>
                  <a:rPr lang="ko-KR" sz="1000">
                    <a:solidFill>
                      <a:srgbClr val="6B7280"/>
                    </a:solidFill>
                    <a:latin typeface="Arial"/>
                    <a:ea typeface="Arial"/>
                    <a:cs typeface="Arial"/>
                    <a:sym typeface="Arial"/>
                  </a:rPr>
                  <a:t>추출 항목 및 요약 정보를 구성</a:t>
                </a:r>
                <a:endParaRPr/>
              </a:p>
            </p:txBody>
          </p:sp>
        </p:grpSp>
      </p:grpSp>
      <p:grpSp>
        <p:nvGrpSpPr>
          <p:cNvPr id="397" name="Google Shape;397;p3"/>
          <p:cNvGrpSpPr/>
          <p:nvPr/>
        </p:nvGrpSpPr>
        <p:grpSpPr>
          <a:xfrm>
            <a:off x="6946159" y="5698543"/>
            <a:ext cx="6422607" cy="792000"/>
            <a:chOff x="6946159" y="6021564"/>
            <a:chExt cx="6422607" cy="792000"/>
          </a:xfrm>
        </p:grpSpPr>
        <p:sp>
          <p:nvSpPr>
            <p:cNvPr id="398" name="Google Shape;398;p3"/>
            <p:cNvSpPr/>
            <p:nvPr/>
          </p:nvSpPr>
          <p:spPr>
            <a:xfrm>
              <a:off x="6946159" y="6021564"/>
              <a:ext cx="6422607" cy="7920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3"/>
            <p:cNvSpPr txBox="1"/>
            <p:nvPr/>
          </p:nvSpPr>
          <p:spPr>
            <a:xfrm>
              <a:off x="7064289" y="6094632"/>
              <a:ext cx="2916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S-CLM 전송 데이터 구성</a:t>
              </a:r>
              <a:endParaRPr/>
            </a:p>
          </p:txBody>
        </p:sp>
        <p:sp>
          <p:nvSpPr>
            <p:cNvPr id="400" name="Google Shape;400;p3"/>
            <p:cNvSpPr txBox="1"/>
            <p:nvPr/>
          </p:nvSpPr>
          <p:spPr>
            <a:xfrm>
              <a:off x="7064289" y="6318765"/>
              <a:ext cx="28800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CA3AF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9CA3AF"/>
                  </a:solidFill>
                  <a:latin typeface="Arial"/>
                  <a:ea typeface="Arial"/>
                  <a:cs typeface="Arial"/>
                  <a:sym typeface="Arial"/>
                </a:rPr>
                <a:t>S-CLM으로 전달할 추출 리스트·요약 데이터 구성</a:t>
              </a:r>
              <a:endParaRPr/>
            </a:p>
          </p:txBody>
        </p:sp>
      </p:grpSp>
      <p:sp>
        <p:nvSpPr>
          <p:cNvPr id="401" name="Google Shape;401;p3"/>
          <p:cNvSpPr/>
          <p:nvPr/>
        </p:nvSpPr>
        <p:spPr>
          <a:xfrm>
            <a:off x="3772556" y="911817"/>
            <a:ext cx="2880220" cy="285031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AI 에이전트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"/>
          <p:cNvSpPr/>
          <p:nvPr/>
        </p:nvSpPr>
        <p:spPr>
          <a:xfrm>
            <a:off x="3535475" y="1768387"/>
            <a:ext cx="343971" cy="182166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1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요청</a:t>
            </a:r>
            <a:endParaRPr/>
          </a:p>
        </p:txBody>
      </p:sp>
      <p:sp>
        <p:nvSpPr>
          <p:cNvPr id="403" name="Google Shape;403;p3"/>
          <p:cNvSpPr/>
          <p:nvPr/>
        </p:nvSpPr>
        <p:spPr>
          <a:xfrm>
            <a:off x="3543201" y="5398963"/>
            <a:ext cx="343971" cy="182166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1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/>
          </a:p>
        </p:txBody>
      </p:sp>
      <p:grpSp>
        <p:nvGrpSpPr>
          <p:cNvPr id="404" name="Google Shape;404;p3"/>
          <p:cNvGrpSpPr/>
          <p:nvPr/>
        </p:nvGrpSpPr>
        <p:grpSpPr>
          <a:xfrm>
            <a:off x="6946159" y="1262756"/>
            <a:ext cx="6422607" cy="792000"/>
            <a:chOff x="6946159" y="1562821"/>
            <a:chExt cx="6422607" cy="792000"/>
          </a:xfrm>
        </p:grpSpPr>
        <p:sp>
          <p:nvSpPr>
            <p:cNvPr id="405" name="Google Shape;405;p3"/>
            <p:cNvSpPr/>
            <p:nvPr/>
          </p:nvSpPr>
          <p:spPr>
            <a:xfrm>
              <a:off x="6946159" y="1562821"/>
              <a:ext cx="6422607" cy="7920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"/>
            <p:cNvSpPr txBox="1"/>
            <p:nvPr/>
          </p:nvSpPr>
          <p:spPr>
            <a:xfrm>
              <a:off x="7064289" y="1635889"/>
              <a:ext cx="2916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수신 데이터 확인</a:t>
              </a:r>
              <a:endParaRPr/>
            </a:p>
          </p:txBody>
        </p:sp>
        <p:sp>
          <p:nvSpPr>
            <p:cNvPr id="407" name="Google Shape;407;p3"/>
            <p:cNvSpPr txBox="1"/>
            <p:nvPr/>
          </p:nvSpPr>
          <p:spPr>
            <a:xfrm>
              <a:off x="7064288" y="1860195"/>
              <a:ext cx="3293213" cy="304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CA3AF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9CA3AF"/>
                  </a:solidFill>
                  <a:latin typeface="Arial"/>
                  <a:ea typeface="Arial"/>
                  <a:cs typeface="Arial"/>
                  <a:sym typeface="Arial"/>
                </a:rPr>
                <a:t>S-CLM 업로드 문서와 변동 내역을 확인</a:t>
              </a:r>
              <a:endParaRPr/>
            </a:p>
          </p:txBody>
        </p:sp>
      </p:grpSp>
      <p:grpSp>
        <p:nvGrpSpPr>
          <p:cNvPr id="408" name="Google Shape;408;p3"/>
          <p:cNvGrpSpPr/>
          <p:nvPr/>
        </p:nvGrpSpPr>
        <p:grpSpPr>
          <a:xfrm>
            <a:off x="6946853" y="6574874"/>
            <a:ext cx="6422607" cy="556511"/>
            <a:chOff x="6946159" y="6021564"/>
            <a:chExt cx="6422607" cy="556511"/>
          </a:xfrm>
        </p:grpSpPr>
        <p:sp>
          <p:nvSpPr>
            <p:cNvPr id="409" name="Google Shape;409;p3"/>
            <p:cNvSpPr/>
            <p:nvPr/>
          </p:nvSpPr>
          <p:spPr>
            <a:xfrm>
              <a:off x="6946159" y="6021564"/>
              <a:ext cx="6422607" cy="55651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"/>
            <p:cNvSpPr txBox="1"/>
            <p:nvPr/>
          </p:nvSpPr>
          <p:spPr>
            <a:xfrm>
              <a:off x="7064289" y="6068994"/>
              <a:ext cx="2916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검색 DB 증분 색인</a:t>
              </a:r>
              <a:endParaRPr/>
            </a:p>
          </p:txBody>
        </p:sp>
        <p:sp>
          <p:nvSpPr>
            <p:cNvPr id="411" name="Google Shape;411;p3"/>
            <p:cNvSpPr txBox="1"/>
            <p:nvPr/>
          </p:nvSpPr>
          <p:spPr>
            <a:xfrm>
              <a:off x="7064288" y="6258943"/>
              <a:ext cx="3813813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CA3AF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9CA3AF"/>
                  </a:solidFill>
                  <a:latin typeface="Arial"/>
                  <a:ea typeface="Arial"/>
                  <a:cs typeface="Arial"/>
                  <a:sym typeface="Arial"/>
                </a:rPr>
                <a:t>변경된 DB 데이터를 검색엔진을 통해 증분 색인</a:t>
              </a:r>
              <a:endParaRPr/>
            </a:p>
          </p:txBody>
        </p:sp>
      </p:grpSp>
      <p:cxnSp>
        <p:nvCxnSpPr>
          <p:cNvPr id="412" name="Google Shape;412;p3"/>
          <p:cNvCxnSpPr>
            <a:endCxn id="409" idx="1"/>
          </p:cNvCxnSpPr>
          <p:nvPr/>
        </p:nvCxnSpPr>
        <p:spPr>
          <a:xfrm>
            <a:off x="3485153" y="6853130"/>
            <a:ext cx="3461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13" name="Google Shape;413;p3"/>
          <p:cNvCxnSpPr>
            <a:stCxn id="334" idx="3"/>
            <a:endCxn id="405" idx="1"/>
          </p:cNvCxnSpPr>
          <p:nvPr/>
        </p:nvCxnSpPr>
        <p:spPr>
          <a:xfrm>
            <a:off x="6509007" y="1658756"/>
            <a:ext cx="4371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4" name="Google Shape;414;p3"/>
          <p:cNvCxnSpPr>
            <a:stCxn id="368" idx="3"/>
            <a:endCxn id="382" idx="1"/>
          </p:cNvCxnSpPr>
          <p:nvPr/>
        </p:nvCxnSpPr>
        <p:spPr>
          <a:xfrm>
            <a:off x="6509007" y="2545913"/>
            <a:ext cx="4371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5" name="Google Shape;415;p3"/>
          <p:cNvCxnSpPr>
            <a:stCxn id="341" idx="3"/>
            <a:endCxn id="386" idx="1"/>
          </p:cNvCxnSpPr>
          <p:nvPr/>
        </p:nvCxnSpPr>
        <p:spPr>
          <a:xfrm>
            <a:off x="6509007" y="3433070"/>
            <a:ext cx="43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6" name="Google Shape;416;p3"/>
          <p:cNvCxnSpPr>
            <a:stCxn id="360" idx="3"/>
            <a:endCxn id="398" idx="1"/>
          </p:cNvCxnSpPr>
          <p:nvPr/>
        </p:nvCxnSpPr>
        <p:spPr>
          <a:xfrm>
            <a:off x="6509007" y="6094543"/>
            <a:ext cx="4371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417" name="Google Shape;417;p3"/>
          <p:cNvGrpSpPr/>
          <p:nvPr/>
        </p:nvGrpSpPr>
        <p:grpSpPr>
          <a:xfrm>
            <a:off x="6946159" y="4811384"/>
            <a:ext cx="6422607" cy="792000"/>
            <a:chOff x="6946159" y="4811384"/>
            <a:chExt cx="6422607" cy="792000"/>
          </a:xfrm>
        </p:grpSpPr>
        <p:grpSp>
          <p:nvGrpSpPr>
            <p:cNvPr id="418" name="Google Shape;418;p3"/>
            <p:cNvGrpSpPr/>
            <p:nvPr/>
          </p:nvGrpSpPr>
          <p:grpSpPr>
            <a:xfrm>
              <a:off x="6946159" y="4811384"/>
              <a:ext cx="3153934" cy="792000"/>
              <a:chOff x="6946159" y="5106698"/>
              <a:chExt cx="3153934" cy="792000"/>
            </a:xfrm>
          </p:grpSpPr>
          <p:sp>
            <p:nvSpPr>
              <p:cNvPr id="419" name="Google Shape;419;p3"/>
              <p:cNvSpPr/>
              <p:nvPr/>
            </p:nvSpPr>
            <p:spPr>
              <a:xfrm>
                <a:off x="6946159" y="5106698"/>
                <a:ext cx="3153934" cy="7920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5D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"/>
              <p:cNvSpPr txBox="1"/>
              <p:nvPr/>
            </p:nvSpPr>
            <p:spPr>
              <a:xfrm>
                <a:off x="7064289" y="5214616"/>
                <a:ext cx="29160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검색 DB 구축</a:t>
                </a:r>
                <a:endParaRPr/>
              </a:p>
            </p:txBody>
          </p:sp>
          <p:sp>
            <p:nvSpPr>
              <p:cNvPr id="421" name="Google Shape;421;p3"/>
              <p:cNvSpPr txBox="1"/>
              <p:nvPr/>
            </p:nvSpPr>
            <p:spPr>
              <a:xfrm>
                <a:off x="7064289" y="5444548"/>
                <a:ext cx="2880000" cy="14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B7280"/>
                  </a:buClr>
                  <a:buSzPts val="1000"/>
                  <a:buFont typeface="Arial"/>
                  <a:buNone/>
                </a:pPr>
                <a:r>
                  <a:rPr lang="ko-KR" sz="1000">
                    <a:solidFill>
                      <a:srgbClr val="6B7280"/>
                    </a:solidFill>
                    <a:latin typeface="Arial"/>
                    <a:ea typeface="Arial"/>
                    <a:cs typeface="Arial"/>
                    <a:sym typeface="Arial"/>
                  </a:rPr>
                  <a:t>메타데이터+대책서 텍스트 키워드·벡터 인덱스(Vector DB) 구축</a:t>
                </a:r>
                <a:endParaRPr/>
              </a:p>
            </p:txBody>
          </p:sp>
        </p:grpSp>
        <p:grpSp>
          <p:nvGrpSpPr>
            <p:cNvPr id="422" name="Google Shape;422;p3"/>
            <p:cNvGrpSpPr/>
            <p:nvPr/>
          </p:nvGrpSpPr>
          <p:grpSpPr>
            <a:xfrm>
              <a:off x="10214832" y="4811384"/>
              <a:ext cx="3153934" cy="792000"/>
              <a:chOff x="10214832" y="4811384"/>
              <a:chExt cx="3153934" cy="792000"/>
            </a:xfrm>
          </p:grpSpPr>
          <p:sp>
            <p:nvSpPr>
              <p:cNvPr id="302" name="Google Shape;302;p3"/>
              <p:cNvSpPr/>
              <p:nvPr/>
            </p:nvSpPr>
            <p:spPr>
              <a:xfrm>
                <a:off x="10214832" y="4811384"/>
                <a:ext cx="3153934" cy="7920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5D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"/>
              <p:cNvSpPr txBox="1"/>
              <p:nvPr/>
            </p:nvSpPr>
            <p:spPr>
              <a:xfrm>
                <a:off x="10341510" y="4919302"/>
                <a:ext cx="29160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색인 결과 검증</a:t>
                </a:r>
                <a:endParaRPr/>
              </a:p>
            </p:txBody>
          </p:sp>
          <p:sp>
            <p:nvSpPr>
              <p:cNvPr id="424" name="Google Shape;424;p3"/>
              <p:cNvSpPr txBox="1"/>
              <p:nvPr/>
            </p:nvSpPr>
            <p:spPr>
              <a:xfrm>
                <a:off x="10341510" y="5149234"/>
                <a:ext cx="2880000" cy="30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B7280"/>
                  </a:buClr>
                  <a:buSzPts val="1000"/>
                  <a:buFont typeface="Arial"/>
                  <a:buNone/>
                </a:pPr>
                <a:r>
                  <a:rPr lang="ko-KR" sz="1000">
                    <a:solidFill>
                      <a:srgbClr val="6B7280"/>
                    </a:solidFill>
                    <a:latin typeface="Arial"/>
                    <a:ea typeface="Arial"/>
                    <a:cs typeface="Arial"/>
                    <a:sym typeface="Arial"/>
                  </a:rPr>
                  <a:t>색인 완료 및 검색 가능 상태 검증</a:t>
                </a:r>
                <a:endParaRPr/>
              </a:p>
            </p:txBody>
          </p:sp>
        </p:grpSp>
      </p:grpSp>
      <p:sp>
        <p:nvSpPr>
          <p:cNvPr id="425" name="Google Shape;425;p3"/>
          <p:cNvSpPr txBox="1"/>
          <p:nvPr/>
        </p:nvSpPr>
        <p:spPr>
          <a:xfrm>
            <a:off x="469575" y="1278784"/>
            <a:ext cx="2555635" cy="268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36000" spcFirstLastPara="1" rIns="36000" wrap="square" tIns="0">
            <a:noAutofit/>
          </a:bodyPr>
          <a:lstStyle/>
          <a:p>
            <a:pPr indent="-179388" lvl="0" marL="1793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1600"/>
              <a:buFont typeface="Noto Sans Symbols"/>
              <a:buChar char="▪"/>
            </a:pPr>
            <a:r>
              <a:rPr lang="ko-KR" sz="1600">
                <a:solidFill>
                  <a:srgbClr val="203864"/>
                </a:solidFill>
                <a:latin typeface="Arial"/>
                <a:ea typeface="Arial"/>
                <a:cs typeface="Arial"/>
                <a:sym typeface="Arial"/>
              </a:rPr>
              <a:t>과거 품질 이력 수집·저장</a:t>
            </a:r>
            <a:endParaRPr/>
          </a:p>
        </p:txBody>
      </p:sp>
      <p:sp>
        <p:nvSpPr>
          <p:cNvPr id="426" name="Google Shape;426;p3"/>
          <p:cNvSpPr/>
          <p:nvPr/>
        </p:nvSpPr>
        <p:spPr>
          <a:xfrm>
            <a:off x="4726831" y="6762047"/>
            <a:ext cx="811067" cy="182166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1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STEP A7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"/>
          <p:cNvSpPr txBox="1"/>
          <p:nvPr/>
        </p:nvSpPr>
        <p:spPr>
          <a:xfrm>
            <a:off x="609905" y="190195"/>
            <a:ext cx="1047811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ko-KR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S-CLM 과거 대책서 기반 최적 대책서 추천 에이전트 상세 처리 흐름도(과제 5)</a:t>
            </a:r>
            <a:endParaRPr/>
          </a:p>
        </p:txBody>
      </p:sp>
      <p:sp>
        <p:nvSpPr>
          <p:cNvPr id="433" name="Google Shape;433;p4"/>
          <p:cNvSpPr txBox="1"/>
          <p:nvPr/>
        </p:nvSpPr>
        <p:spPr>
          <a:xfrm>
            <a:off x="609905" y="562356"/>
            <a:ext cx="10478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S-CLM 과거 품질 이력 수집·저장 처리 단계 상세</a:t>
            </a:r>
            <a:endParaRPr/>
          </a:p>
        </p:txBody>
      </p:sp>
      <p:sp>
        <p:nvSpPr>
          <p:cNvPr id="434" name="Google Shape;434;p4"/>
          <p:cNvSpPr/>
          <p:nvPr/>
        </p:nvSpPr>
        <p:spPr>
          <a:xfrm>
            <a:off x="0" y="780898"/>
            <a:ext cx="13823950" cy="15961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5" name="Google Shape;435;p4"/>
          <p:cNvGraphicFramePr/>
          <p:nvPr/>
        </p:nvGraphicFramePr>
        <p:xfrm>
          <a:off x="520884" y="12035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{DC76C97A-AB75-4E68-933A-387F25F932BF}</a:tableStyleId>
              </a:tblPr>
              <a:tblGrid>
                <a:gridCol w="453475"/>
                <a:gridCol w="1315925"/>
                <a:gridCol w="854575"/>
                <a:gridCol w="5469300"/>
                <a:gridCol w="1939900"/>
                <a:gridCol w="1204950"/>
                <a:gridCol w="1538250"/>
              </a:tblGrid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단계</a:t>
                      </a:r>
                      <a:endParaRPr b="1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단계명</a:t>
                      </a:r>
                      <a:endParaRPr b="1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처리 주체</a:t>
                      </a:r>
                      <a:endParaRPr b="1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설명</a:t>
                      </a:r>
                      <a:endParaRPr b="1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입력/연동 데이터</a:t>
                      </a:r>
                      <a:endParaRPr b="1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참조 데이터</a:t>
                      </a:r>
                      <a:endParaRPr b="1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출력 데이터</a:t>
                      </a:r>
                      <a:endParaRPr b="1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S1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과거 품질 이력 문서 업로드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S-CLM (화면-O)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과거 품질 이력 문서를 저장하기 위해 S-CLM에 업로드한다.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비정형 문서(과거 품질 이력, 약 7,000건)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업로드 문서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S2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품질문제 변동 내역 전송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S-CLM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품질문제 생성·변경 내역을 AI 플랫폼으로 전송한다.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비정형 문서(약 7,000건)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전송 데이터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A1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품질 이력 문서 OCR 전송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AI 플랫폼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과거 품질 이력 문서 파일을 OCR로 전송(API)한다.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비정형 문서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OCR 요청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A2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개선대책서 텍스트 추출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OCR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발생형태·귀책사유·발생장소·중요도·발생년도·대책방안 등 구조화 텍스트를 추출한다.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비정형 문서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구조화 텍스트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A3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OCR 추출 결과 수신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AI 플랫폼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개선대책서 텍스트 데이터를 에이전트로 전송(API)받는다.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구조화 텍스트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수신 텍스트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A4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과거 품질 이력 데이터 전처리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AI 플랫폼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구조화 텍스트를 플랫폼 적재용으로 정규화 전처리한다.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구조화 텍스트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정규화 JSON 데이터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A5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추출 리스트 데이터 전송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AI 플랫폼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추출 항목 및 요약 정보를 S-CLM으로 전송한다.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정규화 JSON 데이터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전송 데이터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S3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 확인 및 DB 업데이트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S-CLM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수취한 신규/변경 사항을 확인하여 S-CLM DB에 반영한다.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정규화 JSON 데이터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 갱신 결과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A6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 데이터 증분 색인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플랫폼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변경된 DB 데이터를 자동 증분 색인한다.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증분 DB 데이터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검색엔진 색인 데이터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A7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검색 DB 구축 완료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AI 플랫폼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메타데이터+대책서 텍스트의 키워드·벡터 인덱스로 과거 품질 이력 검색 DB를 구축한다.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색인 데이터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메타데이터·임베딩 벡터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과거 품질 이력 검색 DB(Vector)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</a:tbl>
          </a:graphicData>
        </a:graphic>
      </p:graphicFrame>
      <p:sp>
        <p:nvSpPr>
          <p:cNvPr id="436" name="Google Shape;436;p4"/>
          <p:cNvSpPr txBox="1"/>
          <p:nvPr/>
        </p:nvSpPr>
        <p:spPr>
          <a:xfrm>
            <a:off x="609905" y="919372"/>
            <a:ext cx="2116203" cy="268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36000" spcFirstLastPara="1" rIns="36000" wrap="square" tIns="0">
            <a:noAutofit/>
          </a:bodyPr>
          <a:lstStyle/>
          <a:p>
            <a:pPr indent="-179388" lvl="0" marL="1793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1400"/>
              <a:buFont typeface="Noto Sans Symbols"/>
              <a:buChar char="▪"/>
            </a:pPr>
            <a:r>
              <a:rPr lang="ko-KR" sz="1400">
                <a:solidFill>
                  <a:srgbClr val="203864"/>
                </a:solidFill>
                <a:latin typeface="Arial"/>
                <a:ea typeface="Arial"/>
                <a:cs typeface="Arial"/>
                <a:sym typeface="Arial"/>
              </a:rPr>
              <a:t>과거 품질 이력 수집·저장 단계</a:t>
            </a:r>
            <a:endParaRPr/>
          </a:p>
        </p:txBody>
      </p:sp>
      <p:sp>
        <p:nvSpPr>
          <p:cNvPr id="437" name="Google Shape;437;p4"/>
          <p:cNvSpPr/>
          <p:nvPr/>
        </p:nvSpPr>
        <p:spPr>
          <a:xfrm>
            <a:off x="9744453" y="443882"/>
            <a:ext cx="3469592" cy="65296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협의 사항 확정 내용 기준으로 작성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"/>
          <p:cNvSpPr/>
          <p:nvPr/>
        </p:nvSpPr>
        <p:spPr>
          <a:xfrm>
            <a:off x="10564503" y="4117574"/>
            <a:ext cx="2772000" cy="1280797"/>
          </a:xfrm>
          <a:prstGeom prst="roundRect">
            <a:avLst>
              <a:gd fmla="val 5324" name="adj"/>
            </a:avLst>
          </a:prstGeom>
          <a:gradFill>
            <a:gsLst>
              <a:gs pos="0">
                <a:srgbClr val="D09DC7"/>
              </a:gs>
              <a:gs pos="50000">
                <a:srgbClr val="C590BC"/>
              </a:gs>
              <a:gs pos="100000">
                <a:srgbClr val="C07CB5"/>
              </a:gs>
            </a:gsLst>
            <a:lin ang="5400000" scaled="0"/>
          </a:gradFill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"/>
          <p:cNvSpPr/>
          <p:nvPr/>
        </p:nvSpPr>
        <p:spPr>
          <a:xfrm>
            <a:off x="7304285" y="4117574"/>
            <a:ext cx="2772000" cy="1280797"/>
          </a:xfrm>
          <a:prstGeom prst="roundRect">
            <a:avLst>
              <a:gd fmla="val 5324" name="adj"/>
            </a:avLst>
          </a:prstGeom>
          <a:gradFill>
            <a:gsLst>
              <a:gs pos="0">
                <a:srgbClr val="A6D49D"/>
              </a:gs>
              <a:gs pos="50000">
                <a:srgbClr val="99C991"/>
              </a:gs>
              <a:gs pos="100000">
                <a:srgbClr val="88C57C"/>
              </a:gs>
            </a:gsLst>
            <a:lin ang="5400000" scaled="0"/>
          </a:gradFill>
          <a:ln cap="flat" cmpd="sng" w="1270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"/>
          <p:cNvSpPr/>
          <p:nvPr/>
        </p:nvSpPr>
        <p:spPr>
          <a:xfrm>
            <a:off x="3772556" y="1196848"/>
            <a:ext cx="2880220" cy="5934537"/>
          </a:xfrm>
          <a:prstGeom prst="rect">
            <a:avLst/>
          </a:prstGeom>
          <a:solidFill>
            <a:srgbClr val="FAFB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5"/>
          <p:cNvCxnSpPr/>
          <p:nvPr/>
        </p:nvCxnSpPr>
        <p:spPr>
          <a:xfrm>
            <a:off x="3628787" y="984952"/>
            <a:ext cx="0" cy="6120000"/>
          </a:xfrm>
          <a:prstGeom prst="straightConnector1">
            <a:avLst/>
          </a:prstGeom>
          <a:noFill/>
          <a:ln cap="flat" cmpd="sng" w="19050">
            <a:solidFill>
              <a:srgbClr val="D0D0D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47" name="Google Shape;447;p5"/>
          <p:cNvCxnSpPr/>
          <p:nvPr/>
        </p:nvCxnSpPr>
        <p:spPr>
          <a:xfrm>
            <a:off x="6796545" y="984952"/>
            <a:ext cx="0" cy="6120000"/>
          </a:xfrm>
          <a:prstGeom prst="straightConnector1">
            <a:avLst/>
          </a:prstGeom>
          <a:noFill/>
          <a:ln cap="flat" cmpd="sng" w="19050">
            <a:solidFill>
              <a:srgbClr val="D0D0D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48" name="Google Shape;448;p5"/>
          <p:cNvSpPr txBox="1"/>
          <p:nvPr/>
        </p:nvSpPr>
        <p:spPr>
          <a:xfrm>
            <a:off x="609905" y="190195"/>
            <a:ext cx="1047811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ko-KR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S-CLM 과거 대책서 기반 최적 대책서 추천 에이전트 상세 처리 흐름도(과제 5)</a:t>
            </a:r>
            <a:endParaRPr/>
          </a:p>
        </p:txBody>
      </p:sp>
      <p:sp>
        <p:nvSpPr>
          <p:cNvPr id="449" name="Google Shape;449;p5"/>
          <p:cNvSpPr txBox="1"/>
          <p:nvPr/>
        </p:nvSpPr>
        <p:spPr>
          <a:xfrm>
            <a:off x="609905" y="562356"/>
            <a:ext cx="10478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S-CLM 최적 대책서 추천 흐름 (OpenAI ChatGPT 연동)</a:t>
            </a:r>
            <a:endParaRPr/>
          </a:p>
        </p:txBody>
      </p:sp>
      <p:sp>
        <p:nvSpPr>
          <p:cNvPr id="450" name="Google Shape;450;p5"/>
          <p:cNvSpPr/>
          <p:nvPr/>
        </p:nvSpPr>
        <p:spPr>
          <a:xfrm>
            <a:off x="0" y="780898"/>
            <a:ext cx="13823950" cy="15961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5"/>
          <p:cNvSpPr/>
          <p:nvPr/>
        </p:nvSpPr>
        <p:spPr>
          <a:xfrm>
            <a:off x="461029" y="911817"/>
            <a:ext cx="3023989" cy="285031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S-CLM · 업무 시스템</a:t>
            </a:r>
            <a:endParaRPr/>
          </a:p>
        </p:txBody>
      </p:sp>
      <p:sp>
        <p:nvSpPr>
          <p:cNvPr id="452" name="Google Shape;452;p5"/>
          <p:cNvSpPr/>
          <p:nvPr/>
        </p:nvSpPr>
        <p:spPr>
          <a:xfrm>
            <a:off x="6941005" y="911817"/>
            <a:ext cx="6422607" cy="285031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단계별 주요 작업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"/>
          <p:cNvSpPr/>
          <p:nvPr/>
        </p:nvSpPr>
        <p:spPr>
          <a:xfrm>
            <a:off x="461029" y="1621202"/>
            <a:ext cx="3023989" cy="855093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5"/>
          <p:cNvSpPr/>
          <p:nvPr/>
        </p:nvSpPr>
        <p:spPr>
          <a:xfrm>
            <a:off x="461029" y="2697478"/>
            <a:ext cx="3023989" cy="1420687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en-dedup-c4d63490290c7ad44ddee165159d8932.png" id="455" name="Google Shape;455;p5"/>
          <p:cNvPicPr preferRelativeResize="0"/>
          <p:nvPr/>
        </p:nvPicPr>
        <p:blipFill rotWithShape="1">
          <a:blip r:embed="rId3">
            <a:alphaModFix/>
          </a:blip>
          <a:srcRect b="-400" l="0" r="0" t="-400"/>
          <a:stretch/>
        </p:blipFill>
        <p:spPr>
          <a:xfrm>
            <a:off x="461029" y="1621202"/>
            <a:ext cx="3023989" cy="31924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"/>
          <p:cNvSpPr/>
          <p:nvPr/>
        </p:nvSpPr>
        <p:spPr>
          <a:xfrm>
            <a:off x="3866559" y="1873253"/>
            <a:ext cx="50457" cy="79049"/>
          </a:xfrm>
          <a:prstGeom prst="rect">
            <a:avLst/>
          </a:prstGeom>
          <a:noFill/>
          <a:ln cap="flat" cmpd="sng" w="635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"/>
          <p:cNvSpPr txBox="1"/>
          <p:nvPr/>
        </p:nvSpPr>
        <p:spPr>
          <a:xfrm>
            <a:off x="575767" y="1716212"/>
            <a:ext cx="2793820" cy="110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ko-KR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STEP · R1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"/>
          <p:cNvSpPr txBox="1"/>
          <p:nvPr/>
        </p:nvSpPr>
        <p:spPr>
          <a:xfrm>
            <a:off x="575767" y="1858348"/>
            <a:ext cx="2793820" cy="2059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ko-KR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현상·원인·대책 추천 요청</a:t>
            </a:r>
            <a:endParaRPr/>
          </a:p>
        </p:txBody>
      </p:sp>
      <p:sp>
        <p:nvSpPr>
          <p:cNvPr id="459" name="Google Shape;459;p5"/>
          <p:cNvSpPr txBox="1"/>
          <p:nvPr/>
        </p:nvSpPr>
        <p:spPr>
          <a:xfrm>
            <a:off x="575767" y="2112215"/>
            <a:ext cx="2793820" cy="285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현상 입력 후 원인 추천 → 원인별 대책 추천을 요청(외부망)</a:t>
            </a:r>
            <a:endParaRPr/>
          </a:p>
        </p:txBody>
      </p:sp>
      <p:sp>
        <p:nvSpPr>
          <p:cNvPr id="460" name="Google Shape;460;p5"/>
          <p:cNvSpPr txBox="1"/>
          <p:nvPr/>
        </p:nvSpPr>
        <p:spPr>
          <a:xfrm>
            <a:off x="575767" y="2808451"/>
            <a:ext cx="2793820" cy="126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ko-KR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입력 데이터 예시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5"/>
          <p:cNvSpPr txBox="1"/>
          <p:nvPr/>
        </p:nvSpPr>
        <p:spPr>
          <a:xfrm>
            <a:off x="575767" y="2959955"/>
            <a:ext cx="2793820" cy="1115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lang="ko-KR" sz="1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현상 : 도장면 흐름 결함 / 원인 : (공란 또는 기입) / 모델 : gpt-5-nano·5.5·5.5-pro 선택</a:t>
            </a:r>
            <a:endParaRPr/>
          </a:p>
        </p:txBody>
      </p:sp>
      <p:grpSp>
        <p:nvGrpSpPr>
          <p:cNvPr id="462" name="Google Shape;462;p5"/>
          <p:cNvGrpSpPr/>
          <p:nvPr/>
        </p:nvGrpSpPr>
        <p:grpSpPr>
          <a:xfrm>
            <a:off x="461029" y="4704189"/>
            <a:ext cx="3023989" cy="1013189"/>
            <a:chOff x="461029" y="4059133"/>
            <a:chExt cx="3023989" cy="1013189"/>
          </a:xfrm>
        </p:grpSpPr>
        <p:sp>
          <p:nvSpPr>
            <p:cNvPr id="463" name="Google Shape;463;p5"/>
            <p:cNvSpPr/>
            <p:nvPr/>
          </p:nvSpPr>
          <p:spPr>
            <a:xfrm>
              <a:off x="461029" y="4059133"/>
              <a:ext cx="3023989" cy="1013189"/>
            </a:xfrm>
            <a:prstGeom prst="rect">
              <a:avLst/>
            </a:prstGeom>
            <a:solidFill>
              <a:srgbClr val="FFFBEB"/>
            </a:solidFill>
            <a:ln cap="flat" cmpd="sng" w="12700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gen-dedup-21eee3c32cd4fb292d51690cc6be3052.png" id="464" name="Google Shape;464;p5"/>
            <p:cNvPicPr preferRelativeResize="0"/>
            <p:nvPr/>
          </p:nvPicPr>
          <p:blipFill rotWithShape="1">
            <a:blip r:embed="rId4">
              <a:alphaModFix/>
            </a:blip>
            <a:srcRect b="-400" l="0" r="0" t="-400"/>
            <a:stretch/>
          </p:blipFill>
          <p:spPr>
            <a:xfrm>
              <a:off x="461029" y="4059133"/>
              <a:ext cx="3023989" cy="31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5"/>
            <p:cNvSpPr txBox="1"/>
            <p:nvPr/>
          </p:nvSpPr>
          <p:spPr>
            <a:xfrm>
              <a:off x="575767" y="4154143"/>
              <a:ext cx="2793820" cy="1269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2400E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92400E"/>
                  </a:solidFill>
                  <a:latin typeface="Arial"/>
                  <a:ea typeface="Arial"/>
                  <a:cs typeface="Arial"/>
                  <a:sym typeface="Arial"/>
                </a:rPr>
                <a:t>STEP · R2 · 사용자 검토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5"/>
            <p:cNvSpPr txBox="1"/>
            <p:nvPr/>
          </p:nvSpPr>
          <p:spPr>
            <a:xfrm>
              <a:off x="575767" y="4312240"/>
              <a:ext cx="2793820" cy="205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원인·대책 검토 및 확정</a:t>
              </a:r>
              <a:endParaRPr/>
            </a:p>
          </p:txBody>
        </p:sp>
        <p:sp>
          <p:nvSpPr>
            <p:cNvPr id="467" name="Google Shape;467;p5"/>
            <p:cNvSpPr txBox="1"/>
            <p:nvPr/>
          </p:nvSpPr>
          <p:spPr>
            <a:xfrm>
              <a:off x="575767" y="4565347"/>
              <a:ext cx="2793820" cy="285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B5563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AI가 생성한 원인별 대책 후보를 사용자가 체크·확정(직접 추가·비고 가능)</a:t>
              </a:r>
              <a:endParaRPr/>
            </a:p>
          </p:txBody>
        </p:sp>
        <p:sp>
          <p:nvSpPr>
            <p:cNvPr id="468" name="Google Shape;468;p5"/>
            <p:cNvSpPr txBox="1"/>
            <p:nvPr/>
          </p:nvSpPr>
          <p:spPr>
            <a:xfrm>
              <a:off x="575767" y="4914225"/>
              <a:ext cx="2793820" cy="1269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45309"/>
                </a:buClr>
                <a:buSzPts val="900"/>
                <a:buFont typeface="Arial"/>
                <a:buNone/>
              </a:pPr>
              <a:r>
                <a:rPr lang="ko-KR" sz="900">
                  <a:solidFill>
                    <a:srgbClr val="B45309"/>
                  </a:solidFill>
                  <a:latin typeface="Arial"/>
                  <a:ea typeface="Arial"/>
                  <a:cs typeface="Arial"/>
                  <a:sym typeface="Arial"/>
                </a:rPr>
                <a:t>※ 사용자 검토 후 확정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9" name="Google Shape;469;p5"/>
          <p:cNvGrpSpPr/>
          <p:nvPr/>
        </p:nvGrpSpPr>
        <p:grpSpPr>
          <a:xfrm>
            <a:off x="461029" y="6235077"/>
            <a:ext cx="3023989" cy="855093"/>
            <a:chOff x="461029" y="5515450"/>
            <a:chExt cx="3023989" cy="855093"/>
          </a:xfrm>
        </p:grpSpPr>
        <p:sp>
          <p:nvSpPr>
            <p:cNvPr id="470" name="Google Shape;470;p5"/>
            <p:cNvSpPr/>
            <p:nvPr/>
          </p:nvSpPr>
          <p:spPr>
            <a:xfrm>
              <a:off x="461029" y="5515450"/>
              <a:ext cx="3023989" cy="855093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9CA3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gen-dedup-c4d63490290c7ad44ddee165159d8932.png" id="471" name="Google Shape;471;p5"/>
            <p:cNvPicPr preferRelativeResize="0"/>
            <p:nvPr/>
          </p:nvPicPr>
          <p:blipFill rotWithShape="1">
            <a:blip r:embed="rId3">
              <a:alphaModFix/>
            </a:blip>
            <a:srcRect b="-400" l="0" r="0" t="-400"/>
            <a:stretch/>
          </p:blipFill>
          <p:spPr>
            <a:xfrm>
              <a:off x="461029" y="5515450"/>
              <a:ext cx="3023989" cy="31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5"/>
            <p:cNvSpPr txBox="1"/>
            <p:nvPr/>
          </p:nvSpPr>
          <p:spPr>
            <a:xfrm>
              <a:off x="576113" y="5610460"/>
              <a:ext cx="2793820" cy="1109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B7280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STEP · R3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"/>
            <p:cNvSpPr txBox="1"/>
            <p:nvPr/>
          </p:nvSpPr>
          <p:spPr>
            <a:xfrm>
              <a:off x="576113" y="5760957"/>
              <a:ext cx="2793820" cy="205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대책서 작성완료·세션 종료</a:t>
              </a:r>
              <a:endParaRPr/>
            </a:p>
          </p:txBody>
        </p:sp>
        <p:sp>
          <p:nvSpPr>
            <p:cNvPr id="474" name="Google Shape;474;p5"/>
            <p:cNvSpPr txBox="1"/>
            <p:nvPr/>
          </p:nvSpPr>
          <p:spPr>
            <a:xfrm>
              <a:off x="576113" y="6006464"/>
              <a:ext cx="2793820" cy="275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B5563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확정 대책서를 화면에 표시·다운로드하고 작성완료 시 ChatGPT 세션 종료</a:t>
              </a:r>
              <a:endParaRPr/>
            </a:p>
          </p:txBody>
        </p:sp>
      </p:grpSp>
      <p:grpSp>
        <p:nvGrpSpPr>
          <p:cNvPr id="475" name="Google Shape;475;p5"/>
          <p:cNvGrpSpPr/>
          <p:nvPr/>
        </p:nvGrpSpPr>
        <p:grpSpPr>
          <a:xfrm>
            <a:off x="3917016" y="1262756"/>
            <a:ext cx="2591991" cy="792000"/>
            <a:chOff x="3917016" y="1572903"/>
            <a:chExt cx="2591991" cy="792000"/>
          </a:xfrm>
        </p:grpSpPr>
        <p:grpSp>
          <p:nvGrpSpPr>
            <p:cNvPr id="476" name="Google Shape;476;p5"/>
            <p:cNvGrpSpPr/>
            <p:nvPr/>
          </p:nvGrpSpPr>
          <p:grpSpPr>
            <a:xfrm>
              <a:off x="3917016" y="1572903"/>
              <a:ext cx="2591991" cy="792000"/>
              <a:chOff x="3917016" y="1574718"/>
              <a:chExt cx="2591991" cy="696996"/>
            </a:xfrm>
          </p:grpSpPr>
          <p:sp>
            <p:nvSpPr>
              <p:cNvPr id="477" name="Google Shape;477;p5"/>
              <p:cNvSpPr/>
              <p:nvPr/>
            </p:nvSpPr>
            <p:spPr>
              <a:xfrm>
                <a:off x="3917016" y="1574718"/>
                <a:ext cx="2591991" cy="696996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gen-dedup-c5e96a759af184f561dadf0011acd6c3.png" id="478" name="Google Shape;478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-382" r="-382" t="0"/>
              <a:stretch/>
            </p:blipFill>
            <p:spPr>
              <a:xfrm>
                <a:off x="3917016" y="1574718"/>
                <a:ext cx="29030" cy="696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79" name="Google Shape;479;p5"/>
            <p:cNvSpPr txBox="1"/>
            <p:nvPr/>
          </p:nvSpPr>
          <p:spPr>
            <a:xfrm>
              <a:off x="4031755" y="1634916"/>
              <a:ext cx="646291" cy="1109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4ED8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STEP A1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5"/>
            <p:cNvSpPr txBox="1"/>
            <p:nvPr/>
          </p:nvSpPr>
          <p:spPr>
            <a:xfrm>
              <a:off x="4031755" y="1770459"/>
              <a:ext cx="2361822" cy="190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대책서 생성 요청 수신</a:t>
              </a:r>
              <a:endParaRPr/>
            </a:p>
          </p:txBody>
        </p:sp>
        <p:sp>
          <p:nvSpPr>
            <p:cNvPr id="481" name="Google Shape;481;p5"/>
            <p:cNvSpPr txBox="1"/>
            <p:nvPr/>
          </p:nvSpPr>
          <p:spPr>
            <a:xfrm>
              <a:off x="4031755" y="1954512"/>
              <a:ext cx="2361822" cy="30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00" lIns="0" spcFirstLastPara="1" rIns="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B5563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품질문제 ID·메타데이터 및 현상·원인 입력 정보를 수신</a:t>
              </a:r>
              <a:endParaRPr/>
            </a:p>
          </p:txBody>
        </p:sp>
      </p:grpSp>
      <p:grpSp>
        <p:nvGrpSpPr>
          <p:cNvPr id="482" name="Google Shape;482;p5"/>
          <p:cNvGrpSpPr/>
          <p:nvPr/>
        </p:nvGrpSpPr>
        <p:grpSpPr>
          <a:xfrm>
            <a:off x="3917016" y="3168156"/>
            <a:ext cx="2591991" cy="792000"/>
            <a:chOff x="3917016" y="3202905"/>
            <a:chExt cx="2591991" cy="792000"/>
          </a:xfrm>
        </p:grpSpPr>
        <p:grpSp>
          <p:nvGrpSpPr>
            <p:cNvPr id="483" name="Google Shape;483;p5"/>
            <p:cNvGrpSpPr/>
            <p:nvPr/>
          </p:nvGrpSpPr>
          <p:grpSpPr>
            <a:xfrm>
              <a:off x="3917016" y="3202905"/>
              <a:ext cx="2591991" cy="792000"/>
              <a:chOff x="3917016" y="3649542"/>
              <a:chExt cx="2591991" cy="696996"/>
            </a:xfrm>
          </p:grpSpPr>
          <p:sp>
            <p:nvSpPr>
              <p:cNvPr id="484" name="Google Shape;484;p5"/>
              <p:cNvSpPr/>
              <p:nvPr/>
            </p:nvSpPr>
            <p:spPr>
              <a:xfrm>
                <a:off x="3917016" y="3649542"/>
                <a:ext cx="2591991" cy="696996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gen-dedup-c5e96a759af184f561dadf0011acd6c3.png" id="485" name="Google Shape;485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-382" r="-382" t="0"/>
              <a:stretch/>
            </p:blipFill>
            <p:spPr>
              <a:xfrm>
                <a:off x="3917016" y="3649542"/>
                <a:ext cx="29030" cy="696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86" name="Google Shape;486;p5"/>
            <p:cNvSpPr txBox="1"/>
            <p:nvPr/>
          </p:nvSpPr>
          <p:spPr>
            <a:xfrm>
              <a:off x="4031755" y="3267376"/>
              <a:ext cx="646291" cy="1109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4ED8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STEP A3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5"/>
            <p:cNvSpPr txBox="1"/>
            <p:nvPr/>
          </p:nvSpPr>
          <p:spPr>
            <a:xfrm>
              <a:off x="4031755" y="3402919"/>
              <a:ext cx="2361822" cy="190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내부 RAG 검색 · 외부 LLM 질의</a:t>
              </a:r>
              <a:endParaRPr/>
            </a:p>
          </p:txBody>
        </p:sp>
        <p:sp>
          <p:nvSpPr>
            <p:cNvPr id="488" name="Google Shape;488;p5"/>
            <p:cNvSpPr txBox="1"/>
            <p:nvPr/>
          </p:nvSpPr>
          <p:spPr>
            <a:xfrm>
              <a:off x="4031755" y="3586972"/>
              <a:ext cx="2361822" cy="30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00" lIns="0" spcFirstLastPara="1" rIns="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B5563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사내 유사사례를 내부 RAG로 검색(현재 더미)하고 외부 LLM(ChatGPT) 호출 질의를 생성</a:t>
              </a:r>
              <a:endParaRPr/>
            </a:p>
          </p:txBody>
        </p:sp>
      </p:grpSp>
      <p:grpSp>
        <p:nvGrpSpPr>
          <p:cNvPr id="489" name="Google Shape;489;p5"/>
          <p:cNvGrpSpPr/>
          <p:nvPr/>
        </p:nvGrpSpPr>
        <p:grpSpPr>
          <a:xfrm>
            <a:off x="3917016" y="4361972"/>
            <a:ext cx="2591991" cy="792000"/>
            <a:chOff x="3917016" y="4017906"/>
            <a:chExt cx="2591991" cy="792000"/>
          </a:xfrm>
        </p:grpSpPr>
        <p:grpSp>
          <p:nvGrpSpPr>
            <p:cNvPr id="490" name="Google Shape;490;p5"/>
            <p:cNvGrpSpPr/>
            <p:nvPr/>
          </p:nvGrpSpPr>
          <p:grpSpPr>
            <a:xfrm>
              <a:off x="3917016" y="4017906"/>
              <a:ext cx="2591991" cy="792000"/>
              <a:chOff x="3917016" y="4504634"/>
              <a:chExt cx="2591991" cy="696996"/>
            </a:xfrm>
          </p:grpSpPr>
          <p:sp>
            <p:nvSpPr>
              <p:cNvPr id="491" name="Google Shape;491;p5"/>
              <p:cNvSpPr/>
              <p:nvPr/>
            </p:nvSpPr>
            <p:spPr>
              <a:xfrm>
                <a:off x="3917016" y="4504634"/>
                <a:ext cx="2591991" cy="696996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gen-dedup-c5e96a759af184f561dadf0011acd6c3.png" id="492" name="Google Shape;492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-382" r="-382" t="0"/>
              <a:stretch/>
            </p:blipFill>
            <p:spPr>
              <a:xfrm>
                <a:off x="3917016" y="4504634"/>
                <a:ext cx="29030" cy="696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93" name="Google Shape;493;p5"/>
            <p:cNvSpPr txBox="1"/>
            <p:nvPr/>
          </p:nvSpPr>
          <p:spPr>
            <a:xfrm>
              <a:off x="4031755" y="4082377"/>
              <a:ext cx="646291" cy="1109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4ED8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STEP A4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"/>
            <p:cNvSpPr txBox="1"/>
            <p:nvPr/>
          </p:nvSpPr>
          <p:spPr>
            <a:xfrm>
              <a:off x="4031755" y="4217920"/>
              <a:ext cx="2361822" cy="190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외부 LLM(ChatGPT) 호출</a:t>
              </a:r>
              <a:endParaRPr/>
            </a:p>
          </p:txBody>
        </p:sp>
        <p:sp>
          <p:nvSpPr>
            <p:cNvPr id="495" name="Google Shape;495;p5"/>
            <p:cNvSpPr txBox="1"/>
            <p:nvPr/>
          </p:nvSpPr>
          <p:spPr>
            <a:xfrm>
              <a:off x="4031755" y="4401973"/>
              <a:ext cx="2361822" cy="30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00" lIns="0" spcFirstLastPara="1" rIns="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B5563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DMZ 외부망으로 ChatGPT 호출(gpt-5-nano/5.5/5.5-pro)·세션 체이닝(1~3 반복)</a:t>
              </a:r>
              <a:endParaRPr/>
            </a:p>
          </p:txBody>
        </p:sp>
      </p:grpSp>
      <p:grpSp>
        <p:nvGrpSpPr>
          <p:cNvPr id="496" name="Google Shape;496;p5"/>
          <p:cNvGrpSpPr/>
          <p:nvPr/>
        </p:nvGrpSpPr>
        <p:grpSpPr>
          <a:xfrm>
            <a:off x="3917016" y="5561807"/>
            <a:ext cx="2591991" cy="792000"/>
            <a:chOff x="3917016" y="5647909"/>
            <a:chExt cx="2591991" cy="792000"/>
          </a:xfrm>
        </p:grpSpPr>
        <p:grpSp>
          <p:nvGrpSpPr>
            <p:cNvPr id="497" name="Google Shape;497;p5"/>
            <p:cNvGrpSpPr/>
            <p:nvPr/>
          </p:nvGrpSpPr>
          <p:grpSpPr>
            <a:xfrm>
              <a:off x="3917016" y="5647909"/>
              <a:ext cx="2591991" cy="792000"/>
              <a:chOff x="3917016" y="6214819"/>
              <a:chExt cx="2591991" cy="696996"/>
            </a:xfrm>
          </p:grpSpPr>
          <p:sp>
            <p:nvSpPr>
              <p:cNvPr id="498" name="Google Shape;498;p5"/>
              <p:cNvSpPr/>
              <p:nvPr/>
            </p:nvSpPr>
            <p:spPr>
              <a:xfrm>
                <a:off x="3917016" y="6214819"/>
                <a:ext cx="2591991" cy="696996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gen-dedup-c5e96a759af184f561dadf0011acd6c3.png" id="499" name="Google Shape;499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-382" r="-382" t="0"/>
              <a:stretch/>
            </p:blipFill>
            <p:spPr>
              <a:xfrm>
                <a:off x="3917016" y="6214819"/>
                <a:ext cx="29030" cy="696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00" name="Google Shape;500;p5"/>
            <p:cNvSpPr txBox="1"/>
            <p:nvPr/>
          </p:nvSpPr>
          <p:spPr>
            <a:xfrm>
              <a:off x="4031755" y="5712380"/>
              <a:ext cx="646291" cy="1109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4ED8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STEP A5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"/>
            <p:cNvSpPr txBox="1"/>
            <p:nvPr/>
          </p:nvSpPr>
          <p:spPr>
            <a:xfrm>
              <a:off x="4031755" y="5847923"/>
              <a:ext cx="2361822" cy="190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후보 통합·점수순 정렬 → 원인별 대책 그룹</a:t>
              </a:r>
              <a:endParaRPr/>
            </a:p>
          </p:txBody>
        </p:sp>
        <p:sp>
          <p:nvSpPr>
            <p:cNvPr id="502" name="Google Shape;502;p5"/>
            <p:cNvSpPr txBox="1"/>
            <p:nvPr/>
          </p:nvSpPr>
          <p:spPr>
            <a:xfrm>
              <a:off x="4031755" y="6031976"/>
              <a:ext cx="2361822" cy="30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00" lIns="0" spcFirstLastPara="1" rIns="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외부 LLM 생성 답변과 내부 RAG 검색 결과를 점수순 통합·정렬하여 원인별 대책 그룹 생성 후 S-CLM 전달(토큰·비용 집계)</a:t>
              </a:r>
              <a:endParaRPr/>
            </a:p>
          </p:txBody>
        </p:sp>
      </p:grpSp>
      <p:cxnSp>
        <p:nvCxnSpPr>
          <p:cNvPr id="503" name="Google Shape;503;p5"/>
          <p:cNvCxnSpPr>
            <a:stCxn id="453" idx="3"/>
            <a:endCxn id="478" idx="1"/>
          </p:cNvCxnSpPr>
          <p:nvPr/>
        </p:nvCxnSpPr>
        <p:spPr>
          <a:xfrm flipH="1" rot="10800000">
            <a:off x="3485018" y="1658749"/>
            <a:ext cx="432000" cy="3900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04" name="Google Shape;504;p5"/>
          <p:cNvCxnSpPr>
            <a:stCxn id="498" idx="1"/>
            <a:endCxn id="463" idx="3"/>
          </p:cNvCxnSpPr>
          <p:nvPr/>
        </p:nvCxnSpPr>
        <p:spPr>
          <a:xfrm rot="10800000">
            <a:off x="3485016" y="5210807"/>
            <a:ext cx="432000" cy="7470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05" name="Google Shape;505;p5"/>
          <p:cNvCxnSpPr>
            <a:stCxn id="477" idx="2"/>
            <a:endCxn id="506" idx="0"/>
          </p:cNvCxnSpPr>
          <p:nvPr/>
        </p:nvCxnSpPr>
        <p:spPr>
          <a:xfrm>
            <a:off x="5213012" y="2054756"/>
            <a:ext cx="0" cy="1608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07" name="Google Shape;507;p5"/>
          <p:cNvCxnSpPr>
            <a:stCxn id="453" idx="2"/>
            <a:endCxn id="454" idx="0"/>
          </p:cNvCxnSpPr>
          <p:nvPr/>
        </p:nvCxnSpPr>
        <p:spPr>
          <a:xfrm>
            <a:off x="1973024" y="2476295"/>
            <a:ext cx="0" cy="221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8" name="Google Shape;508;p5"/>
          <p:cNvCxnSpPr>
            <a:stCxn id="463" idx="2"/>
            <a:endCxn id="470" idx="0"/>
          </p:cNvCxnSpPr>
          <p:nvPr/>
        </p:nvCxnSpPr>
        <p:spPr>
          <a:xfrm>
            <a:off x="1973024" y="5717378"/>
            <a:ext cx="0" cy="517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grpSp>
        <p:nvGrpSpPr>
          <p:cNvPr id="509" name="Google Shape;509;p5"/>
          <p:cNvGrpSpPr/>
          <p:nvPr/>
        </p:nvGrpSpPr>
        <p:grpSpPr>
          <a:xfrm>
            <a:off x="3917016" y="2215456"/>
            <a:ext cx="2591991" cy="792000"/>
            <a:chOff x="3917016" y="2387904"/>
            <a:chExt cx="2591991" cy="792000"/>
          </a:xfrm>
        </p:grpSpPr>
        <p:grpSp>
          <p:nvGrpSpPr>
            <p:cNvPr id="510" name="Google Shape;510;p5"/>
            <p:cNvGrpSpPr/>
            <p:nvPr/>
          </p:nvGrpSpPr>
          <p:grpSpPr>
            <a:xfrm>
              <a:off x="3917016" y="2387904"/>
              <a:ext cx="2591991" cy="792000"/>
              <a:chOff x="3917016" y="2525000"/>
              <a:chExt cx="2591991" cy="696996"/>
            </a:xfrm>
          </p:grpSpPr>
          <p:sp>
            <p:nvSpPr>
              <p:cNvPr id="506" name="Google Shape;506;p5"/>
              <p:cNvSpPr/>
              <p:nvPr/>
            </p:nvSpPr>
            <p:spPr>
              <a:xfrm>
                <a:off x="3917016" y="2525000"/>
                <a:ext cx="2591991" cy="696996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gen-dedup-c5e96a759af184f561dadf0011acd6c3.png" id="511" name="Google Shape;511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-382" r="-382" t="0"/>
              <a:stretch/>
            </p:blipFill>
            <p:spPr>
              <a:xfrm>
                <a:off x="3917016" y="2525000"/>
                <a:ext cx="29030" cy="696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12" name="Google Shape;512;p5"/>
            <p:cNvSpPr txBox="1"/>
            <p:nvPr/>
          </p:nvSpPr>
          <p:spPr>
            <a:xfrm>
              <a:off x="4031755" y="2452375"/>
              <a:ext cx="646291" cy="1109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4ED8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STEP A2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"/>
            <p:cNvSpPr txBox="1"/>
            <p:nvPr/>
          </p:nvSpPr>
          <p:spPr>
            <a:xfrm>
              <a:off x="4031755" y="2587918"/>
              <a:ext cx="2361822" cy="190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입력 데이터 점검·분기</a:t>
              </a:r>
              <a:endParaRPr/>
            </a:p>
          </p:txBody>
        </p:sp>
        <p:sp>
          <p:nvSpPr>
            <p:cNvPr id="514" name="Google Shape;514;p5"/>
            <p:cNvSpPr txBox="1"/>
            <p:nvPr/>
          </p:nvSpPr>
          <p:spPr>
            <a:xfrm>
              <a:off x="4031755" y="2771971"/>
              <a:ext cx="2361822" cy="30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00" lIns="0" spcFirstLastPara="1" rIns="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필수 입력값·형식 점검 및 원인 공란/기입 분기 결정</a:t>
              </a:r>
              <a:endParaRPr/>
            </a:p>
          </p:txBody>
        </p:sp>
      </p:grpSp>
      <p:cxnSp>
        <p:nvCxnSpPr>
          <p:cNvPr id="515" name="Google Shape;515;p5"/>
          <p:cNvCxnSpPr>
            <a:stCxn id="506" idx="2"/>
            <a:endCxn id="484" idx="0"/>
          </p:cNvCxnSpPr>
          <p:nvPr/>
        </p:nvCxnSpPr>
        <p:spPr>
          <a:xfrm>
            <a:off x="5213012" y="3007456"/>
            <a:ext cx="0" cy="1608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16" name="Google Shape;516;p5"/>
          <p:cNvCxnSpPr>
            <a:stCxn id="484" idx="2"/>
            <a:endCxn id="491" idx="0"/>
          </p:cNvCxnSpPr>
          <p:nvPr/>
        </p:nvCxnSpPr>
        <p:spPr>
          <a:xfrm>
            <a:off x="5213012" y="3960156"/>
            <a:ext cx="0" cy="4017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17" name="Google Shape;517;p5"/>
          <p:cNvCxnSpPr>
            <a:stCxn id="491" idx="2"/>
            <a:endCxn id="498" idx="0"/>
          </p:cNvCxnSpPr>
          <p:nvPr/>
        </p:nvCxnSpPr>
        <p:spPr>
          <a:xfrm>
            <a:off x="5213012" y="5153972"/>
            <a:ext cx="0" cy="4077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grpSp>
        <p:nvGrpSpPr>
          <p:cNvPr id="518" name="Google Shape;518;p5"/>
          <p:cNvGrpSpPr/>
          <p:nvPr/>
        </p:nvGrpSpPr>
        <p:grpSpPr>
          <a:xfrm>
            <a:off x="6946159" y="2215456"/>
            <a:ext cx="6422607" cy="792000"/>
            <a:chOff x="6946159" y="2479825"/>
            <a:chExt cx="6422607" cy="792000"/>
          </a:xfrm>
        </p:grpSpPr>
        <p:sp>
          <p:nvSpPr>
            <p:cNvPr id="519" name="Google Shape;519;p5"/>
            <p:cNvSpPr/>
            <p:nvPr/>
          </p:nvSpPr>
          <p:spPr>
            <a:xfrm>
              <a:off x="6946159" y="2479825"/>
              <a:ext cx="6422607" cy="7920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5"/>
            <p:cNvSpPr txBox="1"/>
            <p:nvPr/>
          </p:nvSpPr>
          <p:spPr>
            <a:xfrm>
              <a:off x="7064289" y="2552893"/>
              <a:ext cx="2916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필수 값·형식 점검·분기</a:t>
              </a:r>
              <a:endParaRPr/>
            </a:p>
          </p:txBody>
        </p:sp>
        <p:sp>
          <p:nvSpPr>
            <p:cNvPr id="521" name="Google Shape;521;p5"/>
            <p:cNvSpPr txBox="1"/>
            <p:nvPr/>
          </p:nvSpPr>
          <p:spPr>
            <a:xfrm>
              <a:off x="7064288" y="2777199"/>
              <a:ext cx="3395763" cy="304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CA3AF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9CA3AF"/>
                  </a:solidFill>
                  <a:latin typeface="Arial"/>
                  <a:ea typeface="Arial"/>
                  <a:cs typeface="Arial"/>
                  <a:sym typeface="Arial"/>
                </a:rPr>
                <a:t>상용 LLM 호출 전 필수 데이터 누락·형식 점검 및 원인 공란/기입 분기</a:t>
              </a:r>
              <a:endParaRPr/>
            </a:p>
          </p:txBody>
        </p:sp>
      </p:grpSp>
      <p:grpSp>
        <p:nvGrpSpPr>
          <p:cNvPr id="522" name="Google Shape;522;p5"/>
          <p:cNvGrpSpPr/>
          <p:nvPr/>
        </p:nvGrpSpPr>
        <p:grpSpPr>
          <a:xfrm>
            <a:off x="6946853" y="3168156"/>
            <a:ext cx="6421913" cy="792000"/>
            <a:chOff x="6946853" y="3347956"/>
            <a:chExt cx="6421913" cy="792000"/>
          </a:xfrm>
        </p:grpSpPr>
        <p:sp>
          <p:nvSpPr>
            <p:cNvPr id="523" name="Google Shape;523;p5"/>
            <p:cNvSpPr/>
            <p:nvPr/>
          </p:nvSpPr>
          <p:spPr>
            <a:xfrm>
              <a:off x="6946853" y="3347956"/>
              <a:ext cx="6421913" cy="7920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"/>
            <p:cNvSpPr txBox="1"/>
            <p:nvPr/>
          </p:nvSpPr>
          <p:spPr>
            <a:xfrm>
              <a:off x="7064289" y="3421024"/>
              <a:ext cx="2916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내부 RAG 검색 · 외부 질의 구성</a:t>
              </a:r>
              <a:endParaRPr/>
            </a:p>
          </p:txBody>
        </p:sp>
        <p:sp>
          <p:nvSpPr>
            <p:cNvPr id="525" name="Google Shape;525;p5"/>
            <p:cNvSpPr txBox="1"/>
            <p:nvPr/>
          </p:nvSpPr>
          <p:spPr>
            <a:xfrm>
              <a:off x="7064288" y="3645330"/>
              <a:ext cx="3636951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B7280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내부 RAG로 사내 유사사례(현재 더미)를 검색하고 외부 LLM 호출 질의를 구성</a:t>
              </a:r>
              <a:endParaRPr/>
            </a:p>
          </p:txBody>
        </p:sp>
      </p:grpSp>
      <p:grpSp>
        <p:nvGrpSpPr>
          <p:cNvPr id="526" name="Google Shape;526;p5"/>
          <p:cNvGrpSpPr/>
          <p:nvPr/>
        </p:nvGrpSpPr>
        <p:grpSpPr>
          <a:xfrm>
            <a:off x="6946159" y="5562353"/>
            <a:ext cx="6422607" cy="792000"/>
            <a:chOff x="6946159" y="6021564"/>
            <a:chExt cx="6422607" cy="792000"/>
          </a:xfrm>
        </p:grpSpPr>
        <p:sp>
          <p:nvSpPr>
            <p:cNvPr id="527" name="Google Shape;527;p5"/>
            <p:cNvSpPr/>
            <p:nvPr/>
          </p:nvSpPr>
          <p:spPr>
            <a:xfrm>
              <a:off x="6946159" y="6021564"/>
              <a:ext cx="6422607" cy="7920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5"/>
            <p:cNvSpPr txBox="1"/>
            <p:nvPr/>
          </p:nvSpPr>
          <p:spPr>
            <a:xfrm>
              <a:off x="7064289" y="6094632"/>
              <a:ext cx="2916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대책서 초안·전달 데이터 생성</a:t>
              </a:r>
              <a:endParaRPr/>
            </a:p>
          </p:txBody>
        </p:sp>
        <p:sp>
          <p:nvSpPr>
            <p:cNvPr id="529" name="Google Shape;529;p5"/>
            <p:cNvSpPr txBox="1"/>
            <p:nvPr/>
          </p:nvSpPr>
          <p:spPr>
            <a:xfrm>
              <a:off x="7064289" y="6318765"/>
              <a:ext cx="28800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CA3AF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9CA3AF"/>
                  </a:solidFill>
                  <a:latin typeface="Arial"/>
                  <a:ea typeface="Arial"/>
                  <a:cs typeface="Arial"/>
                  <a:sym typeface="Arial"/>
                </a:rPr>
                <a:t>S-CLM에 전달할 대책서 초안·점검 가이드 데이터를 구성</a:t>
              </a:r>
              <a:endParaRPr/>
            </a:p>
          </p:txBody>
        </p:sp>
      </p:grpSp>
      <p:sp>
        <p:nvSpPr>
          <p:cNvPr id="530" name="Google Shape;530;p5"/>
          <p:cNvSpPr/>
          <p:nvPr/>
        </p:nvSpPr>
        <p:spPr>
          <a:xfrm>
            <a:off x="3772556" y="911817"/>
            <a:ext cx="2880220" cy="285031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AI 에이전트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5"/>
          <p:cNvSpPr/>
          <p:nvPr/>
        </p:nvSpPr>
        <p:spPr>
          <a:xfrm>
            <a:off x="3535475" y="1768387"/>
            <a:ext cx="343971" cy="182166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1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요청</a:t>
            </a:r>
            <a:endParaRPr/>
          </a:p>
        </p:txBody>
      </p:sp>
      <p:sp>
        <p:nvSpPr>
          <p:cNvPr id="532" name="Google Shape;532;p5"/>
          <p:cNvSpPr/>
          <p:nvPr/>
        </p:nvSpPr>
        <p:spPr>
          <a:xfrm>
            <a:off x="3543201" y="5398963"/>
            <a:ext cx="343971" cy="182166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1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/>
          </a:p>
        </p:txBody>
      </p:sp>
      <p:grpSp>
        <p:nvGrpSpPr>
          <p:cNvPr id="533" name="Google Shape;533;p5"/>
          <p:cNvGrpSpPr/>
          <p:nvPr/>
        </p:nvGrpSpPr>
        <p:grpSpPr>
          <a:xfrm>
            <a:off x="6946159" y="1262756"/>
            <a:ext cx="6422607" cy="792000"/>
            <a:chOff x="6946159" y="1562821"/>
            <a:chExt cx="6422607" cy="792000"/>
          </a:xfrm>
        </p:grpSpPr>
        <p:sp>
          <p:nvSpPr>
            <p:cNvPr id="534" name="Google Shape;534;p5"/>
            <p:cNvSpPr/>
            <p:nvPr/>
          </p:nvSpPr>
          <p:spPr>
            <a:xfrm>
              <a:off x="6946159" y="1562821"/>
              <a:ext cx="6422607" cy="7920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5"/>
            <p:cNvSpPr txBox="1"/>
            <p:nvPr/>
          </p:nvSpPr>
          <p:spPr>
            <a:xfrm>
              <a:off x="7064289" y="1635889"/>
              <a:ext cx="2916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요청 데이터 확인</a:t>
              </a:r>
              <a:endParaRPr/>
            </a:p>
          </p:txBody>
        </p:sp>
        <p:sp>
          <p:nvSpPr>
            <p:cNvPr id="536" name="Google Shape;536;p5"/>
            <p:cNvSpPr txBox="1"/>
            <p:nvPr/>
          </p:nvSpPr>
          <p:spPr>
            <a:xfrm>
              <a:off x="7064288" y="1860195"/>
              <a:ext cx="3122297" cy="304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CA3AF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9CA3AF"/>
                  </a:solidFill>
                  <a:latin typeface="Arial"/>
                  <a:ea typeface="Arial"/>
                  <a:cs typeface="Arial"/>
                  <a:sym typeface="Arial"/>
                </a:rPr>
                <a:t>S-CLM에서 전달된 현상·원인 및 품질문제 메타데이터를 확인</a:t>
              </a:r>
              <a:endParaRPr/>
            </a:p>
          </p:txBody>
        </p:sp>
      </p:grpSp>
      <p:grpSp>
        <p:nvGrpSpPr>
          <p:cNvPr id="537" name="Google Shape;537;p5"/>
          <p:cNvGrpSpPr/>
          <p:nvPr/>
        </p:nvGrpSpPr>
        <p:grpSpPr>
          <a:xfrm>
            <a:off x="6946853" y="6515052"/>
            <a:ext cx="6422607" cy="556511"/>
            <a:chOff x="6946159" y="6021564"/>
            <a:chExt cx="6422607" cy="556511"/>
          </a:xfrm>
        </p:grpSpPr>
        <p:sp>
          <p:nvSpPr>
            <p:cNvPr id="538" name="Google Shape;538;p5"/>
            <p:cNvSpPr/>
            <p:nvPr/>
          </p:nvSpPr>
          <p:spPr>
            <a:xfrm>
              <a:off x="6946159" y="6021564"/>
              <a:ext cx="6422607" cy="55651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5"/>
            <p:cNvSpPr txBox="1"/>
            <p:nvPr/>
          </p:nvSpPr>
          <p:spPr>
            <a:xfrm>
              <a:off x="7064289" y="6068994"/>
              <a:ext cx="2916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확정 대책서 증분 색인</a:t>
              </a:r>
              <a:endParaRPr/>
            </a:p>
          </p:txBody>
        </p:sp>
        <p:sp>
          <p:nvSpPr>
            <p:cNvPr id="540" name="Google Shape;540;p5"/>
            <p:cNvSpPr txBox="1"/>
            <p:nvPr/>
          </p:nvSpPr>
          <p:spPr>
            <a:xfrm>
              <a:off x="7064289" y="6258943"/>
              <a:ext cx="3865088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CA3AF"/>
                </a:buClr>
                <a:buSzPts val="1000"/>
                <a:buFont typeface="Arial"/>
                <a:buNone/>
              </a:pPr>
              <a:r>
                <a:rPr lang="ko-KR" sz="1000">
                  <a:solidFill>
                    <a:srgbClr val="9CA3AF"/>
                  </a:solidFill>
                  <a:latin typeface="Arial"/>
                  <a:ea typeface="Arial"/>
                  <a:cs typeface="Arial"/>
                  <a:sym typeface="Arial"/>
                </a:rPr>
                <a:t>사용자 확정 대책서를 검색엔진을 통해 증분 색인하여 검색 DB에 재활용</a:t>
              </a:r>
              <a:endParaRPr/>
            </a:p>
          </p:txBody>
        </p:sp>
      </p:grpSp>
      <p:cxnSp>
        <p:nvCxnSpPr>
          <p:cNvPr id="541" name="Google Shape;541;p5"/>
          <p:cNvCxnSpPr>
            <a:endCxn id="538" idx="1"/>
          </p:cNvCxnSpPr>
          <p:nvPr/>
        </p:nvCxnSpPr>
        <p:spPr>
          <a:xfrm>
            <a:off x="3485153" y="6793308"/>
            <a:ext cx="3461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42" name="Google Shape;542;p5"/>
          <p:cNvCxnSpPr>
            <a:stCxn id="477" idx="3"/>
            <a:endCxn id="534" idx="1"/>
          </p:cNvCxnSpPr>
          <p:nvPr/>
        </p:nvCxnSpPr>
        <p:spPr>
          <a:xfrm>
            <a:off x="6509007" y="1658756"/>
            <a:ext cx="4371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43" name="Google Shape;543;p5"/>
          <p:cNvCxnSpPr>
            <a:stCxn id="506" idx="3"/>
            <a:endCxn id="519" idx="1"/>
          </p:cNvCxnSpPr>
          <p:nvPr/>
        </p:nvCxnSpPr>
        <p:spPr>
          <a:xfrm>
            <a:off x="6509007" y="2611456"/>
            <a:ext cx="4371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44" name="Google Shape;544;p5"/>
          <p:cNvCxnSpPr>
            <a:stCxn id="484" idx="3"/>
            <a:endCxn id="523" idx="1"/>
          </p:cNvCxnSpPr>
          <p:nvPr/>
        </p:nvCxnSpPr>
        <p:spPr>
          <a:xfrm>
            <a:off x="6509007" y="3564156"/>
            <a:ext cx="43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45" name="Google Shape;545;p5"/>
          <p:cNvCxnSpPr>
            <a:stCxn id="498" idx="3"/>
            <a:endCxn id="527" idx="1"/>
          </p:cNvCxnSpPr>
          <p:nvPr/>
        </p:nvCxnSpPr>
        <p:spPr>
          <a:xfrm>
            <a:off x="6509007" y="5957807"/>
            <a:ext cx="437100" cy="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46" name="Google Shape;546;p5"/>
          <p:cNvSpPr txBox="1"/>
          <p:nvPr/>
        </p:nvSpPr>
        <p:spPr>
          <a:xfrm>
            <a:off x="469575" y="1278784"/>
            <a:ext cx="3008904" cy="268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36000" spcFirstLastPara="1" rIns="36000" wrap="square" tIns="0">
            <a:noAutofit/>
          </a:bodyPr>
          <a:lstStyle/>
          <a:p>
            <a:pPr indent="-179388" lvl="0" marL="1793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1600"/>
              <a:buFont typeface="Noto Sans Symbols"/>
              <a:buChar char="▪"/>
            </a:pPr>
            <a:r>
              <a:rPr lang="ko-KR" sz="1600">
                <a:solidFill>
                  <a:srgbClr val="203864"/>
                </a:solidFill>
                <a:latin typeface="Arial"/>
                <a:ea typeface="Arial"/>
                <a:cs typeface="Arial"/>
                <a:sym typeface="Arial"/>
              </a:rPr>
              <a:t>최적 대책서 추천</a:t>
            </a:r>
            <a:endParaRPr/>
          </a:p>
        </p:txBody>
      </p:sp>
      <p:sp>
        <p:nvSpPr>
          <p:cNvPr id="547" name="Google Shape;547;p5"/>
          <p:cNvSpPr/>
          <p:nvPr/>
        </p:nvSpPr>
        <p:spPr>
          <a:xfrm>
            <a:off x="4726831" y="6702225"/>
            <a:ext cx="811067" cy="182166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1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STEP A6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8" name="Google Shape;548;p5"/>
          <p:cNvGrpSpPr/>
          <p:nvPr/>
        </p:nvGrpSpPr>
        <p:grpSpPr>
          <a:xfrm>
            <a:off x="7432567" y="4454029"/>
            <a:ext cx="5788673" cy="792000"/>
            <a:chOff x="6946159" y="4181930"/>
            <a:chExt cx="5788673" cy="792000"/>
          </a:xfrm>
        </p:grpSpPr>
        <p:grpSp>
          <p:nvGrpSpPr>
            <p:cNvPr id="549" name="Google Shape;549;p5"/>
            <p:cNvGrpSpPr/>
            <p:nvPr/>
          </p:nvGrpSpPr>
          <p:grpSpPr>
            <a:xfrm>
              <a:off x="6946159" y="4181930"/>
              <a:ext cx="2520000" cy="792000"/>
              <a:chOff x="6946159" y="4181930"/>
              <a:chExt cx="2520000" cy="792000"/>
            </a:xfrm>
          </p:grpSpPr>
          <p:sp>
            <p:nvSpPr>
              <p:cNvPr id="550" name="Google Shape;550;p5"/>
              <p:cNvSpPr/>
              <p:nvPr/>
            </p:nvSpPr>
            <p:spPr>
              <a:xfrm>
                <a:off x="6946159" y="4181930"/>
                <a:ext cx="2520000" cy="7920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5D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5"/>
              <p:cNvSpPr txBox="1"/>
              <p:nvPr/>
            </p:nvSpPr>
            <p:spPr>
              <a:xfrm>
                <a:off x="7064289" y="4289848"/>
                <a:ext cx="17280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외부망 연동 </a:t>
                </a:r>
                <a:endParaRPr sz="12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5"/>
              <p:cNvSpPr txBox="1"/>
              <p:nvPr/>
            </p:nvSpPr>
            <p:spPr>
              <a:xfrm>
                <a:off x="7064288" y="4526653"/>
                <a:ext cx="2304000" cy="39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B7280"/>
                  </a:buClr>
                  <a:buSzPts val="1000"/>
                  <a:buFont typeface="Arial"/>
                  <a:buNone/>
                </a:pPr>
                <a:r>
                  <a:rPr lang="ko-KR" sz="1000">
                    <a:solidFill>
                      <a:srgbClr val="6B7280"/>
                    </a:solidFill>
                    <a:latin typeface="Arial"/>
                    <a:ea typeface="Arial"/>
                    <a:cs typeface="Arial"/>
                    <a:sym typeface="Arial"/>
                  </a:rPr>
                  <a:t>ChatGPT Responses API·문서별 세션 컨텍스트(prev_response_id→response_id) 유지·중계</a:t>
                </a:r>
                <a:endParaRPr/>
              </a:p>
            </p:txBody>
          </p:sp>
        </p:grpSp>
        <p:grpSp>
          <p:nvGrpSpPr>
            <p:cNvPr id="553" name="Google Shape;553;p5"/>
            <p:cNvGrpSpPr/>
            <p:nvPr/>
          </p:nvGrpSpPr>
          <p:grpSpPr>
            <a:xfrm>
              <a:off x="10214832" y="4181930"/>
              <a:ext cx="2520000" cy="792000"/>
              <a:chOff x="10214832" y="4181930"/>
              <a:chExt cx="2520000" cy="792000"/>
            </a:xfrm>
          </p:grpSpPr>
          <p:sp>
            <p:nvSpPr>
              <p:cNvPr id="554" name="Google Shape;554;p5"/>
              <p:cNvSpPr/>
              <p:nvPr/>
            </p:nvSpPr>
            <p:spPr>
              <a:xfrm>
                <a:off x="10214832" y="4181930"/>
                <a:ext cx="2520000" cy="7920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5D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5"/>
              <p:cNvSpPr txBox="1"/>
              <p:nvPr/>
            </p:nvSpPr>
            <p:spPr>
              <a:xfrm>
                <a:off x="10341510" y="4289848"/>
                <a:ext cx="17280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외부 LLM · OpenAI ChatGPT</a:t>
                </a:r>
                <a:endParaRPr/>
              </a:p>
            </p:txBody>
          </p:sp>
          <p:sp>
            <p:nvSpPr>
              <p:cNvPr id="556" name="Google Shape;556;p5"/>
              <p:cNvSpPr txBox="1"/>
              <p:nvPr/>
            </p:nvSpPr>
            <p:spPr>
              <a:xfrm>
                <a:off x="10341510" y="4526652"/>
                <a:ext cx="2304000" cy="39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B7280"/>
                  </a:buClr>
                  <a:buSzPts val="1000"/>
                  <a:buFont typeface="Arial"/>
                  <a:buNone/>
                </a:pPr>
                <a:r>
                  <a:rPr lang="ko-KR" sz="1000">
                    <a:solidFill>
                      <a:srgbClr val="6B7280"/>
                    </a:solidFill>
                    <a:latin typeface="Arial"/>
                    <a:ea typeface="Arial"/>
                    <a:cs typeface="Arial"/>
                    <a:sym typeface="Arial"/>
                  </a:rPr>
                  <a:t>외부 LLM이 현상·원인 기반 현상-원인-대책 대책 후보를 생성</a:t>
                </a:r>
                <a:endParaRPr/>
              </a:p>
            </p:txBody>
          </p:sp>
        </p:grpSp>
      </p:grpSp>
      <p:sp>
        <p:nvSpPr>
          <p:cNvPr id="557" name="Google Shape;557;p5"/>
          <p:cNvSpPr txBox="1"/>
          <p:nvPr/>
        </p:nvSpPr>
        <p:spPr>
          <a:xfrm>
            <a:off x="7456883" y="4211480"/>
            <a:ext cx="2361822" cy="190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ko-KR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DMZ망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"/>
          <p:cNvSpPr txBox="1"/>
          <p:nvPr/>
        </p:nvSpPr>
        <p:spPr>
          <a:xfrm>
            <a:off x="10701240" y="4211480"/>
            <a:ext cx="2361822" cy="190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ko-KR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외부망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9" name="Google Shape;559;p5"/>
          <p:cNvCxnSpPr>
            <a:stCxn id="444" idx="3"/>
            <a:endCxn id="443" idx="1"/>
          </p:cNvCxnSpPr>
          <p:nvPr/>
        </p:nvCxnSpPr>
        <p:spPr>
          <a:xfrm>
            <a:off x="10076285" y="4757973"/>
            <a:ext cx="4881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60" name="Google Shape;560;p5"/>
          <p:cNvCxnSpPr>
            <a:stCxn id="491" idx="3"/>
            <a:endCxn id="444" idx="1"/>
          </p:cNvCxnSpPr>
          <p:nvPr/>
        </p:nvCxnSpPr>
        <p:spPr>
          <a:xfrm>
            <a:off x="6509007" y="4757972"/>
            <a:ext cx="7953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"/>
          <p:cNvSpPr txBox="1"/>
          <p:nvPr/>
        </p:nvSpPr>
        <p:spPr>
          <a:xfrm>
            <a:off x="609905" y="190195"/>
            <a:ext cx="1047811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ko-KR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S-CLM 과거 대책서 기반 최적 대책서 추천 에이전트 상세 처리 흐름도(과제 5)</a:t>
            </a:r>
            <a:endParaRPr/>
          </a:p>
        </p:txBody>
      </p:sp>
      <p:sp>
        <p:nvSpPr>
          <p:cNvPr id="567" name="Google Shape;567;p6"/>
          <p:cNvSpPr txBox="1"/>
          <p:nvPr/>
        </p:nvSpPr>
        <p:spPr>
          <a:xfrm>
            <a:off x="609905" y="562356"/>
            <a:ext cx="10478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S-CLM 최적 대책서 추천 처리 단계 상세</a:t>
            </a:r>
            <a:endParaRPr/>
          </a:p>
        </p:txBody>
      </p:sp>
      <p:sp>
        <p:nvSpPr>
          <p:cNvPr id="568" name="Google Shape;568;p6"/>
          <p:cNvSpPr/>
          <p:nvPr/>
        </p:nvSpPr>
        <p:spPr>
          <a:xfrm>
            <a:off x="0" y="780898"/>
            <a:ext cx="13823950" cy="15961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6"/>
          <p:cNvSpPr txBox="1"/>
          <p:nvPr/>
        </p:nvSpPr>
        <p:spPr>
          <a:xfrm>
            <a:off x="609905" y="919372"/>
            <a:ext cx="5047411" cy="268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36000" spcFirstLastPara="1" rIns="36000" wrap="square" tIns="0">
            <a:noAutofit/>
          </a:bodyPr>
          <a:lstStyle/>
          <a:p>
            <a:pPr indent="-179388" lvl="0" marL="1793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1400"/>
              <a:buFont typeface="Noto Sans Symbols"/>
              <a:buChar char="▪"/>
            </a:pPr>
            <a:r>
              <a:rPr lang="ko-KR" sz="1400">
                <a:solidFill>
                  <a:srgbClr val="203864"/>
                </a:solidFill>
                <a:latin typeface="Arial"/>
                <a:ea typeface="Arial"/>
                <a:cs typeface="Arial"/>
                <a:sym typeface="Arial"/>
              </a:rPr>
              <a:t>최적 대책서 추천 단계</a:t>
            </a:r>
            <a:endParaRPr/>
          </a:p>
        </p:txBody>
      </p:sp>
      <p:sp>
        <p:nvSpPr>
          <p:cNvPr id="570" name="Google Shape;570;p6"/>
          <p:cNvSpPr/>
          <p:nvPr/>
        </p:nvSpPr>
        <p:spPr>
          <a:xfrm>
            <a:off x="9744453" y="443882"/>
            <a:ext cx="3469592" cy="65296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협의 사항 확정 내용 기준으로 작성</a:t>
            </a:r>
            <a:endParaRPr/>
          </a:p>
        </p:txBody>
      </p:sp>
      <p:graphicFrame>
        <p:nvGraphicFramePr>
          <p:cNvPr id="571" name="Google Shape;571;p6"/>
          <p:cNvGraphicFramePr/>
          <p:nvPr/>
        </p:nvGraphicFramePr>
        <p:xfrm>
          <a:off x="520884" y="12035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{DC76C97A-AB75-4E68-933A-387F25F932BF}</a:tableStyleId>
              </a:tblPr>
              <a:tblGrid>
                <a:gridCol w="453475"/>
                <a:gridCol w="1315925"/>
                <a:gridCol w="854575"/>
                <a:gridCol w="5469300"/>
                <a:gridCol w="1563875"/>
                <a:gridCol w="1580975"/>
                <a:gridCol w="1538250"/>
              </a:tblGrid>
              <a:tr h="34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단계</a:t>
                      </a:r>
                      <a:endParaRPr b="1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단계명</a:t>
                      </a:r>
                      <a:endParaRPr b="1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처리 주체</a:t>
                      </a:r>
                      <a:endParaRPr b="1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설명</a:t>
                      </a:r>
                      <a:endParaRPr b="1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입력/연동 데이터</a:t>
                      </a:r>
                      <a:endParaRPr b="1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참조 데이터</a:t>
                      </a:r>
                      <a:endParaRPr b="1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출력 데이터</a:t>
                      </a:r>
                      <a:endParaRPr b="1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R1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현상·원인·대책 추천 요청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S-CLM (화면-O)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현상 입력 후 원인 추천 → 원인별 대책 추천을 요청한다(모델 선택 가능).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현상, 이미지, 원인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생성 요청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A1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대책서 생성 요청 수신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플랫폼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품질문제 ID·메타데이터 및 사용자 입력 정보를 수신한다.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품질문제 ID, 메타데이터, 현상·원인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수신 데이터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A2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 데이터 점검·분기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플랫폼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필수 입력값·형식을 점검하고 원인 공란/기입 여부로 처리 분기를 결정한다.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현상·원인 텍스트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점검·분기 결과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A3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내부 RAG 검색 · 외부 LLM 질의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플랫폼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사내 유사사례를 내부 RAG로 검색(현재 더미)하고 외부 LLM(ChatGPT) 호출 질의를 구성한다. 원인 공란/기입에 따라 분기한다.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현상·원인 텍스트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내부 RAG 검색 DB(미구축·더미)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상용 LLM 대책 내용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A4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외부 LLM(ChatGPT) 호출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플랫폼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DMZ 외부망으로 ChatGPT(gpt-5-nano/5.5/5.5-pro)를 prev_response_id 세션 체이닝으로 1~3회 호출해 대책 답변을 받는다.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검색 메타데이터(현상·원인)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검색 결과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A5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후보 통합·원인별 대책 생성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플랫폼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외부 LLM 답변과 내부 RAG 검색 결과를 점수순으로 통합·정렬하여 원인별 대책 그룹(합 최대 10)을 구성하고 토큰·비용을 누적 집계한다(AI 방향 제시, 사람이 확정).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검색 결과, LLM 대책 내용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보고서 양식 가이드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대책서 초안·점검 가이드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A6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생성 대책서 S-CLM 전달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AI 플랫폼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생성된 대책서 초안을 S-CLM으로 전달한다.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대책서 초안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전달 데이터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R2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대책 확정 및 작성완료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S-CLM (화면-O)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원인별 대책 후보를 체크·확정(직접 추가·비고)하고 작성완료 시 ChatGPT 세션을 종료한다.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대책서 초안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 표시 대책서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A7</a:t>
                      </a:r>
                      <a:endParaRPr/>
                    </a:p>
                  </a:txBody>
                  <a:tcPr marT="36000" marB="36000" marR="36000" marL="36000" anchor="ctr"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확정 대책서 증분 색인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플랫폼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사용자가 확정한 대책서를 증분 색인하여 과거 품질 이력 검색 DB에 재활용한다.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확정 대책서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과거 품질 이력 검색 DB</a:t>
                      </a:r>
                      <a:endParaRPr/>
                    </a:p>
                  </a:txBody>
                  <a:tcPr marT="36000" marB="36000" marR="36000" marL="36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ko-KR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증분 색인 결과</a:t>
                      </a:r>
                      <a:endParaRPr/>
                    </a:p>
                  </a:txBody>
                  <a:tcPr marT="36000" marB="36000" marR="36000" marL="3600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2024-04-24T03:35:08Z</dcterms:created>
  <dc:creator>윤아 전</dc:creator>
</cp:coreProperties>
</file>