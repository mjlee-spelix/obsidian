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2" r:id="rId8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25" d="100"/>
          <a:sy n="125" d="100"/>
        </p:scale>
        <p:origin x="230" y="-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28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78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98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76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43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87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01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791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35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455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15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21720-546A-4AAF-9142-1FCDD90DBE5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761BF-317A-4FC2-A7A2-F274264E2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08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467E76-EE28-460F-BB9C-FE4E2922728E}"/>
              </a:ext>
            </a:extLst>
          </p:cNvPr>
          <p:cNvSpPr txBox="1"/>
          <p:nvPr/>
        </p:nvSpPr>
        <p:spPr>
          <a:xfrm>
            <a:off x="457200" y="203200"/>
            <a:ext cx="5943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FFFFFF"/>
                </a:solidFill>
              </a:rPr>
              <a:t>화면설계 수정 메모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EB395-170F-413E-9A16-73E6C5BE8E0C}"/>
              </a:ext>
            </a:extLst>
          </p:cNvPr>
          <p:cNvSpPr txBox="1"/>
          <p:nvPr/>
        </p:nvSpPr>
        <p:spPr>
          <a:xfrm>
            <a:off x="457200" y="685800"/>
            <a:ext cx="594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B0B0C8"/>
                </a:solidFill>
              </a:rPr>
              <a:t>각 화면별 수정 필요 사항을 아래 표에 정리했습니다</a:t>
            </a:r>
            <a:r>
              <a:rPr lang="en-US" altLang="ko-KR" sz="1100">
                <a:solidFill>
                  <a:srgbClr val="B0B0C8"/>
                </a:solidFill>
              </a:rPr>
              <a:t>. (</a:t>
            </a:r>
            <a:r>
              <a:rPr lang="ko-KR" altLang="en-US" sz="1100">
                <a:solidFill>
                  <a:srgbClr val="B0B0C8"/>
                </a:solidFill>
              </a:rPr>
              <a:t>이미지 없이 텍스트 기반 참고용</a:t>
            </a:r>
            <a:r>
              <a:rPr lang="en-US" altLang="ko-KR" sz="1100">
                <a:solidFill>
                  <a:srgbClr val="B0B0C8"/>
                </a:solidFill>
              </a:rPr>
              <a:t>)</a:t>
            </a:r>
            <a:endParaRPr lang="ko-KR" altLang="en-US" sz="1100">
              <a:solidFill>
                <a:srgbClr val="B0B0C8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EEDD01-D498-402A-98F9-7D9A31742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562949"/>
              </p:ext>
            </p:extLst>
          </p:nvPr>
        </p:nvGraphicFramePr>
        <p:xfrm>
          <a:off x="228600" y="1041400"/>
          <a:ext cx="6400800" cy="5161289"/>
        </p:xfrm>
        <a:graphic>
          <a:graphicData uri="http://schemas.openxmlformats.org/drawingml/2006/table">
            <a:tbl>
              <a:tblPr/>
              <a:tblGrid>
                <a:gridCol w="355600">
                  <a:extLst>
                    <a:ext uri="{9D8B030D-6E8A-4147-A177-3AD203B41FA5}">
                      <a16:colId xmlns:a16="http://schemas.microsoft.com/office/drawing/2014/main" val="417528096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9678722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8862851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412230880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B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B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수정 내용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B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 범위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B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12072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1.0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폰트 스타일 통일 (제목/부제목/컬럼명/필드값) - 탐색/스튜디오/모니터링 기준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전체 화면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09810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1.1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대시보드 설명 문장 1~2줄 추가 (탐색 화면 참고)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전체 화면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93071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긴 텍스트 잘림 처리 (앞 몇 글자 + ... , hover 시 전체 보기)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모든 차트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4528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화면에 보이는 행 수 고정 (부서별 오브젝트:6, 모델별 토큰:6, 부서별 활동:10 등), 나머지 스크롤, 카드 크기 고정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모든 차트/표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06654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1.5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차트/표 카드 간격 확대 - 모니터링 수준으로 (KPI 카드 간격은 현행 유지)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모든 차트</a:t>
                      </a:r>
                      <a:r>
                        <a:rPr lang="en-US" altLang="ko-KR" sz="900" dirty="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표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87350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1.6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차트 값 내림차순 정렬, 동일 시 이름순 (a&gt;z, ㄱ&gt;ㅎ)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모든 차트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61753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표 컬럼 간격 균일하게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모든 표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5176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1.9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언어 설정에 따른 이름 변경 (한글: 앱/지식/도구, 영어: App/KB/Tool)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모든 화면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83355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메인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합계 위치 변경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메인 화면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0966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1.8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메인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특정 요소 제거 (위치상 불필요 요소)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메인 화면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8361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2.1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총 오브젝트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클릭 시 테두리 잘림 해결 (카드 간격 띄우기 등)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모든 </a:t>
                      </a:r>
                      <a:r>
                        <a:rPr lang="en-US" altLang="ko-KR" sz="900" dirty="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KPI </a:t>
                      </a:r>
                      <a:r>
                        <a:rPr lang="ko-KR" altLang="en-US" sz="900" dirty="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카드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42696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2.2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총 오브젝트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차트 간격/막대 너비를 메인과 동일하게 통일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모든 차트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84711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API 호출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변동률 기호 변경: ▼28.6% &gt; ▾ 28.6% (양수: ▴ 28.6%)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API 호출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40470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5.1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앱별 통계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차트 이름 변경: '에러율 상위 Top 10'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E0E0E0"/>
                          </a:solidFill>
                          <a:latin typeface="맑은 고딕"/>
                          <a:ea typeface="맑은 고딕"/>
                        </a:rPr>
                        <a:t>앱별 통계</a:t>
                      </a:r>
                    </a:p>
                  </a:txBody>
                  <a:tcPr marT="42334" marB="42334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3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316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12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3892A722-4CC4-70FB-2186-CA4B73D5B0D9}"/>
              </a:ext>
            </a:extLst>
          </p:cNvPr>
          <p:cNvGrpSpPr/>
          <p:nvPr/>
        </p:nvGrpSpPr>
        <p:grpSpPr>
          <a:xfrm>
            <a:off x="335279" y="1004905"/>
            <a:ext cx="6187442" cy="6234096"/>
            <a:chOff x="752587" y="726429"/>
            <a:chExt cx="5352825" cy="536957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FC7B259-A7C9-7369-4AF7-FD7B0627F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2587" y="726429"/>
              <a:ext cx="5352825" cy="232793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0527E29-17B8-1DE9-2220-8506111B2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587" y="3054360"/>
              <a:ext cx="5352825" cy="178147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6EBD6CC-7B15-33DB-6197-0A5A14902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587" y="4327097"/>
              <a:ext cx="5352825" cy="176890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5E0F0C2-F632-BF39-4397-2CAD417E0D12}"/>
              </a:ext>
            </a:extLst>
          </p:cNvPr>
          <p:cNvSpPr txBox="1"/>
          <p:nvPr/>
        </p:nvSpPr>
        <p:spPr>
          <a:xfrm>
            <a:off x="166255" y="152400"/>
            <a:ext cx="128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메인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D7224F-D37F-8D12-B64D-590DA384FBA9}"/>
              </a:ext>
            </a:extLst>
          </p:cNvPr>
          <p:cNvSpPr txBox="1"/>
          <p:nvPr/>
        </p:nvSpPr>
        <p:spPr>
          <a:xfrm>
            <a:off x="548640" y="1295400"/>
            <a:ext cx="3185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1.1 ‘</a:t>
            </a:r>
            <a:r>
              <a:rPr lang="ko-KR" altLang="en-US" sz="1100" dirty="0">
                <a:solidFill>
                  <a:srgbClr val="FF0000"/>
                </a:solidFill>
              </a:rPr>
              <a:t>탐색</a:t>
            </a:r>
            <a:r>
              <a:rPr lang="en-US" altLang="ko-KR" sz="1100" dirty="0">
                <a:solidFill>
                  <a:srgbClr val="FF0000"/>
                </a:solidFill>
              </a:rPr>
              <a:t>’ </a:t>
            </a:r>
            <a:r>
              <a:rPr lang="ko-KR" altLang="en-US" sz="1100" dirty="0">
                <a:solidFill>
                  <a:srgbClr val="FF0000"/>
                </a:solidFill>
              </a:rPr>
              <a:t>처럼 대시보드 설명 문장 </a:t>
            </a:r>
            <a:r>
              <a:rPr lang="en-US" altLang="ko-KR" sz="1100" dirty="0">
                <a:solidFill>
                  <a:srgbClr val="FF0000"/>
                </a:solidFill>
              </a:rPr>
              <a:t>1~2</a:t>
            </a:r>
            <a:r>
              <a:rPr lang="ko-KR" altLang="en-US" sz="1100" dirty="0">
                <a:solidFill>
                  <a:srgbClr val="FF0000"/>
                </a:solidFill>
              </a:rPr>
              <a:t>줄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3382CF-6C9B-002A-173B-BF8E1CEDCC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3280"/>
          <a:stretch>
            <a:fillRect/>
          </a:stretch>
        </p:blipFill>
        <p:spPr>
          <a:xfrm>
            <a:off x="2603903" y="691549"/>
            <a:ext cx="3710940" cy="446153"/>
          </a:xfrm>
          <a:prstGeom prst="rect">
            <a:avLst/>
          </a:prstGeom>
        </p:spPr>
      </p:pic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53FF8B74-E002-AD9D-3E27-A252432F8A1E}"/>
              </a:ext>
            </a:extLst>
          </p:cNvPr>
          <p:cNvCxnSpPr>
            <a:cxnSpLocks/>
            <a:stCxn id="14" idx="0"/>
            <a:endCxn id="15" idx="1"/>
          </p:cNvCxnSpPr>
          <p:nvPr/>
        </p:nvCxnSpPr>
        <p:spPr>
          <a:xfrm rot="5400000" flipH="1" flipV="1">
            <a:off x="2182174" y="873672"/>
            <a:ext cx="380774" cy="46268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035CA7A0-07AA-53F4-4829-C2F06DBCB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6035" y="2337311"/>
            <a:ext cx="930606" cy="167129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73561FEE-0B2C-BEA8-15F4-3DB07440E465}"/>
              </a:ext>
            </a:extLst>
          </p:cNvPr>
          <p:cNvCxnSpPr>
            <a:cxnSpLocks/>
          </p:cNvCxnSpPr>
          <p:nvPr/>
        </p:nvCxnSpPr>
        <p:spPr>
          <a:xfrm flipV="1">
            <a:off x="4434840" y="2504440"/>
            <a:ext cx="1584960" cy="1057955"/>
          </a:xfrm>
          <a:prstGeom prst="bentConnector3">
            <a:avLst>
              <a:gd name="adj1" fmla="val 1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E4A536-D564-9FFD-797A-8353FC2E98F6}"/>
              </a:ext>
            </a:extLst>
          </p:cNvPr>
          <p:cNvSpPr txBox="1"/>
          <p:nvPr/>
        </p:nvSpPr>
        <p:spPr>
          <a:xfrm>
            <a:off x="4896092" y="3649462"/>
            <a:ext cx="138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1.3 </a:t>
            </a:r>
            <a:r>
              <a:rPr lang="ko-KR" altLang="en-US" sz="1100" dirty="0">
                <a:solidFill>
                  <a:srgbClr val="FF0000"/>
                </a:solidFill>
              </a:rPr>
              <a:t>합계 위치 변경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9159C3A-671A-9214-F85D-EDDB1D7853BB}"/>
              </a:ext>
            </a:extLst>
          </p:cNvPr>
          <p:cNvSpPr/>
          <p:nvPr/>
        </p:nvSpPr>
        <p:spPr>
          <a:xfrm>
            <a:off x="3469640" y="2707640"/>
            <a:ext cx="807719" cy="167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DBA84-5DDF-0136-4642-DCA533E2E678}"/>
              </a:ext>
            </a:extLst>
          </p:cNvPr>
          <p:cNvSpPr txBox="1"/>
          <p:nvPr/>
        </p:nvSpPr>
        <p:spPr>
          <a:xfrm>
            <a:off x="1844039" y="2712816"/>
            <a:ext cx="1584961" cy="1107996"/>
          </a:xfrm>
          <a:prstGeom prst="rect">
            <a:avLst/>
          </a:prstGeom>
          <a:solidFill>
            <a:srgbClr val="FF0000">
              <a:alpha val="1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1.2</a:t>
            </a:r>
            <a:r>
              <a:rPr lang="ko-KR" altLang="en-US" sz="1100" dirty="0">
                <a:solidFill>
                  <a:srgbClr val="FF0000"/>
                </a:solidFill>
              </a:rPr>
              <a:t> 글자 잘림 해결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앞에 몇 글자 보이고 뒤에는 </a:t>
            </a:r>
            <a:r>
              <a:rPr lang="en-US" altLang="ko-KR" sz="1100" dirty="0">
                <a:solidFill>
                  <a:srgbClr val="FF0000"/>
                </a:solidFill>
              </a:rPr>
              <a:t>… </a:t>
            </a:r>
            <a:r>
              <a:rPr lang="ko-KR" altLang="en-US" sz="1100" dirty="0">
                <a:solidFill>
                  <a:srgbClr val="FF0000"/>
                </a:solidFill>
              </a:rPr>
              <a:t>처리</a:t>
            </a:r>
            <a:r>
              <a:rPr lang="en-US" altLang="ko-KR" sz="1100" dirty="0">
                <a:solidFill>
                  <a:srgbClr val="FF0000"/>
                </a:solidFill>
              </a:rPr>
              <a:t>/hover </a:t>
            </a:r>
            <a:r>
              <a:rPr lang="ko-KR" altLang="en-US" sz="1100" dirty="0">
                <a:solidFill>
                  <a:srgbClr val="FF0000"/>
                </a:solidFill>
              </a:rPr>
              <a:t>하면 보이게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100" dirty="0">
                <a:solidFill>
                  <a:srgbClr val="FF0000"/>
                </a:solidFill>
              </a:rPr>
              <a:t>-&gt; </a:t>
            </a:r>
            <a:r>
              <a:rPr lang="ko-KR" altLang="en-US" sz="1100" dirty="0">
                <a:solidFill>
                  <a:srgbClr val="FF0000"/>
                </a:solidFill>
              </a:rPr>
              <a:t>모든 차트에 대해 반영 필요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80D81B-971D-0417-4569-5789E4C6BD72}"/>
              </a:ext>
            </a:extLst>
          </p:cNvPr>
          <p:cNvSpPr txBox="1"/>
          <p:nvPr/>
        </p:nvSpPr>
        <p:spPr>
          <a:xfrm>
            <a:off x="412475" y="7492914"/>
            <a:ext cx="21557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1.4 </a:t>
            </a:r>
            <a:r>
              <a:rPr lang="ko-KR" altLang="en-US" sz="1100" dirty="0">
                <a:solidFill>
                  <a:srgbClr val="FF0000"/>
                </a:solidFill>
              </a:rPr>
              <a:t>화면에 보이는 차트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>
                <a:solidFill>
                  <a:srgbClr val="FF0000"/>
                </a:solidFill>
              </a:rPr>
              <a:t>행 수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부서별 오브젝트 현황</a:t>
            </a:r>
            <a:r>
              <a:rPr lang="en-US" altLang="ko-KR" sz="1100" dirty="0">
                <a:solidFill>
                  <a:srgbClr val="FF0000"/>
                </a:solidFill>
              </a:rPr>
              <a:t>: 6</a:t>
            </a:r>
            <a:r>
              <a:rPr lang="ko-KR" altLang="en-US" sz="1100" dirty="0">
                <a:solidFill>
                  <a:srgbClr val="FF0000"/>
                </a:solidFill>
              </a:rPr>
              <a:t>개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 err="1">
                <a:solidFill>
                  <a:srgbClr val="FF0000"/>
                </a:solidFill>
              </a:rPr>
              <a:t>모델별</a:t>
            </a:r>
            <a:r>
              <a:rPr lang="ko-KR" altLang="en-US" sz="1100" dirty="0">
                <a:solidFill>
                  <a:srgbClr val="FF0000"/>
                </a:solidFill>
              </a:rPr>
              <a:t> 토큰 사용량</a:t>
            </a:r>
            <a:r>
              <a:rPr lang="en-US" altLang="ko-KR" sz="1100" dirty="0">
                <a:solidFill>
                  <a:srgbClr val="FF0000"/>
                </a:solidFill>
              </a:rPr>
              <a:t>: 6</a:t>
            </a:r>
            <a:r>
              <a:rPr lang="ko-KR" altLang="en-US" sz="1100" dirty="0">
                <a:solidFill>
                  <a:srgbClr val="FF0000"/>
                </a:solidFill>
              </a:rPr>
              <a:t>개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부서별 활동</a:t>
            </a:r>
            <a:r>
              <a:rPr lang="en-US" altLang="ko-KR" sz="1100" dirty="0">
                <a:solidFill>
                  <a:srgbClr val="FF0000"/>
                </a:solidFill>
              </a:rPr>
              <a:t>: 10</a:t>
            </a:r>
            <a:r>
              <a:rPr lang="ko-KR" altLang="en-US" sz="1100" dirty="0">
                <a:solidFill>
                  <a:srgbClr val="FF0000"/>
                </a:solidFill>
              </a:rPr>
              <a:t>개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>
                <a:solidFill>
                  <a:srgbClr val="FF0000"/>
                </a:solidFill>
              </a:rPr>
              <a:t>나머지는 스크롤해서 볼 수 있게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>
                <a:solidFill>
                  <a:srgbClr val="FF0000"/>
                </a:solidFill>
              </a:rPr>
              <a:t>카드 크기 고정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9DFB98D5-F8C8-1A6B-CACC-8B76D227252A}"/>
              </a:ext>
            </a:extLst>
          </p:cNvPr>
          <p:cNvSpPr/>
          <p:nvPr/>
        </p:nvSpPr>
        <p:spPr>
          <a:xfrm flipH="1">
            <a:off x="2603903" y="7735358"/>
            <a:ext cx="720396" cy="4106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9B982F-024B-01EE-E585-6766E040AC63}"/>
              </a:ext>
            </a:extLst>
          </p:cNvPr>
          <p:cNvSpPr txBox="1"/>
          <p:nvPr/>
        </p:nvSpPr>
        <p:spPr>
          <a:xfrm>
            <a:off x="3469640" y="7735358"/>
            <a:ext cx="322354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다른 화면 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총 오브젝트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>
                <a:solidFill>
                  <a:srgbClr val="FF0000"/>
                </a:solidFill>
              </a:rPr>
              <a:t>부서별 채택 앱 수</a:t>
            </a:r>
            <a:r>
              <a:rPr lang="en-US" altLang="ko-KR" sz="1100" dirty="0">
                <a:solidFill>
                  <a:srgbClr val="FF0000"/>
                </a:solidFill>
              </a:rPr>
              <a:t>/API </a:t>
            </a:r>
            <a:r>
              <a:rPr lang="ko-KR" altLang="en-US" sz="1100" dirty="0">
                <a:solidFill>
                  <a:srgbClr val="FF0000"/>
                </a:solidFill>
              </a:rPr>
              <a:t>호출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>
                <a:solidFill>
                  <a:srgbClr val="FF0000"/>
                </a:solidFill>
              </a:rPr>
              <a:t>앱별 통계</a:t>
            </a:r>
            <a:r>
              <a:rPr lang="en-US" altLang="ko-KR" sz="1100" dirty="0">
                <a:solidFill>
                  <a:srgbClr val="FF0000"/>
                </a:solidFill>
              </a:rPr>
              <a:t>) </a:t>
            </a:r>
            <a:r>
              <a:rPr lang="ko-KR" altLang="en-US" sz="1100" dirty="0">
                <a:solidFill>
                  <a:srgbClr val="FF0000"/>
                </a:solidFill>
              </a:rPr>
              <a:t>에서도 이걸 유지 해야 함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카드 크기 고정이랑 화면에 보이는 차트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>
                <a:solidFill>
                  <a:srgbClr val="FF0000"/>
                </a:solidFill>
              </a:rPr>
              <a:t>행 수를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E4140C-C562-E13E-990A-B8F157CF2E1A}"/>
              </a:ext>
            </a:extLst>
          </p:cNvPr>
          <p:cNvSpPr txBox="1"/>
          <p:nvPr/>
        </p:nvSpPr>
        <p:spPr>
          <a:xfrm>
            <a:off x="376833" y="8933910"/>
            <a:ext cx="3674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1.5 </a:t>
            </a:r>
            <a:r>
              <a:rPr lang="ko-KR" altLang="en-US" sz="1100" dirty="0">
                <a:solidFill>
                  <a:srgbClr val="FF0000"/>
                </a:solidFill>
              </a:rPr>
              <a:t>차트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>
                <a:solidFill>
                  <a:srgbClr val="FF0000"/>
                </a:solidFill>
              </a:rPr>
              <a:t>표 카드 간의 간격 </a:t>
            </a:r>
            <a:r>
              <a:rPr lang="en-US" altLang="ko-KR" sz="1100" dirty="0">
                <a:solidFill>
                  <a:srgbClr val="FF0000"/>
                </a:solidFill>
              </a:rPr>
              <a:t>‘</a:t>
            </a:r>
            <a:r>
              <a:rPr lang="ko-KR" altLang="en-US" sz="1100" dirty="0">
                <a:solidFill>
                  <a:srgbClr val="FF0000"/>
                </a:solidFill>
              </a:rPr>
              <a:t>모니터링</a:t>
            </a:r>
            <a:r>
              <a:rPr lang="en-US" altLang="ko-KR" sz="1100" dirty="0">
                <a:solidFill>
                  <a:srgbClr val="FF0000"/>
                </a:solidFill>
              </a:rPr>
              <a:t>’ </a:t>
            </a:r>
            <a:r>
              <a:rPr lang="ko-KR" altLang="en-US" sz="1100" dirty="0">
                <a:solidFill>
                  <a:srgbClr val="FF0000"/>
                </a:solidFill>
              </a:rPr>
              <a:t>만큼 늘리기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(KPI </a:t>
            </a:r>
            <a:r>
              <a:rPr lang="ko-KR" altLang="en-US" sz="1100" dirty="0">
                <a:solidFill>
                  <a:srgbClr val="FF0000"/>
                </a:solidFill>
              </a:rPr>
              <a:t>지표 카드 간격은 괜찮음</a:t>
            </a:r>
            <a:r>
              <a:rPr lang="en-US" altLang="ko-KR" sz="1100" dirty="0">
                <a:solidFill>
                  <a:srgbClr val="FF0000"/>
                </a:solidFill>
              </a:rPr>
              <a:t>) -&gt; </a:t>
            </a:r>
            <a:r>
              <a:rPr lang="ko-KR" altLang="en-US" sz="1100" dirty="0">
                <a:solidFill>
                  <a:srgbClr val="FF0000"/>
                </a:solidFill>
              </a:rPr>
              <a:t>모든 영역 카드에 반영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61C80128-A288-0B6F-FB74-9248DEA0906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438" t="12311" r="1301" b="30912"/>
          <a:stretch>
            <a:fillRect/>
          </a:stretch>
        </p:blipFill>
        <p:spPr>
          <a:xfrm>
            <a:off x="1012604" y="9388788"/>
            <a:ext cx="5175555" cy="2340727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ACA9B794-8739-FE55-5F8E-DC88BFED4B7D}"/>
              </a:ext>
            </a:extLst>
          </p:cNvPr>
          <p:cNvSpPr/>
          <p:nvPr/>
        </p:nvSpPr>
        <p:spPr>
          <a:xfrm>
            <a:off x="512294" y="2594358"/>
            <a:ext cx="1050594" cy="1738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7DCB39-D7DD-D323-7FCC-4AD57F817029}"/>
              </a:ext>
            </a:extLst>
          </p:cNvPr>
          <p:cNvSpPr txBox="1"/>
          <p:nvPr/>
        </p:nvSpPr>
        <p:spPr>
          <a:xfrm>
            <a:off x="1579632" y="3856304"/>
            <a:ext cx="20485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1.6 </a:t>
            </a:r>
            <a:r>
              <a:rPr lang="ko-KR" altLang="en-US" sz="1100" dirty="0">
                <a:solidFill>
                  <a:srgbClr val="FF0000"/>
                </a:solidFill>
              </a:rPr>
              <a:t>차트 값 내림차순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동일하면 이름 기준 내림차순</a:t>
            </a:r>
            <a:r>
              <a:rPr lang="en-US" altLang="ko-KR" sz="1100" dirty="0">
                <a:solidFill>
                  <a:srgbClr val="FF0000"/>
                </a:solidFill>
              </a:rPr>
              <a:t>(a-&gt;z, </a:t>
            </a:r>
            <a:r>
              <a:rPr lang="ko-KR" altLang="en-US" sz="1100" dirty="0" err="1">
                <a:solidFill>
                  <a:srgbClr val="FF0000"/>
                </a:solidFill>
              </a:rPr>
              <a:t>ㄱ</a:t>
            </a:r>
            <a:r>
              <a:rPr lang="en-US" altLang="ko-KR" sz="1100" dirty="0">
                <a:solidFill>
                  <a:srgbClr val="FF0000"/>
                </a:solidFill>
              </a:rPr>
              <a:t>-&gt;</a:t>
            </a:r>
            <a:r>
              <a:rPr lang="ko-KR" altLang="en-US" sz="1100" dirty="0" err="1">
                <a:solidFill>
                  <a:srgbClr val="FF0000"/>
                </a:solidFill>
              </a:rPr>
              <a:t>ㅎ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100" dirty="0">
                <a:solidFill>
                  <a:srgbClr val="FF0000"/>
                </a:solidFill>
              </a:rPr>
              <a:t>-&gt; </a:t>
            </a:r>
            <a:r>
              <a:rPr lang="ko-KR" altLang="en-US" sz="1100" dirty="0">
                <a:solidFill>
                  <a:srgbClr val="FF0000"/>
                </a:solidFill>
              </a:rPr>
              <a:t>모든 차트에 대해 반영 필요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A99DC0C-BFB6-5123-9C5F-39BCFB66334B}"/>
              </a:ext>
            </a:extLst>
          </p:cNvPr>
          <p:cNvSpPr/>
          <p:nvPr/>
        </p:nvSpPr>
        <p:spPr>
          <a:xfrm>
            <a:off x="548639" y="4683926"/>
            <a:ext cx="5639519" cy="465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4CAE9A-16BB-E2AB-44E0-0F25B4645279}"/>
              </a:ext>
            </a:extLst>
          </p:cNvPr>
          <p:cNvSpPr txBox="1"/>
          <p:nvPr/>
        </p:nvSpPr>
        <p:spPr>
          <a:xfrm>
            <a:off x="3050180" y="5243104"/>
            <a:ext cx="2454358" cy="430887"/>
          </a:xfrm>
          <a:prstGeom prst="rect">
            <a:avLst/>
          </a:prstGeom>
          <a:solidFill>
            <a:srgbClr val="FF0000">
              <a:alpha val="1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1.7 </a:t>
            </a:r>
            <a:r>
              <a:rPr lang="ko-KR" altLang="en-US" sz="1100" dirty="0">
                <a:solidFill>
                  <a:srgbClr val="FF0000"/>
                </a:solidFill>
              </a:rPr>
              <a:t>컬럼 간격 조정 필요 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일정하게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100" dirty="0">
                <a:solidFill>
                  <a:srgbClr val="FF0000"/>
                </a:solidFill>
              </a:rPr>
              <a:t>-&gt; </a:t>
            </a:r>
            <a:r>
              <a:rPr lang="ko-KR" altLang="en-US" sz="1100" dirty="0">
                <a:solidFill>
                  <a:srgbClr val="FF0000"/>
                </a:solidFill>
              </a:rPr>
              <a:t>모든 표에 대해 반영 필요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1374E53-8B97-42EA-B33F-3750964028D5}"/>
              </a:ext>
            </a:extLst>
          </p:cNvPr>
          <p:cNvSpPr/>
          <p:nvPr/>
        </p:nvSpPr>
        <p:spPr>
          <a:xfrm>
            <a:off x="5713489" y="4523174"/>
            <a:ext cx="522719" cy="131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1576D9-B4EF-9B27-50B9-7F0BF4F071A6}"/>
              </a:ext>
            </a:extLst>
          </p:cNvPr>
          <p:cNvSpPr txBox="1"/>
          <p:nvPr/>
        </p:nvSpPr>
        <p:spPr>
          <a:xfrm>
            <a:off x="5658612" y="4272646"/>
            <a:ext cx="722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1.8 </a:t>
            </a:r>
            <a:r>
              <a:rPr lang="ko-KR" altLang="en-US" sz="1100" dirty="0">
                <a:solidFill>
                  <a:srgbClr val="FF0000"/>
                </a:solidFill>
              </a:rPr>
              <a:t>제거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0D54E4-1F34-1689-E3F1-D6B1BE9143B8}"/>
              </a:ext>
            </a:extLst>
          </p:cNvPr>
          <p:cNvSpPr txBox="1"/>
          <p:nvPr/>
        </p:nvSpPr>
        <p:spPr>
          <a:xfrm>
            <a:off x="2521352" y="1569726"/>
            <a:ext cx="2115417" cy="600164"/>
          </a:xfrm>
          <a:prstGeom prst="rect">
            <a:avLst/>
          </a:prstGeom>
          <a:solidFill>
            <a:srgbClr val="FF0000">
              <a:alpha val="1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1.9 </a:t>
            </a:r>
            <a:r>
              <a:rPr lang="ko-KR" altLang="en-US" sz="1100" dirty="0">
                <a:solidFill>
                  <a:srgbClr val="FF0000"/>
                </a:solidFill>
              </a:rPr>
              <a:t>언어 설정에 따라 이름 변경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>
                <a:solidFill>
                  <a:srgbClr val="FF0000"/>
                </a:solidFill>
              </a:rPr>
              <a:t>한글</a:t>
            </a:r>
            <a:r>
              <a:rPr lang="en-US" altLang="ko-KR" sz="1100" dirty="0">
                <a:solidFill>
                  <a:srgbClr val="FF0000"/>
                </a:solidFill>
              </a:rPr>
              <a:t>: ‘</a:t>
            </a:r>
            <a:r>
              <a:rPr lang="ko-KR" altLang="en-US" sz="1100" dirty="0">
                <a:solidFill>
                  <a:srgbClr val="FF0000"/>
                </a:solidFill>
              </a:rPr>
              <a:t>앱</a:t>
            </a:r>
            <a:r>
              <a:rPr lang="en-US" altLang="ko-KR" sz="1100" dirty="0">
                <a:solidFill>
                  <a:srgbClr val="FF0000"/>
                </a:solidFill>
              </a:rPr>
              <a:t>’ ‘</a:t>
            </a:r>
            <a:r>
              <a:rPr lang="ko-KR" altLang="en-US" sz="1100" dirty="0">
                <a:solidFill>
                  <a:srgbClr val="FF0000"/>
                </a:solidFill>
              </a:rPr>
              <a:t>지식</a:t>
            </a:r>
            <a:r>
              <a:rPr lang="en-US" altLang="ko-KR" sz="1100" dirty="0">
                <a:solidFill>
                  <a:srgbClr val="FF0000"/>
                </a:solidFill>
              </a:rPr>
              <a:t>’ ‘</a:t>
            </a:r>
            <a:r>
              <a:rPr lang="ko-KR" altLang="en-US" sz="1100" dirty="0">
                <a:solidFill>
                  <a:srgbClr val="FF0000"/>
                </a:solidFill>
              </a:rPr>
              <a:t>도구</a:t>
            </a:r>
            <a:r>
              <a:rPr lang="en-US" altLang="ko-KR" sz="1100" dirty="0">
                <a:solidFill>
                  <a:srgbClr val="FF0000"/>
                </a:solidFill>
              </a:rPr>
              <a:t>’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영어</a:t>
            </a:r>
            <a:r>
              <a:rPr lang="en-US" altLang="ko-KR" sz="1100" dirty="0">
                <a:solidFill>
                  <a:srgbClr val="FF0000"/>
                </a:solidFill>
              </a:rPr>
              <a:t>: ‘App’ ‘KB’ ‘Tool’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5121728-80C4-F3E8-E5CA-E4B6316F6E94}"/>
              </a:ext>
            </a:extLst>
          </p:cNvPr>
          <p:cNvSpPr/>
          <p:nvPr/>
        </p:nvSpPr>
        <p:spPr>
          <a:xfrm>
            <a:off x="2232659" y="2448573"/>
            <a:ext cx="930606" cy="167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EE3B6927-BD34-DB5C-DE41-46B04E5D207D}"/>
              </a:ext>
            </a:extLst>
          </p:cNvPr>
          <p:cNvCxnSpPr>
            <a:cxnSpLocks/>
            <a:stCxn id="29" idx="3"/>
            <a:endCxn id="28" idx="2"/>
          </p:cNvCxnSpPr>
          <p:nvPr/>
        </p:nvCxnSpPr>
        <p:spPr>
          <a:xfrm flipV="1">
            <a:off x="3429000" y="2875280"/>
            <a:ext cx="444500" cy="39153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2BD7F1E6-A679-2BCF-1E4F-E60FE796AA73}"/>
              </a:ext>
            </a:extLst>
          </p:cNvPr>
          <p:cNvCxnSpPr>
            <a:cxnSpLocks/>
            <a:stCxn id="48" idx="0"/>
            <a:endCxn id="47" idx="3"/>
          </p:cNvCxnSpPr>
          <p:nvPr/>
        </p:nvCxnSpPr>
        <p:spPr>
          <a:xfrm rot="5400000" flipH="1" flipV="1">
            <a:off x="3377983" y="1189788"/>
            <a:ext cx="578765" cy="1938807"/>
          </a:xfrm>
          <a:prstGeom prst="bentConnector4">
            <a:avLst>
              <a:gd name="adj1" fmla="val 24076"/>
              <a:gd name="adj2" fmla="val 1117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377E2B0-38A9-202E-214E-3070B777812E}"/>
              </a:ext>
            </a:extLst>
          </p:cNvPr>
          <p:cNvSpPr txBox="1"/>
          <p:nvPr/>
        </p:nvSpPr>
        <p:spPr>
          <a:xfrm>
            <a:off x="1200006" y="57033"/>
            <a:ext cx="51809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1.0 </a:t>
            </a:r>
            <a:r>
              <a:rPr lang="ko-KR" altLang="en-US" sz="1100" dirty="0">
                <a:solidFill>
                  <a:srgbClr val="FF0000"/>
                </a:solidFill>
              </a:rPr>
              <a:t>전반적으로 제목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>
                <a:solidFill>
                  <a:srgbClr val="FF0000"/>
                </a:solidFill>
              </a:rPr>
              <a:t>부제목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 err="1">
                <a:solidFill>
                  <a:srgbClr val="FF0000"/>
                </a:solidFill>
              </a:rPr>
              <a:t>컬럼명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 err="1">
                <a:solidFill>
                  <a:srgbClr val="FF0000"/>
                </a:solidFill>
              </a:rPr>
              <a:t>필드값</a:t>
            </a:r>
            <a:r>
              <a:rPr lang="ko-KR" altLang="en-US" sz="1100" dirty="0">
                <a:solidFill>
                  <a:srgbClr val="FF0000"/>
                </a:solidFill>
              </a:rPr>
              <a:t> 등의 폰트 스타일을  </a:t>
            </a:r>
            <a:r>
              <a:rPr lang="en-US" altLang="ko-KR" sz="1100" dirty="0">
                <a:solidFill>
                  <a:srgbClr val="FF0000"/>
                </a:solidFill>
              </a:rPr>
              <a:t>‘</a:t>
            </a:r>
            <a:r>
              <a:rPr lang="ko-KR" altLang="en-US" sz="1100" dirty="0">
                <a:solidFill>
                  <a:srgbClr val="FF0000"/>
                </a:solidFill>
              </a:rPr>
              <a:t>탐색</a:t>
            </a:r>
            <a:r>
              <a:rPr lang="en-US" altLang="ko-KR" sz="1100" dirty="0">
                <a:solidFill>
                  <a:srgbClr val="FF0000"/>
                </a:solidFill>
              </a:rPr>
              <a:t>’/’</a:t>
            </a:r>
            <a:r>
              <a:rPr lang="ko-KR" altLang="en-US" sz="1100" dirty="0">
                <a:solidFill>
                  <a:srgbClr val="FF0000"/>
                </a:solidFill>
              </a:rPr>
              <a:t>스튜디오</a:t>
            </a:r>
            <a:r>
              <a:rPr lang="en-US" altLang="ko-KR" sz="1100" dirty="0">
                <a:solidFill>
                  <a:srgbClr val="FF0000"/>
                </a:solidFill>
              </a:rPr>
              <a:t>’/’</a:t>
            </a:r>
            <a:r>
              <a:rPr lang="ko-KR" altLang="en-US" sz="1100" dirty="0">
                <a:solidFill>
                  <a:srgbClr val="FF0000"/>
                </a:solidFill>
              </a:rPr>
              <a:t>모니터링</a:t>
            </a:r>
            <a:r>
              <a:rPr lang="en-US" altLang="ko-KR" sz="1100" dirty="0">
                <a:solidFill>
                  <a:srgbClr val="FF0000"/>
                </a:solidFill>
              </a:rPr>
              <a:t>’</a:t>
            </a:r>
            <a:r>
              <a:rPr lang="ko-KR" altLang="en-US" sz="1100" dirty="0">
                <a:solidFill>
                  <a:srgbClr val="FF0000"/>
                </a:solidFill>
              </a:rPr>
              <a:t>의 폰트 스타일에 맞춤</a:t>
            </a:r>
          </a:p>
        </p:txBody>
      </p:sp>
    </p:spTree>
    <p:extLst>
      <p:ext uri="{BB962C8B-B14F-4D97-AF65-F5344CB8AC3E}">
        <p14:creationId xmlns:p14="http://schemas.microsoft.com/office/powerpoint/2010/main" val="344890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82691C75-FD40-BB59-CF16-50F406EB6E3A}"/>
              </a:ext>
            </a:extLst>
          </p:cNvPr>
          <p:cNvGrpSpPr/>
          <p:nvPr/>
        </p:nvGrpSpPr>
        <p:grpSpPr>
          <a:xfrm>
            <a:off x="1115297" y="886686"/>
            <a:ext cx="4627406" cy="8577143"/>
            <a:chOff x="1357758" y="1161870"/>
            <a:chExt cx="3609860" cy="781705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647451C-6281-73FA-493C-DEC48BAE8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7758" y="1161870"/>
              <a:ext cx="3609857" cy="1613996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FE1ED29-2272-24FD-C02A-B254607BA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7758" y="2775866"/>
              <a:ext cx="3609860" cy="123841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B2C430B-F111-5B78-5A1B-B99ABE40A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7759" y="4014285"/>
              <a:ext cx="3609856" cy="124406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D0C6BC3-4AC6-82F1-6233-AEB288783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57758" y="5256728"/>
              <a:ext cx="3609857" cy="124283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C5ADE34-8BF4-138A-7655-E78A0C59D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7758" y="6496768"/>
              <a:ext cx="3609857" cy="123089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E131049-8AC7-E9E7-D5C8-1BEB26BED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57758" y="7737977"/>
              <a:ext cx="3609858" cy="1240948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8D25EFD-EE3C-2F41-9383-826B2F75EE6D}"/>
              </a:ext>
            </a:extLst>
          </p:cNvPr>
          <p:cNvSpPr txBox="1"/>
          <p:nvPr/>
        </p:nvSpPr>
        <p:spPr>
          <a:xfrm>
            <a:off x="166255" y="152400"/>
            <a:ext cx="2563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/>
              <a:t>총 오브젝트</a:t>
            </a:r>
            <a:endParaRPr lang="ko-KR" altLang="en-US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A66D5C-2E4D-09CC-E8FD-366FAE39DE89}"/>
              </a:ext>
            </a:extLst>
          </p:cNvPr>
          <p:cNvSpPr txBox="1"/>
          <p:nvPr/>
        </p:nvSpPr>
        <p:spPr>
          <a:xfrm>
            <a:off x="448648" y="9749351"/>
            <a:ext cx="2280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메인 </a:t>
            </a:r>
            <a:r>
              <a:rPr lang="en-US" altLang="ko-KR" sz="1100" dirty="0">
                <a:solidFill>
                  <a:srgbClr val="FF0000"/>
                </a:solidFill>
              </a:rPr>
              <a:t>1.1, 1.2, 1.4, 1.5 </a:t>
            </a:r>
            <a:r>
              <a:rPr lang="ko-KR" altLang="en-US" sz="1100" dirty="0">
                <a:solidFill>
                  <a:srgbClr val="FF0000"/>
                </a:solidFill>
              </a:rPr>
              <a:t>반영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8714C-25CD-BFC1-0E4A-17360201FC13}"/>
              </a:ext>
            </a:extLst>
          </p:cNvPr>
          <p:cNvSpPr txBox="1"/>
          <p:nvPr/>
        </p:nvSpPr>
        <p:spPr>
          <a:xfrm>
            <a:off x="20553" y="974121"/>
            <a:ext cx="12748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2.1 </a:t>
            </a:r>
            <a:r>
              <a:rPr lang="ko-KR" altLang="en-US" sz="1100" dirty="0" err="1">
                <a:solidFill>
                  <a:srgbClr val="FF0000"/>
                </a:solidFill>
              </a:rPr>
              <a:t>클릭시</a:t>
            </a:r>
            <a:r>
              <a:rPr lang="ko-KR" altLang="en-US" sz="1100" dirty="0">
                <a:solidFill>
                  <a:srgbClr val="FF0000"/>
                </a:solidFill>
              </a:rPr>
              <a:t> 테두리 잘림 해결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위의 카드 간격을 </a:t>
            </a:r>
            <a:r>
              <a:rPr lang="ko-KR" altLang="en-US" sz="1100" dirty="0" err="1">
                <a:solidFill>
                  <a:srgbClr val="FF0000"/>
                </a:solidFill>
              </a:rPr>
              <a:t>띄우든가</a:t>
            </a:r>
            <a:r>
              <a:rPr lang="ko-KR" altLang="en-US" sz="1100" dirty="0">
                <a:solidFill>
                  <a:srgbClr val="FF0000"/>
                </a:solidFill>
              </a:rPr>
              <a:t> 해야 될 듯</a:t>
            </a:r>
            <a:r>
              <a:rPr lang="en-US" altLang="ko-KR" sz="1100" dirty="0">
                <a:solidFill>
                  <a:srgbClr val="FF0000"/>
                </a:solidFill>
              </a:rPr>
              <a:t>? </a:t>
            </a:r>
            <a:r>
              <a:rPr lang="ko-KR" altLang="en-US" sz="1100" dirty="0">
                <a:solidFill>
                  <a:srgbClr val="FF0000"/>
                </a:solidFill>
              </a:rPr>
              <a:t>다른 방법 있으면 추천 부탁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B91913-67AC-B072-D613-71B8FBBF8C84}"/>
              </a:ext>
            </a:extLst>
          </p:cNvPr>
          <p:cNvSpPr/>
          <p:nvPr/>
        </p:nvSpPr>
        <p:spPr>
          <a:xfrm>
            <a:off x="1224280" y="1251160"/>
            <a:ext cx="1122680" cy="465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2E405B1-7255-28B7-0412-CC80A23F3E60}"/>
              </a:ext>
            </a:extLst>
          </p:cNvPr>
          <p:cNvSpPr/>
          <p:nvPr/>
        </p:nvSpPr>
        <p:spPr>
          <a:xfrm>
            <a:off x="1267464" y="1988627"/>
            <a:ext cx="2031996" cy="34630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C92901-6554-0350-C15B-F369C1BE42F0}"/>
              </a:ext>
            </a:extLst>
          </p:cNvPr>
          <p:cNvSpPr txBox="1"/>
          <p:nvPr/>
        </p:nvSpPr>
        <p:spPr>
          <a:xfrm>
            <a:off x="3299460" y="3449773"/>
            <a:ext cx="2804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2.2 </a:t>
            </a:r>
            <a:r>
              <a:rPr lang="ko-KR" altLang="en-US" sz="1100" dirty="0">
                <a:solidFill>
                  <a:srgbClr val="FF0000"/>
                </a:solidFill>
              </a:rPr>
              <a:t>차트 간격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>
                <a:solidFill>
                  <a:srgbClr val="FF0000"/>
                </a:solidFill>
              </a:rPr>
              <a:t>막대 너비 </a:t>
            </a:r>
            <a:r>
              <a:rPr lang="ko-KR" altLang="en-US" sz="1100" dirty="0" err="1">
                <a:solidFill>
                  <a:srgbClr val="FF0000"/>
                </a:solidFill>
              </a:rPr>
              <a:t>메인과</a:t>
            </a:r>
            <a:r>
              <a:rPr lang="ko-KR" altLang="en-US" sz="1100" dirty="0">
                <a:solidFill>
                  <a:srgbClr val="FF0000"/>
                </a:solidFill>
              </a:rPr>
              <a:t> 동일하게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-&gt; </a:t>
            </a:r>
            <a:r>
              <a:rPr lang="ko-KR" altLang="en-US" sz="1100" dirty="0">
                <a:solidFill>
                  <a:srgbClr val="FF0000"/>
                </a:solidFill>
              </a:rPr>
              <a:t>모든 차트에 대해 적용 필요</a:t>
            </a:r>
          </a:p>
        </p:txBody>
      </p:sp>
    </p:spTree>
    <p:extLst>
      <p:ext uri="{BB962C8B-B14F-4D97-AF65-F5344CB8AC3E}">
        <p14:creationId xmlns:p14="http://schemas.microsoft.com/office/powerpoint/2010/main" val="663861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AF2F-59A4-00E0-A6A8-49F26EFC7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E2CA41E-2978-D561-4617-CE5F3A46D1C7}"/>
              </a:ext>
            </a:extLst>
          </p:cNvPr>
          <p:cNvSpPr txBox="1"/>
          <p:nvPr/>
        </p:nvSpPr>
        <p:spPr>
          <a:xfrm>
            <a:off x="166255" y="152400"/>
            <a:ext cx="347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/>
              <a:t>부서별 채택 앱 수</a:t>
            </a:r>
            <a:endParaRPr lang="ko-KR" altLang="en-US" sz="32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E413A7E-724E-8810-49CA-AE6B4B91AC50}"/>
              </a:ext>
            </a:extLst>
          </p:cNvPr>
          <p:cNvGrpSpPr/>
          <p:nvPr/>
        </p:nvGrpSpPr>
        <p:grpSpPr>
          <a:xfrm>
            <a:off x="1108364" y="1204583"/>
            <a:ext cx="4641272" cy="8310102"/>
            <a:chOff x="1108364" y="1523242"/>
            <a:chExt cx="4641272" cy="831010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3C1DE68-144D-C2F6-C88A-7814077AD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364" y="1523242"/>
              <a:ext cx="4641272" cy="208349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744C448-DBD0-2500-628A-BB13C89A3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8364" y="3606734"/>
              <a:ext cx="4641272" cy="160119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72FEA24-06CE-5B09-0B91-299661CBC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8364" y="5134664"/>
              <a:ext cx="4641272" cy="159143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DE2C07C-FE29-8DC2-BC94-D7984A027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8364" y="6726096"/>
              <a:ext cx="4641272" cy="1606036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097703B-3B5D-4E67-68DF-CFB1A09EF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8364" y="8244266"/>
              <a:ext cx="4641272" cy="1589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488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0F753-2DF8-A2B3-F5A2-E26D8B0D2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A16C323-43F0-923C-3696-692EE2EC799A}"/>
              </a:ext>
            </a:extLst>
          </p:cNvPr>
          <p:cNvSpPr txBox="1"/>
          <p:nvPr/>
        </p:nvSpPr>
        <p:spPr>
          <a:xfrm>
            <a:off x="166255" y="152400"/>
            <a:ext cx="347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API </a:t>
            </a:r>
            <a:r>
              <a:rPr lang="ko-KR" altLang="en-US" sz="3200" dirty="0"/>
              <a:t>호출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8C4E5B2-004A-B5CC-3D14-136D8421F52A}"/>
              </a:ext>
            </a:extLst>
          </p:cNvPr>
          <p:cNvGrpSpPr/>
          <p:nvPr/>
        </p:nvGrpSpPr>
        <p:grpSpPr>
          <a:xfrm>
            <a:off x="1122831" y="879500"/>
            <a:ext cx="5041827" cy="8623315"/>
            <a:chOff x="1773382" y="1656688"/>
            <a:chExt cx="3311236" cy="65361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5E8A318-F09F-29F2-D422-901EF15D6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3382" y="1656688"/>
              <a:ext cx="3311236" cy="1480296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EBFABE8-FB3E-0F54-754B-13159482F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3382" y="3120305"/>
              <a:ext cx="3311236" cy="1150908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749C358-89B5-6522-DC82-1E7F05ABB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73382" y="4271213"/>
              <a:ext cx="3311236" cy="114526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E64B689-8515-9EE6-5990-D2B6C7515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3382" y="5341612"/>
              <a:ext cx="3311236" cy="113829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4EDA4D99-5383-262F-119A-380AAEED7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73382" y="6479902"/>
              <a:ext cx="3311236" cy="1136564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E3AA7613-90AB-F3BC-65E1-BE4DFC58B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73382" y="7648738"/>
              <a:ext cx="3311236" cy="544100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A6F5FD-C01B-D105-1E3A-E326A76ABED5}"/>
              </a:ext>
            </a:extLst>
          </p:cNvPr>
          <p:cNvSpPr/>
          <p:nvPr/>
        </p:nvSpPr>
        <p:spPr>
          <a:xfrm>
            <a:off x="5090160" y="6058604"/>
            <a:ext cx="365760" cy="131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93C358-7B35-CE42-B27D-918A7489724D}"/>
              </a:ext>
            </a:extLst>
          </p:cNvPr>
          <p:cNvSpPr txBox="1"/>
          <p:nvPr/>
        </p:nvSpPr>
        <p:spPr>
          <a:xfrm>
            <a:off x="4621530" y="5311546"/>
            <a:ext cx="164211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4.1 </a:t>
            </a:r>
            <a:r>
              <a:rPr lang="ko-KR" altLang="en-US" sz="1100" dirty="0">
                <a:solidFill>
                  <a:srgbClr val="FF0000"/>
                </a:solidFill>
              </a:rPr>
              <a:t>변경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>
                <a:solidFill>
                  <a:srgbClr val="FF0000"/>
                </a:solidFill>
              </a:rPr>
              <a:t>▼</a:t>
            </a:r>
            <a:r>
              <a:rPr lang="en-US" altLang="ko-KR" sz="1100" dirty="0">
                <a:solidFill>
                  <a:srgbClr val="FF0000"/>
                </a:solidFill>
              </a:rPr>
              <a:t>28.6% -&gt; </a:t>
            </a:r>
            <a:r>
              <a:rPr lang="ko-KR" altLang="en-US" sz="1100" dirty="0">
                <a:solidFill>
                  <a:srgbClr val="FF0000"/>
                </a:solidFill>
              </a:rPr>
              <a:t>▾ </a:t>
            </a:r>
            <a:r>
              <a:rPr lang="en-US" altLang="ko-KR" sz="1100" dirty="0">
                <a:solidFill>
                  <a:srgbClr val="FF0000"/>
                </a:solidFill>
              </a:rPr>
              <a:t>28.6%</a:t>
            </a:r>
          </a:p>
          <a:p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양수일 때는 ▴ </a:t>
            </a:r>
            <a:r>
              <a:rPr lang="en-US" altLang="ko-KR" sz="1100" dirty="0">
                <a:solidFill>
                  <a:srgbClr val="FF0000"/>
                </a:solidFill>
              </a:rPr>
              <a:t>28.6%)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47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CA85-784E-8BF0-949D-DAED17A01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178973A-0569-6005-D627-C6E811A616C3}"/>
              </a:ext>
            </a:extLst>
          </p:cNvPr>
          <p:cNvSpPr txBox="1"/>
          <p:nvPr/>
        </p:nvSpPr>
        <p:spPr>
          <a:xfrm>
            <a:off x="166255" y="152400"/>
            <a:ext cx="347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앱별 통계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4E91808-D15D-94FF-ADEF-502B59413BDD}"/>
              </a:ext>
            </a:extLst>
          </p:cNvPr>
          <p:cNvGrpSpPr/>
          <p:nvPr/>
        </p:nvGrpSpPr>
        <p:grpSpPr>
          <a:xfrm>
            <a:off x="581891" y="1066800"/>
            <a:ext cx="5694218" cy="7100206"/>
            <a:chOff x="0" y="3417345"/>
            <a:chExt cx="6858000" cy="730362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9CDC8EC-14B3-7DD2-8C57-F28CE0632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417345"/>
              <a:ext cx="6858000" cy="306786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8AE0414-90BC-59A0-B64D-982E6F3F9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6485210"/>
              <a:ext cx="6858000" cy="235643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6A19D4D-0F54-154E-7012-9ACAF292B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8370576"/>
              <a:ext cx="6858000" cy="2350394"/>
            </a:xfrm>
            <a:prstGeom prst="rect">
              <a:avLst/>
            </a:prstGeom>
          </p:spPr>
        </p:pic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058871-C76F-8E11-50CB-F1A1E8CEF250}"/>
              </a:ext>
            </a:extLst>
          </p:cNvPr>
          <p:cNvSpPr/>
          <p:nvPr/>
        </p:nvSpPr>
        <p:spPr>
          <a:xfrm>
            <a:off x="3450336" y="2716925"/>
            <a:ext cx="670560" cy="1827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484DF-F638-4AE4-0414-A2F69E0F9B5F}"/>
              </a:ext>
            </a:extLst>
          </p:cNvPr>
          <p:cNvSpPr txBox="1"/>
          <p:nvPr/>
        </p:nvSpPr>
        <p:spPr>
          <a:xfrm>
            <a:off x="4194810" y="2416843"/>
            <a:ext cx="25595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5.1 </a:t>
            </a:r>
            <a:r>
              <a:rPr lang="ko-KR" altLang="en-US" sz="1100" dirty="0">
                <a:solidFill>
                  <a:srgbClr val="FF0000"/>
                </a:solidFill>
              </a:rPr>
              <a:t>이름 변경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 err="1">
                <a:solidFill>
                  <a:srgbClr val="FF0000"/>
                </a:solidFill>
              </a:rPr>
              <a:t>에러율</a:t>
            </a:r>
            <a:r>
              <a:rPr lang="ko-KR" altLang="en-US" sz="1100" dirty="0">
                <a:solidFill>
                  <a:srgbClr val="FF0000"/>
                </a:solidFill>
              </a:rPr>
              <a:t> 높은 앱 </a:t>
            </a:r>
            <a:r>
              <a:rPr lang="en-US" altLang="ko-KR" sz="1100" dirty="0">
                <a:solidFill>
                  <a:srgbClr val="FF0000"/>
                </a:solidFill>
              </a:rPr>
              <a:t>Top 10 </a:t>
            </a:r>
            <a:r>
              <a:rPr lang="ko-KR" altLang="en-US" sz="1100" dirty="0">
                <a:solidFill>
                  <a:srgbClr val="FF0000"/>
                </a:solidFill>
              </a:rPr>
              <a:t>이런 식으로</a:t>
            </a:r>
            <a:r>
              <a:rPr lang="en-US" altLang="ko-KR" sz="1100" dirty="0">
                <a:solidFill>
                  <a:srgbClr val="FF0000"/>
                </a:solidFill>
              </a:rPr>
              <a:t>? </a:t>
            </a:r>
            <a:r>
              <a:rPr lang="ko-KR" altLang="en-US" sz="1100" dirty="0">
                <a:solidFill>
                  <a:srgbClr val="FF0000"/>
                </a:solidFill>
              </a:rPr>
              <a:t>이름 추천 부탁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7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BE22-2283-E7B6-FFCE-5A6CADF0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DB5AA96-F96A-255A-3116-FB099275384A}"/>
              </a:ext>
            </a:extLst>
          </p:cNvPr>
          <p:cNvSpPr txBox="1"/>
          <p:nvPr/>
        </p:nvSpPr>
        <p:spPr>
          <a:xfrm>
            <a:off x="166255" y="152400"/>
            <a:ext cx="347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참고</a:t>
            </a:r>
            <a:r>
              <a:rPr lang="en-US" altLang="ko-KR" sz="3200" dirty="0"/>
              <a:t>-</a:t>
            </a:r>
            <a:r>
              <a:rPr lang="ko-KR" altLang="en-US" sz="3200" dirty="0"/>
              <a:t>탐색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3F9ED1-5503-03F6-9C27-EBF2D501A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4" y="737175"/>
            <a:ext cx="5860472" cy="26369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0A7AE41-4EE0-9907-A59A-10C650E5D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4134989"/>
            <a:ext cx="5860472" cy="2632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74691D-4E2F-EDCB-F882-AA86E2A81A3F}"/>
              </a:ext>
            </a:extLst>
          </p:cNvPr>
          <p:cNvSpPr txBox="1"/>
          <p:nvPr/>
        </p:nvSpPr>
        <p:spPr>
          <a:xfrm>
            <a:off x="166255" y="3550214"/>
            <a:ext cx="347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참고</a:t>
            </a:r>
            <a:r>
              <a:rPr lang="en-US" altLang="ko-KR" sz="3200" dirty="0"/>
              <a:t>-</a:t>
            </a:r>
            <a:r>
              <a:rPr lang="ko-KR" altLang="en-US" sz="3200" dirty="0"/>
              <a:t>스튜디오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4D87022-47E7-8872-2311-D017899E1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4" y="7518503"/>
            <a:ext cx="5860472" cy="43537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AD044C-83A5-7801-2965-1EFB24F6CAF9}"/>
              </a:ext>
            </a:extLst>
          </p:cNvPr>
          <p:cNvSpPr txBox="1"/>
          <p:nvPr/>
        </p:nvSpPr>
        <p:spPr>
          <a:xfrm>
            <a:off x="166255" y="6850598"/>
            <a:ext cx="347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참고</a:t>
            </a:r>
            <a:r>
              <a:rPr lang="en-US" altLang="ko-KR" sz="3200" dirty="0"/>
              <a:t>-</a:t>
            </a:r>
            <a:r>
              <a:rPr lang="ko-KR" altLang="en-US" sz="3200" dirty="0"/>
              <a:t>모니터링</a:t>
            </a:r>
          </a:p>
        </p:txBody>
      </p:sp>
    </p:spTree>
    <p:extLst>
      <p:ext uri="{BB962C8B-B14F-4D97-AF65-F5344CB8AC3E}">
        <p14:creationId xmlns:p14="http://schemas.microsoft.com/office/powerpoint/2010/main" val="2542771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0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DD77D8-B4C4-4FA1-A7F1-EAC0F30205DB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3c439da6-ef8c-46c8-8c8b-628ae0751fe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169</TotalTime>
  <Words>593</Words>
  <Application>Microsoft Office PowerPoint</Application>
  <PresentationFormat>와이드스크린</PresentationFormat>
  <Paragraphs>104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민지</dc:creator>
  <cp:lastModifiedBy>이 민지</cp:lastModifiedBy>
  <cp:revision>1</cp:revision>
  <dcterms:created xsi:type="dcterms:W3CDTF">2026-05-20T05:59:00Z</dcterms:created>
  <dcterms:modified xsi:type="dcterms:W3CDTF">2026-05-20T08:48:38Z</dcterms:modified>
</cp:coreProperties>
</file>